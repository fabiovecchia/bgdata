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notesMasterIdLst>
    <p:notesMasterId r:id="rId12"/>
  </p:notesMasterIdLst>
  <p:sldIdLst>
    <p:sldId id="371" r:id="rId2"/>
    <p:sldId id="381" r:id="rId3"/>
    <p:sldId id="387" r:id="rId4"/>
    <p:sldId id="375" r:id="rId5"/>
    <p:sldId id="386" r:id="rId6"/>
    <p:sldId id="376" r:id="rId7"/>
    <p:sldId id="379" r:id="rId8"/>
    <p:sldId id="380" r:id="rId9"/>
    <p:sldId id="385" r:id="rId10"/>
    <p:sldId id="382" r:id="rId11"/>
  </p:sldIdLst>
  <p:sldSz cx="12192000" cy="6858000"/>
  <p:notesSz cx="6858000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ardo Marques" initials="LM" lastIdx="17" clrIdx="0">
    <p:extLst>
      <p:ext uri="{19B8F6BF-5375-455C-9EA6-DF929625EA0E}">
        <p15:presenceInfo xmlns:p15="http://schemas.microsoft.com/office/powerpoint/2012/main" userId="S-1-5-21-371670264-2719959879-1356541700-133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7E00"/>
    <a:srgbClr val="EF7F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08" autoAdjust="0"/>
    <p:restoredTop sz="95380" autoAdjust="0"/>
  </p:normalViewPr>
  <p:slideViewPr>
    <p:cSldViewPr snapToGrid="0">
      <p:cViewPr varScale="1">
        <p:scale>
          <a:sx n="87" d="100"/>
          <a:sy n="87" d="100"/>
        </p:scale>
        <p:origin x="672" y="9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DB92F0-4346-4E1D-94BF-255898BD9B2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6FA8BCC-B6CB-48ED-9F31-175503CE633B}">
      <dgm:prSet phldrT="[Texto]" custT="1"/>
      <dgm:spPr>
        <a:solidFill>
          <a:schemeClr val="tx1"/>
        </a:solidFill>
      </dgm:spPr>
      <dgm:t>
        <a:bodyPr/>
        <a:lstStyle/>
        <a:p>
          <a:r>
            <a:rPr lang="pt-BR" sz="1000" b="1" i="0" dirty="0">
              <a:solidFill>
                <a:schemeClr val="bg1"/>
              </a:solidFill>
            </a:rPr>
            <a:t> EFETIVAÇÃO NO GARGALO TD 10</a:t>
          </a:r>
        </a:p>
      </dgm:t>
    </dgm:pt>
    <dgm:pt modelId="{524442A6-E634-423B-8ADD-A7B058B6F15D}" type="parTrans" cxnId="{6C51DF19-76F3-45D0-9D53-6E581A7C5022}">
      <dgm:prSet/>
      <dgm:spPr/>
      <dgm:t>
        <a:bodyPr/>
        <a:lstStyle/>
        <a:p>
          <a:endParaRPr lang="pt-BR"/>
        </a:p>
      </dgm:t>
    </dgm:pt>
    <dgm:pt modelId="{6E13AEDF-597D-4B00-A24A-6C32C907ADCE}" type="sibTrans" cxnId="{6C51DF19-76F3-45D0-9D53-6E581A7C5022}">
      <dgm:prSet/>
      <dgm:spPr>
        <a:noFill/>
        <a:ln w="12700"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B7AE8FFA-5244-4588-A8CE-5F92A355D760}">
      <dgm:prSet phldrT="[Texto]" custT="1"/>
      <dgm:spPr>
        <a:solidFill>
          <a:schemeClr val="tx1"/>
        </a:solidFill>
      </dgm:spPr>
      <dgm:t>
        <a:bodyPr/>
        <a:lstStyle/>
        <a:p>
          <a:r>
            <a:rPr lang="pt-BR" sz="1000" b="1" i="0" dirty="0">
              <a:solidFill>
                <a:schemeClr val="bg1"/>
              </a:solidFill>
            </a:rPr>
            <a:t>LINHA TD10 COMPLETA</a:t>
          </a:r>
        </a:p>
      </dgm:t>
    </dgm:pt>
    <dgm:pt modelId="{79B8CD48-C283-4EDB-BF12-12807290D196}" type="parTrans" cxnId="{568A99A8-1C72-45B9-AC75-2B2338716394}">
      <dgm:prSet/>
      <dgm:spPr/>
      <dgm:t>
        <a:bodyPr/>
        <a:lstStyle/>
        <a:p>
          <a:endParaRPr lang="pt-BR"/>
        </a:p>
      </dgm:t>
    </dgm:pt>
    <dgm:pt modelId="{226BF925-D2C7-4D23-AC5B-492C5DABC656}" type="sibTrans" cxnId="{568A99A8-1C72-45B9-AC75-2B2338716394}">
      <dgm:prSet/>
      <dgm:spPr>
        <a:noFill/>
        <a:ln w="12700">
          <a:solidFill>
            <a:schemeClr val="tx1"/>
          </a:solidFill>
        </a:ln>
      </dgm:spPr>
      <dgm:t>
        <a:bodyPr/>
        <a:lstStyle/>
        <a:p>
          <a:endParaRPr lang="pt-BR"/>
        </a:p>
      </dgm:t>
    </dgm:pt>
    <dgm:pt modelId="{8501BB56-69D4-4D03-95DC-037B077B0742}" type="pres">
      <dgm:prSet presAssocID="{10DB92F0-4346-4E1D-94BF-255898BD9B28}" presName="Name0" presStyleCnt="0">
        <dgm:presLayoutVars>
          <dgm:dir/>
          <dgm:resizeHandles val="exact"/>
        </dgm:presLayoutVars>
      </dgm:prSet>
      <dgm:spPr/>
    </dgm:pt>
    <dgm:pt modelId="{BF279C0B-5088-4C0A-81A5-143A7E5758C4}" type="pres">
      <dgm:prSet presAssocID="{A6FA8BCC-B6CB-48ED-9F31-175503CE633B}" presName="node" presStyleLbl="node1" presStyleIdx="0" presStyleCnt="2" custScaleY="150661" custLinFactNeighborY="41717">
        <dgm:presLayoutVars>
          <dgm:bulletEnabled val="1"/>
        </dgm:presLayoutVars>
      </dgm:prSet>
      <dgm:spPr/>
    </dgm:pt>
    <dgm:pt modelId="{C7CB8D46-4DD4-4CF1-A849-B61B9F26AE98}" type="pres">
      <dgm:prSet presAssocID="{6E13AEDF-597D-4B00-A24A-6C32C907ADCE}" presName="sibTrans" presStyleLbl="sibTrans2D1" presStyleIdx="0" presStyleCnt="1" custScaleY="186019"/>
      <dgm:spPr/>
    </dgm:pt>
    <dgm:pt modelId="{E091464A-DAAF-438F-9184-2047CB93F9F8}" type="pres">
      <dgm:prSet presAssocID="{6E13AEDF-597D-4B00-A24A-6C32C907ADCE}" presName="connectorText" presStyleLbl="sibTrans2D1" presStyleIdx="0" presStyleCnt="1"/>
      <dgm:spPr/>
    </dgm:pt>
    <dgm:pt modelId="{AB315552-955E-4364-A9DF-6D7E7565BA88}" type="pres">
      <dgm:prSet presAssocID="{B7AE8FFA-5244-4588-A8CE-5F92A355D760}" presName="node" presStyleLbl="node1" presStyleIdx="1" presStyleCnt="2" custScaleY="150661" custLinFactX="31323" custLinFactNeighborX="100000" custLinFactNeighborY="22335">
        <dgm:presLayoutVars>
          <dgm:bulletEnabled val="1"/>
        </dgm:presLayoutVars>
      </dgm:prSet>
      <dgm:spPr/>
    </dgm:pt>
  </dgm:ptLst>
  <dgm:cxnLst>
    <dgm:cxn modelId="{6C51DF19-76F3-45D0-9D53-6E581A7C5022}" srcId="{10DB92F0-4346-4E1D-94BF-255898BD9B28}" destId="{A6FA8BCC-B6CB-48ED-9F31-175503CE633B}" srcOrd="0" destOrd="0" parTransId="{524442A6-E634-423B-8ADD-A7B058B6F15D}" sibTransId="{6E13AEDF-597D-4B00-A24A-6C32C907ADCE}"/>
    <dgm:cxn modelId="{9EFE0F6F-1CC2-40CD-973B-31A02DFA4D53}" type="presOf" srcId="{10DB92F0-4346-4E1D-94BF-255898BD9B28}" destId="{8501BB56-69D4-4D03-95DC-037B077B0742}" srcOrd="0" destOrd="0" presId="urn:microsoft.com/office/officeart/2005/8/layout/process1"/>
    <dgm:cxn modelId="{1BB50E56-7CF8-4F6B-BFF6-34E17CDF1672}" type="presOf" srcId="{A6FA8BCC-B6CB-48ED-9F31-175503CE633B}" destId="{BF279C0B-5088-4C0A-81A5-143A7E5758C4}" srcOrd="0" destOrd="0" presId="urn:microsoft.com/office/officeart/2005/8/layout/process1"/>
    <dgm:cxn modelId="{218D0F56-85E2-4617-97B6-9EF9E1985819}" type="presOf" srcId="{B7AE8FFA-5244-4588-A8CE-5F92A355D760}" destId="{AB315552-955E-4364-A9DF-6D7E7565BA88}" srcOrd="0" destOrd="0" presId="urn:microsoft.com/office/officeart/2005/8/layout/process1"/>
    <dgm:cxn modelId="{568A99A8-1C72-45B9-AC75-2B2338716394}" srcId="{10DB92F0-4346-4E1D-94BF-255898BD9B28}" destId="{B7AE8FFA-5244-4588-A8CE-5F92A355D760}" srcOrd="1" destOrd="0" parTransId="{79B8CD48-C283-4EDB-BF12-12807290D196}" sibTransId="{226BF925-D2C7-4D23-AC5B-492C5DABC656}"/>
    <dgm:cxn modelId="{4D1009C4-8A6B-461C-A1CC-B2F26829ECB8}" type="presOf" srcId="{6E13AEDF-597D-4B00-A24A-6C32C907ADCE}" destId="{C7CB8D46-4DD4-4CF1-A849-B61B9F26AE98}" srcOrd="0" destOrd="0" presId="urn:microsoft.com/office/officeart/2005/8/layout/process1"/>
    <dgm:cxn modelId="{366C4FE1-2406-4CF6-9176-2CE957143204}" type="presOf" srcId="{6E13AEDF-597D-4B00-A24A-6C32C907ADCE}" destId="{E091464A-DAAF-438F-9184-2047CB93F9F8}" srcOrd="1" destOrd="0" presId="urn:microsoft.com/office/officeart/2005/8/layout/process1"/>
    <dgm:cxn modelId="{771B1882-22F7-4B3B-86CF-A4F8FDE03C2A}" type="presParOf" srcId="{8501BB56-69D4-4D03-95DC-037B077B0742}" destId="{BF279C0B-5088-4C0A-81A5-143A7E5758C4}" srcOrd="0" destOrd="0" presId="urn:microsoft.com/office/officeart/2005/8/layout/process1"/>
    <dgm:cxn modelId="{EA0889DC-7E3E-46BB-BE38-A3209775CDEF}" type="presParOf" srcId="{8501BB56-69D4-4D03-95DC-037B077B0742}" destId="{C7CB8D46-4DD4-4CF1-A849-B61B9F26AE98}" srcOrd="1" destOrd="0" presId="urn:microsoft.com/office/officeart/2005/8/layout/process1"/>
    <dgm:cxn modelId="{08352E01-E436-4989-B1D9-7746981F668A}" type="presParOf" srcId="{C7CB8D46-4DD4-4CF1-A849-B61B9F26AE98}" destId="{E091464A-DAAF-438F-9184-2047CB93F9F8}" srcOrd="0" destOrd="0" presId="urn:microsoft.com/office/officeart/2005/8/layout/process1"/>
    <dgm:cxn modelId="{78BF4EEC-6BC6-4EC4-A1D9-9F784572638B}" type="presParOf" srcId="{8501BB56-69D4-4D03-95DC-037B077B0742}" destId="{AB315552-955E-4364-A9DF-6D7E7565BA8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79C0B-5088-4C0A-81A5-143A7E5758C4}">
      <dsp:nvSpPr>
        <dsp:cNvPr id="0" name=""/>
        <dsp:cNvSpPr/>
      </dsp:nvSpPr>
      <dsp:spPr>
        <a:xfrm>
          <a:off x="475" y="244415"/>
          <a:ext cx="1013097" cy="915805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i="0" kern="1200" dirty="0">
              <a:solidFill>
                <a:schemeClr val="bg1"/>
              </a:solidFill>
            </a:rPr>
            <a:t> EFETIVAÇÃO NO GARGALO TD 10</a:t>
          </a:r>
        </a:p>
      </dsp:txBody>
      <dsp:txXfrm>
        <a:off x="27298" y="271238"/>
        <a:ext cx="959451" cy="862159"/>
      </dsp:txXfrm>
    </dsp:sp>
    <dsp:sp modelId="{C7CB8D46-4DD4-4CF1-A849-B61B9F26AE98}">
      <dsp:nvSpPr>
        <dsp:cNvPr id="0" name=""/>
        <dsp:cNvSpPr/>
      </dsp:nvSpPr>
      <dsp:spPr>
        <a:xfrm>
          <a:off x="1115000" y="468633"/>
          <a:ext cx="215028" cy="467369"/>
        </a:xfrm>
        <a:prstGeom prst="rightArrow">
          <a:avLst>
            <a:gd name="adj1" fmla="val 60000"/>
            <a:gd name="adj2" fmla="val 50000"/>
          </a:avLst>
        </a:prstGeom>
        <a:noFill/>
        <a:ln w="12700"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000" kern="1200"/>
        </a:p>
      </dsp:txBody>
      <dsp:txXfrm>
        <a:off x="1115000" y="562107"/>
        <a:ext cx="150520" cy="280421"/>
      </dsp:txXfrm>
    </dsp:sp>
    <dsp:sp modelId="{AB315552-955E-4364-A9DF-6D7E7565BA88}">
      <dsp:nvSpPr>
        <dsp:cNvPr id="0" name=""/>
        <dsp:cNvSpPr/>
      </dsp:nvSpPr>
      <dsp:spPr>
        <a:xfrm>
          <a:off x="1419285" y="244415"/>
          <a:ext cx="1013097" cy="915805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i="0" kern="1200" dirty="0">
              <a:solidFill>
                <a:schemeClr val="bg1"/>
              </a:solidFill>
            </a:rPr>
            <a:t>LINHA TD10 COMPLETA</a:t>
          </a:r>
        </a:p>
      </dsp:txBody>
      <dsp:txXfrm>
        <a:off x="1446108" y="271238"/>
        <a:ext cx="959451" cy="8621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799" cy="498056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1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6" y="1"/>
            <a:ext cx="2971799" cy="498056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100"/>
            </a:lvl1pPr>
          </a:lstStyle>
          <a:p>
            <a:fld id="{B0F6C624-0B00-4C34-9C7E-F2BA5BBFADFF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5085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4" tIns="45712" rIns="91424" bIns="45712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1" y="4777196"/>
            <a:ext cx="5486400" cy="3908614"/>
          </a:xfrm>
          <a:prstGeom prst="rect">
            <a:avLst/>
          </a:prstGeom>
        </p:spPr>
        <p:txBody>
          <a:bodyPr vert="horz" lIns="91424" tIns="45712" rIns="91424" bIns="45712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71799" cy="49805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1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6" y="9428584"/>
            <a:ext cx="2971799" cy="49805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100"/>
            </a:lvl1pPr>
          </a:lstStyle>
          <a:p>
            <a:fld id="{7D47AFA6-167F-40D4-987A-292194DAB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216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7AFA6-167F-40D4-987A-292194DAB1D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203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30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67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85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590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93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7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706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724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2020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20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195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676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459894"/>
            <a:ext cx="12192000" cy="771558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pt-BR" dirty="0"/>
              <a:t>Clique </a:t>
            </a:r>
            <a:r>
              <a:rPr lang="pt-BR"/>
              <a:t>para editar </a:t>
            </a:r>
            <a:r>
              <a:rPr lang="pt-BR" dirty="0"/>
              <a:t>o título mestre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50696" y="6466371"/>
            <a:ext cx="4114800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75000"/>
                  </a:schemeClr>
                </a:solidFill>
                <a:latin typeface="NUNITO" panose="0000050000000000000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2693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459894"/>
            <a:ext cx="12192000" cy="771558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50696" y="6466371"/>
            <a:ext cx="4114800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75000"/>
                  </a:schemeClr>
                </a:solidFill>
                <a:latin typeface="NUNITO" panose="0000050000000000000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0064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6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9EC8-83A3-44A9-BED1-CDF31124DBA8}" type="datetimeFigureOut">
              <a:rPr lang="pt-BR" smtClean="0"/>
              <a:t>12/08/2024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BD891-D42E-4523-9427-A564CB53D3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2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669" r:id="rId13"/>
    <p:sldLayoutId id="2147483670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diagramQuickStyle" Target="../diagrams/quickStyle1.xml"/><Relationship Id="rId3" Type="http://schemas.openxmlformats.org/officeDocument/2006/relationships/image" Target="../media/image4.png"/><Relationship Id="rId21" Type="http://schemas.openxmlformats.org/officeDocument/2006/relationships/image" Target="../media/image17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6" Type="http://schemas.openxmlformats.org/officeDocument/2006/relationships/diagramData" Target="../diagrams/data1.xml"/><Relationship Id="rId20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jpeg"/><Relationship Id="rId19" Type="http://schemas.openxmlformats.org/officeDocument/2006/relationships/diagramColors" Target="../diagrams/colors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71" y="109461"/>
            <a:ext cx="1506599" cy="303799"/>
          </a:xfrm>
          <a:prstGeom prst="rect">
            <a:avLst/>
          </a:prstGeom>
        </p:spPr>
      </p:pic>
      <p:sp>
        <p:nvSpPr>
          <p:cNvPr id="112" name="Retângulo 111"/>
          <p:cNvSpPr/>
          <p:nvPr/>
        </p:nvSpPr>
        <p:spPr>
          <a:xfrm>
            <a:off x="82637" y="619580"/>
            <a:ext cx="11974778" cy="612895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54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1" name="Retângulo de cantos arredondados 270"/>
          <p:cNvSpPr/>
          <p:nvPr/>
        </p:nvSpPr>
        <p:spPr>
          <a:xfrm>
            <a:off x="371176" y="708371"/>
            <a:ext cx="2767603" cy="2063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Objetivo</a:t>
            </a:r>
          </a:p>
        </p:txBody>
      </p:sp>
      <p:sp>
        <p:nvSpPr>
          <p:cNvPr id="151" name="Retângulo de cantos arredondados 225">
            <a:extLst>
              <a:ext uri="{FF2B5EF4-FFF2-40B4-BE49-F238E27FC236}">
                <a16:creationId xmlns:a16="http://schemas.microsoft.com/office/drawing/2014/main" id="{CB240AB9-49A2-4AFA-B398-8B1BCC8810E3}"/>
              </a:ext>
            </a:extLst>
          </p:cNvPr>
          <p:cNvSpPr/>
          <p:nvPr/>
        </p:nvSpPr>
        <p:spPr>
          <a:xfrm>
            <a:off x="2339789" y="96209"/>
            <a:ext cx="9717626" cy="295370"/>
          </a:xfrm>
          <a:prstGeom prst="round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solidFill>
                  <a:prstClr val="black"/>
                </a:solidFill>
                <a:latin typeface="Calibri" panose="020F0502020204030204"/>
              </a:rPr>
              <a:t>One Page Report – </a:t>
            </a:r>
            <a:r>
              <a:rPr lang="pt-BR" dirty="0" err="1">
                <a:solidFill>
                  <a:prstClr val="black"/>
                </a:solidFill>
                <a:latin typeface="Calibri" panose="020F0502020204030204"/>
              </a:rPr>
              <a:t>Measurlink</a:t>
            </a:r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A538F21-5426-4F26-8339-90D9FD2AB1CD}"/>
              </a:ext>
            </a:extLst>
          </p:cNvPr>
          <p:cNvSpPr/>
          <p:nvPr/>
        </p:nvSpPr>
        <p:spPr>
          <a:xfrm>
            <a:off x="82637" y="619583"/>
            <a:ext cx="3160337" cy="612895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54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tângulo de cantos arredondados 270">
            <a:extLst>
              <a:ext uri="{FF2B5EF4-FFF2-40B4-BE49-F238E27FC236}">
                <a16:creationId xmlns:a16="http://schemas.microsoft.com/office/drawing/2014/main" id="{4BE9B999-2D8D-4500-937C-85F05D320741}"/>
              </a:ext>
            </a:extLst>
          </p:cNvPr>
          <p:cNvSpPr/>
          <p:nvPr/>
        </p:nvSpPr>
        <p:spPr>
          <a:xfrm>
            <a:off x="3471416" y="708370"/>
            <a:ext cx="5342416" cy="19473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Detalhamento projeto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9402DB03-51F2-4EC5-9274-35DFF3E29D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552" y="678093"/>
            <a:ext cx="288000" cy="267347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C6E24648-76C1-41CB-B9B5-26624C72D9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1" y="678093"/>
            <a:ext cx="288000" cy="267347"/>
          </a:xfrm>
          <a:prstGeom prst="rect">
            <a:avLst/>
          </a:prstGeom>
        </p:spPr>
      </p:pic>
      <p:sp>
        <p:nvSpPr>
          <p:cNvPr id="44" name="Retângulo de cantos arredondados 270">
            <a:extLst>
              <a:ext uri="{FF2B5EF4-FFF2-40B4-BE49-F238E27FC236}">
                <a16:creationId xmlns:a16="http://schemas.microsoft.com/office/drawing/2014/main" id="{6B5A90C7-3D1C-462D-9E1D-01E9502032D9}"/>
              </a:ext>
            </a:extLst>
          </p:cNvPr>
          <p:cNvSpPr/>
          <p:nvPr/>
        </p:nvSpPr>
        <p:spPr>
          <a:xfrm>
            <a:off x="327681" y="2417301"/>
            <a:ext cx="2828674" cy="2063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prstClr val="white"/>
                </a:solidFill>
                <a:latin typeface="Calibri" panose="020F0502020204030204"/>
              </a:rPr>
              <a:t>Escopo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D049EA23-3DEC-48F0-AB69-9F6805AD9F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66" y="2392496"/>
            <a:ext cx="288000" cy="26734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3484E1E-5055-73F9-5F44-936DD78B8555}"/>
              </a:ext>
            </a:extLst>
          </p:cNvPr>
          <p:cNvSpPr txBox="1"/>
          <p:nvPr/>
        </p:nvSpPr>
        <p:spPr>
          <a:xfrm>
            <a:off x="143833" y="812337"/>
            <a:ext cx="2987790" cy="1715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750" dirty="0"/>
          </a:p>
          <a:p>
            <a:pPr algn="just"/>
            <a:r>
              <a:rPr lang="pt-BR" sz="750" dirty="0"/>
              <a:t>O objetivo deste projeto é implementar </a:t>
            </a:r>
            <a:r>
              <a:rPr lang="pt-BR" sz="750" b="1" dirty="0"/>
              <a:t>um sistema de medição online avançado</a:t>
            </a:r>
            <a:r>
              <a:rPr lang="pt-BR" sz="750" dirty="0"/>
              <a:t> para inspeção de peças fabricadas na usinagem, proporcionando </a:t>
            </a:r>
            <a:r>
              <a:rPr lang="pt-BR" sz="750" b="1" dirty="0"/>
              <a:t>controle estatístico do processo em tempo real</a:t>
            </a:r>
            <a:r>
              <a:rPr lang="pt-BR" sz="750" dirty="0"/>
              <a:t>, </a:t>
            </a:r>
            <a:r>
              <a:rPr lang="pt-BR" sz="750" b="1" dirty="0"/>
              <a:t>aumento de eficiência devido a maior disponibilidade do operador, precisão nas medições</a:t>
            </a:r>
            <a:r>
              <a:rPr lang="pt-BR" sz="750" dirty="0"/>
              <a:t>, </a:t>
            </a:r>
            <a:r>
              <a:rPr lang="pt-BR" sz="750" b="1" dirty="0"/>
              <a:t>eliminação do uso de registros em papel</a:t>
            </a:r>
            <a:r>
              <a:rPr lang="pt-BR" sz="750" dirty="0"/>
              <a:t>, bem como a </a:t>
            </a:r>
            <a:r>
              <a:rPr lang="pt-BR" sz="750" b="1" dirty="0"/>
              <a:t>redução de 30% da sucata operacional gerada na linha TD10</a:t>
            </a:r>
            <a:r>
              <a:rPr lang="pt-BR" sz="750" dirty="0"/>
              <a:t>, assegurando que as peças sejam </a:t>
            </a:r>
            <a:r>
              <a:rPr lang="pt-BR" sz="750" b="1" dirty="0"/>
              <a:t>fabricadas corretamente na primeira vez</a:t>
            </a:r>
            <a:r>
              <a:rPr lang="pt-BR" sz="750" dirty="0"/>
              <a:t>, servindo como </a:t>
            </a:r>
            <a:r>
              <a:rPr lang="pt-BR" sz="750" b="1" dirty="0"/>
              <a:t>base para os projetos “F4” e "Rumo ao Defeito Zero“ . </a:t>
            </a:r>
            <a:r>
              <a:rPr lang="pt-BR" sz="750" dirty="0"/>
              <a:t>O projeto envolve a </a:t>
            </a:r>
            <a:r>
              <a:rPr lang="pt-BR" sz="750" b="1" dirty="0"/>
              <a:t>interação</a:t>
            </a:r>
            <a:r>
              <a:rPr lang="pt-BR" sz="750" dirty="0"/>
              <a:t> com diversas áreas, como </a:t>
            </a:r>
            <a:r>
              <a:rPr lang="pt-BR" sz="750" b="1" dirty="0"/>
              <a:t>TI</a:t>
            </a:r>
            <a:r>
              <a:rPr lang="pt-BR" sz="750" dirty="0"/>
              <a:t>, </a:t>
            </a:r>
            <a:r>
              <a:rPr lang="pt-BR" sz="750" b="1" dirty="0"/>
              <a:t>Gente e Cultura</a:t>
            </a:r>
            <a:r>
              <a:rPr lang="pt-BR" sz="750" dirty="0"/>
              <a:t>, </a:t>
            </a:r>
            <a:r>
              <a:rPr lang="pt-BR" sz="750" b="1" dirty="0"/>
              <a:t>Suprimentos</a:t>
            </a:r>
            <a:r>
              <a:rPr lang="pt-BR" sz="750" dirty="0"/>
              <a:t> e </a:t>
            </a:r>
            <a:r>
              <a:rPr lang="pt-BR" sz="750" b="1" dirty="0"/>
              <a:t>Automação</a:t>
            </a:r>
            <a:r>
              <a:rPr lang="pt-BR" sz="750" dirty="0"/>
              <a:t>, além da busca pelo </a:t>
            </a:r>
            <a:r>
              <a:rPr lang="pt-BR" sz="750" b="1" dirty="0"/>
              <a:t>engajamento dos operadores</a:t>
            </a:r>
            <a:r>
              <a:rPr lang="pt-BR" sz="750" dirty="0"/>
              <a:t>, atribuindo-lhes um senso de negócio com a nova tecnologia.</a:t>
            </a:r>
          </a:p>
          <a:p>
            <a:pPr algn="just"/>
            <a:endParaRPr lang="pt-BR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Retângulo de cantos arredondados 270">
            <a:extLst>
              <a:ext uri="{FF2B5EF4-FFF2-40B4-BE49-F238E27FC236}">
                <a16:creationId xmlns:a16="http://schemas.microsoft.com/office/drawing/2014/main" id="{73CE6D22-7B5C-40CF-55C4-05636FD68792}"/>
              </a:ext>
            </a:extLst>
          </p:cNvPr>
          <p:cNvSpPr/>
          <p:nvPr/>
        </p:nvSpPr>
        <p:spPr>
          <a:xfrm>
            <a:off x="243992" y="5097659"/>
            <a:ext cx="2767603" cy="2063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Investimento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29944A70-7C78-44BB-242B-9ED18B21BF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65" y="5089182"/>
            <a:ext cx="288000" cy="267347"/>
          </a:xfrm>
          <a:prstGeom prst="rect">
            <a:avLst/>
          </a:prstGeom>
        </p:spPr>
      </p:pic>
      <p:sp>
        <p:nvSpPr>
          <p:cNvPr id="50" name="Retângulo 49">
            <a:extLst>
              <a:ext uri="{FF2B5EF4-FFF2-40B4-BE49-F238E27FC236}">
                <a16:creationId xmlns:a16="http://schemas.microsoft.com/office/drawing/2014/main" id="{D97BD977-9FC4-C4CC-E64A-C352B732C244}"/>
              </a:ext>
            </a:extLst>
          </p:cNvPr>
          <p:cNvSpPr/>
          <p:nvPr/>
        </p:nvSpPr>
        <p:spPr>
          <a:xfrm>
            <a:off x="8932865" y="619583"/>
            <a:ext cx="3122289" cy="22683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54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Retângulo de cantos arredondados 270">
            <a:extLst>
              <a:ext uri="{FF2B5EF4-FFF2-40B4-BE49-F238E27FC236}">
                <a16:creationId xmlns:a16="http://schemas.microsoft.com/office/drawing/2014/main" id="{F92D9A13-6FCB-015B-671A-EFD082BBA914}"/>
              </a:ext>
            </a:extLst>
          </p:cNvPr>
          <p:cNvSpPr/>
          <p:nvPr/>
        </p:nvSpPr>
        <p:spPr>
          <a:xfrm>
            <a:off x="307159" y="5740226"/>
            <a:ext cx="2767603" cy="2063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prstClr val="white"/>
                </a:solidFill>
                <a:latin typeface="Calibri" panose="020F0502020204030204"/>
              </a:rPr>
              <a:t>Riscos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m 54">
            <a:extLst>
              <a:ext uri="{FF2B5EF4-FFF2-40B4-BE49-F238E27FC236}">
                <a16:creationId xmlns:a16="http://schemas.microsoft.com/office/drawing/2014/main" id="{1D1A21C0-3968-ABF5-B698-7D5A9D6703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9" y="5711250"/>
            <a:ext cx="288000" cy="267347"/>
          </a:xfrm>
          <a:prstGeom prst="rect">
            <a:avLst/>
          </a:prstGeom>
        </p:spPr>
      </p:pic>
      <p:sp>
        <p:nvSpPr>
          <p:cNvPr id="64" name="CaixaDeTexto 63">
            <a:extLst>
              <a:ext uri="{FF2B5EF4-FFF2-40B4-BE49-F238E27FC236}">
                <a16:creationId xmlns:a16="http://schemas.microsoft.com/office/drawing/2014/main" id="{56845859-221C-4182-EEEB-B58D3ECD93B8}"/>
              </a:ext>
            </a:extLst>
          </p:cNvPr>
          <p:cNvSpPr txBox="1"/>
          <p:nvPr/>
        </p:nvSpPr>
        <p:spPr>
          <a:xfrm>
            <a:off x="91064" y="5940154"/>
            <a:ext cx="3260332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171450" indent="-171450" algn="just">
              <a:spcBef>
                <a:spcPts val="100"/>
              </a:spcBef>
              <a:buFont typeface="Arial" panose="020B0604020202020204" pitchFamily="34" charset="0"/>
              <a:buChar char="•"/>
              <a:defRPr sz="1000">
                <a:solidFill>
                  <a:prstClr val="black"/>
                </a:solidFill>
                <a:latin typeface="Calibri" panose="020F0502020204030204"/>
              </a:defRPr>
            </a:lvl1pPr>
          </a:lstStyle>
          <a:p>
            <a:pPr algn="l">
              <a:spcBef>
                <a:spcPts val="200"/>
              </a:spcBef>
            </a:pPr>
            <a:r>
              <a:rPr lang="pt-BR" sz="700" dirty="0"/>
              <a:t>Gestão da mudança;</a:t>
            </a:r>
          </a:p>
          <a:p>
            <a:pPr algn="l">
              <a:spcBef>
                <a:spcPts val="200"/>
              </a:spcBef>
            </a:pPr>
            <a:r>
              <a:rPr lang="pt-BR" sz="700" b="0" i="0" dirty="0">
                <a:solidFill>
                  <a:srgbClr val="0D0D0D"/>
                </a:solidFill>
                <a:effectLst/>
                <a:latin typeface="Söhne"/>
              </a:rPr>
              <a:t>Má utilização dos equipamentos;</a:t>
            </a:r>
          </a:p>
          <a:p>
            <a:pPr algn="l">
              <a:spcBef>
                <a:spcPts val="200"/>
              </a:spcBef>
            </a:pPr>
            <a:r>
              <a:rPr lang="pt-BR" sz="700" dirty="0"/>
              <a:t>Falha na coleta de dados ou perda devido à falta de energia;</a:t>
            </a:r>
          </a:p>
          <a:p>
            <a:pPr algn="l">
              <a:spcBef>
                <a:spcPts val="200"/>
              </a:spcBef>
            </a:pPr>
            <a:r>
              <a:rPr lang="pt-BR" sz="700" dirty="0"/>
              <a:t>Custo adicional ao projeto para interligação entre o software e a máquina (Bloqueio do CNC)</a:t>
            </a:r>
          </a:p>
          <a:p>
            <a:pPr algn="l">
              <a:spcBef>
                <a:spcPts val="200"/>
              </a:spcBef>
            </a:pPr>
            <a:r>
              <a:rPr lang="pt-BR" sz="700" dirty="0"/>
              <a:t>Interligação de outros meios de medição ao sistema (Outros fabricantes).</a:t>
            </a:r>
          </a:p>
        </p:txBody>
      </p:sp>
      <p:sp>
        <p:nvSpPr>
          <p:cNvPr id="66" name="Retângulo de cantos arredondados 270">
            <a:extLst>
              <a:ext uri="{FF2B5EF4-FFF2-40B4-BE49-F238E27FC236}">
                <a16:creationId xmlns:a16="http://schemas.microsoft.com/office/drawing/2014/main" id="{36727AAC-3F99-6C49-3CDA-D9E792855880}"/>
              </a:ext>
            </a:extLst>
          </p:cNvPr>
          <p:cNvSpPr/>
          <p:nvPr/>
        </p:nvSpPr>
        <p:spPr>
          <a:xfrm>
            <a:off x="9119696" y="737347"/>
            <a:ext cx="2828674" cy="2063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prstClr val="white"/>
                </a:solidFill>
                <a:latin typeface="Calibri" panose="020F0502020204030204"/>
              </a:rPr>
              <a:t>Quando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8" name="Imagem 67">
            <a:extLst>
              <a:ext uri="{FF2B5EF4-FFF2-40B4-BE49-F238E27FC236}">
                <a16:creationId xmlns:a16="http://schemas.microsoft.com/office/drawing/2014/main" id="{262BF856-EA38-E889-A667-FB976F572D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696" y="708371"/>
            <a:ext cx="288000" cy="267347"/>
          </a:xfrm>
          <a:prstGeom prst="rect">
            <a:avLst/>
          </a:prstGeom>
        </p:spPr>
      </p:pic>
      <p:sp>
        <p:nvSpPr>
          <p:cNvPr id="106" name="Retângulo 105">
            <a:extLst>
              <a:ext uri="{FF2B5EF4-FFF2-40B4-BE49-F238E27FC236}">
                <a16:creationId xmlns:a16="http://schemas.microsoft.com/office/drawing/2014/main" id="{BDED0E71-18F4-CCD6-A17A-EF5B001C66A1}"/>
              </a:ext>
            </a:extLst>
          </p:cNvPr>
          <p:cNvSpPr/>
          <p:nvPr/>
        </p:nvSpPr>
        <p:spPr>
          <a:xfrm>
            <a:off x="8932865" y="2887968"/>
            <a:ext cx="3122289" cy="38605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54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tângulo de cantos arredondados 270">
            <a:extLst>
              <a:ext uri="{FF2B5EF4-FFF2-40B4-BE49-F238E27FC236}">
                <a16:creationId xmlns:a16="http://schemas.microsoft.com/office/drawing/2014/main" id="{6AE7D7F3-DABB-712A-6882-2FCCA01C6F1A}"/>
              </a:ext>
            </a:extLst>
          </p:cNvPr>
          <p:cNvSpPr/>
          <p:nvPr/>
        </p:nvSpPr>
        <p:spPr>
          <a:xfrm>
            <a:off x="9178255" y="3035894"/>
            <a:ext cx="2767603" cy="2063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prstClr val="white"/>
                </a:solidFill>
                <a:latin typeface="Calibri" panose="020F0502020204030204"/>
              </a:rPr>
              <a:t>Payback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9" name="Imagem 108">
            <a:extLst>
              <a:ext uri="{FF2B5EF4-FFF2-40B4-BE49-F238E27FC236}">
                <a16:creationId xmlns:a16="http://schemas.microsoft.com/office/drawing/2014/main" id="{5FEE946A-0D5E-FF6D-5569-743F8B1758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255" y="3006918"/>
            <a:ext cx="288000" cy="267347"/>
          </a:xfrm>
          <a:prstGeom prst="rect">
            <a:avLst/>
          </a:prstGeom>
        </p:spPr>
      </p:pic>
      <p:sp>
        <p:nvSpPr>
          <p:cNvPr id="111" name="Retângulo de cantos arredondados 270">
            <a:extLst>
              <a:ext uri="{FF2B5EF4-FFF2-40B4-BE49-F238E27FC236}">
                <a16:creationId xmlns:a16="http://schemas.microsoft.com/office/drawing/2014/main" id="{5DB96D11-8C93-64E5-3568-25F783C3EAF3}"/>
              </a:ext>
            </a:extLst>
          </p:cNvPr>
          <p:cNvSpPr/>
          <p:nvPr/>
        </p:nvSpPr>
        <p:spPr>
          <a:xfrm>
            <a:off x="9180228" y="5801861"/>
            <a:ext cx="2767603" cy="2063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prstClr val="white"/>
                </a:solidFill>
                <a:latin typeface="Calibri" panose="020F0502020204030204"/>
              </a:rPr>
              <a:t>Responsável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3" name="Imagem 112">
            <a:extLst>
              <a:ext uri="{FF2B5EF4-FFF2-40B4-BE49-F238E27FC236}">
                <a16:creationId xmlns:a16="http://schemas.microsoft.com/office/drawing/2014/main" id="{05F2BA5F-94E6-828B-C25C-7185BAC75C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228" y="5772885"/>
            <a:ext cx="288000" cy="267347"/>
          </a:xfrm>
          <a:prstGeom prst="rect">
            <a:avLst/>
          </a:prstGeom>
        </p:spPr>
      </p:pic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60EC11A0-B775-BFE6-9740-6A8F7263CF52}"/>
              </a:ext>
            </a:extLst>
          </p:cNvPr>
          <p:cNvSpPr txBox="1"/>
          <p:nvPr/>
        </p:nvSpPr>
        <p:spPr>
          <a:xfrm>
            <a:off x="8975696" y="6084915"/>
            <a:ext cx="3017739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171450" indent="-171450" algn="just">
              <a:spcBef>
                <a:spcPts val="100"/>
              </a:spcBef>
              <a:buFont typeface="Arial" panose="020B0604020202020204" pitchFamily="34" charset="0"/>
              <a:buChar char="•"/>
              <a:defRPr sz="1000">
                <a:solidFill>
                  <a:prstClr val="black"/>
                </a:solidFill>
                <a:latin typeface="Calibri" panose="020F0502020204030204"/>
              </a:defRPr>
            </a:lvl1pPr>
          </a:lstStyle>
          <a:p>
            <a:pPr algn="l">
              <a:spcBef>
                <a:spcPts val="200"/>
              </a:spcBef>
            </a:pPr>
            <a:r>
              <a:rPr lang="pt-BR" dirty="0"/>
              <a:t>Paulo </a:t>
            </a:r>
            <a:r>
              <a:rPr lang="pt-BR" dirty="0" err="1"/>
              <a:t>Frosi</a:t>
            </a:r>
            <a:endParaRPr lang="pt-BR" dirty="0"/>
          </a:p>
          <a:p>
            <a:pPr algn="l">
              <a:spcBef>
                <a:spcPts val="200"/>
              </a:spcBef>
            </a:pPr>
            <a:r>
              <a:rPr lang="pt-BR" dirty="0" err="1"/>
              <a:t>Dieferson</a:t>
            </a:r>
            <a:r>
              <a:rPr lang="pt-BR" dirty="0"/>
              <a:t> Antunes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58FE32C-3D62-1464-4651-7D7B3AE728C8}"/>
              </a:ext>
            </a:extLst>
          </p:cNvPr>
          <p:cNvSpPr txBox="1"/>
          <p:nvPr/>
        </p:nvSpPr>
        <p:spPr>
          <a:xfrm>
            <a:off x="91578" y="5287664"/>
            <a:ext cx="2922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 dirty="0">
                <a:solidFill>
                  <a:prstClr val="black"/>
                </a:solidFill>
                <a:latin typeface="Calibri" panose="020F0502020204030204"/>
              </a:rPr>
              <a:t>Piloto por 45 dias  sem custo, sistema fornecido pelo representante da </a:t>
            </a:r>
            <a:r>
              <a:rPr lang="pt-BR" sz="800" dirty="0" err="1">
                <a:solidFill>
                  <a:prstClr val="black"/>
                </a:solidFill>
                <a:latin typeface="Calibri" panose="020F0502020204030204"/>
              </a:rPr>
              <a:t>Mitutoyo</a:t>
            </a:r>
            <a:r>
              <a:rPr lang="pt-BR" sz="8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 dirty="0">
                <a:solidFill>
                  <a:prstClr val="black"/>
                </a:solidFill>
                <a:latin typeface="Calibri" panose="020F0502020204030204"/>
              </a:rPr>
              <a:t>Valor para implementação </a:t>
            </a:r>
            <a:r>
              <a:rPr lang="pt-BR" sz="800" b="1" dirty="0">
                <a:solidFill>
                  <a:prstClr val="black"/>
                </a:solidFill>
                <a:latin typeface="Calibri" panose="020F0502020204030204"/>
              </a:rPr>
              <a:t>R$ 56 419, 16</a:t>
            </a:r>
            <a:endParaRPr lang="pt-BR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42BD365-07A3-371D-47E6-77818E571426}"/>
              </a:ext>
            </a:extLst>
          </p:cNvPr>
          <p:cNvSpPr txBox="1"/>
          <p:nvPr/>
        </p:nvSpPr>
        <p:spPr>
          <a:xfrm>
            <a:off x="8919840" y="1056697"/>
            <a:ext cx="31727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prstClr val="black"/>
                </a:solidFill>
                <a:latin typeface="Calibri" panose="020F0502020204030204"/>
              </a:rPr>
              <a:t>1° Fase:</a:t>
            </a:r>
            <a:r>
              <a:rPr lang="pt-BR" sz="1100" dirty="0">
                <a:solidFill>
                  <a:prstClr val="black"/>
                </a:solidFill>
                <a:latin typeface="Calibri" panose="020F0502020204030204"/>
              </a:rPr>
              <a:t> Efetivação na linha TD 10 Gargalo – 15 dias após a liberação do CAPEX.</a:t>
            </a:r>
          </a:p>
          <a:p>
            <a:r>
              <a:rPr lang="pt-BR" sz="1100" b="1" dirty="0">
                <a:solidFill>
                  <a:prstClr val="black"/>
                </a:solidFill>
                <a:latin typeface="Calibri" panose="020F0502020204030204"/>
              </a:rPr>
              <a:t>2° Fase:</a:t>
            </a:r>
            <a:r>
              <a:rPr lang="pt-BR" sz="1100" dirty="0">
                <a:solidFill>
                  <a:prstClr val="black"/>
                </a:solidFill>
                <a:latin typeface="Calibri" panose="020F0502020204030204"/>
              </a:rPr>
              <a:t> Implementação na Linha TD10 completa – Prazo: 90 dias após a liberação do CAPEX</a:t>
            </a:r>
          </a:p>
          <a:p>
            <a:r>
              <a:rPr lang="pt-BR" sz="1100" b="1" dirty="0">
                <a:solidFill>
                  <a:prstClr val="black"/>
                </a:solidFill>
                <a:latin typeface="Calibri" panose="020F0502020204030204"/>
              </a:rPr>
              <a:t>3° Fase: </a:t>
            </a:r>
            <a:r>
              <a:rPr lang="pt-BR" sz="1100" dirty="0">
                <a:solidFill>
                  <a:prstClr val="black"/>
                </a:solidFill>
                <a:latin typeface="Calibri" panose="020F0502020204030204"/>
              </a:rPr>
              <a:t>Conforme avanço do projeto “F4” para as demais células </a:t>
            </a:r>
            <a:endParaRPr lang="pt-BR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ABB00C5-51D6-4518-3EAD-8E24A7FFAA5C}"/>
              </a:ext>
            </a:extLst>
          </p:cNvPr>
          <p:cNvSpPr txBox="1"/>
          <p:nvPr/>
        </p:nvSpPr>
        <p:spPr>
          <a:xfrm>
            <a:off x="150034" y="2564399"/>
            <a:ext cx="299973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b="1" dirty="0"/>
              <a:t>Redução do percentual de sucata operacional</a:t>
            </a:r>
          </a:p>
          <a:p>
            <a:pPr algn="just"/>
            <a:r>
              <a:rPr lang="pt-BR" sz="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projeto tem como meta reduzir 30%  da sucata operacional, na linha TD10, através da melhoria dos processos de medição e inspeção (CEP em tempo real, tomada de decisão baseada em análise estatística</a:t>
            </a:r>
            <a:r>
              <a:rPr lang="pt-BR" sz="7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pt-BR" sz="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alerta de peça fora do especificado).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b="1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Fazer certo na primeira vez</a:t>
            </a:r>
          </a:p>
          <a:p>
            <a:pPr algn="just"/>
            <a:r>
              <a:rPr lang="pt-BR" sz="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Garantir que as peças sejam fabricadas corretamente na primeira vez, reduzindo retrabalhos e desperdícios, sendo a base do projeto "Rumo ao Defeito Zero" quanto a refugos e retrabalhos  e apoio ao Projeto “F4”. </a:t>
            </a:r>
            <a:endParaRPr lang="pt-BR" sz="7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Interação com diversas áreas</a:t>
            </a:r>
          </a:p>
          <a:p>
            <a:pPr algn="just"/>
            <a:r>
              <a:rPr lang="pt-BR" sz="7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TI:</a:t>
            </a:r>
            <a:r>
              <a:rPr lang="pt-BR" sz="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Integrar o sistema de medição com as plataformas tecnológicas existentes, garantindo a coleta e análise de dados em tempo real.</a:t>
            </a:r>
            <a:endParaRPr lang="pt-BR" sz="7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7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Gente e Cultura:</a:t>
            </a:r>
            <a:r>
              <a:rPr lang="pt-BR" sz="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Promover a cultura de qualidade e precisão, treinando e engajando os operadores no uso da nova tecnologia.</a:t>
            </a:r>
            <a:endParaRPr lang="pt-BR" sz="7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7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Automação:</a:t>
            </a:r>
            <a:r>
              <a:rPr lang="pt-BR" sz="7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Utilizar tecnologias de automação para aumentar a precisão e eficiência dos processos de medição.</a:t>
            </a:r>
          </a:p>
          <a:p>
            <a:pPr algn="just"/>
            <a:r>
              <a:rPr lang="pt-BR" sz="800" b="1" dirty="0"/>
              <a:t>Suprimentos:</a:t>
            </a:r>
            <a:r>
              <a:rPr lang="pt-BR" sz="800" dirty="0"/>
              <a:t> </a:t>
            </a:r>
            <a:r>
              <a:rPr lang="pt-BR" sz="700" dirty="0"/>
              <a:t>Negociação de preços com fornecedores para otimização de custos.</a:t>
            </a:r>
            <a:endParaRPr lang="pt-BR" sz="7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Eficiência Operacional </a:t>
            </a:r>
          </a:p>
          <a:p>
            <a:pPr algn="just"/>
            <a:r>
              <a:rPr lang="pt-BR" sz="700" dirty="0"/>
              <a:t>Interligação com o Projeto “F4” com foco na redução de desperdícios quanto aos tempos que não agregam valor ou tempos adicionais necessários (Medição).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pt-BR" sz="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endParaRPr lang="pt-BR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pt-BR" sz="9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7CA4039-3659-C42D-B274-057722E2BF61}"/>
              </a:ext>
            </a:extLst>
          </p:cNvPr>
          <p:cNvSpPr txBox="1"/>
          <p:nvPr/>
        </p:nvSpPr>
        <p:spPr>
          <a:xfrm>
            <a:off x="5225962" y="1580897"/>
            <a:ext cx="173787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MEASURLINK – TD10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D44BF20-F878-2C72-09A6-211906D6C42E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433216" y="2631885"/>
            <a:ext cx="1080000" cy="90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DC1B10D-E743-7A7A-3EE4-C7B9BF22ADF1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297184" y="2631885"/>
            <a:ext cx="1080000" cy="90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596E9459-377D-D27B-BADC-CE8FCB48A83B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558252" y="2631885"/>
            <a:ext cx="1080000" cy="90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F73EE04-5541-5BBD-D598-815A243C5466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671916" y="2631885"/>
            <a:ext cx="1080000" cy="90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E69CA14-DDA3-2B7D-C868-09C0040F7BB2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795942" y="2631885"/>
            <a:ext cx="1080000" cy="90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A87DFA6-80DE-2C51-1062-63B163BF352B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216" y="4160810"/>
            <a:ext cx="1080000" cy="90000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148DD35A-A436-5FD1-F7F5-4D92B2DC13A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733" y="4160810"/>
            <a:ext cx="540000" cy="885718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8663DA8D-9B4C-F769-24E6-6C7B5505958A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065" y="4169708"/>
            <a:ext cx="540000" cy="88641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D217B693-7563-B454-8CB5-E94890AD3DA8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9"/>
          <a:stretch/>
        </p:blipFill>
        <p:spPr bwMode="auto">
          <a:xfrm>
            <a:off x="5594434" y="4160810"/>
            <a:ext cx="1080000" cy="9000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05002BFD-32B3-9F77-5D2B-A78C825E72CB}"/>
              </a:ext>
            </a:extLst>
          </p:cNvPr>
          <p:cNvPicPr preferRelativeResize="0"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6707099" y="4160810"/>
            <a:ext cx="1080000" cy="90000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45E5CFFB-D427-A971-EE1F-230EAF00BE6B}"/>
              </a:ext>
            </a:extLst>
          </p:cNvPr>
          <p:cNvPicPr preferRelativeResize="0"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815410" y="4160810"/>
            <a:ext cx="1080000" cy="90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6" name="Retângulo de cantos arredondados 270">
            <a:extLst>
              <a:ext uri="{FF2B5EF4-FFF2-40B4-BE49-F238E27FC236}">
                <a16:creationId xmlns:a16="http://schemas.microsoft.com/office/drawing/2014/main" id="{BBA3FB22-9A90-AB29-A351-494EEB6C5EF4}"/>
              </a:ext>
            </a:extLst>
          </p:cNvPr>
          <p:cNvSpPr/>
          <p:nvPr/>
        </p:nvSpPr>
        <p:spPr>
          <a:xfrm>
            <a:off x="3294922" y="3555844"/>
            <a:ext cx="1080000" cy="381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Abertura do registro de inspeção</a:t>
            </a:r>
          </a:p>
        </p:txBody>
      </p:sp>
      <p:sp>
        <p:nvSpPr>
          <p:cNvPr id="38" name="Retângulo de cantos arredondados 270">
            <a:extLst>
              <a:ext uri="{FF2B5EF4-FFF2-40B4-BE49-F238E27FC236}">
                <a16:creationId xmlns:a16="http://schemas.microsoft.com/office/drawing/2014/main" id="{AB9554F5-0F65-9184-0688-B303221AADE2}"/>
              </a:ext>
            </a:extLst>
          </p:cNvPr>
          <p:cNvSpPr/>
          <p:nvPr/>
        </p:nvSpPr>
        <p:spPr>
          <a:xfrm>
            <a:off x="4434804" y="3555844"/>
            <a:ext cx="1069238" cy="381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Inspeção</a:t>
            </a:r>
          </a:p>
        </p:txBody>
      </p:sp>
      <p:sp>
        <p:nvSpPr>
          <p:cNvPr id="40" name="Retângulo de cantos arredondados 270">
            <a:extLst>
              <a:ext uri="{FF2B5EF4-FFF2-40B4-BE49-F238E27FC236}">
                <a16:creationId xmlns:a16="http://schemas.microsoft.com/office/drawing/2014/main" id="{27B68750-3578-E3C2-30CB-7E473E41FDB6}"/>
              </a:ext>
            </a:extLst>
          </p:cNvPr>
          <p:cNvSpPr/>
          <p:nvPr/>
        </p:nvSpPr>
        <p:spPr>
          <a:xfrm>
            <a:off x="5552271" y="3555844"/>
            <a:ext cx="1069238" cy="381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Registro dos dados</a:t>
            </a:r>
          </a:p>
        </p:txBody>
      </p:sp>
      <p:sp>
        <p:nvSpPr>
          <p:cNvPr id="41" name="Retângulo de cantos arredondados 270">
            <a:extLst>
              <a:ext uri="{FF2B5EF4-FFF2-40B4-BE49-F238E27FC236}">
                <a16:creationId xmlns:a16="http://schemas.microsoft.com/office/drawing/2014/main" id="{5B793C9B-D627-2791-04F2-C5B101E7B05C}"/>
              </a:ext>
            </a:extLst>
          </p:cNvPr>
          <p:cNvSpPr/>
          <p:nvPr/>
        </p:nvSpPr>
        <p:spPr>
          <a:xfrm>
            <a:off x="6671916" y="3555844"/>
            <a:ext cx="1080000" cy="381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Fechamento</a:t>
            </a:r>
          </a:p>
        </p:txBody>
      </p:sp>
      <p:sp>
        <p:nvSpPr>
          <p:cNvPr id="47" name="Retângulo de cantos arredondados 270">
            <a:extLst>
              <a:ext uri="{FF2B5EF4-FFF2-40B4-BE49-F238E27FC236}">
                <a16:creationId xmlns:a16="http://schemas.microsoft.com/office/drawing/2014/main" id="{F2AC469B-7AC3-E240-8C8A-0E4E56DD6CB5}"/>
              </a:ext>
            </a:extLst>
          </p:cNvPr>
          <p:cNvSpPr/>
          <p:nvPr/>
        </p:nvSpPr>
        <p:spPr>
          <a:xfrm>
            <a:off x="7795814" y="3555844"/>
            <a:ext cx="1080000" cy="381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Arquivamento</a:t>
            </a:r>
          </a:p>
        </p:txBody>
      </p:sp>
      <p:sp>
        <p:nvSpPr>
          <p:cNvPr id="7" name="Retângulo de cantos arredondados 270">
            <a:extLst>
              <a:ext uri="{FF2B5EF4-FFF2-40B4-BE49-F238E27FC236}">
                <a16:creationId xmlns:a16="http://schemas.microsoft.com/office/drawing/2014/main" id="{C3D86F59-09E9-4836-5FFB-4821F088F6B7}"/>
              </a:ext>
            </a:extLst>
          </p:cNvPr>
          <p:cNvSpPr/>
          <p:nvPr/>
        </p:nvSpPr>
        <p:spPr>
          <a:xfrm>
            <a:off x="3268455" y="2436330"/>
            <a:ext cx="5631745" cy="1626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Modelo </a:t>
            </a:r>
            <a:r>
              <a:rPr lang="pt-BR" sz="1200" dirty="0">
                <a:solidFill>
                  <a:prstClr val="white"/>
                </a:solidFill>
                <a:latin typeface="Calibri" panose="020F0502020204030204"/>
              </a:rPr>
              <a:t>Atual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tângulo de cantos arredondados 270">
            <a:extLst>
              <a:ext uri="{FF2B5EF4-FFF2-40B4-BE49-F238E27FC236}">
                <a16:creationId xmlns:a16="http://schemas.microsoft.com/office/drawing/2014/main" id="{523AC88C-3159-2E21-18F3-3878E51F0AC2}"/>
              </a:ext>
            </a:extLst>
          </p:cNvPr>
          <p:cNvSpPr/>
          <p:nvPr/>
        </p:nvSpPr>
        <p:spPr>
          <a:xfrm>
            <a:off x="3266021" y="3982694"/>
            <a:ext cx="5631745" cy="16268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Modelo Proposto</a:t>
            </a:r>
          </a:p>
        </p:txBody>
      </p:sp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7B70AC73-7E82-C4DB-62CE-F6F20D477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8680542"/>
              </p:ext>
            </p:extLst>
          </p:nvPr>
        </p:nvGraphicFramePr>
        <p:xfrm>
          <a:off x="4153651" y="5460121"/>
          <a:ext cx="2432383" cy="1160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7C0F5B-97C2-4E89-9DF6-F2E670FE9E61}"/>
              </a:ext>
            </a:extLst>
          </p:cNvPr>
          <p:cNvSpPr txBox="1"/>
          <p:nvPr/>
        </p:nvSpPr>
        <p:spPr>
          <a:xfrm>
            <a:off x="4258139" y="5333830"/>
            <a:ext cx="86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FASE 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057A253-7CCF-55C2-A4AD-E11A1D38A6E9}"/>
              </a:ext>
            </a:extLst>
          </p:cNvPr>
          <p:cNvSpPr txBox="1"/>
          <p:nvPr/>
        </p:nvSpPr>
        <p:spPr>
          <a:xfrm>
            <a:off x="5648733" y="5318192"/>
            <a:ext cx="86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FASE 2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9BF686B-287B-C19C-E5B5-A14D1E859BFD}"/>
              </a:ext>
            </a:extLst>
          </p:cNvPr>
          <p:cNvSpPr txBox="1"/>
          <p:nvPr/>
        </p:nvSpPr>
        <p:spPr>
          <a:xfrm>
            <a:off x="7013857" y="5329157"/>
            <a:ext cx="86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FASE 3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46044C71-1B23-76B0-9E31-403AB6F30876}"/>
              </a:ext>
            </a:extLst>
          </p:cNvPr>
          <p:cNvSpPr/>
          <p:nvPr/>
        </p:nvSpPr>
        <p:spPr>
          <a:xfrm>
            <a:off x="3250656" y="2411999"/>
            <a:ext cx="5658334" cy="268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6A27EBFD-E33F-C5B7-AB68-BE5D2B8621ED}"/>
              </a:ext>
            </a:extLst>
          </p:cNvPr>
          <p:cNvCxnSpPr>
            <a:stCxn id="60" idx="2"/>
            <a:endCxn id="14" idx="0"/>
          </p:cNvCxnSpPr>
          <p:nvPr/>
        </p:nvCxnSpPr>
        <p:spPr>
          <a:xfrm flipH="1">
            <a:off x="4689229" y="5098878"/>
            <a:ext cx="1390594" cy="234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83793758-19E9-3DFB-DF3C-4C5F3DE3CE8E}"/>
              </a:ext>
            </a:extLst>
          </p:cNvPr>
          <p:cNvCxnSpPr>
            <a:cxnSpLocks/>
            <a:stCxn id="60" idx="2"/>
            <a:endCxn id="16" idx="0"/>
          </p:cNvCxnSpPr>
          <p:nvPr/>
        </p:nvCxnSpPr>
        <p:spPr>
          <a:xfrm>
            <a:off x="6079823" y="5098878"/>
            <a:ext cx="0" cy="219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FEFAAB00-FA4A-26DB-26ED-484FA0C07EBE}"/>
              </a:ext>
            </a:extLst>
          </p:cNvPr>
          <p:cNvCxnSpPr>
            <a:cxnSpLocks/>
            <a:stCxn id="60" idx="2"/>
            <a:endCxn id="28" idx="0"/>
          </p:cNvCxnSpPr>
          <p:nvPr/>
        </p:nvCxnSpPr>
        <p:spPr>
          <a:xfrm>
            <a:off x="6079823" y="5098878"/>
            <a:ext cx="1365124" cy="230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73F8B3F5-376E-EE96-D090-540D20704E4F}"/>
              </a:ext>
            </a:extLst>
          </p:cNvPr>
          <p:cNvGrpSpPr/>
          <p:nvPr/>
        </p:nvGrpSpPr>
        <p:grpSpPr>
          <a:xfrm>
            <a:off x="6938399" y="5704537"/>
            <a:ext cx="1013097" cy="915805"/>
            <a:chOff x="1418810" y="270066"/>
            <a:chExt cx="1013097" cy="915805"/>
          </a:xfrm>
        </p:grpSpPr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3FDA206D-77D9-C658-69D5-5A876D1CBE3A}"/>
                </a:ext>
              </a:extLst>
            </p:cNvPr>
            <p:cNvSpPr/>
            <p:nvPr/>
          </p:nvSpPr>
          <p:spPr>
            <a:xfrm>
              <a:off x="1418810" y="270066"/>
              <a:ext cx="1013097" cy="915805"/>
            </a:xfrm>
            <a:prstGeom prst="roundRect">
              <a:avLst>
                <a:gd name="adj" fmla="val 10000"/>
              </a:avLst>
            </a:prstGeom>
            <a:solidFill>
              <a:schemeClr val="bg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sz="1000">
                <a:solidFill>
                  <a:srgbClr val="FF0000"/>
                </a:solidFill>
              </a:endParaRPr>
            </a:p>
          </p:txBody>
        </p:sp>
        <p:sp>
          <p:nvSpPr>
            <p:cNvPr id="49" name="Retângulo: Cantos Arredondados 4">
              <a:extLst>
                <a:ext uri="{FF2B5EF4-FFF2-40B4-BE49-F238E27FC236}">
                  <a16:creationId xmlns:a16="http://schemas.microsoft.com/office/drawing/2014/main" id="{25ED04EB-F805-A70B-1F8B-30FAE3FE1B26}"/>
                </a:ext>
              </a:extLst>
            </p:cNvPr>
            <p:cNvSpPr txBox="1"/>
            <p:nvPr/>
          </p:nvSpPr>
          <p:spPr>
            <a:xfrm>
              <a:off x="1445633" y="296889"/>
              <a:ext cx="959451" cy="8621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100" tIns="38100" rIns="38100" bIns="3810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000" b="1" i="0" kern="1200" dirty="0">
                  <a:solidFill>
                    <a:srgbClr val="FF0000"/>
                  </a:solidFill>
                </a:rPr>
                <a:t>ABRANGÊNCIA PARA OUTRAS LINHAS, CONFORME AVANÇOS DO PROJETO “F4” </a:t>
              </a:r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192F6450-9255-F795-CCFF-3B2DB5E7F979}"/>
              </a:ext>
            </a:extLst>
          </p:cNvPr>
          <p:cNvGrpSpPr/>
          <p:nvPr/>
        </p:nvGrpSpPr>
        <p:grpSpPr>
          <a:xfrm>
            <a:off x="6658697" y="5893413"/>
            <a:ext cx="214776" cy="467369"/>
            <a:chOff x="1114881" y="494284"/>
            <a:chExt cx="214776" cy="467369"/>
          </a:xfrm>
        </p:grpSpPr>
        <p:sp>
          <p:nvSpPr>
            <p:cNvPr id="52" name="Seta: para a Direita 51">
              <a:extLst>
                <a:ext uri="{FF2B5EF4-FFF2-40B4-BE49-F238E27FC236}">
                  <a16:creationId xmlns:a16="http://schemas.microsoft.com/office/drawing/2014/main" id="{3DA19CBA-54CA-3322-37EA-5168074924B2}"/>
                </a:ext>
              </a:extLst>
            </p:cNvPr>
            <p:cNvSpPr/>
            <p:nvPr/>
          </p:nvSpPr>
          <p:spPr>
            <a:xfrm>
              <a:off x="1114881" y="494284"/>
              <a:ext cx="214776" cy="467369"/>
            </a:xfrm>
            <a:prstGeom prst="rightArrow">
              <a:avLst>
                <a:gd name="adj1" fmla="val 60000"/>
                <a:gd name="adj2" fmla="val 50000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3" name="Seta: para a Direita 4">
              <a:extLst>
                <a:ext uri="{FF2B5EF4-FFF2-40B4-BE49-F238E27FC236}">
                  <a16:creationId xmlns:a16="http://schemas.microsoft.com/office/drawing/2014/main" id="{6C9B742E-BE12-1A69-4851-A354F0EC0384}"/>
                </a:ext>
              </a:extLst>
            </p:cNvPr>
            <p:cNvSpPr txBox="1"/>
            <p:nvPr/>
          </p:nvSpPr>
          <p:spPr>
            <a:xfrm>
              <a:off x="1114881" y="587758"/>
              <a:ext cx="150343" cy="2804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pt-BR" sz="2000" kern="1200"/>
            </a:p>
          </p:txBody>
        </p:sp>
      </p:grpSp>
      <p:sp>
        <p:nvSpPr>
          <p:cNvPr id="125" name="Retângulo 124">
            <a:extLst>
              <a:ext uri="{FF2B5EF4-FFF2-40B4-BE49-F238E27FC236}">
                <a16:creationId xmlns:a16="http://schemas.microsoft.com/office/drawing/2014/main" id="{95DDEDD4-00C1-1A3E-F141-BD44A4A2DC2B}"/>
              </a:ext>
            </a:extLst>
          </p:cNvPr>
          <p:cNvSpPr/>
          <p:nvPr/>
        </p:nvSpPr>
        <p:spPr>
          <a:xfrm>
            <a:off x="3335333" y="1292854"/>
            <a:ext cx="1426140" cy="267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ysClr val="windowText" lastClr="000000"/>
                </a:solidFill>
              </a:rPr>
              <a:t>Reduzir 30% do percentual de sucata na linha TD10</a:t>
            </a:r>
          </a:p>
        </p:txBody>
      </p:sp>
      <p:sp>
        <p:nvSpPr>
          <p:cNvPr id="126" name="Retângulo 125">
            <a:extLst>
              <a:ext uri="{FF2B5EF4-FFF2-40B4-BE49-F238E27FC236}">
                <a16:creationId xmlns:a16="http://schemas.microsoft.com/office/drawing/2014/main" id="{861F5040-5A12-23F9-1257-6EDBC841E7BA}"/>
              </a:ext>
            </a:extLst>
          </p:cNvPr>
          <p:cNvSpPr/>
          <p:nvPr/>
        </p:nvSpPr>
        <p:spPr>
          <a:xfrm>
            <a:off x="3335333" y="1898941"/>
            <a:ext cx="1426140" cy="267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ysClr val="windowText" lastClr="000000"/>
                </a:solidFill>
              </a:rPr>
              <a:t>Mudança de cultura </a:t>
            </a:r>
          </a:p>
        </p:txBody>
      </p:sp>
      <p:sp>
        <p:nvSpPr>
          <p:cNvPr id="127" name="Retângulo 126">
            <a:extLst>
              <a:ext uri="{FF2B5EF4-FFF2-40B4-BE49-F238E27FC236}">
                <a16:creationId xmlns:a16="http://schemas.microsoft.com/office/drawing/2014/main" id="{B7E4C700-BE23-A675-28A0-6927764CA392}"/>
              </a:ext>
            </a:extLst>
          </p:cNvPr>
          <p:cNvSpPr/>
          <p:nvPr/>
        </p:nvSpPr>
        <p:spPr>
          <a:xfrm>
            <a:off x="3335333" y="1594359"/>
            <a:ext cx="1428344" cy="267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ysClr val="windowText" lastClr="000000"/>
                </a:solidFill>
              </a:rPr>
              <a:t>Fazer Certo na Primeira Vez </a:t>
            </a:r>
          </a:p>
        </p:txBody>
      </p:sp>
      <p:sp>
        <p:nvSpPr>
          <p:cNvPr id="128" name="Retângulo 127">
            <a:extLst>
              <a:ext uri="{FF2B5EF4-FFF2-40B4-BE49-F238E27FC236}">
                <a16:creationId xmlns:a16="http://schemas.microsoft.com/office/drawing/2014/main" id="{0EC4FBE6-8481-BF63-50CF-68A68A1B2B15}"/>
              </a:ext>
            </a:extLst>
          </p:cNvPr>
          <p:cNvSpPr/>
          <p:nvPr/>
        </p:nvSpPr>
        <p:spPr>
          <a:xfrm>
            <a:off x="7428325" y="1274835"/>
            <a:ext cx="1426140" cy="267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ysClr val="windowText" lastClr="000000"/>
                </a:solidFill>
              </a:rPr>
              <a:t>Eficiência operacional</a:t>
            </a:r>
          </a:p>
        </p:txBody>
      </p:sp>
      <p:cxnSp>
        <p:nvCxnSpPr>
          <p:cNvPr id="138" name="Conector de Seta Reta 137">
            <a:extLst>
              <a:ext uri="{FF2B5EF4-FFF2-40B4-BE49-F238E27FC236}">
                <a16:creationId xmlns:a16="http://schemas.microsoft.com/office/drawing/2014/main" id="{5B706915-C33F-BF6D-F7B4-F672D278279A}"/>
              </a:ext>
            </a:extLst>
          </p:cNvPr>
          <p:cNvCxnSpPr>
            <a:cxnSpLocks/>
            <a:stCxn id="11" idx="1"/>
            <a:endCxn id="125" idx="3"/>
          </p:cNvCxnSpPr>
          <p:nvPr/>
        </p:nvCxnSpPr>
        <p:spPr>
          <a:xfrm flipH="1" flipV="1">
            <a:off x="4761473" y="1426528"/>
            <a:ext cx="464489" cy="308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A52C49F6-EAD4-2933-E7B4-732C105511B5}"/>
              </a:ext>
            </a:extLst>
          </p:cNvPr>
          <p:cNvSpPr txBox="1"/>
          <p:nvPr/>
        </p:nvSpPr>
        <p:spPr>
          <a:xfrm>
            <a:off x="3303252" y="1071672"/>
            <a:ext cx="1668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i="1" dirty="0"/>
              <a:t>RUMO AO DEFEITO ZERO</a:t>
            </a: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C6C605F0-1568-0BCD-6E55-C5556B35EB10}"/>
              </a:ext>
            </a:extLst>
          </p:cNvPr>
          <p:cNvSpPr txBox="1"/>
          <p:nvPr/>
        </p:nvSpPr>
        <p:spPr>
          <a:xfrm>
            <a:off x="7260236" y="1065682"/>
            <a:ext cx="1668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i="1" dirty="0"/>
              <a:t>F4</a:t>
            </a:r>
          </a:p>
        </p:txBody>
      </p: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DE41406B-0CB0-C2C4-041A-755F3377CBB2}"/>
              </a:ext>
            </a:extLst>
          </p:cNvPr>
          <p:cNvCxnSpPr>
            <a:cxnSpLocks/>
            <a:stCxn id="11" idx="3"/>
            <a:endCxn id="128" idx="1"/>
          </p:cNvCxnSpPr>
          <p:nvPr/>
        </p:nvCxnSpPr>
        <p:spPr>
          <a:xfrm flipV="1">
            <a:off x="6963836" y="1408509"/>
            <a:ext cx="464489" cy="326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Retângulo 177">
            <a:extLst>
              <a:ext uri="{FF2B5EF4-FFF2-40B4-BE49-F238E27FC236}">
                <a16:creationId xmlns:a16="http://schemas.microsoft.com/office/drawing/2014/main" id="{C17BFA5A-34D8-0E78-0E98-D06CA7CC6BEE}"/>
              </a:ext>
            </a:extLst>
          </p:cNvPr>
          <p:cNvSpPr/>
          <p:nvPr/>
        </p:nvSpPr>
        <p:spPr>
          <a:xfrm>
            <a:off x="7428325" y="1566648"/>
            <a:ext cx="1426140" cy="329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ysClr val="windowText" lastClr="000000"/>
                </a:solidFill>
              </a:rPr>
              <a:t>Redução no tempo de não agregação de valor (registro Fo021)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B295198-71AF-59E8-246E-D56289AAB4EF}"/>
              </a:ext>
            </a:extLst>
          </p:cNvPr>
          <p:cNvSpPr/>
          <p:nvPr/>
        </p:nvSpPr>
        <p:spPr>
          <a:xfrm>
            <a:off x="7426064" y="1921305"/>
            <a:ext cx="1426140" cy="2673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ysClr val="windowText" lastClr="000000"/>
                </a:solidFill>
              </a:rPr>
              <a:t>Indústria 4.0</a:t>
            </a:r>
          </a:p>
        </p:txBody>
      </p: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FC6B82E6-8696-3048-89CD-6D555267BF9D}"/>
              </a:ext>
            </a:extLst>
          </p:cNvPr>
          <p:cNvCxnSpPr>
            <a:cxnSpLocks/>
            <a:stCxn id="11" idx="1"/>
            <a:endCxn id="127" idx="3"/>
          </p:cNvCxnSpPr>
          <p:nvPr/>
        </p:nvCxnSpPr>
        <p:spPr>
          <a:xfrm flipH="1" flipV="1">
            <a:off x="4763677" y="1728033"/>
            <a:ext cx="462285" cy="6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691897E6-397D-4FA7-8279-13FFC3E51681}"/>
              </a:ext>
            </a:extLst>
          </p:cNvPr>
          <p:cNvCxnSpPr>
            <a:cxnSpLocks/>
            <a:stCxn id="11" idx="1"/>
            <a:endCxn id="126" idx="3"/>
          </p:cNvCxnSpPr>
          <p:nvPr/>
        </p:nvCxnSpPr>
        <p:spPr>
          <a:xfrm flipH="1">
            <a:off x="4761473" y="1734786"/>
            <a:ext cx="464489" cy="297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270D170E-64B1-A6FD-3A3F-FD4A6969BE62}"/>
              </a:ext>
            </a:extLst>
          </p:cNvPr>
          <p:cNvCxnSpPr>
            <a:cxnSpLocks/>
            <a:stCxn id="11" idx="3"/>
            <a:endCxn id="178" idx="1"/>
          </p:cNvCxnSpPr>
          <p:nvPr/>
        </p:nvCxnSpPr>
        <p:spPr>
          <a:xfrm flipV="1">
            <a:off x="6963836" y="1731186"/>
            <a:ext cx="464489" cy="3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85">
            <a:extLst>
              <a:ext uri="{FF2B5EF4-FFF2-40B4-BE49-F238E27FC236}">
                <a16:creationId xmlns:a16="http://schemas.microsoft.com/office/drawing/2014/main" id="{CBE612E8-EE17-DEAA-1573-C7F23478C6E7}"/>
              </a:ext>
            </a:extLst>
          </p:cNvPr>
          <p:cNvCxnSpPr>
            <a:cxnSpLocks/>
            <a:stCxn id="11" idx="3"/>
            <a:endCxn id="3" idx="1"/>
          </p:cNvCxnSpPr>
          <p:nvPr/>
        </p:nvCxnSpPr>
        <p:spPr>
          <a:xfrm>
            <a:off x="6963836" y="1734786"/>
            <a:ext cx="462228" cy="320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D50E06-F210-AC16-4C30-7E7D6753FC35}"/>
              </a:ext>
            </a:extLst>
          </p:cNvPr>
          <p:cNvSpPr txBox="1"/>
          <p:nvPr/>
        </p:nvSpPr>
        <p:spPr>
          <a:xfrm>
            <a:off x="8146018" y="5792318"/>
            <a:ext cx="70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???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519436C-0E71-8D31-E11E-7364717D2840}"/>
              </a:ext>
            </a:extLst>
          </p:cNvPr>
          <p:cNvCxnSpPr>
            <a:cxnSpLocks/>
            <a:stCxn id="49" idx="3"/>
            <a:endCxn id="6" idx="1"/>
          </p:cNvCxnSpPr>
          <p:nvPr/>
        </p:nvCxnSpPr>
        <p:spPr>
          <a:xfrm flipV="1">
            <a:off x="7924673" y="5976984"/>
            <a:ext cx="221345" cy="185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6653F29A-9D14-A2E5-74F1-A23CC5FEFE9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3780" y="3472063"/>
            <a:ext cx="27813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02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225">
            <a:extLst>
              <a:ext uri="{FF2B5EF4-FFF2-40B4-BE49-F238E27FC236}">
                <a16:creationId xmlns:a16="http://schemas.microsoft.com/office/drawing/2014/main" id="{D515AD6F-24C8-B0BC-060D-8DE51AE58CE0}"/>
              </a:ext>
            </a:extLst>
          </p:cNvPr>
          <p:cNvSpPr/>
          <p:nvPr/>
        </p:nvSpPr>
        <p:spPr>
          <a:xfrm>
            <a:off x="526995" y="151897"/>
            <a:ext cx="11207354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Investimento macro estimado, conforme tecnologias atuais</a:t>
            </a:r>
          </a:p>
        </p:txBody>
      </p:sp>
      <p:pic>
        <p:nvPicPr>
          <p:cNvPr id="11" name="Imagem 10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2E92E2C9-93F3-F477-33A2-F68977FC6E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9" y="320037"/>
            <a:ext cx="1506599" cy="303799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7F3D3AD-D9B8-E54F-FB89-0CB3678E550F}"/>
              </a:ext>
            </a:extLst>
          </p:cNvPr>
          <p:cNvSpPr/>
          <p:nvPr/>
        </p:nvSpPr>
        <p:spPr>
          <a:xfrm>
            <a:off x="526995" y="1368591"/>
            <a:ext cx="1441602" cy="89236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 Terminal (Projeto F4) 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60A25EA-9EA5-3A87-B724-CFD424AC296A}"/>
              </a:ext>
            </a:extLst>
          </p:cNvPr>
          <p:cNvSpPr/>
          <p:nvPr/>
        </p:nvSpPr>
        <p:spPr>
          <a:xfrm>
            <a:off x="526996" y="4007520"/>
            <a:ext cx="1441601" cy="91585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Pivô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280CF7A-9A3A-D76F-6636-065B008D6441}"/>
              </a:ext>
            </a:extLst>
          </p:cNvPr>
          <p:cNvSpPr/>
          <p:nvPr/>
        </p:nvSpPr>
        <p:spPr>
          <a:xfrm>
            <a:off x="7128597" y="2776322"/>
            <a:ext cx="1441600" cy="89236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Axial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AE97427-3367-42D7-F971-5C8FC05A3074}"/>
              </a:ext>
            </a:extLst>
          </p:cNvPr>
          <p:cNvSpPr/>
          <p:nvPr/>
        </p:nvSpPr>
        <p:spPr>
          <a:xfrm>
            <a:off x="7128597" y="4081678"/>
            <a:ext cx="1441600" cy="89236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Conformação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2D095B5-79C7-67BA-69AB-4AB9A7C93813}"/>
              </a:ext>
            </a:extLst>
          </p:cNvPr>
          <p:cNvSpPr/>
          <p:nvPr/>
        </p:nvSpPr>
        <p:spPr>
          <a:xfrm>
            <a:off x="2747175" y="960118"/>
            <a:ext cx="918653" cy="35699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TD10 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1A7FC54-9237-FA62-BD48-91AD17662FCF}"/>
              </a:ext>
            </a:extLst>
          </p:cNvPr>
          <p:cNvSpPr/>
          <p:nvPr/>
        </p:nvSpPr>
        <p:spPr>
          <a:xfrm>
            <a:off x="2748384" y="1358542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TD20 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8E5F8D6-D1F8-3E80-4863-4ABD6B9CAA91}"/>
              </a:ext>
            </a:extLst>
          </p:cNvPr>
          <p:cNvSpPr/>
          <p:nvPr/>
        </p:nvSpPr>
        <p:spPr>
          <a:xfrm>
            <a:off x="2748384" y="1756966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TD30 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751469A-B7D5-36BF-8307-D78BA7C0EBE7}"/>
              </a:ext>
            </a:extLst>
          </p:cNvPr>
          <p:cNvSpPr/>
          <p:nvPr/>
        </p:nvSpPr>
        <p:spPr>
          <a:xfrm>
            <a:off x="2748384" y="2155390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TD40 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79EC5A97-FB17-5CD3-CAB1-270937A1B0C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1968597" y="1138613"/>
            <a:ext cx="778578" cy="67616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C847DCAF-B0CD-A253-34CC-A96D0DC1CC5C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1968597" y="1537037"/>
            <a:ext cx="779787" cy="27773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4B4AA90E-D8D5-E949-D39B-B91BEE7300FB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1968597" y="1814774"/>
            <a:ext cx="779787" cy="1206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F9AE62A5-D975-DE25-8C2D-36FE1F811A83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1968597" y="1814774"/>
            <a:ext cx="779787" cy="51911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6F591C67-104A-C374-64DA-5C3E997C538B}"/>
              </a:ext>
            </a:extLst>
          </p:cNvPr>
          <p:cNvCxnSpPr>
            <a:cxnSpLocks/>
            <a:stCxn id="4" idx="3"/>
            <a:endCxn id="26" idx="1"/>
          </p:cNvCxnSpPr>
          <p:nvPr/>
        </p:nvCxnSpPr>
        <p:spPr>
          <a:xfrm flipV="1">
            <a:off x="1968597" y="2878371"/>
            <a:ext cx="779787" cy="158707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BABE1F3-793B-485B-50C2-7990E4F248B5}"/>
              </a:ext>
            </a:extLst>
          </p:cNvPr>
          <p:cNvSpPr/>
          <p:nvPr/>
        </p:nvSpPr>
        <p:spPr>
          <a:xfrm>
            <a:off x="2748384" y="2699876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PA10 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2FCA251-3A1B-8330-48C6-3627D4C255DA}"/>
              </a:ext>
            </a:extLst>
          </p:cNvPr>
          <p:cNvSpPr/>
          <p:nvPr/>
        </p:nvSpPr>
        <p:spPr>
          <a:xfrm>
            <a:off x="2748384" y="3098300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PA20 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B8F75AB-1A26-0E3A-1ED5-749A45A303C3}"/>
              </a:ext>
            </a:extLst>
          </p:cNvPr>
          <p:cNvSpPr/>
          <p:nvPr/>
        </p:nvSpPr>
        <p:spPr>
          <a:xfrm>
            <a:off x="2748384" y="3496724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PA30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CAC38F8-5962-2C22-D8E6-8AF4C6F16252}"/>
              </a:ext>
            </a:extLst>
          </p:cNvPr>
          <p:cNvSpPr txBox="1"/>
          <p:nvPr/>
        </p:nvSpPr>
        <p:spPr>
          <a:xfrm>
            <a:off x="3633521" y="1005658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R$ 56 419, 16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CD5F09F-5F1E-CE04-D8B6-7A8285872B8B}"/>
              </a:ext>
            </a:extLst>
          </p:cNvPr>
          <p:cNvSpPr txBox="1"/>
          <p:nvPr/>
        </p:nvSpPr>
        <p:spPr>
          <a:xfrm>
            <a:off x="3633521" y="1388737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R$ 41 419, 16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E82BC6E-5AC3-9D23-33AE-4131507A5913}"/>
              </a:ext>
            </a:extLst>
          </p:cNvPr>
          <p:cNvSpPr txBox="1"/>
          <p:nvPr/>
        </p:nvSpPr>
        <p:spPr>
          <a:xfrm>
            <a:off x="3633521" y="1787161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R$ 41 419, 16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CBAB710-E4DF-4B85-7279-4EC3D9D51A28}"/>
              </a:ext>
            </a:extLst>
          </p:cNvPr>
          <p:cNvSpPr txBox="1"/>
          <p:nvPr/>
        </p:nvSpPr>
        <p:spPr>
          <a:xfrm>
            <a:off x="3633521" y="2177972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R$ 41 419, 16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547C070E-69B3-44DE-133D-34DE7D4C3814}"/>
              </a:ext>
            </a:extLst>
          </p:cNvPr>
          <p:cNvSpPr/>
          <p:nvPr/>
        </p:nvSpPr>
        <p:spPr>
          <a:xfrm>
            <a:off x="2748384" y="3895148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PA40 </a:t>
            </a:r>
          </a:p>
        </p:txBody>
      </p: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30C52B62-7303-C615-AE79-3DD25820E767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 flipV="1">
            <a:off x="1968597" y="3276795"/>
            <a:ext cx="779787" cy="118865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C9AC73D3-6E4C-7C82-F9DD-214441A53199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 flipV="1">
            <a:off x="1968597" y="3675219"/>
            <a:ext cx="779787" cy="79022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6E21810A-368E-3E27-51BE-74FE5DCDE542}"/>
              </a:ext>
            </a:extLst>
          </p:cNvPr>
          <p:cNvCxnSpPr>
            <a:cxnSpLocks/>
            <a:stCxn id="4" idx="3"/>
            <a:endCxn id="38" idx="1"/>
          </p:cNvCxnSpPr>
          <p:nvPr/>
        </p:nvCxnSpPr>
        <p:spPr>
          <a:xfrm flipV="1">
            <a:off x="1968597" y="4073643"/>
            <a:ext cx="779787" cy="39180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AC7439A6-0373-CA54-C52A-D0F09C40241A}"/>
              </a:ext>
            </a:extLst>
          </p:cNvPr>
          <p:cNvSpPr/>
          <p:nvPr/>
        </p:nvSpPr>
        <p:spPr>
          <a:xfrm>
            <a:off x="2748384" y="5105796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PC30 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BFC2F16D-015C-4293-6CA7-00BF8259AD26}"/>
              </a:ext>
            </a:extLst>
          </p:cNvPr>
          <p:cNvSpPr/>
          <p:nvPr/>
        </p:nvSpPr>
        <p:spPr>
          <a:xfrm>
            <a:off x="2748384" y="5943388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JS10</a:t>
            </a:r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ED20119A-519A-F747-C08E-A6CD19DE9F77}"/>
              </a:ext>
            </a:extLst>
          </p:cNvPr>
          <p:cNvSpPr/>
          <p:nvPr/>
        </p:nvSpPr>
        <p:spPr>
          <a:xfrm>
            <a:off x="2748384" y="6348995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JS20</a:t>
            </a:r>
          </a:p>
        </p:txBody>
      </p: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31213089-2EE1-0CF6-14E8-B2B331F29600}"/>
              </a:ext>
            </a:extLst>
          </p:cNvPr>
          <p:cNvCxnSpPr>
            <a:cxnSpLocks/>
            <a:stCxn id="4" idx="3"/>
            <a:endCxn id="55" idx="1"/>
          </p:cNvCxnSpPr>
          <p:nvPr/>
        </p:nvCxnSpPr>
        <p:spPr>
          <a:xfrm>
            <a:off x="1968597" y="4465448"/>
            <a:ext cx="779787" cy="81884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6FFB5142-06DC-486C-223D-F7BB6FD18BAA}"/>
              </a:ext>
            </a:extLst>
          </p:cNvPr>
          <p:cNvCxnSpPr>
            <a:cxnSpLocks/>
            <a:stCxn id="4" idx="3"/>
            <a:endCxn id="56" idx="1"/>
          </p:cNvCxnSpPr>
          <p:nvPr/>
        </p:nvCxnSpPr>
        <p:spPr>
          <a:xfrm>
            <a:off x="1968597" y="4465448"/>
            <a:ext cx="779787" cy="16564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44AF19E3-AB81-2723-E421-ABC4A5E94931}"/>
              </a:ext>
            </a:extLst>
          </p:cNvPr>
          <p:cNvCxnSpPr>
            <a:cxnSpLocks/>
            <a:stCxn id="4" idx="3"/>
            <a:endCxn id="57" idx="1"/>
          </p:cNvCxnSpPr>
          <p:nvPr/>
        </p:nvCxnSpPr>
        <p:spPr>
          <a:xfrm>
            <a:off x="1968597" y="4465448"/>
            <a:ext cx="779787" cy="206204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15080E4C-71EE-28B2-8F38-3690F48C030E}"/>
              </a:ext>
            </a:extLst>
          </p:cNvPr>
          <p:cNvSpPr txBox="1"/>
          <p:nvPr/>
        </p:nvSpPr>
        <p:spPr>
          <a:xfrm>
            <a:off x="3643615" y="2731817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R$ 36 869, 89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62C273EB-6428-780A-5656-AC48858E5CCD}"/>
              </a:ext>
            </a:extLst>
          </p:cNvPr>
          <p:cNvSpPr txBox="1"/>
          <p:nvPr/>
        </p:nvSpPr>
        <p:spPr>
          <a:xfrm>
            <a:off x="3633521" y="3137803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R$ 36 869, 89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81A002F0-7B0D-B0B1-15D0-EB57A3448C6B}"/>
              </a:ext>
            </a:extLst>
          </p:cNvPr>
          <p:cNvSpPr txBox="1"/>
          <p:nvPr/>
        </p:nvSpPr>
        <p:spPr>
          <a:xfrm>
            <a:off x="3643615" y="3544871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R$ 36 869, 89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0EBE7A18-02CB-58B6-876D-768AFD6CBD7A}"/>
              </a:ext>
            </a:extLst>
          </p:cNvPr>
          <p:cNvSpPr txBox="1"/>
          <p:nvPr/>
        </p:nvSpPr>
        <p:spPr>
          <a:xfrm>
            <a:off x="3655325" y="3943179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R$ 36 869, 89</a:t>
            </a:r>
          </a:p>
        </p:txBody>
      </p:sp>
      <p:sp>
        <p:nvSpPr>
          <p:cNvPr id="126" name="CaixaDeTexto 125">
            <a:extLst>
              <a:ext uri="{FF2B5EF4-FFF2-40B4-BE49-F238E27FC236}">
                <a16:creationId xmlns:a16="http://schemas.microsoft.com/office/drawing/2014/main" id="{2E9DE8E2-3F29-57A5-F3B8-50A129AB95A3}"/>
              </a:ext>
            </a:extLst>
          </p:cNvPr>
          <p:cNvSpPr txBox="1"/>
          <p:nvPr/>
        </p:nvSpPr>
        <p:spPr>
          <a:xfrm>
            <a:off x="3664619" y="5523111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R$41 639, 27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76C5E9E4-B7BC-F5B4-180E-EE8E661F7EDD}"/>
              </a:ext>
            </a:extLst>
          </p:cNvPr>
          <p:cNvSpPr txBox="1"/>
          <p:nvPr/>
        </p:nvSpPr>
        <p:spPr>
          <a:xfrm>
            <a:off x="3655325" y="6131678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R$36 869, 89</a:t>
            </a:r>
          </a:p>
        </p:txBody>
      </p:sp>
      <p:sp>
        <p:nvSpPr>
          <p:cNvPr id="128" name="Retângulo: Cantos Arredondados 127">
            <a:extLst>
              <a:ext uri="{FF2B5EF4-FFF2-40B4-BE49-F238E27FC236}">
                <a16:creationId xmlns:a16="http://schemas.microsoft.com/office/drawing/2014/main" id="{539C951A-B270-BF30-FDA8-2C7E31CF3B79}"/>
              </a:ext>
            </a:extLst>
          </p:cNvPr>
          <p:cNvSpPr/>
          <p:nvPr/>
        </p:nvSpPr>
        <p:spPr>
          <a:xfrm>
            <a:off x="2748384" y="4709439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PC20 </a:t>
            </a:r>
          </a:p>
        </p:txBody>
      </p:sp>
      <p:sp>
        <p:nvSpPr>
          <p:cNvPr id="129" name="Retângulo: Cantos Arredondados 128">
            <a:extLst>
              <a:ext uri="{FF2B5EF4-FFF2-40B4-BE49-F238E27FC236}">
                <a16:creationId xmlns:a16="http://schemas.microsoft.com/office/drawing/2014/main" id="{83FEE3AB-3049-E0EA-C7E2-D266885DB790}"/>
              </a:ext>
            </a:extLst>
          </p:cNvPr>
          <p:cNvSpPr/>
          <p:nvPr/>
        </p:nvSpPr>
        <p:spPr>
          <a:xfrm>
            <a:off x="2748384" y="4323093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PC10 </a:t>
            </a:r>
          </a:p>
        </p:txBody>
      </p:sp>
      <p:sp>
        <p:nvSpPr>
          <p:cNvPr id="130" name="Retângulo: Cantos Arredondados 129">
            <a:extLst>
              <a:ext uri="{FF2B5EF4-FFF2-40B4-BE49-F238E27FC236}">
                <a16:creationId xmlns:a16="http://schemas.microsoft.com/office/drawing/2014/main" id="{9DD60C22-E305-7FE9-4F83-4DE631C4033C}"/>
              </a:ext>
            </a:extLst>
          </p:cNvPr>
          <p:cNvSpPr/>
          <p:nvPr/>
        </p:nvSpPr>
        <p:spPr>
          <a:xfrm>
            <a:off x="2748384" y="5502153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PC40 </a:t>
            </a:r>
          </a:p>
        </p:txBody>
      </p:sp>
      <p:cxnSp>
        <p:nvCxnSpPr>
          <p:cNvPr id="133" name="Conector de Seta Reta 132">
            <a:extLst>
              <a:ext uri="{FF2B5EF4-FFF2-40B4-BE49-F238E27FC236}">
                <a16:creationId xmlns:a16="http://schemas.microsoft.com/office/drawing/2014/main" id="{F46C6296-A5B7-4771-CF65-A66E9981077A}"/>
              </a:ext>
            </a:extLst>
          </p:cNvPr>
          <p:cNvCxnSpPr>
            <a:cxnSpLocks/>
            <a:stCxn id="4" idx="3"/>
            <a:endCxn id="129" idx="1"/>
          </p:cNvCxnSpPr>
          <p:nvPr/>
        </p:nvCxnSpPr>
        <p:spPr>
          <a:xfrm>
            <a:off x="1968597" y="4465448"/>
            <a:ext cx="779787" cy="361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de Seta Reta 135">
            <a:extLst>
              <a:ext uri="{FF2B5EF4-FFF2-40B4-BE49-F238E27FC236}">
                <a16:creationId xmlns:a16="http://schemas.microsoft.com/office/drawing/2014/main" id="{7A993415-B269-1E7A-CEFF-BDFBFB72B93A}"/>
              </a:ext>
            </a:extLst>
          </p:cNvPr>
          <p:cNvCxnSpPr>
            <a:cxnSpLocks/>
            <a:stCxn id="4" idx="3"/>
            <a:endCxn id="128" idx="1"/>
          </p:cNvCxnSpPr>
          <p:nvPr/>
        </p:nvCxnSpPr>
        <p:spPr>
          <a:xfrm>
            <a:off x="1968597" y="4465448"/>
            <a:ext cx="779787" cy="4224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de Seta Reta 138">
            <a:extLst>
              <a:ext uri="{FF2B5EF4-FFF2-40B4-BE49-F238E27FC236}">
                <a16:creationId xmlns:a16="http://schemas.microsoft.com/office/drawing/2014/main" id="{79C389AF-336C-1CA3-8012-6063A8CE7C7B}"/>
              </a:ext>
            </a:extLst>
          </p:cNvPr>
          <p:cNvCxnSpPr>
            <a:cxnSpLocks/>
            <a:stCxn id="4" idx="3"/>
            <a:endCxn id="130" idx="1"/>
          </p:cNvCxnSpPr>
          <p:nvPr/>
        </p:nvCxnSpPr>
        <p:spPr>
          <a:xfrm>
            <a:off x="1968597" y="4465448"/>
            <a:ext cx="779787" cy="12152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CaixaDeTexto 141">
            <a:extLst>
              <a:ext uri="{FF2B5EF4-FFF2-40B4-BE49-F238E27FC236}">
                <a16:creationId xmlns:a16="http://schemas.microsoft.com/office/drawing/2014/main" id="{D9721AB7-F2C3-3C38-D34E-8BC4C70F6641}"/>
              </a:ext>
            </a:extLst>
          </p:cNvPr>
          <p:cNvSpPr txBox="1"/>
          <p:nvPr/>
        </p:nvSpPr>
        <p:spPr>
          <a:xfrm>
            <a:off x="3643615" y="4369961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R$ 36 869, 89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E962FB2B-4B55-6BE7-B5BB-92A4B11041E7}"/>
              </a:ext>
            </a:extLst>
          </p:cNvPr>
          <p:cNvSpPr txBox="1"/>
          <p:nvPr/>
        </p:nvSpPr>
        <p:spPr>
          <a:xfrm>
            <a:off x="3655096" y="4734652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R$ 36 869, 89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891DA7E1-FD38-3281-3CD9-47FE6623CFD8}"/>
              </a:ext>
            </a:extLst>
          </p:cNvPr>
          <p:cNvSpPr txBox="1"/>
          <p:nvPr/>
        </p:nvSpPr>
        <p:spPr>
          <a:xfrm>
            <a:off x="3655096" y="5121588"/>
            <a:ext cx="1112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R$ 36 869, 89</a:t>
            </a:r>
          </a:p>
        </p:txBody>
      </p:sp>
      <p:sp>
        <p:nvSpPr>
          <p:cNvPr id="173" name="Retângulo: Cantos Arredondados 172">
            <a:extLst>
              <a:ext uri="{FF2B5EF4-FFF2-40B4-BE49-F238E27FC236}">
                <a16:creationId xmlns:a16="http://schemas.microsoft.com/office/drawing/2014/main" id="{2C6FCF9F-772D-A1FA-C538-06860CC5537E}"/>
              </a:ext>
            </a:extLst>
          </p:cNvPr>
          <p:cNvSpPr/>
          <p:nvPr/>
        </p:nvSpPr>
        <p:spPr>
          <a:xfrm>
            <a:off x="10746383" y="5523111"/>
            <a:ext cx="1284036" cy="356990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Em andamento</a:t>
            </a:r>
          </a:p>
        </p:txBody>
      </p:sp>
      <p:sp>
        <p:nvSpPr>
          <p:cNvPr id="174" name="Retângulo: Cantos Arredondados 173">
            <a:extLst>
              <a:ext uri="{FF2B5EF4-FFF2-40B4-BE49-F238E27FC236}">
                <a16:creationId xmlns:a16="http://schemas.microsoft.com/office/drawing/2014/main" id="{638F3B1B-2382-F18D-AC8C-8B251D86E976}"/>
              </a:ext>
            </a:extLst>
          </p:cNvPr>
          <p:cNvSpPr/>
          <p:nvPr/>
        </p:nvSpPr>
        <p:spPr>
          <a:xfrm>
            <a:off x="10746383" y="5953183"/>
            <a:ext cx="1284036" cy="35699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Não iniciado</a:t>
            </a:r>
          </a:p>
        </p:txBody>
      </p:sp>
      <p:sp>
        <p:nvSpPr>
          <p:cNvPr id="175" name="Retângulo: Cantos Arredondados 174">
            <a:extLst>
              <a:ext uri="{FF2B5EF4-FFF2-40B4-BE49-F238E27FC236}">
                <a16:creationId xmlns:a16="http://schemas.microsoft.com/office/drawing/2014/main" id="{4AD77521-3874-83F5-67B4-F059CA3CB736}"/>
              </a:ext>
            </a:extLst>
          </p:cNvPr>
          <p:cNvSpPr/>
          <p:nvPr/>
        </p:nvSpPr>
        <p:spPr>
          <a:xfrm>
            <a:off x="10746383" y="6383255"/>
            <a:ext cx="1284036" cy="356990"/>
          </a:xfrm>
          <a:prstGeom prst="round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Conceito de célula não implementado</a:t>
            </a:r>
          </a:p>
        </p:txBody>
      </p:sp>
      <p:sp>
        <p:nvSpPr>
          <p:cNvPr id="176" name="CaixaDeTexto 175">
            <a:extLst>
              <a:ext uri="{FF2B5EF4-FFF2-40B4-BE49-F238E27FC236}">
                <a16:creationId xmlns:a16="http://schemas.microsoft.com/office/drawing/2014/main" id="{58981A7F-C236-67B7-908D-A471935C65B1}"/>
              </a:ext>
            </a:extLst>
          </p:cNvPr>
          <p:cNvSpPr txBox="1"/>
          <p:nvPr/>
        </p:nvSpPr>
        <p:spPr>
          <a:xfrm>
            <a:off x="10599460" y="5216565"/>
            <a:ext cx="1577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i="1" dirty="0">
                <a:solidFill>
                  <a:schemeClr val="bg1"/>
                </a:solidFill>
              </a:rPr>
              <a:t>PROJETO F4 - LEGENDA</a:t>
            </a:r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0589B7D4-8804-3FC9-7F8C-194FB10CC7AC}"/>
              </a:ext>
            </a:extLst>
          </p:cNvPr>
          <p:cNvSpPr txBox="1"/>
          <p:nvPr/>
        </p:nvSpPr>
        <p:spPr>
          <a:xfrm>
            <a:off x="4777323" y="1563355"/>
            <a:ext cx="126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</a:rPr>
              <a:t>R$ 180 676, 64</a:t>
            </a: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52AA9E93-5EC4-5C11-33F6-DE2CF7C20368}"/>
              </a:ext>
            </a:extLst>
          </p:cNvPr>
          <p:cNvSpPr txBox="1"/>
          <p:nvPr/>
        </p:nvSpPr>
        <p:spPr>
          <a:xfrm>
            <a:off x="4777323" y="4406899"/>
            <a:ext cx="126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</a:rPr>
              <a:t>R$ 336 598, 35</a:t>
            </a: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04858AAF-F1AE-8BBD-3B11-D15F1035F4CE}"/>
              </a:ext>
            </a:extLst>
          </p:cNvPr>
          <p:cNvSpPr txBox="1"/>
          <p:nvPr/>
        </p:nvSpPr>
        <p:spPr>
          <a:xfrm>
            <a:off x="8738454" y="3060872"/>
            <a:ext cx="126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</a:rPr>
              <a:t>R$ 106 206, 70</a:t>
            </a:r>
          </a:p>
        </p:txBody>
      </p:sp>
      <p:sp>
        <p:nvSpPr>
          <p:cNvPr id="198" name="Retângulo: Cantos Arredondados 197">
            <a:extLst>
              <a:ext uri="{FF2B5EF4-FFF2-40B4-BE49-F238E27FC236}">
                <a16:creationId xmlns:a16="http://schemas.microsoft.com/office/drawing/2014/main" id="{254896C4-3C36-7487-D79C-51F32D2705D5}"/>
              </a:ext>
            </a:extLst>
          </p:cNvPr>
          <p:cNvSpPr/>
          <p:nvPr/>
        </p:nvSpPr>
        <p:spPr>
          <a:xfrm>
            <a:off x="7085782" y="1342360"/>
            <a:ext cx="1441601" cy="91585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Tirante/Freio</a:t>
            </a:r>
          </a:p>
        </p:txBody>
      </p:sp>
      <p:sp>
        <p:nvSpPr>
          <p:cNvPr id="199" name="Retângulo: Cantos Arredondados 198">
            <a:extLst>
              <a:ext uri="{FF2B5EF4-FFF2-40B4-BE49-F238E27FC236}">
                <a16:creationId xmlns:a16="http://schemas.microsoft.com/office/drawing/2014/main" id="{5191BC41-107D-0D34-020D-E48B759FD35F}"/>
              </a:ext>
            </a:extLst>
          </p:cNvPr>
          <p:cNvSpPr/>
          <p:nvPr/>
        </p:nvSpPr>
        <p:spPr>
          <a:xfrm>
            <a:off x="9128043" y="1443298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TE10/1 </a:t>
            </a:r>
          </a:p>
        </p:txBody>
      </p:sp>
      <p:sp>
        <p:nvSpPr>
          <p:cNvPr id="200" name="Retângulo: Cantos Arredondados 199">
            <a:extLst>
              <a:ext uri="{FF2B5EF4-FFF2-40B4-BE49-F238E27FC236}">
                <a16:creationId xmlns:a16="http://schemas.microsoft.com/office/drawing/2014/main" id="{329DBB0B-0EF5-10B6-4080-40AA1DF8DAF5}"/>
              </a:ext>
            </a:extLst>
          </p:cNvPr>
          <p:cNvSpPr/>
          <p:nvPr/>
        </p:nvSpPr>
        <p:spPr>
          <a:xfrm>
            <a:off x="9128044" y="1840354"/>
            <a:ext cx="916235" cy="3569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TE10/2 </a:t>
            </a:r>
          </a:p>
        </p:txBody>
      </p:sp>
      <p:cxnSp>
        <p:nvCxnSpPr>
          <p:cNvPr id="201" name="Conector de Seta Reta 200">
            <a:extLst>
              <a:ext uri="{FF2B5EF4-FFF2-40B4-BE49-F238E27FC236}">
                <a16:creationId xmlns:a16="http://schemas.microsoft.com/office/drawing/2014/main" id="{84148346-3F9F-9F33-4481-A5D50961AA78}"/>
              </a:ext>
            </a:extLst>
          </p:cNvPr>
          <p:cNvCxnSpPr>
            <a:cxnSpLocks/>
            <a:stCxn id="198" idx="3"/>
            <a:endCxn id="199" idx="1"/>
          </p:cNvCxnSpPr>
          <p:nvPr/>
        </p:nvCxnSpPr>
        <p:spPr>
          <a:xfrm flipV="1">
            <a:off x="8527383" y="1621793"/>
            <a:ext cx="600660" cy="1784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de Seta Reta 203">
            <a:extLst>
              <a:ext uri="{FF2B5EF4-FFF2-40B4-BE49-F238E27FC236}">
                <a16:creationId xmlns:a16="http://schemas.microsoft.com/office/drawing/2014/main" id="{F249DC66-20D9-299A-18D9-EE14EA912A1C}"/>
              </a:ext>
            </a:extLst>
          </p:cNvPr>
          <p:cNvCxnSpPr>
            <a:cxnSpLocks/>
            <a:stCxn id="198" idx="3"/>
            <a:endCxn id="200" idx="1"/>
          </p:cNvCxnSpPr>
          <p:nvPr/>
        </p:nvCxnSpPr>
        <p:spPr>
          <a:xfrm>
            <a:off x="8527383" y="1800288"/>
            <a:ext cx="600661" cy="2185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CaixaDeTexto 206">
            <a:extLst>
              <a:ext uri="{FF2B5EF4-FFF2-40B4-BE49-F238E27FC236}">
                <a16:creationId xmlns:a16="http://schemas.microsoft.com/office/drawing/2014/main" id="{24709BDC-A860-7F49-28CC-AB0ED646E357}"/>
              </a:ext>
            </a:extLst>
          </p:cNvPr>
          <p:cNvSpPr txBox="1"/>
          <p:nvPr/>
        </p:nvSpPr>
        <p:spPr>
          <a:xfrm>
            <a:off x="10044278" y="1911526"/>
            <a:ext cx="126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R$ 39 915, 87</a:t>
            </a:r>
          </a:p>
        </p:txBody>
      </p:sp>
      <p:sp>
        <p:nvSpPr>
          <p:cNvPr id="208" name="CaixaDeTexto 207">
            <a:extLst>
              <a:ext uri="{FF2B5EF4-FFF2-40B4-BE49-F238E27FC236}">
                <a16:creationId xmlns:a16="http://schemas.microsoft.com/office/drawing/2014/main" id="{6A6F6156-6DCF-5426-124A-0D700C744506}"/>
              </a:ext>
            </a:extLst>
          </p:cNvPr>
          <p:cNvSpPr txBox="1"/>
          <p:nvPr/>
        </p:nvSpPr>
        <p:spPr>
          <a:xfrm>
            <a:off x="10044278" y="1490273"/>
            <a:ext cx="126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R$ 46 406, 87</a:t>
            </a:r>
          </a:p>
        </p:txBody>
      </p:sp>
      <p:sp>
        <p:nvSpPr>
          <p:cNvPr id="209" name="CaixaDeTexto 208">
            <a:extLst>
              <a:ext uri="{FF2B5EF4-FFF2-40B4-BE49-F238E27FC236}">
                <a16:creationId xmlns:a16="http://schemas.microsoft.com/office/drawing/2014/main" id="{5923C635-036F-9C6A-3942-AA8CABB53FBD}"/>
              </a:ext>
            </a:extLst>
          </p:cNvPr>
          <p:cNvSpPr txBox="1"/>
          <p:nvPr/>
        </p:nvSpPr>
        <p:spPr>
          <a:xfrm>
            <a:off x="11030171" y="1665314"/>
            <a:ext cx="126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</a:rPr>
              <a:t>R$ 86 322, 74</a:t>
            </a:r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0DC61C4E-8DF5-2E1A-9B1A-BF7F8E04D940}"/>
              </a:ext>
            </a:extLst>
          </p:cNvPr>
          <p:cNvSpPr txBox="1"/>
          <p:nvPr/>
        </p:nvSpPr>
        <p:spPr>
          <a:xfrm>
            <a:off x="8738454" y="4363088"/>
            <a:ext cx="1269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</a:rPr>
              <a:t>R$ 137 203, 00</a:t>
            </a:r>
          </a:p>
        </p:txBody>
      </p:sp>
      <p:sp>
        <p:nvSpPr>
          <p:cNvPr id="211" name="CaixaDeTexto 210">
            <a:extLst>
              <a:ext uri="{FF2B5EF4-FFF2-40B4-BE49-F238E27FC236}">
                <a16:creationId xmlns:a16="http://schemas.microsoft.com/office/drawing/2014/main" id="{5642605C-2A32-3ACC-9029-7B27018316DE}"/>
              </a:ext>
            </a:extLst>
          </p:cNvPr>
          <p:cNvSpPr txBox="1"/>
          <p:nvPr/>
        </p:nvSpPr>
        <p:spPr>
          <a:xfrm>
            <a:off x="7434263" y="5870068"/>
            <a:ext cx="2271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i="1" dirty="0">
                <a:solidFill>
                  <a:schemeClr val="bg1"/>
                </a:solidFill>
              </a:rPr>
              <a:t>VALOR TOTAL ESTIMADO</a:t>
            </a:r>
          </a:p>
          <a:p>
            <a:pPr algn="ctr"/>
            <a:r>
              <a:rPr lang="pt-BR" sz="1400" b="1" i="1" dirty="0">
                <a:solidFill>
                  <a:schemeClr val="bg1"/>
                </a:solidFill>
              </a:rPr>
              <a:t>R$ 847 000, 00</a:t>
            </a:r>
          </a:p>
        </p:txBody>
      </p:sp>
      <p:sp>
        <p:nvSpPr>
          <p:cNvPr id="212" name="CaixaDeTexto 211">
            <a:extLst>
              <a:ext uri="{FF2B5EF4-FFF2-40B4-BE49-F238E27FC236}">
                <a16:creationId xmlns:a16="http://schemas.microsoft.com/office/drawing/2014/main" id="{211CE844-2184-3DB3-28B6-2B700B0C47DC}"/>
              </a:ext>
            </a:extLst>
          </p:cNvPr>
          <p:cNvSpPr txBox="1"/>
          <p:nvPr/>
        </p:nvSpPr>
        <p:spPr>
          <a:xfrm>
            <a:off x="5847944" y="6551717"/>
            <a:ext cx="548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i="1" dirty="0">
                <a:solidFill>
                  <a:schemeClr val="bg1"/>
                </a:solidFill>
              </a:rPr>
              <a:t>Obs.: Sem cotação com outros fornecedores </a:t>
            </a:r>
          </a:p>
        </p:txBody>
      </p:sp>
    </p:spTree>
    <p:extLst>
      <p:ext uri="{BB962C8B-B14F-4D97-AF65-F5344CB8AC3E}">
        <p14:creationId xmlns:p14="http://schemas.microsoft.com/office/powerpoint/2010/main" val="342696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52DA725-0B38-9604-77C0-A1452495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95" y="1101174"/>
            <a:ext cx="6963435" cy="555362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E0A36C5-10E4-0803-EFC8-06AD09CC8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785" y="1101174"/>
            <a:ext cx="4051564" cy="26985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D0DA1C5-D806-B1EB-0BDB-2F9061922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785" y="4065880"/>
            <a:ext cx="4051564" cy="2588924"/>
          </a:xfrm>
          <a:prstGeom prst="rect">
            <a:avLst/>
          </a:prstGeom>
        </p:spPr>
      </p:pic>
      <p:sp>
        <p:nvSpPr>
          <p:cNvPr id="10" name="Retângulo de cantos arredondados 225">
            <a:extLst>
              <a:ext uri="{FF2B5EF4-FFF2-40B4-BE49-F238E27FC236}">
                <a16:creationId xmlns:a16="http://schemas.microsoft.com/office/drawing/2014/main" id="{D515AD6F-24C8-B0BC-060D-8DE51AE58CE0}"/>
              </a:ext>
            </a:extLst>
          </p:cNvPr>
          <p:cNvSpPr/>
          <p:nvPr/>
        </p:nvSpPr>
        <p:spPr>
          <a:xfrm>
            <a:off x="526995" y="151897"/>
            <a:ext cx="11207354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Procedimento de utilização e treinamento </a:t>
            </a:r>
          </a:p>
        </p:txBody>
      </p:sp>
      <p:pic>
        <p:nvPicPr>
          <p:cNvPr id="11" name="Imagem 10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2E92E2C9-93F3-F477-33A2-F68977FC6E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9" y="320037"/>
            <a:ext cx="1506599" cy="30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246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225">
            <a:extLst>
              <a:ext uri="{FF2B5EF4-FFF2-40B4-BE49-F238E27FC236}">
                <a16:creationId xmlns:a16="http://schemas.microsoft.com/office/drawing/2014/main" id="{131D6F22-ADBF-8521-A7EA-65956C99A29F}"/>
              </a:ext>
            </a:extLst>
          </p:cNvPr>
          <p:cNvSpPr/>
          <p:nvPr/>
        </p:nvSpPr>
        <p:spPr>
          <a:xfrm>
            <a:off x="640080" y="151897"/>
            <a:ext cx="10911840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Vista de Trabalho do Operador</a:t>
            </a:r>
          </a:p>
        </p:txBody>
      </p:sp>
      <p:pic>
        <p:nvPicPr>
          <p:cNvPr id="4" name="Imagem 3" descr="Interface gráfica do usuário&#10;&#10;Descrição gerada automaticamente com confiança baixa">
            <a:extLst>
              <a:ext uri="{FF2B5EF4-FFF2-40B4-BE49-F238E27FC236}">
                <a16:creationId xmlns:a16="http://schemas.microsoft.com/office/drawing/2014/main" id="{08DD031B-1AC4-81D3-E1D5-3FCAB17575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66" r="1" b="1"/>
          <a:stretch/>
        </p:blipFill>
        <p:spPr>
          <a:xfrm>
            <a:off x="640080" y="1013058"/>
            <a:ext cx="10911840" cy="5315551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  <p:pic>
        <p:nvPicPr>
          <p:cNvPr id="7" name="Imagem 6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37A90619-A568-F8A8-2BDF-7F3F144BD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9" y="320037"/>
            <a:ext cx="1506599" cy="30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63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225">
            <a:extLst>
              <a:ext uri="{FF2B5EF4-FFF2-40B4-BE49-F238E27FC236}">
                <a16:creationId xmlns:a16="http://schemas.microsoft.com/office/drawing/2014/main" id="{131D6F22-ADBF-8521-A7EA-65956C99A29F}"/>
              </a:ext>
            </a:extLst>
          </p:cNvPr>
          <p:cNvSpPr/>
          <p:nvPr/>
        </p:nvSpPr>
        <p:spPr>
          <a:xfrm>
            <a:off x="640080" y="151897"/>
            <a:ext cx="10911840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Gestão Visual</a:t>
            </a:r>
          </a:p>
        </p:txBody>
      </p:sp>
      <p:pic>
        <p:nvPicPr>
          <p:cNvPr id="7" name="Imagem 6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37A90619-A568-F8A8-2BDF-7F3F144BDE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9" y="320037"/>
            <a:ext cx="1506599" cy="30379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2764105-C003-2E33-E79F-8758AF531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88857"/>
            <a:ext cx="5664467" cy="527584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07F7C0A-0D85-C9B9-2963-0921AC30FB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3070"/>
          <a:stretch/>
        </p:blipFill>
        <p:spPr>
          <a:xfrm>
            <a:off x="6408420" y="1088857"/>
            <a:ext cx="5143500" cy="527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09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5E06ACA-C404-BBBA-8814-BFDF8C93F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71" y="965837"/>
            <a:ext cx="5189371" cy="55721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79FC0A0-1DBD-AB10-9971-7A7DB5378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134" y="965838"/>
            <a:ext cx="5189371" cy="5572125"/>
          </a:xfrm>
          <a:prstGeom prst="rect">
            <a:avLst/>
          </a:prstGeom>
        </p:spPr>
      </p:pic>
      <p:sp>
        <p:nvSpPr>
          <p:cNvPr id="8" name="Retângulo de cantos arredondados 225">
            <a:extLst>
              <a:ext uri="{FF2B5EF4-FFF2-40B4-BE49-F238E27FC236}">
                <a16:creationId xmlns:a16="http://schemas.microsoft.com/office/drawing/2014/main" id="{62DED00A-8F7A-F670-8F88-2BD2A1340B51}"/>
              </a:ext>
            </a:extLst>
          </p:cNvPr>
          <p:cNvSpPr/>
          <p:nvPr/>
        </p:nvSpPr>
        <p:spPr>
          <a:xfrm>
            <a:off x="640080" y="151897"/>
            <a:ext cx="10911840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Relatório de Inspeção</a:t>
            </a:r>
          </a:p>
        </p:txBody>
      </p:sp>
      <p:pic>
        <p:nvPicPr>
          <p:cNvPr id="9" name="Imagem 8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FD9B5A08-A33A-83EF-09CD-5362F481F5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39" y="320037"/>
            <a:ext cx="1506599" cy="30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de cantos arredondados 225">
            <a:extLst>
              <a:ext uri="{FF2B5EF4-FFF2-40B4-BE49-F238E27FC236}">
                <a16:creationId xmlns:a16="http://schemas.microsoft.com/office/drawing/2014/main" id="{FF54363B-B01E-AFDD-8D04-26BE208F72BE}"/>
              </a:ext>
            </a:extLst>
          </p:cNvPr>
          <p:cNvSpPr/>
          <p:nvPr/>
        </p:nvSpPr>
        <p:spPr>
          <a:xfrm>
            <a:off x="407600" y="100613"/>
            <a:ext cx="11345417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Detalhamento do Investimento TD10</a:t>
            </a:r>
          </a:p>
        </p:txBody>
      </p:sp>
      <p:pic>
        <p:nvPicPr>
          <p:cNvPr id="15" name="Imagem 14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3A8AD2C3-A242-D5BE-6415-B13113E922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60" y="268753"/>
            <a:ext cx="1566463" cy="303799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74637CE5-A69E-58B3-6DB4-2F358EFE4FFB}"/>
              </a:ext>
            </a:extLst>
          </p:cNvPr>
          <p:cNvSpPr/>
          <p:nvPr/>
        </p:nvSpPr>
        <p:spPr>
          <a:xfrm>
            <a:off x="407600" y="972863"/>
            <a:ext cx="11364610" cy="188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INVESTIMENTO PARA IMPLEMENTAÇÃO NA LINHA TD10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076508C-E24A-5702-921B-ED616D983F31}"/>
              </a:ext>
            </a:extLst>
          </p:cNvPr>
          <p:cNvSpPr/>
          <p:nvPr/>
        </p:nvSpPr>
        <p:spPr>
          <a:xfrm>
            <a:off x="419790" y="3998172"/>
            <a:ext cx="3096083" cy="571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 INSTRUMENTOS DE MEDIÇÃO NECESSÁRIOS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4D4E21-8107-A95C-0525-F8EBAFB70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00" y="1161120"/>
            <a:ext cx="11364610" cy="20193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80D01B-8025-1A54-25BD-C7BA056B9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90" y="4569947"/>
            <a:ext cx="3096083" cy="2019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A4CEFD5-4C8E-50EE-36AB-E626C6998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8894" y="3180420"/>
            <a:ext cx="3305506" cy="2783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F53D7C1-E227-57CF-7367-AE44AD4B4F95}"/>
              </a:ext>
            </a:extLst>
          </p:cNvPr>
          <p:cNvSpPr/>
          <p:nvPr/>
        </p:nvSpPr>
        <p:spPr>
          <a:xfrm>
            <a:off x="8255182" y="3998172"/>
            <a:ext cx="3529218" cy="571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SUPORTE DO SOFTWARE E EQUIPAMENTOS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54B73B-A570-BFD8-6D88-2B1315884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182" y="4601366"/>
            <a:ext cx="3529218" cy="1987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FF655E8-9ED4-0CC7-08C0-BD661F8106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3340" y="4601366"/>
            <a:ext cx="4524375" cy="198788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F47F9E3-65F5-89CE-D1FC-7C9686074137}"/>
              </a:ext>
            </a:extLst>
          </p:cNvPr>
          <p:cNvSpPr/>
          <p:nvPr/>
        </p:nvSpPr>
        <p:spPr>
          <a:xfrm>
            <a:off x="3623340" y="3996119"/>
            <a:ext cx="4524374" cy="571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REQUISITOS DE SOFTWARE</a:t>
            </a:r>
          </a:p>
        </p:txBody>
      </p:sp>
    </p:spTree>
    <p:extLst>
      <p:ext uri="{BB962C8B-B14F-4D97-AF65-F5344CB8AC3E}">
        <p14:creationId xmlns:p14="http://schemas.microsoft.com/office/powerpoint/2010/main" val="319114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de cantos arredondados 225">
            <a:extLst>
              <a:ext uri="{FF2B5EF4-FFF2-40B4-BE49-F238E27FC236}">
                <a16:creationId xmlns:a16="http://schemas.microsoft.com/office/drawing/2014/main" id="{FF54363B-B01E-AFDD-8D04-26BE208F72BE}"/>
              </a:ext>
            </a:extLst>
          </p:cNvPr>
          <p:cNvSpPr/>
          <p:nvPr/>
        </p:nvSpPr>
        <p:spPr>
          <a:xfrm>
            <a:off x="407600" y="100613"/>
            <a:ext cx="11345417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Ganhos tangíveis com o Projeto</a:t>
            </a:r>
          </a:p>
        </p:txBody>
      </p:sp>
      <p:pic>
        <p:nvPicPr>
          <p:cNvPr id="15" name="Imagem 14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3A8AD2C3-A242-D5BE-6415-B13113E922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60" y="268753"/>
            <a:ext cx="1566463" cy="303799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7868958-BFD9-39E9-1329-3FD30A435FDE}"/>
              </a:ext>
            </a:extLst>
          </p:cNvPr>
          <p:cNvSpPr/>
          <p:nvPr/>
        </p:nvSpPr>
        <p:spPr>
          <a:xfrm>
            <a:off x="407599" y="1090093"/>
            <a:ext cx="3600000" cy="4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LINHA TD10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EE2BB0-889F-AEE7-3411-80B885B4B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99" y="1522093"/>
            <a:ext cx="11376802" cy="40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98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de cantos arredondados 225">
            <a:extLst>
              <a:ext uri="{FF2B5EF4-FFF2-40B4-BE49-F238E27FC236}">
                <a16:creationId xmlns:a16="http://schemas.microsoft.com/office/drawing/2014/main" id="{FF54363B-B01E-AFDD-8D04-26BE208F72BE}"/>
              </a:ext>
            </a:extLst>
          </p:cNvPr>
          <p:cNvSpPr/>
          <p:nvPr/>
        </p:nvSpPr>
        <p:spPr>
          <a:xfrm>
            <a:off x="407600" y="100613"/>
            <a:ext cx="11345417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Ganhos </a:t>
            </a:r>
            <a:r>
              <a:rPr lang="en-US" sz="32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intangíveis</a:t>
            </a: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com o Projeto</a:t>
            </a:r>
          </a:p>
        </p:txBody>
      </p:sp>
      <p:pic>
        <p:nvPicPr>
          <p:cNvPr id="15" name="Imagem 14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3A8AD2C3-A242-D5BE-6415-B13113E922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60" y="268753"/>
            <a:ext cx="1566463" cy="30379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AFC8247-A269-EB57-EE8D-EEC6895730A0}"/>
              </a:ext>
            </a:extLst>
          </p:cNvPr>
          <p:cNvSpPr txBox="1"/>
          <p:nvPr/>
        </p:nvSpPr>
        <p:spPr>
          <a:xfrm>
            <a:off x="407599" y="1189898"/>
            <a:ext cx="110905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Capabilidade do processo em tempo real (Gestão Visual)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Rapidez na tomada de decisão baseado nos resultados imediatos (Análise estatística)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Melhoria na exatidão das medições (Mitigação dos erros de transcrição e interpretação) em função da utilização de instrumentos digitais e com transmissão de dados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Redução de 50% no número de instrumentos utilizados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Disponibilidade dos dados em tempo real (Informação documentada – Requisito da norma)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Alerta na tela e disparo de e-mail quando uma peça medida estiver fora de tolerância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Possibilidade de Bloqueio de máquina quando uma peça medida estiver fora de tolerância ou quando não for realizada a medição dentro do período estipulado.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Eficiência operacional (Elimina a necessidade de digitação manual e processamento de dados) com redução de 3 minutos no tempo de medição (setup e troca de OP)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603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de cantos arredondados 225">
            <a:extLst>
              <a:ext uri="{FF2B5EF4-FFF2-40B4-BE49-F238E27FC236}">
                <a16:creationId xmlns:a16="http://schemas.microsoft.com/office/drawing/2014/main" id="{FF54363B-B01E-AFDD-8D04-26BE208F72BE}"/>
              </a:ext>
            </a:extLst>
          </p:cNvPr>
          <p:cNvSpPr/>
          <p:nvPr/>
        </p:nvSpPr>
        <p:spPr>
          <a:xfrm>
            <a:off x="407600" y="100613"/>
            <a:ext cx="11345417" cy="640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BASE DE CÁLCULO – 06/2023 A 06/2024</a:t>
            </a:r>
          </a:p>
        </p:txBody>
      </p:sp>
      <p:pic>
        <p:nvPicPr>
          <p:cNvPr id="15" name="Imagem 14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3A8AD2C3-A242-D5BE-6415-B13113E922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60" y="268753"/>
            <a:ext cx="1566463" cy="303799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AE26E93-8512-CC48-951A-3288FA9F0BB8}"/>
              </a:ext>
            </a:extLst>
          </p:cNvPr>
          <p:cNvSpPr/>
          <p:nvPr/>
        </p:nvSpPr>
        <p:spPr>
          <a:xfrm>
            <a:off x="2688061" y="865126"/>
            <a:ext cx="7200000" cy="11536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REDUÇÃO DE 50% DE SUCATAS &gt; 1 PEÇA</a:t>
            </a:r>
          </a:p>
          <a:p>
            <a:pPr algn="ctr"/>
            <a:r>
              <a:rPr lang="pt-BR" sz="1200" dirty="0"/>
              <a:t>TOTAL DE SUCATAS: 376 PEÇAS</a:t>
            </a:r>
          </a:p>
          <a:p>
            <a:pPr algn="ctr"/>
            <a:r>
              <a:rPr lang="pt-BR" sz="1200" dirty="0"/>
              <a:t>PINO: 57 PEÇAS X R$3,60 </a:t>
            </a:r>
          </a:p>
          <a:p>
            <a:pPr algn="ctr"/>
            <a:r>
              <a:rPr lang="pt-BR" sz="1200" dirty="0"/>
              <a:t>CACHIMBO: 131 PEÇAS X R$15,00 </a:t>
            </a:r>
          </a:p>
          <a:p>
            <a:pPr algn="ctr"/>
            <a:r>
              <a:rPr lang="pt-BR" sz="1200" dirty="0"/>
              <a:t>R$ 2 170, 20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73020C3-3625-CA86-BD15-67BC71614850}"/>
              </a:ext>
            </a:extLst>
          </p:cNvPr>
          <p:cNvSpPr/>
          <p:nvPr/>
        </p:nvSpPr>
        <p:spPr>
          <a:xfrm>
            <a:off x="2688061" y="2182715"/>
            <a:ext cx="7200000" cy="1306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ADERÊNCIA AO MPS – QUANTO DEIXAMOS DE FATURAR DEVIDO AS SUCATAS &gt; 1 PEÇA</a:t>
            </a:r>
          </a:p>
          <a:p>
            <a:pPr algn="ctr"/>
            <a:r>
              <a:rPr lang="pt-BR" sz="1200" dirty="0"/>
              <a:t>TOTAL DE SUCATAS: 376 PEÇAS</a:t>
            </a:r>
          </a:p>
          <a:p>
            <a:pPr algn="ctr"/>
            <a:r>
              <a:rPr lang="pt-BR" sz="1200" dirty="0"/>
              <a:t>PINO: 114 PEÇAS X R$44,00 = R$ 5 016</a:t>
            </a:r>
          </a:p>
          <a:p>
            <a:pPr algn="ctr"/>
            <a:r>
              <a:rPr lang="pt-BR" sz="1200" dirty="0"/>
              <a:t>CACHIMBO: 262 PEÇAS X R$44,00 = R$ 11 528</a:t>
            </a:r>
          </a:p>
          <a:p>
            <a:pPr algn="ctr"/>
            <a:r>
              <a:rPr lang="pt-BR" sz="1200" dirty="0"/>
              <a:t>R$ TOTAL: 16 544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28BB572-B7B8-458F-6DE4-331EE805832B}"/>
              </a:ext>
            </a:extLst>
          </p:cNvPr>
          <p:cNvSpPr/>
          <p:nvPr/>
        </p:nvSpPr>
        <p:spPr>
          <a:xfrm>
            <a:off x="2688059" y="3653499"/>
            <a:ext cx="7200000" cy="1397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ADERÊNCIA AO MPS – QUANTO DEIXAMOS DE FATURAR NO TEMPO PREVISTO DEVIDO AOS RETRABALHOS E DESVIOS</a:t>
            </a:r>
          </a:p>
          <a:p>
            <a:pPr algn="ctr"/>
            <a:r>
              <a:rPr lang="pt-BR" sz="1200" dirty="0"/>
              <a:t>TOTAL DE PEÇAS:  9425 PEÇAS</a:t>
            </a:r>
          </a:p>
          <a:p>
            <a:pPr algn="ctr"/>
            <a:r>
              <a:rPr lang="pt-BR" sz="1200" dirty="0"/>
              <a:t>PINO: 1401 PEÇAS X R$44,00 = R$ 61 644</a:t>
            </a:r>
          </a:p>
          <a:p>
            <a:pPr algn="ctr"/>
            <a:r>
              <a:rPr lang="pt-BR" sz="1200" dirty="0"/>
              <a:t>CACHIMBO: 575 PEÇAS X R$44,00 = R$ 25 300</a:t>
            </a:r>
          </a:p>
          <a:p>
            <a:pPr algn="ctr"/>
            <a:r>
              <a:rPr lang="pt-BR" sz="1200" dirty="0"/>
              <a:t>R$ TOTAL: 86 944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837D4A2-DAC6-A037-DE36-3C36B40B4A2F}"/>
              </a:ext>
            </a:extLst>
          </p:cNvPr>
          <p:cNvSpPr/>
          <p:nvPr/>
        </p:nvSpPr>
        <p:spPr>
          <a:xfrm>
            <a:off x="2688059" y="5214960"/>
            <a:ext cx="7200000" cy="1397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REDUÇÃO NO TEMPO DE MÁQUINA PARADA EM FUNÇÃO DE ESTUDOS DE CAPABILIDADE</a:t>
            </a:r>
          </a:p>
          <a:p>
            <a:pPr algn="ctr"/>
            <a:r>
              <a:rPr lang="pt-BR" sz="1200" dirty="0"/>
              <a:t>TEMPO MÉDIO ATUAL </a:t>
            </a:r>
            <a:r>
              <a:rPr lang="pt-BR" sz="1200" dirty="0" err="1"/>
              <a:t>Vs</a:t>
            </a:r>
            <a:r>
              <a:rPr lang="pt-BR" sz="1200" dirty="0"/>
              <a:t> PROPOSTO: DE 24h PARA 4h</a:t>
            </a:r>
          </a:p>
          <a:p>
            <a:pPr algn="ctr"/>
            <a:r>
              <a:rPr lang="pt-BR" sz="1200" dirty="0"/>
              <a:t>IMPACTO NO GARGALO: DE 3072 PEÇAS PARA 512 PEÇAS (128 PÇ/h)</a:t>
            </a:r>
          </a:p>
          <a:p>
            <a:pPr algn="ctr"/>
            <a:r>
              <a:rPr lang="pt-BR" sz="1200" dirty="0"/>
              <a:t>IMPACTO NO FATURAMENTO: DE – R$135 168 PARA – R$ 22 528</a:t>
            </a:r>
          </a:p>
          <a:p>
            <a:pPr algn="ctr"/>
            <a:r>
              <a:rPr lang="pt-BR" sz="1200" dirty="0"/>
              <a:t>GANHO DE R$ 112 640 (POR MÁQUINA)</a:t>
            </a:r>
          </a:p>
          <a:p>
            <a:pPr algn="ctr"/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139823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56384</TotalTime>
  <Words>1158</Words>
  <Application>Microsoft Office PowerPoint</Application>
  <PresentationFormat>Widescreen</PresentationFormat>
  <Paragraphs>149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NUNITO</vt:lpstr>
      <vt:lpstr>Söhne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</dc:creator>
  <cp:lastModifiedBy>DIEFERSON DUARTE ANTUNES</cp:lastModifiedBy>
  <cp:revision>490</cp:revision>
  <cp:lastPrinted>2024-07-08T15:10:46Z</cp:lastPrinted>
  <dcterms:created xsi:type="dcterms:W3CDTF">2020-05-25T20:32:49Z</dcterms:created>
  <dcterms:modified xsi:type="dcterms:W3CDTF">2024-08-13T08:57:30Z</dcterms:modified>
</cp:coreProperties>
</file>