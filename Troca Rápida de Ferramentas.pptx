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3"/>
  </p:notesMasterIdLst>
  <p:handoutMasterIdLst>
    <p:handoutMasterId r:id="rId74"/>
  </p:handoutMasterIdLst>
  <p:sldIdLst>
    <p:sldId id="440" r:id="rId2"/>
    <p:sldId id="1167" r:id="rId3"/>
    <p:sldId id="443" r:id="rId4"/>
    <p:sldId id="1166" r:id="rId5"/>
    <p:sldId id="444" r:id="rId6"/>
    <p:sldId id="445" r:id="rId7"/>
    <p:sldId id="446" r:id="rId8"/>
    <p:sldId id="447" r:id="rId9"/>
    <p:sldId id="448" r:id="rId10"/>
    <p:sldId id="450" r:id="rId11"/>
    <p:sldId id="1104" r:id="rId12"/>
    <p:sldId id="1106" r:id="rId13"/>
    <p:sldId id="1107" r:id="rId14"/>
    <p:sldId id="1108" r:id="rId15"/>
    <p:sldId id="1111" r:id="rId16"/>
    <p:sldId id="1112" r:id="rId17"/>
    <p:sldId id="1113" r:id="rId18"/>
    <p:sldId id="1114" r:id="rId19"/>
    <p:sldId id="1115" r:id="rId20"/>
    <p:sldId id="1116" r:id="rId21"/>
    <p:sldId id="1117" r:id="rId22"/>
    <p:sldId id="1118" r:id="rId23"/>
    <p:sldId id="1119" r:id="rId24"/>
    <p:sldId id="1120" r:id="rId25"/>
    <p:sldId id="1121" r:id="rId26"/>
    <p:sldId id="1122" r:id="rId27"/>
    <p:sldId id="1123" r:id="rId28"/>
    <p:sldId id="1124" r:id="rId29"/>
    <p:sldId id="1126" r:id="rId30"/>
    <p:sldId id="1128" r:id="rId31"/>
    <p:sldId id="1129" r:id="rId32"/>
    <p:sldId id="1130" r:id="rId33"/>
    <p:sldId id="1169" r:id="rId34"/>
    <p:sldId id="1170" r:id="rId35"/>
    <p:sldId id="1171" r:id="rId36"/>
    <p:sldId id="1172" r:id="rId37"/>
    <p:sldId id="1173" r:id="rId38"/>
    <p:sldId id="1174" r:id="rId39"/>
    <p:sldId id="1134" r:id="rId40"/>
    <p:sldId id="1135" r:id="rId41"/>
    <p:sldId id="1136" r:id="rId42"/>
    <p:sldId id="1137" r:id="rId43"/>
    <p:sldId id="1140" r:id="rId44"/>
    <p:sldId id="1142" r:id="rId45"/>
    <p:sldId id="1143" r:id="rId46"/>
    <p:sldId id="1144" r:id="rId47"/>
    <p:sldId id="1145" r:id="rId48"/>
    <p:sldId id="1146" r:id="rId49"/>
    <p:sldId id="1147" r:id="rId50"/>
    <p:sldId id="1148" r:id="rId51"/>
    <p:sldId id="1149" r:id="rId52"/>
    <p:sldId id="1150" r:id="rId53"/>
    <p:sldId id="1151" r:id="rId54"/>
    <p:sldId id="1152" r:id="rId55"/>
    <p:sldId id="1153" r:id="rId56"/>
    <p:sldId id="1154" r:id="rId57"/>
    <p:sldId id="1155" r:id="rId58"/>
    <p:sldId id="1156" r:id="rId59"/>
    <p:sldId id="1157" r:id="rId60"/>
    <p:sldId id="1158" r:id="rId61"/>
    <p:sldId id="1159" r:id="rId62"/>
    <p:sldId id="362" r:id="rId63"/>
    <p:sldId id="405" r:id="rId64"/>
    <p:sldId id="421" r:id="rId65"/>
    <p:sldId id="1161" r:id="rId66"/>
    <p:sldId id="1162" r:id="rId67"/>
    <p:sldId id="1163" r:id="rId68"/>
    <p:sldId id="1164" r:id="rId69"/>
    <p:sldId id="1165" r:id="rId70"/>
    <p:sldId id="519" r:id="rId71"/>
    <p:sldId id="1168" r:id="rId7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lon Soliman" initials="MS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121"/>
    <a:srgbClr val="CCECFF"/>
    <a:srgbClr val="F11B1B"/>
    <a:srgbClr val="FF2F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37" autoAdjust="0"/>
    <p:restoredTop sz="90328" autoAdjust="0"/>
  </p:normalViewPr>
  <p:slideViewPr>
    <p:cSldViewPr>
      <p:cViewPr varScale="1">
        <p:scale>
          <a:sx n="65" d="100"/>
          <a:sy n="65" d="100"/>
        </p:scale>
        <p:origin x="132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3" d="100"/>
          <a:sy n="83" d="100"/>
        </p:scale>
        <p:origin x="-199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handoutMaster" Target="handoutMasters/handoutMaster1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notesMaster" Target="notesMasters/notesMaster1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73DF56-9356-4B2E-AB80-A01E012793CF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63ADF-2B96-42C0-BA07-5AA3BDBC5B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09630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263D97-E3D4-45B9-B996-6CD661571660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B5BB3E-01A2-4826-B617-8AA29EA3E6E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5336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865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7591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0730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991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2578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3689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0918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579207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0994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9653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9975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02376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2156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961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0662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23867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5314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86260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8622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68785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0253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11075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29519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51582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86639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60035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87122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835610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330653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39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9774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772516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946708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036455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3054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8614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60591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06432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527201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809576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166924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5794635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0213660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351702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795765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83145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05538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25778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1148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0806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59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161436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05754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33174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Tempos (takt e real)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Elementos de trabalho 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Deslocamentos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Arranjo físico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Distribuição do trabalho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Tempos máquina e tempo homem</a:t>
            </a:r>
          </a:p>
          <a:p>
            <a:pPr>
              <a:buFontTx/>
              <a:buChar char="•"/>
            </a:pPr>
            <a:r>
              <a:rPr lang="pt-BR" altLang="pt-BR" sz="1200" dirty="0">
                <a:latin typeface="Century Ghotic"/>
              </a:rPr>
              <a:t> ...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t>62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865585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1700"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90170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9017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9017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9017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9017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fld id="{FB622E22-3428-4454-AECF-75C30202BF76}" type="slidenum">
              <a:rPr lang="en-GB" altLang="pt-BR" sz="1200">
                <a:latin typeface="Times New Roman" pitchFamily="18" charset="0"/>
              </a:rPr>
              <a:pPr eaLnBrk="1" hangingPunct="1"/>
              <a:t>64</a:t>
            </a:fld>
            <a:endParaRPr lang="en-GB" altLang="pt-BR" sz="1200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28600" indent="-228600" eaLnBrk="1" hangingPunct="1"/>
            <a:endParaRPr lang="en-GB" altLang="pt-BR" sz="1000">
              <a:latin typeface="Arial" charset="0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37445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252488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076594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110046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pPr/>
              <a:t>69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9985372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t>70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60573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B5BB3E-01A2-4826-B617-8AA29EA3E6E4}" type="slidenum">
              <a:rPr lang="pt-BR" smtClean="0"/>
              <a:t>71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0927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592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719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7297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969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632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8685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0475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9724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177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620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CAAB3-B9FC-4BC1-B3D4-CB54C94EE666}" type="datetimeFigureOut">
              <a:rPr lang="pt-BR" smtClean="0"/>
              <a:t>25/09/2018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11597C-0F54-4734-BF75-A3309CCD7636}" type="slidenum">
              <a:rPr lang="pt-BR" smtClean="0"/>
              <a:t>‹nº›</a:t>
            </a:fld>
            <a:endParaRPr lang="pt-BR"/>
          </a:p>
        </p:txBody>
      </p:sp>
      <p:sp>
        <p:nvSpPr>
          <p:cNvPr id="7" name="Retângulo 6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0690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wmf"/><Relationship Id="rId5" Type="http://schemas.openxmlformats.org/officeDocument/2006/relationships/image" Target="../media/image36.jpeg"/><Relationship Id="rId4" Type="http://schemas.openxmlformats.org/officeDocument/2006/relationships/image" Target="../media/image3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2.bin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.bin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wmf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Resultado de imagem para quick changeover">
            <a:extLst>
              <a:ext uri="{FF2B5EF4-FFF2-40B4-BE49-F238E27FC236}">
                <a16:creationId xmlns:a16="http://schemas.microsoft.com/office/drawing/2014/main" id="{7F488FA5-2301-4A05-9C9B-996C37518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8300"/>
            <a:ext cx="9144000" cy="6121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de cantos arredondados 3"/>
          <p:cNvSpPr/>
          <p:nvPr/>
        </p:nvSpPr>
        <p:spPr>
          <a:xfrm>
            <a:off x="11904" y="4653136"/>
            <a:ext cx="6504311" cy="1224136"/>
          </a:xfrm>
          <a:prstGeom prst="roundRect">
            <a:avLst>
              <a:gd name="adj" fmla="val 0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Troca Rápida de Ferramentas</a:t>
            </a:r>
          </a:p>
        </p:txBody>
      </p:sp>
    </p:spTree>
    <p:extLst>
      <p:ext uri="{BB962C8B-B14F-4D97-AF65-F5344CB8AC3E}">
        <p14:creationId xmlns:p14="http://schemas.microsoft.com/office/powerpoint/2010/main" val="416021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70490" y="2871399"/>
            <a:ext cx="6203018" cy="1403234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 marL="0" indent="0" algn="ctr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altLang="pt-BR" dirty="0">
                <a:latin typeface="Century Gothic" panose="020B0502020202020204" pitchFamily="34" charset="0"/>
              </a:rPr>
              <a:t>Por que existem “setups”?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Contexto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77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637" y="1532297"/>
            <a:ext cx="8312727" cy="499304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pt-BR" altLang="pt-BR" sz="2200" dirty="0">
                <a:latin typeface="Century Gothic" panose="020B0502020202020204" pitchFamily="34" charset="0"/>
              </a:rPr>
              <a:t>Diversidade de produtos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Contexto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3</a:t>
            </a:fld>
            <a:endParaRPr lang="pt-BR"/>
          </a:p>
        </p:txBody>
      </p:sp>
      <p:pic>
        <p:nvPicPr>
          <p:cNvPr id="6148" name="Picture 4" descr="Resultado de imagem para snickers frases">
            <a:extLst>
              <a:ext uri="{FF2B5EF4-FFF2-40B4-BE49-F238E27FC236}">
                <a16:creationId xmlns:a16="http://schemas.microsoft.com/office/drawing/2014/main" id="{17D16DE8-5488-4025-BF63-C97F2F36B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1130"/>
            <a:ext cx="9144000" cy="374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238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637" y="1532297"/>
            <a:ext cx="8312727" cy="4993047"/>
          </a:xfrm>
        </p:spPr>
        <p:txBody>
          <a:bodyPr>
            <a:normAutofit/>
          </a:bodyPr>
          <a:lstStyle/>
          <a:p>
            <a:pPr algn="just">
              <a:lnSpc>
                <a:spcPct val="130000"/>
              </a:lnSpc>
              <a:spcBef>
                <a:spcPts val="600"/>
              </a:spcBef>
            </a:pPr>
            <a:r>
              <a:rPr lang="pt-BR" altLang="pt-BR" sz="2200" dirty="0">
                <a:latin typeface="Century Gothic" panose="020B0502020202020204" pitchFamily="34" charset="0"/>
              </a:rPr>
              <a:t>Diversidade de produtos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Contexto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4</a:t>
            </a:fld>
            <a:endParaRPr lang="pt-BR"/>
          </a:p>
        </p:txBody>
      </p:sp>
      <p:pic>
        <p:nvPicPr>
          <p:cNvPr id="54274" name="Picture 2" descr="Resultado de imagem para coca cola nomes">
            <a:extLst>
              <a:ext uri="{FF2B5EF4-FFF2-40B4-BE49-F238E27FC236}">
                <a16:creationId xmlns:a16="http://schemas.microsoft.com/office/drawing/2014/main" id="{4915E03A-7048-4DE3-AC6A-8DCEA326B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2325074"/>
            <a:ext cx="57150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98360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Contexto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5</a:t>
            </a:fld>
            <a:endParaRPr lang="pt-BR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7FB178EB-6E1E-4F7D-BA0C-6F2AC4A73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7377" y="1484784"/>
            <a:ext cx="6849246" cy="5073719"/>
          </a:xfrm>
          <a:prstGeom prst="rect">
            <a:avLst/>
          </a:prstGeom>
          <a:noFill/>
          <a:ln w="9525">
            <a:solidFill>
              <a:schemeClr val="bg2">
                <a:lumMod val="40000"/>
                <a:lumOff val="60000"/>
              </a:schemeClr>
            </a:solidFill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</p:spTree>
    <p:extLst>
      <p:ext uri="{BB962C8B-B14F-4D97-AF65-F5344CB8AC3E}">
        <p14:creationId xmlns:p14="http://schemas.microsoft.com/office/powerpoint/2010/main" val="2466169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Contexto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6</a:t>
            </a:fld>
            <a:endParaRPr lang="pt-BR"/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22799B0D-9C93-4AB9-B12B-6C7F146B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06" y="2096882"/>
            <a:ext cx="419100" cy="209550"/>
          </a:xfrm>
          <a:prstGeom prst="downArrow">
            <a:avLst>
              <a:gd name="adj1" fmla="val 50000"/>
              <a:gd name="adj2" fmla="val 49745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000">
              <a:cs typeface="Arial" pitchFamily="34" charset="0"/>
            </a:endParaRP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5DB8BA1-9886-46EF-BCE6-DEE2239C8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0731" y="2417351"/>
            <a:ext cx="74866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 dirty="0"/>
              <a:t>Set </a:t>
            </a:r>
            <a:r>
              <a:rPr lang="pt-BR" altLang="pt-BR" sz="2000" b="1" dirty="0" err="1"/>
              <a:t>Ups</a:t>
            </a:r>
            <a:r>
              <a:rPr lang="pt-BR" altLang="pt-BR" sz="2000" b="1" dirty="0"/>
              <a:t> mais </a:t>
            </a:r>
            <a:r>
              <a:rPr lang="pt-BR" altLang="pt-BR" sz="2000" b="1" dirty="0" err="1"/>
              <a:t>freqüentes</a:t>
            </a:r>
            <a:endParaRPr lang="pt-BR" altLang="pt-BR" sz="2000" b="1" dirty="0"/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F9B24D05-F0A2-4C53-A5F8-D96905203B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394" y="3291651"/>
            <a:ext cx="7045325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/>
              <a:t>Lotes de produção menores</a:t>
            </a:r>
            <a:endParaRPr lang="pt-BR" altLang="pt-BR" sz="2000" b="1" dirty="0"/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EA925EAF-926F-4230-AA74-52406AFD5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06" y="2971182"/>
            <a:ext cx="419100" cy="209550"/>
          </a:xfrm>
          <a:prstGeom prst="downArrow">
            <a:avLst>
              <a:gd name="adj1" fmla="val 50000"/>
              <a:gd name="adj2" fmla="val 49745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000">
              <a:cs typeface="Arial" pitchFamily="34" charset="0"/>
            </a:endParaRPr>
          </a:p>
        </p:txBody>
      </p:sp>
      <p:sp>
        <p:nvSpPr>
          <p:cNvPr id="13" name="Text Box 9">
            <a:extLst>
              <a:ext uri="{FF2B5EF4-FFF2-40B4-BE49-F238E27FC236}">
                <a16:creationId xmlns:a16="http://schemas.microsoft.com/office/drawing/2014/main" id="{9BB6C86A-C6C9-4A2B-B854-2849C083D6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1094" y="4165951"/>
            <a:ext cx="6765925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/>
              <a:t>Produção mais flexível – prazos menores</a:t>
            </a:r>
            <a:endParaRPr lang="pt-BR" altLang="pt-BR" sz="2000" b="1" dirty="0"/>
          </a:p>
        </p:txBody>
      </p:sp>
      <p:sp>
        <p:nvSpPr>
          <p:cNvPr id="15" name="AutoShape 11">
            <a:extLst>
              <a:ext uri="{FF2B5EF4-FFF2-40B4-BE49-F238E27FC236}">
                <a16:creationId xmlns:a16="http://schemas.microsoft.com/office/drawing/2014/main" id="{08D12CB3-10DE-42D6-A5B3-62EDDF8D4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06" y="3845482"/>
            <a:ext cx="419100" cy="209550"/>
          </a:xfrm>
          <a:prstGeom prst="downArrow">
            <a:avLst>
              <a:gd name="adj1" fmla="val 50000"/>
              <a:gd name="adj2" fmla="val 49745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000">
              <a:cs typeface="Arial" pitchFamily="34" charset="0"/>
            </a:endParaRPr>
          </a:p>
        </p:txBody>
      </p:sp>
      <p:sp>
        <p:nvSpPr>
          <p:cNvPr id="17" name="Text Box 13">
            <a:extLst>
              <a:ext uri="{FF2B5EF4-FFF2-40B4-BE49-F238E27FC236}">
                <a16:creationId xmlns:a16="http://schemas.microsoft.com/office/drawing/2014/main" id="{E0CE99BD-0EA7-4482-9A97-4A289D53C8ED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540744" y="4997449"/>
            <a:ext cx="3946626" cy="381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00B050"/>
                </a:solidFill>
              </a:rPr>
              <a:t>Satisfação dos clientes</a:t>
            </a:r>
          </a:p>
        </p:txBody>
      </p:sp>
      <p:sp>
        <p:nvSpPr>
          <p:cNvPr id="18" name="AutoShape 14">
            <a:extLst>
              <a:ext uri="{FF2B5EF4-FFF2-40B4-BE49-F238E27FC236}">
                <a16:creationId xmlns:a16="http://schemas.microsoft.com/office/drawing/2014/main" id="{B5C5F54D-F652-49BA-A4E1-AB557D986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06" y="4676980"/>
            <a:ext cx="419100" cy="209550"/>
          </a:xfrm>
          <a:prstGeom prst="downArrow">
            <a:avLst>
              <a:gd name="adj1" fmla="val 50000"/>
              <a:gd name="adj2" fmla="val 49745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000">
              <a:cs typeface="Arial" pitchFamily="34" charset="0"/>
            </a:endParaRPr>
          </a:p>
        </p:txBody>
      </p:sp>
      <p:sp>
        <p:nvSpPr>
          <p:cNvPr id="20" name="Text Box 16">
            <a:extLst>
              <a:ext uri="{FF2B5EF4-FFF2-40B4-BE49-F238E27FC236}">
                <a16:creationId xmlns:a16="http://schemas.microsoft.com/office/drawing/2014/main" id="{E3047CF4-A8AE-4AE9-802B-88245EE17D25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2533809" y="5810378"/>
            <a:ext cx="3960495" cy="68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b="1" dirty="0">
                <a:solidFill>
                  <a:srgbClr val="00B050"/>
                </a:solidFill>
                <a:cs typeface="Arial" pitchFamily="34" charset="0"/>
              </a:rPr>
              <a:t>Vantagens Competitivas</a:t>
            </a:r>
          </a:p>
        </p:txBody>
      </p:sp>
      <p:sp>
        <p:nvSpPr>
          <p:cNvPr id="21" name="AutoShape 17">
            <a:extLst>
              <a:ext uri="{FF2B5EF4-FFF2-40B4-BE49-F238E27FC236}">
                <a16:creationId xmlns:a16="http://schemas.microsoft.com/office/drawing/2014/main" id="{F7072F54-D895-4F94-9F25-C296597E80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506" y="5489909"/>
            <a:ext cx="419100" cy="209550"/>
          </a:xfrm>
          <a:prstGeom prst="downArrow">
            <a:avLst>
              <a:gd name="adj1" fmla="val 50000"/>
              <a:gd name="adj2" fmla="val 49745"/>
            </a:avLst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000">
              <a:cs typeface="Arial" pitchFamily="34" charset="0"/>
            </a:endParaRPr>
          </a:p>
        </p:txBody>
      </p:sp>
      <p:sp>
        <p:nvSpPr>
          <p:cNvPr id="22" name="Text Box 18">
            <a:extLst>
              <a:ext uri="{FF2B5EF4-FFF2-40B4-BE49-F238E27FC236}">
                <a16:creationId xmlns:a16="http://schemas.microsoft.com/office/drawing/2014/main" id="{4C945041-9CA3-48A9-88C0-8D08A72752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7363" y="1536700"/>
            <a:ext cx="8053387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000" b="1" dirty="0"/>
              <a:t>Melhoria de Set </a:t>
            </a:r>
            <a:r>
              <a:rPr lang="pt-BR" altLang="pt-BR" sz="2000" b="1" dirty="0" err="1"/>
              <a:t>Ups</a:t>
            </a:r>
            <a:r>
              <a:rPr lang="pt-BR" altLang="pt-BR" sz="2000" b="1" dirty="0"/>
              <a:t> – rápidos e consistentes</a:t>
            </a:r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2134234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/>
      <p:bldP spid="12" grpId="0" animBg="1"/>
      <p:bldP spid="13" grpId="0"/>
      <p:bldP spid="15" grpId="0" animBg="1"/>
      <p:bldP spid="17" grpId="0"/>
      <p:bldP spid="18" grpId="0" animBg="1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5637" y="1916832"/>
            <a:ext cx="8312727" cy="4176464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600"/>
              </a:spcBef>
              <a:buNone/>
            </a:pPr>
            <a:r>
              <a:rPr lang="pt-BR" altLang="pt-BR" sz="2200" dirty="0">
                <a:latin typeface="Century Gothic" panose="020B0502020202020204" pitchFamily="34" charset="0"/>
              </a:rPr>
              <a:t>Há a necessidade de flexibilizar a produção. </a:t>
            </a:r>
            <a:br>
              <a:rPr lang="pt-BR" altLang="pt-BR" sz="2200" dirty="0">
                <a:latin typeface="Century Gothic" panose="020B0502020202020204" pitchFamily="34" charset="0"/>
              </a:rPr>
            </a:br>
            <a:br>
              <a:rPr lang="pt-BR" altLang="pt-BR" sz="2200" dirty="0">
                <a:latin typeface="Century Gothic" panose="020B0502020202020204" pitchFamily="34" charset="0"/>
              </a:rPr>
            </a:br>
            <a:r>
              <a:rPr lang="pt-BR" altLang="pt-BR" sz="2200" dirty="0">
                <a:latin typeface="Century Gothic" panose="020B0502020202020204" pitchFamily="34" charset="0"/>
              </a:rPr>
              <a:t>Flexibilizar é ter a  habilidade em produzir em pequenos lotes e numa grande quantidade de diferentes itens.</a:t>
            </a:r>
            <a:br>
              <a:rPr lang="pt-BR" altLang="pt-BR" sz="2200" dirty="0">
                <a:latin typeface="Century Gothic" panose="020B0502020202020204" pitchFamily="34" charset="0"/>
              </a:rPr>
            </a:br>
            <a:br>
              <a:rPr lang="pt-BR" altLang="pt-BR" sz="2200" dirty="0">
                <a:latin typeface="Century Gothic" panose="020B0502020202020204" pitchFamily="34" charset="0"/>
              </a:rPr>
            </a:br>
            <a:r>
              <a:rPr lang="pt-BR" altLang="pt-BR" sz="2200" dirty="0">
                <a:latin typeface="Century Gothic" panose="020B0502020202020204" pitchFamily="34" charset="0"/>
              </a:rPr>
              <a:t>Se flexível significa ser muito bom na realização dos SETUPS ou fazer cada vez mais SETUPS....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Em resumo...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21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23528" y="476672"/>
            <a:ext cx="6696744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Qual a analogia da TRF com um Pit Stop?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8</a:t>
            </a:fld>
            <a:endParaRPr lang="pt-BR"/>
          </a:p>
        </p:txBody>
      </p:sp>
      <p:pic>
        <p:nvPicPr>
          <p:cNvPr id="7" name="Picture 4" descr="2002_02_30">
            <a:extLst>
              <a:ext uri="{FF2B5EF4-FFF2-40B4-BE49-F238E27FC236}">
                <a16:creationId xmlns:a16="http://schemas.microsoft.com/office/drawing/2014/main" id="{60CF3957-E668-473C-9BEC-8331590F2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484313"/>
            <a:ext cx="4032250" cy="269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3" descr="http://images.gpupdate.net/large/146784.jpg">
            <a:extLst>
              <a:ext uri="{FF2B5EF4-FFF2-40B4-BE49-F238E27FC236}">
                <a16:creationId xmlns:a16="http://schemas.microsoft.com/office/drawing/2014/main" id="{22928D93-DFC8-4CD5-ADD1-DBDB351CC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275" y="3357563"/>
            <a:ext cx="5141913" cy="3379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2453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Conceitos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9</a:t>
            </a:fld>
            <a:endParaRPr lang="pt-BR"/>
          </a:p>
        </p:txBody>
      </p:sp>
      <p:sp>
        <p:nvSpPr>
          <p:cNvPr id="7" name="Text Box 2">
            <a:extLst>
              <a:ext uri="{FF2B5EF4-FFF2-40B4-BE49-F238E27FC236}">
                <a16:creationId xmlns:a16="http://schemas.microsoft.com/office/drawing/2014/main" id="{46934D1B-D532-451B-96D7-050F83DC8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523" y="1586363"/>
            <a:ext cx="3854450" cy="270843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pt-BR" altLang="pt-BR" sz="2000" b="1" dirty="0">
                <a:latin typeface="Century Gothic" panose="020B0502020202020204" pitchFamily="34" charset="0"/>
              </a:rPr>
              <a:t>SETUP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É o ato de </a:t>
            </a:r>
            <a:r>
              <a:rPr lang="pt-BR" altLang="pt-BR" sz="2000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trocar e ajustar </a:t>
            </a: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os dispositivos e ferramentas de uma determinada máquina que está produzindo um determinado tipo de peça para poder produzir outro tipo de peça.</a:t>
            </a:r>
          </a:p>
        </p:txBody>
      </p:sp>
      <p:sp>
        <p:nvSpPr>
          <p:cNvPr id="8" name="Text Box 2">
            <a:extLst>
              <a:ext uri="{FF2B5EF4-FFF2-40B4-BE49-F238E27FC236}">
                <a16:creationId xmlns:a16="http://schemas.microsoft.com/office/drawing/2014/main" id="{E42D5DEE-C81B-4E99-94E9-7549F6022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5973" y="1659388"/>
            <a:ext cx="4308475" cy="2862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pt-BR" altLang="pt-BR" sz="2000" b="1" dirty="0">
                <a:latin typeface="Century Gothic" panose="020B0502020202020204" pitchFamily="34" charset="0"/>
              </a:rPr>
              <a:t>TEMPO DE SET-UP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É o tempo decorrente desde a </a:t>
            </a:r>
            <a:r>
              <a:rPr lang="pt-BR" altLang="pt-BR" sz="2000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última peça boa</a:t>
            </a: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 de um lote até a </a:t>
            </a:r>
            <a:r>
              <a:rPr lang="pt-BR" altLang="pt-BR" sz="2000" u="sng" dirty="0">
                <a:solidFill>
                  <a:srgbClr val="000000"/>
                </a:solidFill>
                <a:latin typeface="Century Gothic" panose="020B0502020202020204" pitchFamily="34" charset="0"/>
              </a:rPr>
              <a:t>primeira peça boa </a:t>
            </a: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do lote seguinte.</a:t>
            </a:r>
          </a:p>
          <a:p>
            <a:pPr algn="ctr" eaLnBrk="0" fontAlgn="base" hangingPunct="0">
              <a:spcBef>
                <a:spcPct val="50000"/>
              </a:spcBef>
              <a:spcAft>
                <a:spcPct val="0"/>
              </a:spcAft>
              <a:buFontTx/>
              <a:buNone/>
            </a:pPr>
            <a:r>
              <a:rPr lang="pt-BR" altLang="pt-BR" sz="2000" dirty="0">
                <a:solidFill>
                  <a:srgbClr val="000000"/>
                </a:solidFill>
                <a:latin typeface="Century Gothic" panose="020B0502020202020204" pitchFamily="34" charset="0"/>
              </a:rPr>
              <a:t>Este tempo inclui os ajustes necessários após a troca do ferramental.</a:t>
            </a:r>
          </a:p>
        </p:txBody>
      </p:sp>
      <p:sp>
        <p:nvSpPr>
          <p:cNvPr id="9" name="Text Box 5">
            <a:extLst>
              <a:ext uri="{FF2B5EF4-FFF2-40B4-BE49-F238E27FC236}">
                <a16:creationId xmlns:a16="http://schemas.microsoft.com/office/drawing/2014/main" id="{5D362EE9-5A58-4F30-977C-77A8EAF98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5636" y="4688641"/>
            <a:ext cx="98901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pt-BR" altLang="pt-BR" sz="2000" b="1">
                <a:solidFill>
                  <a:srgbClr val="000000"/>
                </a:solidFill>
                <a:cs typeface="Arial" pitchFamily="34" charset="0"/>
              </a:rPr>
              <a:t>Set Up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266EE41F-A6F2-4DD0-95F3-8300B472E6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3348" y="4677529"/>
            <a:ext cx="176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Lote peça </a:t>
            </a:r>
            <a:r>
              <a:rPr kumimoji="0" lang="ja-JP" altLang="pt-B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‘</a:t>
            </a:r>
            <a:r>
              <a:rPr kumimoji="0" lang="pt-BR" altLang="ja-JP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B</a:t>
            </a:r>
            <a:r>
              <a:rPr kumimoji="0" lang="ja-JP" altLang="pt-BR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’</a:t>
            </a:r>
            <a:endParaRPr kumimoji="0" lang="pt-BR" altLang="pt-BR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57A7D421-72AE-4F97-956F-062AF1A58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398" y="4690229"/>
            <a:ext cx="17637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Lote peça </a:t>
            </a:r>
            <a:r>
              <a:rPr kumimoji="0" lang="ja-JP" alt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‘</a:t>
            </a:r>
            <a:r>
              <a:rPr kumimoji="0" lang="pt-BR" altLang="ja-JP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A</a:t>
            </a:r>
            <a:r>
              <a:rPr kumimoji="0" lang="ja-JP" altLang="pt-BR" sz="2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</a:rPr>
              <a:t>’</a:t>
            </a:r>
            <a:endParaRPr kumimoji="0" lang="pt-BR" altLang="pt-BR" sz="20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12" name="AutoShape 8">
            <a:extLst>
              <a:ext uri="{FF2B5EF4-FFF2-40B4-BE49-F238E27FC236}">
                <a16:creationId xmlns:a16="http://schemas.microsoft.com/office/drawing/2014/main" id="{1C25DF8E-09BC-453A-91D5-D34D683D7C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5873" y="5999916"/>
            <a:ext cx="2262188" cy="469900"/>
          </a:xfrm>
          <a:prstGeom prst="leftRightArrow">
            <a:avLst>
              <a:gd name="adj1" fmla="val 43139"/>
              <a:gd name="adj2" fmla="val 123676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pt-BR" sz="2400" b="1" i="0" u="none" strike="noStrike" kern="0" cap="none" spc="0" normalizeH="0" baseline="0" noProof="0">
              <a:ln>
                <a:noFill/>
              </a:ln>
              <a:solidFill>
                <a:srgbClr val="660033"/>
              </a:solidFill>
              <a:effectLst/>
              <a:uLnTx/>
              <a:uFillTx/>
              <a:latin typeface="Arial" pitchFamily="34" charset="0"/>
              <a:ea typeface="MS PGothic" pitchFamily="34" charset="-128"/>
              <a:cs typeface="Arial" pitchFamily="34" charset="0"/>
            </a:endParaRP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9EFF0552-8B77-478D-A118-440DC7338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486" y="5266491"/>
            <a:ext cx="2381250" cy="506413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Sem Valor Agregado</a:t>
            </a:r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CE5BA8C5-A432-4486-BDBC-EF1800821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723" y="5271254"/>
            <a:ext cx="2416175" cy="50800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Valor Agregado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736E50F6-D516-4E7D-9FA7-23C8CE4C4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3623" y="5266491"/>
            <a:ext cx="2416175" cy="508000"/>
          </a:xfrm>
          <a:prstGeom prst="rect">
            <a:avLst/>
          </a:prstGeom>
          <a:solidFill>
            <a:srgbClr val="0000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altLang="pt-BR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itchFamily="34" charset="0"/>
                <a:ea typeface="MS PGothic" pitchFamily="34" charset="-128"/>
                <a:cs typeface="Arial" pitchFamily="34" charset="0"/>
              </a:rPr>
              <a:t>Valor Agregado</a:t>
            </a:r>
          </a:p>
        </p:txBody>
      </p:sp>
    </p:spTree>
    <p:extLst>
      <p:ext uri="{BB962C8B-B14F-4D97-AF65-F5344CB8AC3E}">
        <p14:creationId xmlns:p14="http://schemas.microsoft.com/office/powerpoint/2010/main" val="3970894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Conceitos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11597C-0F54-4734-BF75-A3309CCD7636}" type="slidenum">
              <a:rPr lang="pt-BR" smtClean="0"/>
              <a:t>10</a:t>
            </a:fld>
            <a:endParaRPr lang="pt-BR"/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9FFB6BE0-3B9D-46AD-9D14-674418D780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8111" y="3011040"/>
            <a:ext cx="66294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2400" b="1" dirty="0">
                <a:latin typeface="Incised901 BT"/>
              </a:rPr>
              <a:t>É aquela realizada no menor espaço de tempo possível.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8C569DC8-CD4F-4915-9482-7373CD8E7E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3648" y="2058540"/>
            <a:ext cx="6629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4400" b="1" dirty="0">
                <a:latin typeface="Incised901 BT"/>
              </a:rPr>
              <a:t>Troca Rápida</a:t>
            </a:r>
            <a:r>
              <a:rPr lang="pt-BR" altLang="pt-BR" sz="2400" dirty="0">
                <a:latin typeface="Incised901 BT"/>
              </a:rPr>
              <a:t> 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B5E78587-9480-4EAB-8D4C-2DD94072D1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848" y="4235226"/>
            <a:ext cx="66294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2400" b="1" dirty="0">
                <a:latin typeface="Incised901 BT"/>
              </a:rPr>
              <a:t>Observação: </a:t>
            </a:r>
            <a:r>
              <a:rPr lang="pt-BR" altLang="pt-BR" sz="2400" dirty="0">
                <a:latin typeface="Incised901 BT"/>
              </a:rPr>
              <a:t>Não significa correrias dos operadores, e sim montagens simplificadas, sem improvisações, com coordenação e de forma sistemática. </a:t>
            </a:r>
          </a:p>
        </p:txBody>
      </p:sp>
      <p:pic>
        <p:nvPicPr>
          <p:cNvPr id="8" name="Picture 6" descr="C:\Documents and Settings\Produttare\Configurações locais\Temporary Internet Files\Content.IE5\PDOIN4K1\MC900354128[1].wmf">
            <a:extLst>
              <a:ext uri="{FF2B5EF4-FFF2-40B4-BE49-F238E27FC236}">
                <a16:creationId xmlns:a16="http://schemas.microsoft.com/office/drawing/2014/main" id="{6CF0BC4F-D6BB-42D7-9074-D99AD27CF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5303"/>
            <a:ext cx="1811337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5777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 noChangeAspect="1"/>
          </p:cNvGraphicFramePr>
          <p:nvPr/>
        </p:nvGraphicFramePr>
        <p:xfrm>
          <a:off x="2898775" y="2060575"/>
          <a:ext cx="3473450" cy="347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3" name="Clip" r:id="rId4" imgW="3473450" imgH="3473450" progId="">
                  <p:embed/>
                </p:oleObj>
              </mc:Choice>
              <mc:Fallback>
                <p:oleObj name="Clip" r:id="rId4" imgW="3473450" imgH="3473450" progId="">
                  <p:embed/>
                  <p:pic>
                    <p:nvPicPr>
                      <p:cNvPr id="5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0000" contrast="-7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2060575"/>
                        <a:ext cx="3473450" cy="347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CC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1331913" y="2714625"/>
            <a:ext cx="6629400" cy="304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2400" b="1" dirty="0">
                <a:latin typeface="Incised901 BT"/>
              </a:rPr>
              <a:t>Single Minute Exchange </a:t>
            </a:r>
            <a:r>
              <a:rPr lang="pt-BR" altLang="pt-BR" sz="2400" b="1" dirty="0" err="1">
                <a:latin typeface="Incised901 BT"/>
              </a:rPr>
              <a:t>of</a:t>
            </a:r>
            <a:r>
              <a:rPr lang="pt-BR" altLang="pt-BR" sz="2400" b="1" dirty="0">
                <a:latin typeface="Incised901 BT"/>
              </a:rPr>
              <a:t> Die significa setups realizados em menos de 10 minutos.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2400" dirty="0">
                <a:latin typeface="Incised901 BT"/>
              </a:rPr>
              <a:t>Era o objetivo de </a:t>
            </a:r>
            <a:r>
              <a:rPr lang="pt-BR" altLang="pt-BR" sz="2400" dirty="0" err="1">
                <a:latin typeface="Incised901 BT"/>
              </a:rPr>
              <a:t>Shingo</a:t>
            </a:r>
            <a:r>
              <a:rPr lang="pt-BR" altLang="pt-BR" sz="2400" dirty="0">
                <a:latin typeface="Incised901 BT"/>
              </a:rPr>
              <a:t> para as melhorias de setup.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2400" dirty="0">
                <a:latin typeface="Incised901 BT"/>
              </a:rPr>
              <a:t>Em função disto, o nome original de TROCA RÁPIDA DE FERRAMENTAS foi SISTEMA SMED.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36675" y="1744663"/>
            <a:ext cx="6629400" cy="769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4400" b="1">
                <a:solidFill>
                  <a:srgbClr val="FF0000"/>
                </a:solidFill>
                <a:latin typeface="Incised901 BT"/>
              </a:rPr>
              <a:t>SMED</a:t>
            </a:r>
            <a:r>
              <a:rPr lang="pt-BR" altLang="pt-BR" sz="1800">
                <a:solidFill>
                  <a:srgbClr val="FF0000"/>
                </a:solidFill>
                <a:latin typeface="Incised901 BT"/>
              </a:rPr>
              <a:t> </a:t>
            </a: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6C6593D0-B2DA-4C91-9A6E-0E6AE58B0C53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Conceitos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2966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395288" y="3073400"/>
            <a:ext cx="2159000" cy="2768600"/>
            <a:chOff x="249" y="2115"/>
            <a:chExt cx="1360" cy="1744"/>
          </a:xfrm>
        </p:grpSpPr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249" y="2115"/>
              <a:ext cx="136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Ctr="1"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pt-BR" sz="1800">
                  <a:solidFill>
                    <a:srgbClr val="F7173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ncised901 BT" pitchFamily="34" charset="0"/>
                </a:rPr>
                <a:t>Primavera de 1950</a:t>
              </a:r>
            </a:p>
          </p:txBody>
        </p:sp>
        <p:sp>
          <p:nvSpPr>
            <p:cNvPr id="7" name="Text Box 5"/>
            <p:cNvSpPr txBox="1">
              <a:spLocks noChangeArrowheads="1"/>
            </p:cNvSpPr>
            <p:nvPr/>
          </p:nvSpPr>
          <p:spPr bwMode="auto">
            <a:xfrm>
              <a:off x="340" y="2478"/>
              <a:ext cx="1224" cy="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dist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pt-BR" altLang="pt-BR" sz="1700">
                  <a:latin typeface="Incised901 BT"/>
                </a:rPr>
                <a:t>Análise de gargalos na planta </a:t>
              </a:r>
              <a:r>
                <a:rPr lang="pt-BR" altLang="pt-BR" sz="1700" i="1">
                  <a:latin typeface="Incised901 BT"/>
                </a:rPr>
                <a:t>Mazda</a:t>
              </a:r>
              <a:r>
                <a:rPr lang="pt-BR" altLang="pt-BR" sz="1700">
                  <a:latin typeface="Incised901 BT"/>
                </a:rPr>
                <a:t>, em Hiroshima, que resultou na formulação de conceitos de </a:t>
              </a:r>
              <a:r>
                <a:rPr lang="pt-BR" altLang="pt-BR" sz="1700" b="1" u="sng">
                  <a:latin typeface="Incised901 BT"/>
                </a:rPr>
                <a:t>Setup Interno e Setup Externo</a:t>
              </a:r>
            </a:p>
          </p:txBody>
        </p:sp>
      </p:grpSp>
      <p:grpSp>
        <p:nvGrpSpPr>
          <p:cNvPr id="8" name="Group 6"/>
          <p:cNvGrpSpPr>
            <a:grpSpLocks/>
          </p:cNvGrpSpPr>
          <p:nvPr/>
        </p:nvGrpSpPr>
        <p:grpSpPr bwMode="auto">
          <a:xfrm>
            <a:off x="2771775" y="3073400"/>
            <a:ext cx="2592388" cy="3235325"/>
            <a:chOff x="1746" y="2115"/>
            <a:chExt cx="1633" cy="2038"/>
          </a:xfrm>
        </p:grpSpPr>
        <p:sp>
          <p:nvSpPr>
            <p:cNvPr id="9" name="Text Box 7"/>
            <p:cNvSpPr txBox="1">
              <a:spLocks noChangeArrowheads="1"/>
            </p:cNvSpPr>
            <p:nvPr/>
          </p:nvSpPr>
          <p:spPr bwMode="auto">
            <a:xfrm>
              <a:off x="1792" y="2115"/>
              <a:ext cx="1360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Ctr="1"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pt-BR" sz="1800">
                  <a:solidFill>
                    <a:srgbClr val="F7173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ncised901 BT" pitchFamily="34" charset="0"/>
                </a:rPr>
                <a:t>Verão de 1957</a:t>
              </a: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1746" y="2478"/>
              <a:ext cx="1633" cy="1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dist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pt-BR" altLang="pt-BR" sz="1700">
                  <a:latin typeface="Incised901 BT"/>
                </a:rPr>
                <a:t>Um estudo no estaleiro da </a:t>
              </a:r>
              <a:r>
                <a:rPr lang="pt-BR" altLang="pt-BR" sz="1700" i="1">
                  <a:latin typeface="Incised901 BT"/>
                </a:rPr>
                <a:t>Mitsubishi</a:t>
              </a:r>
              <a:r>
                <a:rPr lang="pt-BR" altLang="pt-BR" sz="1700">
                  <a:latin typeface="Incised901 BT"/>
                </a:rPr>
                <a:t> em Hiroshima  mostrou   ‘a Shingo a importância do Setup externo, já que se trocavam matrizes externamente de um lote para outro, reduzindo drasticamente o tempo de trocas de  ferramentas </a:t>
              </a:r>
              <a:endParaRPr lang="pt-BR" altLang="pt-BR" sz="1700" b="1" u="sng">
                <a:latin typeface="Incised901 BT"/>
              </a:endParaRPr>
            </a:p>
          </p:txBody>
        </p:sp>
      </p:grpSp>
      <p:grpSp>
        <p:nvGrpSpPr>
          <p:cNvPr id="11" name="Group 9"/>
          <p:cNvGrpSpPr>
            <a:grpSpLocks/>
          </p:cNvGrpSpPr>
          <p:nvPr/>
        </p:nvGrpSpPr>
        <p:grpSpPr bwMode="auto">
          <a:xfrm>
            <a:off x="395288" y="2568575"/>
            <a:ext cx="8280400" cy="3313113"/>
            <a:chOff x="249" y="1797"/>
            <a:chExt cx="5216" cy="2087"/>
          </a:xfrm>
        </p:grpSpPr>
        <p:sp>
          <p:nvSpPr>
            <p:cNvPr id="12" name="Line 10"/>
            <p:cNvSpPr>
              <a:spLocks noChangeShapeType="1"/>
            </p:cNvSpPr>
            <p:nvPr/>
          </p:nvSpPr>
          <p:spPr bwMode="auto">
            <a:xfrm>
              <a:off x="249" y="2387"/>
              <a:ext cx="521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Ctr="1">
              <a:spAutoFit/>
            </a:bodyPr>
            <a:lstStyle/>
            <a:p>
              <a:endParaRPr lang="pt-BR"/>
            </a:p>
          </p:txBody>
        </p:sp>
        <p:sp>
          <p:nvSpPr>
            <p:cNvPr id="13" name="Line 11"/>
            <p:cNvSpPr>
              <a:spLocks noChangeShapeType="1"/>
            </p:cNvSpPr>
            <p:nvPr/>
          </p:nvSpPr>
          <p:spPr bwMode="auto">
            <a:xfrm>
              <a:off x="1655" y="1797"/>
              <a:ext cx="0" cy="20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Ctr="1">
              <a:spAutoFit/>
            </a:bodyPr>
            <a:lstStyle/>
            <a:p>
              <a:endParaRPr lang="pt-BR"/>
            </a:p>
          </p:txBody>
        </p:sp>
        <p:sp>
          <p:nvSpPr>
            <p:cNvPr id="14" name="Line 12"/>
            <p:cNvSpPr>
              <a:spLocks noChangeShapeType="1"/>
            </p:cNvSpPr>
            <p:nvPr/>
          </p:nvSpPr>
          <p:spPr bwMode="auto">
            <a:xfrm>
              <a:off x="3424" y="1797"/>
              <a:ext cx="0" cy="208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92075" tIns="46038" rIns="92075" bIns="46038" anchorCtr="1">
              <a:spAutoFit/>
            </a:bodyPr>
            <a:lstStyle/>
            <a:p>
              <a:endParaRPr lang="pt-BR"/>
            </a:p>
          </p:txBody>
        </p:sp>
      </p:grpSp>
      <p:grpSp>
        <p:nvGrpSpPr>
          <p:cNvPr id="15" name="Group 13"/>
          <p:cNvGrpSpPr>
            <a:grpSpLocks/>
          </p:cNvGrpSpPr>
          <p:nvPr/>
        </p:nvGrpSpPr>
        <p:grpSpPr bwMode="auto">
          <a:xfrm>
            <a:off x="5580063" y="3073400"/>
            <a:ext cx="2879725" cy="2840038"/>
            <a:chOff x="3515" y="2115"/>
            <a:chExt cx="1814" cy="1789"/>
          </a:xfrm>
        </p:grpSpPr>
        <p:sp>
          <p:nvSpPr>
            <p:cNvPr id="16" name="Text Box 14"/>
            <p:cNvSpPr txBox="1">
              <a:spLocks noChangeArrowheads="1"/>
            </p:cNvSpPr>
            <p:nvPr/>
          </p:nvSpPr>
          <p:spPr bwMode="auto">
            <a:xfrm>
              <a:off x="3515" y="2115"/>
              <a:ext cx="1769" cy="2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92075" tIns="46038" rIns="92075" bIns="46038" anchorCtr="1">
              <a:spAutoFit/>
            </a:bodyPr>
            <a:lstStyle/>
            <a:p>
              <a:pPr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pt-BR" sz="1800">
                  <a:solidFill>
                    <a:srgbClr val="F7173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ncised901 BT" pitchFamily="34" charset="0"/>
                </a:rPr>
                <a:t>Final dos anos 60 (1969)</a:t>
              </a:r>
            </a:p>
          </p:txBody>
        </p:sp>
        <p:sp>
          <p:nvSpPr>
            <p:cNvPr id="17" name="Text Box 15"/>
            <p:cNvSpPr txBox="1">
              <a:spLocks noChangeArrowheads="1"/>
            </p:cNvSpPr>
            <p:nvPr/>
          </p:nvSpPr>
          <p:spPr bwMode="auto">
            <a:xfrm>
              <a:off x="3560" y="2523"/>
              <a:ext cx="1769" cy="13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dist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pt-BR" altLang="pt-BR" sz="1700">
                  <a:latin typeface="Incised901 BT"/>
                </a:rPr>
                <a:t>Surge a idéia de converter setup interno em  externo, inspirado na exigência da direção da </a:t>
              </a:r>
              <a:r>
                <a:rPr lang="pt-BR" altLang="pt-BR" sz="1700" i="1">
                  <a:latin typeface="Incised901 BT"/>
                </a:rPr>
                <a:t>Toyota Motor Company</a:t>
              </a:r>
              <a:r>
                <a:rPr lang="pt-BR" altLang="pt-BR" sz="1700">
                  <a:latin typeface="Incised901 BT"/>
                </a:rPr>
                <a:t> em reduzir o tempo de setup de suas prensas de 4 horas para apenas 3 minutos!. </a:t>
              </a:r>
              <a:r>
                <a:rPr lang="pt-BR" altLang="pt-BR" sz="1700" b="1" u="sng">
                  <a:latin typeface="Incised901 BT"/>
                </a:rPr>
                <a:t>Nascimento do SMED</a:t>
              </a:r>
              <a:r>
                <a:rPr lang="pt-BR" altLang="pt-BR" sz="1700">
                  <a:latin typeface="Incised901 BT"/>
                </a:rPr>
                <a:t>.</a:t>
              </a:r>
              <a:endParaRPr lang="pt-BR" altLang="pt-BR" sz="1700" b="1" u="sng">
                <a:latin typeface="Incised901 BT"/>
              </a:endParaRPr>
            </a:p>
          </p:txBody>
        </p:sp>
      </p:grpSp>
      <p:grpSp>
        <p:nvGrpSpPr>
          <p:cNvPr id="18" name="Group 16"/>
          <p:cNvGrpSpPr>
            <a:grpSpLocks/>
          </p:cNvGrpSpPr>
          <p:nvPr/>
        </p:nvGrpSpPr>
        <p:grpSpPr bwMode="auto">
          <a:xfrm>
            <a:off x="1763713" y="1704975"/>
            <a:ext cx="6840537" cy="1800225"/>
            <a:chOff x="1111" y="1253"/>
            <a:chExt cx="4309" cy="1134"/>
          </a:xfrm>
        </p:grpSpPr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1111" y="2069"/>
              <a:ext cx="499" cy="31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20" name="Oval 18"/>
            <p:cNvSpPr>
              <a:spLocks noChangeArrowheads="1"/>
            </p:cNvSpPr>
            <p:nvPr/>
          </p:nvSpPr>
          <p:spPr bwMode="auto">
            <a:xfrm>
              <a:off x="4740" y="2069"/>
              <a:ext cx="499" cy="31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92075" tIns="46038" rIns="92075" bIns="46038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21" name="Text Box 19"/>
            <p:cNvSpPr txBox="1">
              <a:spLocks noChangeArrowheads="1"/>
            </p:cNvSpPr>
            <p:nvPr/>
          </p:nvSpPr>
          <p:spPr bwMode="auto">
            <a:xfrm>
              <a:off x="3787" y="1253"/>
              <a:ext cx="1633" cy="6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lIns="92075" tIns="46038" rIns="92075" bIns="46038" anchorCtr="1">
              <a:spAutoFit/>
            </a:bodyPr>
            <a:lstStyle/>
            <a:p>
              <a:pPr algn="ctr">
                <a:lnSpc>
                  <a:spcPct val="90000"/>
                </a:lnSpc>
                <a:spcBef>
                  <a:spcPct val="5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pt-BR" sz="1800" b="1" i="1">
                  <a:solidFill>
                    <a:srgbClr val="F7173C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Incised901 BT" pitchFamily="34" charset="0"/>
                </a:rPr>
                <a:t>O desenvolvimento do Conceito de TRF levou, ao todo, 19 anos!</a:t>
              </a:r>
            </a:p>
          </p:txBody>
        </p:sp>
        <p:cxnSp>
          <p:nvCxnSpPr>
            <p:cNvPr id="22" name="AutoShape 20"/>
            <p:cNvCxnSpPr>
              <a:cxnSpLocks noChangeShapeType="1"/>
              <a:stCxn id="19" idx="0"/>
              <a:endCxn id="21" idx="1"/>
            </p:cNvCxnSpPr>
            <p:nvPr/>
          </p:nvCxnSpPr>
          <p:spPr bwMode="auto">
            <a:xfrm rot="-5400000">
              <a:off x="2305" y="575"/>
              <a:ext cx="538" cy="2426"/>
            </a:xfrm>
            <a:prstGeom prst="curvedConnector2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3" name="AutoShape 21"/>
            <p:cNvCxnSpPr>
              <a:cxnSpLocks noChangeShapeType="1"/>
              <a:stCxn id="16" idx="3"/>
              <a:endCxn id="21" idx="3"/>
            </p:cNvCxnSpPr>
            <p:nvPr/>
          </p:nvCxnSpPr>
          <p:spPr bwMode="auto">
            <a:xfrm flipV="1">
              <a:off x="5284" y="1519"/>
              <a:ext cx="136" cy="703"/>
            </a:xfrm>
            <a:prstGeom prst="curvedConnector3">
              <a:avLst>
                <a:gd name="adj1" fmla="val 205884"/>
              </a:avLst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4" name="Text Box 22"/>
          <p:cNvSpPr txBox="1">
            <a:spLocks noChangeArrowheads="1"/>
          </p:cNvSpPr>
          <p:nvPr/>
        </p:nvSpPr>
        <p:spPr bwMode="auto">
          <a:xfrm>
            <a:off x="2627313" y="1539875"/>
            <a:ext cx="381635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b="1">
                <a:latin typeface="Incised901 BT"/>
              </a:rPr>
              <a:t>O histórico da TRF</a:t>
            </a:r>
          </a:p>
        </p:txBody>
      </p:sp>
      <p:sp>
        <p:nvSpPr>
          <p:cNvPr id="25" name="Retângulo de cantos arredondados 3">
            <a:extLst>
              <a:ext uri="{FF2B5EF4-FFF2-40B4-BE49-F238E27FC236}">
                <a16:creationId xmlns:a16="http://schemas.microsoft.com/office/drawing/2014/main" id="{698432A9-FA03-4488-8E46-1AB0BA769743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496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47813" y="1628775"/>
            <a:ext cx="6189662" cy="519113"/>
          </a:xfrm>
          <a:prstGeom prst="rect">
            <a:avLst/>
          </a:prstGeom>
        </p:spPr>
        <p:txBody>
          <a:bodyPr vert="horz" lIns="92075" tIns="46038" rIns="92075" bIns="46038" rtlCol="0" anchor="t" anchorCtr="1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2800">
                <a:latin typeface="Incised901 BT"/>
              </a:rPr>
              <a:t>Etapas Básicas de Set Up</a:t>
            </a:r>
            <a:endParaRPr lang="pt-BR" altLang="pt-BR" sz="2800">
              <a:latin typeface="Incised901 B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50913" y="2636838"/>
            <a:ext cx="7385050" cy="3962400"/>
          </a:xfrm>
          <a:prstGeom prst="rect">
            <a:avLst/>
          </a:prstGeom>
        </p:spPr>
        <p:txBody>
          <a:bodyPr vert="horz" lIns="92075" tIns="46038" rIns="92075" bIns="4603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47700" indent="-647700">
              <a:lnSpc>
                <a:spcPct val="80000"/>
              </a:lnSpc>
              <a:buFontTx/>
              <a:buAutoNum type="alphaUcParenR"/>
            </a:pPr>
            <a:r>
              <a:rPr lang="en-US" altLang="pt-BR" sz="2100" b="1" dirty="0" err="1">
                <a:latin typeface="Incised901 BT"/>
              </a:rPr>
              <a:t>Preparação</a:t>
            </a:r>
            <a:r>
              <a:rPr lang="en-US" altLang="pt-BR" sz="2100" b="1" dirty="0">
                <a:latin typeface="Incised901 BT"/>
              </a:rPr>
              <a:t>, </a:t>
            </a:r>
            <a:r>
              <a:rPr lang="en-US" altLang="pt-BR" sz="2100" b="1" dirty="0" err="1">
                <a:latin typeface="Incised901 BT"/>
              </a:rPr>
              <a:t>ajuste</a:t>
            </a:r>
            <a:r>
              <a:rPr lang="en-US" altLang="pt-BR" sz="2100" b="1" dirty="0">
                <a:latin typeface="Incised901 BT"/>
              </a:rPr>
              <a:t> e </a:t>
            </a:r>
            <a:r>
              <a:rPr lang="en-US" altLang="pt-BR" sz="2100" b="1" dirty="0" err="1">
                <a:latin typeface="Incised901 BT"/>
              </a:rPr>
              <a:t>verificação</a:t>
            </a:r>
            <a:r>
              <a:rPr lang="en-US" altLang="pt-BR" sz="2100" b="1" dirty="0">
                <a:latin typeface="Incised901 BT"/>
              </a:rPr>
              <a:t> da </a:t>
            </a:r>
            <a:r>
              <a:rPr lang="en-US" altLang="pt-BR" sz="2100" b="1" dirty="0" err="1">
                <a:latin typeface="Incised901 BT"/>
              </a:rPr>
              <a:t>matéria</a:t>
            </a:r>
            <a:r>
              <a:rPr lang="en-US" altLang="pt-BR" sz="2100" b="1" dirty="0">
                <a:latin typeface="Incised901 BT"/>
              </a:rPr>
              <a:t>-prima:</a:t>
            </a:r>
          </a:p>
          <a:p>
            <a:pPr marL="647700" indent="-647700">
              <a:lnSpc>
                <a:spcPct val="80000"/>
              </a:lnSpc>
              <a:buFontTx/>
              <a:buAutoNum type="alphaUcParenR"/>
            </a:pPr>
            <a:endParaRPr lang="en-US" altLang="pt-BR" sz="2100" b="1" dirty="0">
              <a:latin typeface="Incised901 BT"/>
            </a:endParaRPr>
          </a:p>
          <a:p>
            <a:pPr algn="just">
              <a:lnSpc>
                <a:spcPct val="80000"/>
              </a:lnSpc>
            </a:pPr>
            <a:r>
              <a:rPr lang="en-US" altLang="pt-BR" sz="2100" dirty="0" err="1">
                <a:latin typeface="Incised901 BT"/>
              </a:rPr>
              <a:t>Localização</a:t>
            </a:r>
            <a:r>
              <a:rPr lang="en-US" altLang="pt-BR" sz="2100" dirty="0">
                <a:latin typeface="Incised901 BT"/>
              </a:rPr>
              <a:t> </a:t>
            </a:r>
            <a:r>
              <a:rPr lang="en-US" altLang="pt-BR" sz="2100" dirty="0" err="1">
                <a:latin typeface="Incised901 BT"/>
              </a:rPr>
              <a:t>adequada</a:t>
            </a:r>
            <a:r>
              <a:rPr lang="en-US" altLang="pt-BR" sz="2100" dirty="0">
                <a:latin typeface="Incised901 BT"/>
              </a:rPr>
              <a:t> de </a:t>
            </a:r>
            <a:r>
              <a:rPr lang="en-US" altLang="pt-BR" sz="2100" dirty="0" err="1">
                <a:latin typeface="Incised901 BT"/>
              </a:rPr>
              <a:t>peças</a:t>
            </a:r>
            <a:r>
              <a:rPr lang="en-US" altLang="pt-BR" sz="2100" dirty="0">
                <a:latin typeface="Incised901 BT"/>
              </a:rPr>
              <a:t>, </a:t>
            </a:r>
            <a:r>
              <a:rPr lang="en-US" altLang="pt-BR" sz="2100" dirty="0" err="1">
                <a:latin typeface="Incised901 BT"/>
              </a:rPr>
              <a:t>equipamentos</a:t>
            </a:r>
            <a:r>
              <a:rPr lang="en-US" altLang="pt-BR" sz="2100" dirty="0">
                <a:latin typeface="Incised901 BT"/>
              </a:rPr>
              <a:t> e ferramentas</a:t>
            </a:r>
          </a:p>
          <a:p>
            <a:pPr algn="just">
              <a:lnSpc>
                <a:spcPct val="80000"/>
              </a:lnSpc>
            </a:pPr>
            <a:r>
              <a:rPr lang="en-US" altLang="pt-BR" sz="2100" dirty="0">
                <a:latin typeface="Incised901 BT"/>
              </a:rPr>
              <a:t>Estado </a:t>
            </a:r>
            <a:r>
              <a:rPr lang="en-US" altLang="pt-BR" sz="2100" dirty="0" err="1">
                <a:latin typeface="Incised901 BT"/>
              </a:rPr>
              <a:t>adequado</a:t>
            </a:r>
            <a:r>
              <a:rPr lang="en-US" altLang="pt-BR" sz="2100" dirty="0">
                <a:latin typeface="Incised901 BT"/>
              </a:rPr>
              <a:t> de </a:t>
            </a:r>
            <a:r>
              <a:rPr lang="en-US" altLang="pt-BR" sz="2100" dirty="0" err="1">
                <a:latin typeface="Incised901 BT"/>
              </a:rPr>
              <a:t>funcionamento</a:t>
            </a:r>
            <a:endParaRPr lang="en-US" altLang="pt-BR" sz="2100" dirty="0">
              <a:latin typeface="Incised901 BT"/>
            </a:endParaRPr>
          </a:p>
          <a:p>
            <a:pPr algn="just">
              <a:lnSpc>
                <a:spcPct val="80000"/>
              </a:lnSpc>
            </a:pPr>
            <a:r>
              <a:rPr lang="en-US" altLang="pt-BR" sz="2100" dirty="0" err="1">
                <a:latin typeface="Incised901 BT"/>
              </a:rPr>
              <a:t>Remoção</a:t>
            </a:r>
            <a:r>
              <a:rPr lang="en-US" altLang="pt-BR" sz="2100" dirty="0">
                <a:latin typeface="Incised901 BT"/>
              </a:rPr>
              <a:t>, </a:t>
            </a:r>
            <a:r>
              <a:rPr lang="en-US" altLang="pt-BR" sz="2100" dirty="0" err="1">
                <a:latin typeface="Incised901 BT"/>
              </a:rPr>
              <a:t>limpeza</a:t>
            </a:r>
            <a:r>
              <a:rPr lang="en-US" altLang="pt-BR" sz="2100" dirty="0">
                <a:latin typeface="Incised901 BT"/>
              </a:rPr>
              <a:t> e </a:t>
            </a:r>
            <a:r>
              <a:rPr lang="en-US" altLang="pt-BR" sz="2100" dirty="0" err="1">
                <a:latin typeface="Incised901 BT"/>
              </a:rPr>
              <a:t>retorno</a:t>
            </a:r>
            <a:r>
              <a:rPr lang="en-US" altLang="pt-BR" sz="2100" dirty="0">
                <a:latin typeface="Incised901 BT"/>
              </a:rPr>
              <a:t> das ferramentas do </a:t>
            </a:r>
            <a:r>
              <a:rPr lang="en-US" altLang="pt-BR" sz="2100" dirty="0" err="1">
                <a:latin typeface="Incised901 BT"/>
              </a:rPr>
              <a:t>último</a:t>
            </a:r>
            <a:r>
              <a:rPr lang="en-US" altLang="pt-BR" sz="2100" dirty="0">
                <a:latin typeface="Incised901 BT"/>
              </a:rPr>
              <a:t> item de </a:t>
            </a:r>
            <a:r>
              <a:rPr lang="en-US" altLang="pt-BR" sz="2100" dirty="0" err="1">
                <a:latin typeface="Incised901 BT"/>
              </a:rPr>
              <a:t>trabalho</a:t>
            </a:r>
            <a:r>
              <a:rPr lang="en-US" altLang="pt-BR" sz="2100" dirty="0">
                <a:latin typeface="Incised901 BT"/>
              </a:rPr>
              <a:t> </a:t>
            </a:r>
            <a:r>
              <a:rPr lang="en-US" altLang="pt-BR" sz="2100" dirty="0" err="1">
                <a:latin typeface="Incised901 BT"/>
              </a:rPr>
              <a:t>ao</a:t>
            </a:r>
            <a:r>
              <a:rPr lang="en-US" altLang="pt-BR" sz="2100" dirty="0">
                <a:latin typeface="Incised901 BT"/>
              </a:rPr>
              <a:t> </a:t>
            </a:r>
            <a:r>
              <a:rPr lang="en-US" altLang="pt-BR" sz="2100" dirty="0" err="1">
                <a:latin typeface="Incised901 BT"/>
              </a:rPr>
              <a:t>estoque</a:t>
            </a:r>
            <a:endParaRPr lang="en-US" altLang="pt-BR" sz="2100" dirty="0">
              <a:latin typeface="Incised901 BT"/>
            </a:endParaRPr>
          </a:p>
          <a:p>
            <a:pPr marL="647700" indent="-647700" algn="just">
              <a:lnSpc>
                <a:spcPct val="80000"/>
              </a:lnSpc>
            </a:pPr>
            <a:endParaRPr lang="en-US" altLang="pt-BR" sz="2100" b="1" dirty="0">
              <a:latin typeface="Incised901 BT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altLang="pt-BR" sz="2100" b="1" dirty="0">
                <a:latin typeface="Incised901 BT"/>
              </a:rPr>
              <a:t>B) </a:t>
            </a:r>
            <a:r>
              <a:rPr lang="en-US" altLang="pt-BR" sz="2100" b="1" dirty="0" err="1">
                <a:latin typeface="Incised901 BT"/>
              </a:rPr>
              <a:t>Montagens</a:t>
            </a:r>
            <a:r>
              <a:rPr lang="en-US" altLang="pt-BR" sz="2100" b="1" dirty="0">
                <a:latin typeface="Incised901 BT"/>
              </a:rPr>
              <a:t> e </a:t>
            </a:r>
            <a:r>
              <a:rPr lang="en-US" altLang="pt-BR" sz="2100" b="1" dirty="0" err="1">
                <a:latin typeface="Incised901 BT"/>
              </a:rPr>
              <a:t>desmontagens</a:t>
            </a:r>
            <a:r>
              <a:rPr lang="en-US" altLang="pt-BR" sz="2100" b="1" dirty="0">
                <a:latin typeface="Incised901 BT"/>
              </a:rPr>
              <a:t> de ferramentas:</a:t>
            </a:r>
          </a:p>
          <a:p>
            <a:pPr marL="647700" indent="-647700">
              <a:lnSpc>
                <a:spcPct val="80000"/>
              </a:lnSpc>
            </a:pPr>
            <a:endParaRPr lang="en-US" altLang="pt-BR" sz="2100" b="1" dirty="0">
              <a:latin typeface="Incised901 BT"/>
            </a:endParaRPr>
          </a:p>
          <a:p>
            <a:pPr algn="just">
              <a:lnSpc>
                <a:spcPct val="80000"/>
              </a:lnSpc>
            </a:pPr>
            <a:r>
              <a:rPr lang="en-US" altLang="pt-BR" sz="2100" dirty="0" err="1">
                <a:latin typeface="Incised901 BT"/>
              </a:rPr>
              <a:t>Remoção</a:t>
            </a:r>
            <a:r>
              <a:rPr lang="en-US" altLang="pt-BR" sz="2100" dirty="0">
                <a:latin typeface="Incised901 BT"/>
              </a:rPr>
              <a:t> e </a:t>
            </a:r>
            <a:r>
              <a:rPr lang="en-US" altLang="pt-BR" sz="2100" dirty="0" err="1">
                <a:latin typeface="Incised901 BT"/>
              </a:rPr>
              <a:t>fixações</a:t>
            </a:r>
            <a:r>
              <a:rPr lang="en-US" altLang="pt-BR" sz="2100" dirty="0">
                <a:latin typeface="Incised901 BT"/>
              </a:rPr>
              <a:t> das ferramentas para o </a:t>
            </a:r>
            <a:r>
              <a:rPr lang="en-US" altLang="pt-BR" sz="2100" dirty="0" err="1">
                <a:latin typeface="Incised901 BT"/>
              </a:rPr>
              <a:t>próximo</a:t>
            </a:r>
            <a:r>
              <a:rPr lang="en-US" altLang="pt-BR" sz="2100" dirty="0">
                <a:latin typeface="Incised901 BT"/>
              </a:rPr>
              <a:t> </a:t>
            </a:r>
            <a:r>
              <a:rPr lang="en-US" altLang="pt-BR" sz="2100" dirty="0" err="1">
                <a:latin typeface="Incised901 BT"/>
              </a:rPr>
              <a:t>lote</a:t>
            </a:r>
            <a:endParaRPr lang="pt-BR" altLang="pt-BR" sz="2100" dirty="0">
              <a:latin typeface="Incised901 BT"/>
            </a:endParaRP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2DE9ED4B-4D9E-4DA4-8533-EB5900E11171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9161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81138" y="1349375"/>
            <a:ext cx="6189662" cy="519113"/>
          </a:xfrm>
          <a:prstGeom prst="rect">
            <a:avLst/>
          </a:prstGeom>
        </p:spPr>
        <p:txBody>
          <a:bodyPr vert="horz" lIns="92075" tIns="46038" rIns="92075" bIns="46038" rtlCol="0" anchor="t" anchorCtr="1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2800">
                <a:latin typeface="Incised901 BT"/>
              </a:rPr>
              <a:t>Etapas Básicas de Set Up</a:t>
            </a:r>
            <a:endParaRPr lang="pt-BR" altLang="pt-BR" sz="2800">
              <a:latin typeface="Incised901 BT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952500" y="1871663"/>
            <a:ext cx="7385050" cy="2819400"/>
          </a:xfrm>
          <a:prstGeom prst="rect">
            <a:avLst/>
          </a:prstGeom>
        </p:spPr>
        <p:txBody>
          <a:bodyPr vert="horz" lIns="92075" tIns="46038" rIns="92075" bIns="46038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pt-BR" sz="2100" b="1" dirty="0">
                <a:latin typeface="Incised901 BT"/>
              </a:rPr>
              <a:t>C) </a:t>
            </a:r>
            <a:r>
              <a:rPr lang="en-US" altLang="pt-BR" sz="2100" b="1" dirty="0" err="1">
                <a:latin typeface="Incised901 BT"/>
              </a:rPr>
              <a:t>Medições</a:t>
            </a:r>
            <a:r>
              <a:rPr lang="en-US" altLang="pt-BR" sz="2100" b="1" dirty="0">
                <a:latin typeface="Incised901 BT"/>
              </a:rPr>
              <a:t>, </a:t>
            </a:r>
            <a:r>
              <a:rPr lang="en-US" altLang="pt-BR" sz="2100" b="1" dirty="0" err="1">
                <a:latin typeface="Incised901 BT"/>
              </a:rPr>
              <a:t>ajuste</a:t>
            </a:r>
            <a:r>
              <a:rPr lang="en-US" altLang="pt-BR" sz="2100" b="1" dirty="0">
                <a:latin typeface="Incised901 BT"/>
              </a:rPr>
              <a:t> e </a:t>
            </a:r>
            <a:r>
              <a:rPr lang="en-US" altLang="pt-BR" sz="2100" b="1" dirty="0" err="1">
                <a:latin typeface="Incised901 BT"/>
              </a:rPr>
              <a:t>calibrações</a:t>
            </a:r>
            <a:r>
              <a:rPr lang="en-US" altLang="pt-BR" sz="2100" b="1" dirty="0">
                <a:latin typeface="Incised901 BT"/>
              </a:rPr>
              <a:t>:</a:t>
            </a:r>
          </a:p>
          <a:p>
            <a:pPr algn="just"/>
            <a:r>
              <a:rPr lang="en-US" altLang="pt-BR" sz="2100" dirty="0" err="1">
                <a:latin typeface="Incised901 BT"/>
              </a:rPr>
              <a:t>Centragens</a:t>
            </a:r>
            <a:endParaRPr lang="en-US" altLang="pt-BR" sz="2100" dirty="0">
              <a:latin typeface="Incised901 BT"/>
            </a:endParaRPr>
          </a:p>
          <a:p>
            <a:pPr algn="just"/>
            <a:r>
              <a:rPr lang="en-US" altLang="pt-BR" sz="2100" dirty="0" err="1">
                <a:latin typeface="Incised901 BT"/>
              </a:rPr>
              <a:t>Alinhamentos</a:t>
            </a:r>
            <a:endParaRPr lang="en-US" altLang="pt-BR" sz="2100" dirty="0">
              <a:latin typeface="Incised901 BT"/>
            </a:endParaRPr>
          </a:p>
          <a:p>
            <a:pPr algn="just"/>
            <a:r>
              <a:rPr lang="en-US" altLang="pt-BR" sz="2100" dirty="0" err="1">
                <a:latin typeface="Incised901 BT"/>
              </a:rPr>
              <a:t>Ajustes</a:t>
            </a:r>
            <a:r>
              <a:rPr lang="en-US" altLang="pt-BR" sz="2100" dirty="0">
                <a:latin typeface="Incised901 BT"/>
              </a:rPr>
              <a:t> </a:t>
            </a:r>
            <a:r>
              <a:rPr lang="en-US" altLang="pt-BR" sz="2100" dirty="0" err="1">
                <a:latin typeface="Incised901 BT"/>
              </a:rPr>
              <a:t>finos</a:t>
            </a:r>
            <a:endParaRPr lang="en-US" altLang="pt-BR" sz="2100" dirty="0">
              <a:latin typeface="Incised901 BT"/>
            </a:endParaRPr>
          </a:p>
          <a:p>
            <a:pPr algn="just"/>
            <a:r>
              <a:rPr lang="en-US" altLang="pt-BR" sz="2100" dirty="0" err="1">
                <a:latin typeface="Incised901 BT"/>
              </a:rPr>
              <a:t>Medições</a:t>
            </a:r>
            <a:r>
              <a:rPr lang="en-US" altLang="pt-BR" sz="2100" dirty="0">
                <a:latin typeface="Incised901 BT"/>
              </a:rPr>
              <a:t> de </a:t>
            </a:r>
            <a:r>
              <a:rPr lang="en-US" altLang="pt-BR" sz="2100" dirty="0" err="1">
                <a:latin typeface="Incised901 BT"/>
              </a:rPr>
              <a:t>temperatura</a:t>
            </a:r>
            <a:r>
              <a:rPr lang="en-US" altLang="pt-BR" sz="2100" dirty="0">
                <a:latin typeface="Incised901 BT"/>
              </a:rPr>
              <a:t>, </a:t>
            </a:r>
            <a:r>
              <a:rPr lang="en-US" altLang="pt-BR" sz="2100" dirty="0" err="1">
                <a:latin typeface="Incised901 BT"/>
              </a:rPr>
              <a:t>pressão</a:t>
            </a:r>
            <a:r>
              <a:rPr lang="en-US" altLang="pt-BR" sz="2100" dirty="0">
                <a:latin typeface="Incised901 BT"/>
              </a:rPr>
              <a:t>, </a:t>
            </a:r>
            <a:r>
              <a:rPr lang="en-US" altLang="pt-BR" sz="2100" dirty="0" err="1">
                <a:latin typeface="Incised901 BT"/>
              </a:rPr>
              <a:t>vazão</a:t>
            </a:r>
            <a:r>
              <a:rPr lang="en-US" altLang="pt-BR" sz="2100" dirty="0">
                <a:latin typeface="Incised901 BT"/>
              </a:rPr>
              <a:t> e </a:t>
            </a:r>
            <a:r>
              <a:rPr lang="en-US" altLang="pt-BR" sz="2100" dirty="0" err="1">
                <a:latin typeface="Incised901 BT"/>
              </a:rPr>
              <a:t>etc</a:t>
            </a:r>
            <a:r>
              <a:rPr lang="en-US" altLang="pt-BR" sz="2100" dirty="0">
                <a:latin typeface="Incised901 BT"/>
              </a:rPr>
              <a:t>…</a:t>
            </a:r>
            <a:endParaRPr lang="en-US" altLang="pt-BR" sz="2100" b="1" dirty="0">
              <a:latin typeface="Incised901 BT"/>
            </a:endParaRPr>
          </a:p>
          <a:p>
            <a:pPr marL="0" indent="0">
              <a:buNone/>
            </a:pPr>
            <a:r>
              <a:rPr lang="en-US" altLang="pt-BR" sz="2100" b="1" dirty="0">
                <a:latin typeface="Incised901 BT"/>
              </a:rPr>
              <a:t>D) Teste para </a:t>
            </a:r>
            <a:r>
              <a:rPr lang="en-US" altLang="pt-BR" sz="2100" b="1" dirty="0" err="1">
                <a:latin typeface="Incised901 BT"/>
              </a:rPr>
              <a:t>início</a:t>
            </a:r>
            <a:r>
              <a:rPr lang="en-US" altLang="pt-BR" sz="2100" b="1" dirty="0">
                <a:latin typeface="Incised901 BT"/>
              </a:rPr>
              <a:t> da </a:t>
            </a:r>
            <a:r>
              <a:rPr lang="en-US" altLang="pt-BR" sz="2100" b="1" dirty="0" err="1">
                <a:latin typeface="Incised901 BT"/>
              </a:rPr>
              <a:t>produção</a:t>
            </a:r>
            <a:r>
              <a:rPr lang="en-US" altLang="pt-BR" sz="2100" b="1" dirty="0">
                <a:latin typeface="Incised901 BT"/>
              </a:rPr>
              <a:t> e </a:t>
            </a:r>
            <a:r>
              <a:rPr lang="en-US" altLang="pt-BR" sz="2100" b="1" dirty="0" err="1">
                <a:latin typeface="Incised901 BT"/>
              </a:rPr>
              <a:t>ajustes</a:t>
            </a:r>
            <a:r>
              <a:rPr lang="en-US" altLang="pt-BR" sz="2100" b="1" dirty="0">
                <a:latin typeface="Incised901 BT"/>
              </a:rPr>
              <a:t>:</a:t>
            </a: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1116013" y="4154488"/>
            <a:ext cx="7056437" cy="2514600"/>
            <a:chOff x="975" y="2544"/>
            <a:chExt cx="4165" cy="1584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97" y="3312"/>
              <a:ext cx="436" cy="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9" name="AutoShape 6"/>
            <p:cNvSpPr>
              <a:spLocks noChangeArrowheads="1"/>
            </p:cNvSpPr>
            <p:nvPr/>
          </p:nvSpPr>
          <p:spPr bwMode="auto">
            <a:xfrm>
              <a:off x="975" y="3168"/>
              <a:ext cx="1019" cy="96"/>
            </a:xfrm>
            <a:prstGeom prst="rightArrow">
              <a:avLst>
                <a:gd name="adj1" fmla="val 50000"/>
                <a:gd name="adj2" fmla="val 26536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10" name="Text Box 7"/>
            <p:cNvSpPr txBox="1">
              <a:spLocks noChangeArrowheads="1"/>
            </p:cNvSpPr>
            <p:nvPr/>
          </p:nvSpPr>
          <p:spPr bwMode="auto">
            <a:xfrm>
              <a:off x="1019" y="2928"/>
              <a:ext cx="84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800">
                  <a:latin typeface="Incised901 BT"/>
                </a:rPr>
                <a:t>alimentação</a:t>
              </a:r>
              <a:endParaRPr lang="pt-BR" altLang="pt-BR" sz="2000">
                <a:latin typeface="Incised901 BT"/>
              </a:endParaRPr>
            </a:p>
          </p:txBody>
        </p:sp>
        <p:pic>
          <p:nvPicPr>
            <p:cNvPr id="11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93" y="2880"/>
              <a:ext cx="397" cy="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pic>
          <p:nvPicPr>
            <p:cNvPr id="12" name="Picture 9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6" y="2784"/>
              <a:ext cx="305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</p:pic>
        <p:sp>
          <p:nvSpPr>
            <p:cNvPr id="13" name="Text Box 10"/>
            <p:cNvSpPr txBox="1">
              <a:spLocks noChangeArrowheads="1"/>
            </p:cNvSpPr>
            <p:nvPr/>
          </p:nvSpPr>
          <p:spPr bwMode="auto">
            <a:xfrm>
              <a:off x="2256" y="3926"/>
              <a:ext cx="576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pt-BR" altLang="pt-BR" sz="1500" b="1">
                  <a:latin typeface="Incised901 BT"/>
                </a:rPr>
                <a:t>1a peça</a:t>
              </a:r>
            </a:p>
          </p:txBody>
        </p:sp>
        <p:sp>
          <p:nvSpPr>
            <p:cNvPr id="14" name="Text Box 11"/>
            <p:cNvSpPr txBox="1">
              <a:spLocks noChangeArrowheads="1"/>
            </p:cNvSpPr>
            <p:nvPr/>
          </p:nvSpPr>
          <p:spPr bwMode="auto">
            <a:xfrm>
              <a:off x="2216" y="2544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latin typeface="Incised901 BT"/>
                </a:rPr>
                <a:t>processo</a:t>
              </a:r>
            </a:p>
          </p:txBody>
        </p:sp>
        <p:sp>
          <p:nvSpPr>
            <p:cNvPr id="15" name="AutoShape 12"/>
            <p:cNvSpPr>
              <a:spLocks noChangeArrowheads="1"/>
            </p:cNvSpPr>
            <p:nvPr/>
          </p:nvSpPr>
          <p:spPr bwMode="auto">
            <a:xfrm>
              <a:off x="2083" y="2784"/>
              <a:ext cx="1019" cy="96"/>
            </a:xfrm>
            <a:prstGeom prst="rightArrow">
              <a:avLst>
                <a:gd name="adj1" fmla="val 50000"/>
                <a:gd name="adj2" fmla="val 26536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16" name="AutoShape 13"/>
            <p:cNvSpPr>
              <a:spLocks noChangeArrowheads="1"/>
            </p:cNvSpPr>
            <p:nvPr/>
          </p:nvSpPr>
          <p:spPr bwMode="auto">
            <a:xfrm>
              <a:off x="2349" y="3600"/>
              <a:ext cx="398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17" name="Text Box 14"/>
            <p:cNvSpPr txBox="1">
              <a:spLocks noChangeArrowheads="1"/>
            </p:cNvSpPr>
            <p:nvPr/>
          </p:nvSpPr>
          <p:spPr bwMode="auto">
            <a:xfrm>
              <a:off x="2260" y="3360"/>
              <a:ext cx="665" cy="2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1500" b="1">
                  <a:latin typeface="Incised901 BT"/>
                </a:rPr>
                <a:t>tentativa</a:t>
              </a:r>
            </a:p>
          </p:txBody>
        </p:sp>
        <p:sp>
          <p:nvSpPr>
            <p:cNvPr id="18" name="AutoShape 15"/>
            <p:cNvSpPr>
              <a:spLocks noChangeArrowheads="1"/>
            </p:cNvSpPr>
            <p:nvPr/>
          </p:nvSpPr>
          <p:spPr bwMode="auto">
            <a:xfrm rot="-998375">
              <a:off x="3096" y="3517"/>
              <a:ext cx="1241" cy="96"/>
            </a:xfrm>
            <a:prstGeom prst="rightArrow">
              <a:avLst>
                <a:gd name="adj1" fmla="val 50000"/>
                <a:gd name="adj2" fmla="val 323177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19" name="AutoShape 16"/>
            <p:cNvSpPr>
              <a:spLocks noChangeArrowheads="1"/>
            </p:cNvSpPr>
            <p:nvPr/>
          </p:nvSpPr>
          <p:spPr bwMode="auto">
            <a:xfrm>
              <a:off x="3190" y="3120"/>
              <a:ext cx="1020" cy="96"/>
            </a:xfrm>
            <a:prstGeom prst="rightArrow">
              <a:avLst>
                <a:gd name="adj1" fmla="val 50000"/>
                <a:gd name="adj2" fmla="val 265625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20" name="Text Box 17"/>
            <p:cNvSpPr txBox="1">
              <a:spLocks noChangeArrowheads="1"/>
            </p:cNvSpPr>
            <p:nvPr/>
          </p:nvSpPr>
          <p:spPr bwMode="auto">
            <a:xfrm>
              <a:off x="3279" y="2774"/>
              <a:ext cx="84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latin typeface="Incised901 BT"/>
                </a:rPr>
                <a:t>inspeção</a:t>
              </a:r>
            </a:p>
          </p:txBody>
        </p:sp>
        <p:sp>
          <p:nvSpPr>
            <p:cNvPr id="21" name="AutoShape 18"/>
            <p:cNvSpPr>
              <a:spLocks noChangeArrowheads="1"/>
            </p:cNvSpPr>
            <p:nvPr/>
          </p:nvSpPr>
          <p:spPr bwMode="auto">
            <a:xfrm>
              <a:off x="4431" y="3312"/>
              <a:ext cx="399" cy="24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30000"/>
                </a:spcBef>
                <a:buClr>
                  <a:schemeClr val="tx2"/>
                </a:buClr>
                <a:buSzPct val="75000"/>
                <a:buFont typeface="Wingdings" pitchFamily="2" charset="2"/>
                <a:buChar char="u"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22" name="Text Box 19"/>
            <p:cNvSpPr txBox="1">
              <a:spLocks noChangeArrowheads="1"/>
            </p:cNvSpPr>
            <p:nvPr/>
          </p:nvSpPr>
          <p:spPr bwMode="auto">
            <a:xfrm>
              <a:off x="4475" y="3542"/>
              <a:ext cx="6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latin typeface="Incised901 BT"/>
                </a:rPr>
                <a:t>erro</a:t>
              </a:r>
            </a:p>
          </p:txBody>
        </p:sp>
        <p:sp>
          <p:nvSpPr>
            <p:cNvPr id="23" name="Text Box 20"/>
            <p:cNvSpPr txBox="1">
              <a:spLocks noChangeArrowheads="1"/>
            </p:cNvSpPr>
            <p:nvPr/>
          </p:nvSpPr>
          <p:spPr bwMode="auto">
            <a:xfrm>
              <a:off x="4342" y="3062"/>
              <a:ext cx="665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pt-BR" altLang="pt-BR" sz="2000">
                  <a:latin typeface="Incised901 BT"/>
                </a:rPr>
                <a:t>amostra</a:t>
              </a:r>
            </a:p>
          </p:txBody>
        </p:sp>
      </p:grpSp>
      <p:sp>
        <p:nvSpPr>
          <p:cNvPr id="24" name="Retângulo de cantos arredondados 3">
            <a:extLst>
              <a:ext uri="{FF2B5EF4-FFF2-40B4-BE49-F238E27FC236}">
                <a16:creationId xmlns:a16="http://schemas.microsoft.com/office/drawing/2014/main" id="{BA0A0C7A-16CF-4839-8DA8-2C5BC61EFF80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46775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87450" y="2909888"/>
            <a:ext cx="6978650" cy="16716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3400" b="1">
                <a:latin typeface="Incised901 BT"/>
              </a:rPr>
              <a:t>Separe a preparação de ferramentas em </a:t>
            </a:r>
            <a:r>
              <a:rPr lang="en-US" altLang="pt-BR" sz="3400" b="1">
                <a:solidFill>
                  <a:srgbClr val="CC0000"/>
                </a:solidFill>
                <a:latin typeface="Incised901 BT"/>
              </a:rPr>
              <a:t>INTERNA </a:t>
            </a:r>
            <a:r>
              <a:rPr lang="en-US" altLang="pt-BR" sz="3400" b="1">
                <a:latin typeface="Incised901 BT"/>
              </a:rPr>
              <a:t>e </a:t>
            </a:r>
            <a:r>
              <a:rPr lang="en-US" altLang="pt-BR" sz="3400" b="1">
                <a:solidFill>
                  <a:srgbClr val="CC0000"/>
                </a:solidFill>
                <a:latin typeface="Incised901 BT"/>
              </a:rPr>
              <a:t>EXTERNA</a:t>
            </a:r>
            <a:endParaRPr lang="pt-BR" altLang="pt-BR" sz="3400" b="1">
              <a:solidFill>
                <a:srgbClr val="CC0000"/>
              </a:solidFill>
              <a:latin typeface="Incised901 BT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131888" y="1982788"/>
            <a:ext cx="6964362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b="1">
                <a:latin typeface="Incised901 BT"/>
              </a:rPr>
              <a:t>Passo 1:</a:t>
            </a:r>
            <a:endParaRPr lang="pt-BR" altLang="pt-BR" b="1">
              <a:latin typeface="Incised901 BT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807325" y="1136650"/>
            <a:ext cx="869950" cy="1931988"/>
            <a:chOff x="5424" y="240"/>
            <a:chExt cx="593" cy="1217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5429" y="240"/>
              <a:ext cx="473" cy="1067"/>
            </a:xfrm>
            <a:custGeom>
              <a:avLst/>
              <a:gdLst>
                <a:gd name="T0" fmla="*/ 453 w 473"/>
                <a:gd name="T1" fmla="*/ 888 h 1067"/>
                <a:gd name="T2" fmla="*/ 448 w 473"/>
                <a:gd name="T3" fmla="*/ 818 h 1067"/>
                <a:gd name="T4" fmla="*/ 453 w 473"/>
                <a:gd name="T5" fmla="*/ 753 h 1067"/>
                <a:gd name="T6" fmla="*/ 463 w 473"/>
                <a:gd name="T7" fmla="*/ 688 h 1067"/>
                <a:gd name="T8" fmla="*/ 473 w 473"/>
                <a:gd name="T9" fmla="*/ 623 h 1067"/>
                <a:gd name="T10" fmla="*/ 473 w 473"/>
                <a:gd name="T11" fmla="*/ 554 h 1067"/>
                <a:gd name="T12" fmla="*/ 473 w 473"/>
                <a:gd name="T13" fmla="*/ 489 h 1067"/>
                <a:gd name="T14" fmla="*/ 463 w 473"/>
                <a:gd name="T15" fmla="*/ 424 h 1067"/>
                <a:gd name="T16" fmla="*/ 448 w 473"/>
                <a:gd name="T17" fmla="*/ 359 h 1067"/>
                <a:gd name="T18" fmla="*/ 434 w 473"/>
                <a:gd name="T19" fmla="*/ 294 h 1067"/>
                <a:gd name="T20" fmla="*/ 429 w 473"/>
                <a:gd name="T21" fmla="*/ 229 h 1067"/>
                <a:gd name="T22" fmla="*/ 419 w 473"/>
                <a:gd name="T23" fmla="*/ 170 h 1067"/>
                <a:gd name="T24" fmla="*/ 414 w 473"/>
                <a:gd name="T25" fmla="*/ 120 h 1067"/>
                <a:gd name="T26" fmla="*/ 404 w 473"/>
                <a:gd name="T27" fmla="*/ 70 h 1067"/>
                <a:gd name="T28" fmla="*/ 384 w 473"/>
                <a:gd name="T29" fmla="*/ 25 h 1067"/>
                <a:gd name="T30" fmla="*/ 349 w 473"/>
                <a:gd name="T31" fmla="*/ 0 h 1067"/>
                <a:gd name="T32" fmla="*/ 319 w 473"/>
                <a:gd name="T33" fmla="*/ 15 h 1067"/>
                <a:gd name="T34" fmla="*/ 309 w 473"/>
                <a:gd name="T35" fmla="*/ 45 h 1067"/>
                <a:gd name="T36" fmla="*/ 304 w 473"/>
                <a:gd name="T37" fmla="*/ 85 h 1067"/>
                <a:gd name="T38" fmla="*/ 309 w 473"/>
                <a:gd name="T39" fmla="*/ 115 h 1067"/>
                <a:gd name="T40" fmla="*/ 319 w 473"/>
                <a:gd name="T41" fmla="*/ 155 h 1067"/>
                <a:gd name="T42" fmla="*/ 319 w 473"/>
                <a:gd name="T43" fmla="*/ 195 h 1067"/>
                <a:gd name="T44" fmla="*/ 324 w 473"/>
                <a:gd name="T45" fmla="*/ 229 h 1067"/>
                <a:gd name="T46" fmla="*/ 324 w 473"/>
                <a:gd name="T47" fmla="*/ 254 h 1067"/>
                <a:gd name="T48" fmla="*/ 329 w 473"/>
                <a:gd name="T49" fmla="*/ 289 h 1067"/>
                <a:gd name="T50" fmla="*/ 324 w 473"/>
                <a:gd name="T51" fmla="*/ 329 h 1067"/>
                <a:gd name="T52" fmla="*/ 304 w 473"/>
                <a:gd name="T53" fmla="*/ 329 h 1067"/>
                <a:gd name="T54" fmla="*/ 274 w 473"/>
                <a:gd name="T55" fmla="*/ 314 h 1067"/>
                <a:gd name="T56" fmla="*/ 249 w 473"/>
                <a:gd name="T57" fmla="*/ 299 h 1067"/>
                <a:gd name="T58" fmla="*/ 224 w 473"/>
                <a:gd name="T59" fmla="*/ 284 h 1067"/>
                <a:gd name="T60" fmla="*/ 189 w 473"/>
                <a:gd name="T61" fmla="*/ 279 h 1067"/>
                <a:gd name="T62" fmla="*/ 159 w 473"/>
                <a:gd name="T63" fmla="*/ 289 h 1067"/>
                <a:gd name="T64" fmla="*/ 140 w 473"/>
                <a:gd name="T65" fmla="*/ 314 h 1067"/>
                <a:gd name="T66" fmla="*/ 130 w 473"/>
                <a:gd name="T67" fmla="*/ 349 h 1067"/>
                <a:gd name="T68" fmla="*/ 125 w 473"/>
                <a:gd name="T69" fmla="*/ 359 h 1067"/>
                <a:gd name="T70" fmla="*/ 110 w 473"/>
                <a:gd name="T71" fmla="*/ 359 h 1067"/>
                <a:gd name="T72" fmla="*/ 85 w 473"/>
                <a:gd name="T73" fmla="*/ 369 h 1067"/>
                <a:gd name="T74" fmla="*/ 70 w 473"/>
                <a:gd name="T75" fmla="*/ 399 h 1067"/>
                <a:gd name="T76" fmla="*/ 65 w 473"/>
                <a:gd name="T77" fmla="*/ 434 h 1067"/>
                <a:gd name="T78" fmla="*/ 60 w 473"/>
                <a:gd name="T79" fmla="*/ 464 h 1067"/>
                <a:gd name="T80" fmla="*/ 35 w 473"/>
                <a:gd name="T81" fmla="*/ 469 h 1067"/>
                <a:gd name="T82" fmla="*/ 10 w 473"/>
                <a:gd name="T83" fmla="*/ 484 h 1067"/>
                <a:gd name="T84" fmla="*/ 0 w 473"/>
                <a:gd name="T85" fmla="*/ 519 h 1067"/>
                <a:gd name="T86" fmla="*/ 0 w 473"/>
                <a:gd name="T87" fmla="*/ 554 h 1067"/>
                <a:gd name="T88" fmla="*/ 10 w 473"/>
                <a:gd name="T89" fmla="*/ 574 h 1067"/>
                <a:gd name="T90" fmla="*/ 20 w 473"/>
                <a:gd name="T91" fmla="*/ 588 h 1067"/>
                <a:gd name="T92" fmla="*/ 25 w 473"/>
                <a:gd name="T93" fmla="*/ 628 h 1067"/>
                <a:gd name="T94" fmla="*/ 25 w 473"/>
                <a:gd name="T95" fmla="*/ 673 h 1067"/>
                <a:gd name="T96" fmla="*/ 35 w 473"/>
                <a:gd name="T97" fmla="*/ 718 h 1067"/>
                <a:gd name="T98" fmla="*/ 50 w 473"/>
                <a:gd name="T99" fmla="*/ 763 h 1067"/>
                <a:gd name="T100" fmla="*/ 75 w 473"/>
                <a:gd name="T101" fmla="*/ 808 h 1067"/>
                <a:gd name="T102" fmla="*/ 110 w 473"/>
                <a:gd name="T103" fmla="*/ 853 h 1067"/>
                <a:gd name="T104" fmla="*/ 144 w 473"/>
                <a:gd name="T105" fmla="*/ 898 h 1067"/>
                <a:gd name="T106" fmla="*/ 174 w 473"/>
                <a:gd name="T107" fmla="*/ 943 h 1067"/>
                <a:gd name="T108" fmla="*/ 189 w 473"/>
                <a:gd name="T109" fmla="*/ 973 h 1067"/>
                <a:gd name="T110" fmla="*/ 199 w 473"/>
                <a:gd name="T111" fmla="*/ 1002 h 1067"/>
                <a:gd name="T112" fmla="*/ 209 w 473"/>
                <a:gd name="T113" fmla="*/ 1027 h 1067"/>
                <a:gd name="T114" fmla="*/ 219 w 473"/>
                <a:gd name="T115" fmla="*/ 1057 h 1067"/>
                <a:gd name="T116" fmla="*/ 264 w 473"/>
                <a:gd name="T117" fmla="*/ 1042 h 1067"/>
                <a:gd name="T118" fmla="*/ 324 w 473"/>
                <a:gd name="T119" fmla="*/ 1012 h 1067"/>
                <a:gd name="T120" fmla="*/ 384 w 473"/>
                <a:gd name="T121" fmla="*/ 982 h 1067"/>
                <a:gd name="T122" fmla="*/ 439 w 473"/>
                <a:gd name="T123" fmla="*/ 948 h 1067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w 473"/>
                <a:gd name="T187" fmla="*/ 0 h 1067"/>
                <a:gd name="T188" fmla="*/ 473 w 473"/>
                <a:gd name="T189" fmla="*/ 1067 h 1067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T186" t="T187" r="T188" b="T189"/>
              <a:pathLst>
                <a:path w="473" h="1067">
                  <a:moveTo>
                    <a:pt x="463" y="938"/>
                  </a:moveTo>
                  <a:lnTo>
                    <a:pt x="458" y="918"/>
                  </a:lnTo>
                  <a:lnTo>
                    <a:pt x="453" y="903"/>
                  </a:lnTo>
                  <a:lnTo>
                    <a:pt x="453" y="888"/>
                  </a:lnTo>
                  <a:lnTo>
                    <a:pt x="453" y="868"/>
                  </a:lnTo>
                  <a:lnTo>
                    <a:pt x="448" y="853"/>
                  </a:lnTo>
                  <a:lnTo>
                    <a:pt x="448" y="838"/>
                  </a:lnTo>
                  <a:lnTo>
                    <a:pt x="448" y="818"/>
                  </a:lnTo>
                  <a:lnTo>
                    <a:pt x="448" y="803"/>
                  </a:lnTo>
                  <a:lnTo>
                    <a:pt x="453" y="788"/>
                  </a:lnTo>
                  <a:lnTo>
                    <a:pt x="453" y="773"/>
                  </a:lnTo>
                  <a:lnTo>
                    <a:pt x="453" y="753"/>
                  </a:lnTo>
                  <a:lnTo>
                    <a:pt x="453" y="738"/>
                  </a:lnTo>
                  <a:lnTo>
                    <a:pt x="458" y="723"/>
                  </a:lnTo>
                  <a:lnTo>
                    <a:pt x="458" y="703"/>
                  </a:lnTo>
                  <a:lnTo>
                    <a:pt x="463" y="688"/>
                  </a:lnTo>
                  <a:lnTo>
                    <a:pt x="463" y="673"/>
                  </a:lnTo>
                  <a:lnTo>
                    <a:pt x="468" y="653"/>
                  </a:lnTo>
                  <a:lnTo>
                    <a:pt x="468" y="638"/>
                  </a:lnTo>
                  <a:lnTo>
                    <a:pt x="473" y="623"/>
                  </a:lnTo>
                  <a:lnTo>
                    <a:pt x="473" y="603"/>
                  </a:lnTo>
                  <a:lnTo>
                    <a:pt x="473" y="588"/>
                  </a:lnTo>
                  <a:lnTo>
                    <a:pt x="473" y="574"/>
                  </a:lnTo>
                  <a:lnTo>
                    <a:pt x="473" y="554"/>
                  </a:lnTo>
                  <a:lnTo>
                    <a:pt x="473" y="539"/>
                  </a:lnTo>
                  <a:lnTo>
                    <a:pt x="473" y="524"/>
                  </a:lnTo>
                  <a:lnTo>
                    <a:pt x="473" y="504"/>
                  </a:lnTo>
                  <a:lnTo>
                    <a:pt x="473" y="489"/>
                  </a:lnTo>
                  <a:lnTo>
                    <a:pt x="473" y="469"/>
                  </a:lnTo>
                  <a:lnTo>
                    <a:pt x="468" y="454"/>
                  </a:lnTo>
                  <a:lnTo>
                    <a:pt x="468" y="439"/>
                  </a:lnTo>
                  <a:lnTo>
                    <a:pt x="463" y="424"/>
                  </a:lnTo>
                  <a:lnTo>
                    <a:pt x="458" y="404"/>
                  </a:lnTo>
                  <a:lnTo>
                    <a:pt x="453" y="389"/>
                  </a:lnTo>
                  <a:lnTo>
                    <a:pt x="448" y="374"/>
                  </a:lnTo>
                  <a:lnTo>
                    <a:pt x="448" y="359"/>
                  </a:lnTo>
                  <a:lnTo>
                    <a:pt x="443" y="344"/>
                  </a:lnTo>
                  <a:lnTo>
                    <a:pt x="443" y="329"/>
                  </a:lnTo>
                  <a:lnTo>
                    <a:pt x="439" y="314"/>
                  </a:lnTo>
                  <a:lnTo>
                    <a:pt x="434" y="294"/>
                  </a:lnTo>
                  <a:lnTo>
                    <a:pt x="434" y="279"/>
                  </a:lnTo>
                  <a:lnTo>
                    <a:pt x="434" y="264"/>
                  </a:lnTo>
                  <a:lnTo>
                    <a:pt x="429" y="249"/>
                  </a:lnTo>
                  <a:lnTo>
                    <a:pt x="429" y="229"/>
                  </a:lnTo>
                  <a:lnTo>
                    <a:pt x="424" y="214"/>
                  </a:lnTo>
                  <a:lnTo>
                    <a:pt x="424" y="199"/>
                  </a:lnTo>
                  <a:lnTo>
                    <a:pt x="419" y="185"/>
                  </a:lnTo>
                  <a:lnTo>
                    <a:pt x="419" y="170"/>
                  </a:lnTo>
                  <a:lnTo>
                    <a:pt x="419" y="150"/>
                  </a:lnTo>
                  <a:lnTo>
                    <a:pt x="414" y="145"/>
                  </a:lnTo>
                  <a:lnTo>
                    <a:pt x="414" y="135"/>
                  </a:lnTo>
                  <a:lnTo>
                    <a:pt x="414" y="120"/>
                  </a:lnTo>
                  <a:lnTo>
                    <a:pt x="414" y="110"/>
                  </a:lnTo>
                  <a:lnTo>
                    <a:pt x="409" y="100"/>
                  </a:lnTo>
                  <a:lnTo>
                    <a:pt x="409" y="85"/>
                  </a:lnTo>
                  <a:lnTo>
                    <a:pt x="404" y="70"/>
                  </a:lnTo>
                  <a:lnTo>
                    <a:pt x="399" y="60"/>
                  </a:lnTo>
                  <a:lnTo>
                    <a:pt x="394" y="45"/>
                  </a:lnTo>
                  <a:lnTo>
                    <a:pt x="389" y="35"/>
                  </a:lnTo>
                  <a:lnTo>
                    <a:pt x="384" y="25"/>
                  </a:lnTo>
                  <a:lnTo>
                    <a:pt x="379" y="15"/>
                  </a:lnTo>
                  <a:lnTo>
                    <a:pt x="369" y="10"/>
                  </a:lnTo>
                  <a:lnTo>
                    <a:pt x="359" y="5"/>
                  </a:lnTo>
                  <a:lnTo>
                    <a:pt x="349" y="0"/>
                  </a:lnTo>
                  <a:lnTo>
                    <a:pt x="339" y="5"/>
                  </a:lnTo>
                  <a:lnTo>
                    <a:pt x="329" y="5"/>
                  </a:lnTo>
                  <a:lnTo>
                    <a:pt x="324" y="10"/>
                  </a:lnTo>
                  <a:lnTo>
                    <a:pt x="319" y="15"/>
                  </a:lnTo>
                  <a:lnTo>
                    <a:pt x="314" y="20"/>
                  </a:lnTo>
                  <a:lnTo>
                    <a:pt x="314" y="30"/>
                  </a:lnTo>
                  <a:lnTo>
                    <a:pt x="309" y="35"/>
                  </a:lnTo>
                  <a:lnTo>
                    <a:pt x="309" y="45"/>
                  </a:lnTo>
                  <a:lnTo>
                    <a:pt x="304" y="55"/>
                  </a:lnTo>
                  <a:lnTo>
                    <a:pt x="304" y="65"/>
                  </a:lnTo>
                  <a:lnTo>
                    <a:pt x="304" y="75"/>
                  </a:lnTo>
                  <a:lnTo>
                    <a:pt x="304" y="85"/>
                  </a:lnTo>
                  <a:lnTo>
                    <a:pt x="304" y="90"/>
                  </a:lnTo>
                  <a:lnTo>
                    <a:pt x="309" y="100"/>
                  </a:lnTo>
                  <a:lnTo>
                    <a:pt x="309" y="110"/>
                  </a:lnTo>
                  <a:lnTo>
                    <a:pt x="309" y="115"/>
                  </a:lnTo>
                  <a:lnTo>
                    <a:pt x="314" y="120"/>
                  </a:lnTo>
                  <a:lnTo>
                    <a:pt x="319" y="130"/>
                  </a:lnTo>
                  <a:lnTo>
                    <a:pt x="319" y="145"/>
                  </a:lnTo>
                  <a:lnTo>
                    <a:pt x="319" y="155"/>
                  </a:lnTo>
                  <a:lnTo>
                    <a:pt x="319" y="165"/>
                  </a:lnTo>
                  <a:lnTo>
                    <a:pt x="319" y="175"/>
                  </a:lnTo>
                  <a:lnTo>
                    <a:pt x="319" y="185"/>
                  </a:lnTo>
                  <a:lnTo>
                    <a:pt x="319" y="195"/>
                  </a:lnTo>
                  <a:lnTo>
                    <a:pt x="319" y="209"/>
                  </a:lnTo>
                  <a:lnTo>
                    <a:pt x="319" y="214"/>
                  </a:lnTo>
                  <a:lnTo>
                    <a:pt x="319" y="224"/>
                  </a:lnTo>
                  <a:lnTo>
                    <a:pt x="324" y="229"/>
                  </a:lnTo>
                  <a:lnTo>
                    <a:pt x="324" y="234"/>
                  </a:lnTo>
                  <a:lnTo>
                    <a:pt x="324" y="239"/>
                  </a:lnTo>
                  <a:lnTo>
                    <a:pt x="324" y="249"/>
                  </a:lnTo>
                  <a:lnTo>
                    <a:pt x="324" y="254"/>
                  </a:lnTo>
                  <a:lnTo>
                    <a:pt x="324" y="259"/>
                  </a:lnTo>
                  <a:lnTo>
                    <a:pt x="329" y="269"/>
                  </a:lnTo>
                  <a:lnTo>
                    <a:pt x="329" y="279"/>
                  </a:lnTo>
                  <a:lnTo>
                    <a:pt x="329" y="289"/>
                  </a:lnTo>
                  <a:lnTo>
                    <a:pt x="329" y="299"/>
                  </a:lnTo>
                  <a:lnTo>
                    <a:pt x="324" y="309"/>
                  </a:lnTo>
                  <a:lnTo>
                    <a:pt x="324" y="319"/>
                  </a:lnTo>
                  <a:lnTo>
                    <a:pt x="324" y="329"/>
                  </a:lnTo>
                  <a:lnTo>
                    <a:pt x="324" y="344"/>
                  </a:lnTo>
                  <a:lnTo>
                    <a:pt x="314" y="339"/>
                  </a:lnTo>
                  <a:lnTo>
                    <a:pt x="309" y="334"/>
                  </a:lnTo>
                  <a:lnTo>
                    <a:pt x="304" y="329"/>
                  </a:lnTo>
                  <a:lnTo>
                    <a:pt x="294" y="324"/>
                  </a:lnTo>
                  <a:lnTo>
                    <a:pt x="289" y="324"/>
                  </a:lnTo>
                  <a:lnTo>
                    <a:pt x="284" y="319"/>
                  </a:lnTo>
                  <a:lnTo>
                    <a:pt x="274" y="314"/>
                  </a:lnTo>
                  <a:lnTo>
                    <a:pt x="269" y="309"/>
                  </a:lnTo>
                  <a:lnTo>
                    <a:pt x="264" y="309"/>
                  </a:lnTo>
                  <a:lnTo>
                    <a:pt x="254" y="304"/>
                  </a:lnTo>
                  <a:lnTo>
                    <a:pt x="249" y="299"/>
                  </a:lnTo>
                  <a:lnTo>
                    <a:pt x="244" y="294"/>
                  </a:lnTo>
                  <a:lnTo>
                    <a:pt x="234" y="294"/>
                  </a:lnTo>
                  <a:lnTo>
                    <a:pt x="229" y="289"/>
                  </a:lnTo>
                  <a:lnTo>
                    <a:pt x="224" y="284"/>
                  </a:lnTo>
                  <a:lnTo>
                    <a:pt x="214" y="284"/>
                  </a:lnTo>
                  <a:lnTo>
                    <a:pt x="204" y="279"/>
                  </a:lnTo>
                  <a:lnTo>
                    <a:pt x="199" y="279"/>
                  </a:lnTo>
                  <a:lnTo>
                    <a:pt x="189" y="279"/>
                  </a:lnTo>
                  <a:lnTo>
                    <a:pt x="179" y="279"/>
                  </a:lnTo>
                  <a:lnTo>
                    <a:pt x="174" y="279"/>
                  </a:lnTo>
                  <a:lnTo>
                    <a:pt x="164" y="284"/>
                  </a:lnTo>
                  <a:lnTo>
                    <a:pt x="159" y="289"/>
                  </a:lnTo>
                  <a:lnTo>
                    <a:pt x="154" y="294"/>
                  </a:lnTo>
                  <a:lnTo>
                    <a:pt x="144" y="299"/>
                  </a:lnTo>
                  <a:lnTo>
                    <a:pt x="144" y="304"/>
                  </a:lnTo>
                  <a:lnTo>
                    <a:pt x="140" y="314"/>
                  </a:lnTo>
                  <a:lnTo>
                    <a:pt x="135" y="319"/>
                  </a:lnTo>
                  <a:lnTo>
                    <a:pt x="135" y="329"/>
                  </a:lnTo>
                  <a:lnTo>
                    <a:pt x="135" y="339"/>
                  </a:lnTo>
                  <a:lnTo>
                    <a:pt x="130" y="349"/>
                  </a:lnTo>
                  <a:lnTo>
                    <a:pt x="135" y="359"/>
                  </a:lnTo>
                  <a:lnTo>
                    <a:pt x="130" y="359"/>
                  </a:lnTo>
                  <a:lnTo>
                    <a:pt x="125" y="359"/>
                  </a:lnTo>
                  <a:lnTo>
                    <a:pt x="120" y="359"/>
                  </a:lnTo>
                  <a:lnTo>
                    <a:pt x="115" y="359"/>
                  </a:lnTo>
                  <a:lnTo>
                    <a:pt x="110" y="359"/>
                  </a:lnTo>
                  <a:lnTo>
                    <a:pt x="105" y="359"/>
                  </a:lnTo>
                  <a:lnTo>
                    <a:pt x="100" y="364"/>
                  </a:lnTo>
                  <a:lnTo>
                    <a:pt x="95" y="364"/>
                  </a:lnTo>
                  <a:lnTo>
                    <a:pt x="85" y="369"/>
                  </a:lnTo>
                  <a:lnTo>
                    <a:pt x="85" y="374"/>
                  </a:lnTo>
                  <a:lnTo>
                    <a:pt x="80" y="384"/>
                  </a:lnTo>
                  <a:lnTo>
                    <a:pt x="75" y="389"/>
                  </a:lnTo>
                  <a:lnTo>
                    <a:pt x="70" y="399"/>
                  </a:lnTo>
                  <a:lnTo>
                    <a:pt x="70" y="409"/>
                  </a:lnTo>
                  <a:lnTo>
                    <a:pt x="65" y="414"/>
                  </a:lnTo>
                  <a:lnTo>
                    <a:pt x="65" y="424"/>
                  </a:lnTo>
                  <a:lnTo>
                    <a:pt x="65" y="434"/>
                  </a:lnTo>
                  <a:lnTo>
                    <a:pt x="60" y="444"/>
                  </a:lnTo>
                  <a:lnTo>
                    <a:pt x="60" y="449"/>
                  </a:lnTo>
                  <a:lnTo>
                    <a:pt x="60" y="459"/>
                  </a:lnTo>
                  <a:lnTo>
                    <a:pt x="60" y="464"/>
                  </a:lnTo>
                  <a:lnTo>
                    <a:pt x="60" y="469"/>
                  </a:lnTo>
                  <a:lnTo>
                    <a:pt x="50" y="469"/>
                  </a:lnTo>
                  <a:lnTo>
                    <a:pt x="40" y="464"/>
                  </a:lnTo>
                  <a:lnTo>
                    <a:pt x="35" y="469"/>
                  </a:lnTo>
                  <a:lnTo>
                    <a:pt x="25" y="469"/>
                  </a:lnTo>
                  <a:lnTo>
                    <a:pt x="20" y="474"/>
                  </a:lnTo>
                  <a:lnTo>
                    <a:pt x="15" y="479"/>
                  </a:lnTo>
                  <a:lnTo>
                    <a:pt x="10" y="484"/>
                  </a:lnTo>
                  <a:lnTo>
                    <a:pt x="5" y="494"/>
                  </a:lnTo>
                  <a:lnTo>
                    <a:pt x="5" y="499"/>
                  </a:lnTo>
                  <a:lnTo>
                    <a:pt x="0" y="509"/>
                  </a:lnTo>
                  <a:lnTo>
                    <a:pt x="0" y="519"/>
                  </a:lnTo>
                  <a:lnTo>
                    <a:pt x="0" y="524"/>
                  </a:lnTo>
                  <a:lnTo>
                    <a:pt x="0" y="534"/>
                  </a:lnTo>
                  <a:lnTo>
                    <a:pt x="0" y="544"/>
                  </a:lnTo>
                  <a:lnTo>
                    <a:pt x="0" y="554"/>
                  </a:lnTo>
                  <a:lnTo>
                    <a:pt x="0" y="559"/>
                  </a:lnTo>
                  <a:lnTo>
                    <a:pt x="5" y="564"/>
                  </a:lnTo>
                  <a:lnTo>
                    <a:pt x="5" y="569"/>
                  </a:lnTo>
                  <a:lnTo>
                    <a:pt x="10" y="574"/>
                  </a:lnTo>
                  <a:lnTo>
                    <a:pt x="10" y="579"/>
                  </a:lnTo>
                  <a:lnTo>
                    <a:pt x="15" y="584"/>
                  </a:lnTo>
                  <a:lnTo>
                    <a:pt x="20" y="588"/>
                  </a:lnTo>
                  <a:lnTo>
                    <a:pt x="25" y="593"/>
                  </a:lnTo>
                  <a:lnTo>
                    <a:pt x="25" y="603"/>
                  </a:lnTo>
                  <a:lnTo>
                    <a:pt x="25" y="618"/>
                  </a:lnTo>
                  <a:lnTo>
                    <a:pt x="25" y="628"/>
                  </a:lnTo>
                  <a:lnTo>
                    <a:pt x="25" y="643"/>
                  </a:lnTo>
                  <a:lnTo>
                    <a:pt x="25" y="653"/>
                  </a:lnTo>
                  <a:lnTo>
                    <a:pt x="25" y="663"/>
                  </a:lnTo>
                  <a:lnTo>
                    <a:pt x="25" y="673"/>
                  </a:lnTo>
                  <a:lnTo>
                    <a:pt x="30" y="688"/>
                  </a:lnTo>
                  <a:lnTo>
                    <a:pt x="30" y="698"/>
                  </a:lnTo>
                  <a:lnTo>
                    <a:pt x="30" y="708"/>
                  </a:lnTo>
                  <a:lnTo>
                    <a:pt x="35" y="718"/>
                  </a:lnTo>
                  <a:lnTo>
                    <a:pt x="35" y="733"/>
                  </a:lnTo>
                  <a:lnTo>
                    <a:pt x="40" y="743"/>
                  </a:lnTo>
                  <a:lnTo>
                    <a:pt x="45" y="753"/>
                  </a:lnTo>
                  <a:lnTo>
                    <a:pt x="50" y="763"/>
                  </a:lnTo>
                  <a:lnTo>
                    <a:pt x="55" y="773"/>
                  </a:lnTo>
                  <a:lnTo>
                    <a:pt x="60" y="788"/>
                  </a:lnTo>
                  <a:lnTo>
                    <a:pt x="65" y="798"/>
                  </a:lnTo>
                  <a:lnTo>
                    <a:pt x="75" y="808"/>
                  </a:lnTo>
                  <a:lnTo>
                    <a:pt x="80" y="823"/>
                  </a:lnTo>
                  <a:lnTo>
                    <a:pt x="90" y="833"/>
                  </a:lnTo>
                  <a:lnTo>
                    <a:pt x="100" y="843"/>
                  </a:lnTo>
                  <a:lnTo>
                    <a:pt x="110" y="853"/>
                  </a:lnTo>
                  <a:lnTo>
                    <a:pt x="115" y="863"/>
                  </a:lnTo>
                  <a:lnTo>
                    <a:pt x="125" y="873"/>
                  </a:lnTo>
                  <a:lnTo>
                    <a:pt x="135" y="888"/>
                  </a:lnTo>
                  <a:lnTo>
                    <a:pt x="144" y="898"/>
                  </a:lnTo>
                  <a:lnTo>
                    <a:pt x="149" y="908"/>
                  </a:lnTo>
                  <a:lnTo>
                    <a:pt x="159" y="918"/>
                  </a:lnTo>
                  <a:lnTo>
                    <a:pt x="169" y="933"/>
                  </a:lnTo>
                  <a:lnTo>
                    <a:pt x="174" y="943"/>
                  </a:lnTo>
                  <a:lnTo>
                    <a:pt x="179" y="953"/>
                  </a:lnTo>
                  <a:lnTo>
                    <a:pt x="184" y="963"/>
                  </a:lnTo>
                  <a:lnTo>
                    <a:pt x="189" y="968"/>
                  </a:lnTo>
                  <a:lnTo>
                    <a:pt x="189" y="973"/>
                  </a:lnTo>
                  <a:lnTo>
                    <a:pt x="194" y="982"/>
                  </a:lnTo>
                  <a:lnTo>
                    <a:pt x="194" y="987"/>
                  </a:lnTo>
                  <a:lnTo>
                    <a:pt x="199" y="992"/>
                  </a:lnTo>
                  <a:lnTo>
                    <a:pt x="199" y="1002"/>
                  </a:lnTo>
                  <a:lnTo>
                    <a:pt x="204" y="1007"/>
                  </a:lnTo>
                  <a:lnTo>
                    <a:pt x="204" y="1017"/>
                  </a:lnTo>
                  <a:lnTo>
                    <a:pt x="209" y="1022"/>
                  </a:lnTo>
                  <a:lnTo>
                    <a:pt x="209" y="1027"/>
                  </a:lnTo>
                  <a:lnTo>
                    <a:pt x="214" y="1037"/>
                  </a:lnTo>
                  <a:lnTo>
                    <a:pt x="214" y="1042"/>
                  </a:lnTo>
                  <a:lnTo>
                    <a:pt x="214" y="1052"/>
                  </a:lnTo>
                  <a:lnTo>
                    <a:pt x="219" y="1057"/>
                  </a:lnTo>
                  <a:lnTo>
                    <a:pt x="219" y="1067"/>
                  </a:lnTo>
                  <a:lnTo>
                    <a:pt x="234" y="1057"/>
                  </a:lnTo>
                  <a:lnTo>
                    <a:pt x="249" y="1047"/>
                  </a:lnTo>
                  <a:lnTo>
                    <a:pt x="264" y="1042"/>
                  </a:lnTo>
                  <a:lnTo>
                    <a:pt x="279" y="1032"/>
                  </a:lnTo>
                  <a:lnTo>
                    <a:pt x="294" y="1027"/>
                  </a:lnTo>
                  <a:lnTo>
                    <a:pt x="309" y="1017"/>
                  </a:lnTo>
                  <a:lnTo>
                    <a:pt x="324" y="1012"/>
                  </a:lnTo>
                  <a:lnTo>
                    <a:pt x="339" y="1002"/>
                  </a:lnTo>
                  <a:lnTo>
                    <a:pt x="354" y="997"/>
                  </a:lnTo>
                  <a:lnTo>
                    <a:pt x="369" y="987"/>
                  </a:lnTo>
                  <a:lnTo>
                    <a:pt x="384" y="982"/>
                  </a:lnTo>
                  <a:lnTo>
                    <a:pt x="399" y="973"/>
                  </a:lnTo>
                  <a:lnTo>
                    <a:pt x="409" y="963"/>
                  </a:lnTo>
                  <a:lnTo>
                    <a:pt x="424" y="958"/>
                  </a:lnTo>
                  <a:lnTo>
                    <a:pt x="439" y="948"/>
                  </a:lnTo>
                  <a:lnTo>
                    <a:pt x="453" y="943"/>
                  </a:lnTo>
                  <a:lnTo>
                    <a:pt x="463" y="938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877" y="913"/>
              <a:ext cx="20" cy="265"/>
            </a:xfrm>
            <a:custGeom>
              <a:avLst/>
              <a:gdLst>
                <a:gd name="T0" fmla="*/ 15 w 20"/>
                <a:gd name="T1" fmla="*/ 0 h 265"/>
                <a:gd name="T2" fmla="*/ 15 w 20"/>
                <a:gd name="T3" fmla="*/ 0 h 265"/>
                <a:gd name="T4" fmla="*/ 10 w 20"/>
                <a:gd name="T5" fmla="*/ 15 h 265"/>
                <a:gd name="T6" fmla="*/ 10 w 20"/>
                <a:gd name="T7" fmla="*/ 30 h 265"/>
                <a:gd name="T8" fmla="*/ 5 w 20"/>
                <a:gd name="T9" fmla="*/ 50 h 265"/>
                <a:gd name="T10" fmla="*/ 5 w 20"/>
                <a:gd name="T11" fmla="*/ 65 h 265"/>
                <a:gd name="T12" fmla="*/ 0 w 20"/>
                <a:gd name="T13" fmla="*/ 80 h 265"/>
                <a:gd name="T14" fmla="*/ 0 w 20"/>
                <a:gd name="T15" fmla="*/ 100 h 265"/>
                <a:gd name="T16" fmla="*/ 0 w 20"/>
                <a:gd name="T17" fmla="*/ 115 h 265"/>
                <a:gd name="T18" fmla="*/ 0 w 20"/>
                <a:gd name="T19" fmla="*/ 130 h 265"/>
                <a:gd name="T20" fmla="*/ 0 w 20"/>
                <a:gd name="T21" fmla="*/ 145 h 265"/>
                <a:gd name="T22" fmla="*/ 0 w 20"/>
                <a:gd name="T23" fmla="*/ 165 h 265"/>
                <a:gd name="T24" fmla="*/ 0 w 20"/>
                <a:gd name="T25" fmla="*/ 180 h 265"/>
                <a:gd name="T26" fmla="*/ 0 w 20"/>
                <a:gd name="T27" fmla="*/ 195 h 265"/>
                <a:gd name="T28" fmla="*/ 0 w 20"/>
                <a:gd name="T29" fmla="*/ 215 h 265"/>
                <a:gd name="T30" fmla="*/ 5 w 20"/>
                <a:gd name="T31" fmla="*/ 230 h 265"/>
                <a:gd name="T32" fmla="*/ 5 w 20"/>
                <a:gd name="T33" fmla="*/ 250 h 265"/>
                <a:gd name="T34" fmla="*/ 10 w 20"/>
                <a:gd name="T35" fmla="*/ 265 h 265"/>
                <a:gd name="T36" fmla="*/ 15 w 20"/>
                <a:gd name="T37" fmla="*/ 265 h 265"/>
                <a:gd name="T38" fmla="*/ 10 w 20"/>
                <a:gd name="T39" fmla="*/ 245 h 265"/>
                <a:gd name="T40" fmla="*/ 10 w 20"/>
                <a:gd name="T41" fmla="*/ 230 h 265"/>
                <a:gd name="T42" fmla="*/ 10 w 20"/>
                <a:gd name="T43" fmla="*/ 215 h 265"/>
                <a:gd name="T44" fmla="*/ 5 w 20"/>
                <a:gd name="T45" fmla="*/ 195 h 265"/>
                <a:gd name="T46" fmla="*/ 5 w 20"/>
                <a:gd name="T47" fmla="*/ 180 h 265"/>
                <a:gd name="T48" fmla="*/ 5 w 20"/>
                <a:gd name="T49" fmla="*/ 165 h 265"/>
                <a:gd name="T50" fmla="*/ 5 w 20"/>
                <a:gd name="T51" fmla="*/ 145 h 265"/>
                <a:gd name="T52" fmla="*/ 5 w 20"/>
                <a:gd name="T53" fmla="*/ 130 h 265"/>
                <a:gd name="T54" fmla="*/ 5 w 20"/>
                <a:gd name="T55" fmla="*/ 115 h 265"/>
                <a:gd name="T56" fmla="*/ 5 w 20"/>
                <a:gd name="T57" fmla="*/ 100 h 265"/>
                <a:gd name="T58" fmla="*/ 10 w 20"/>
                <a:gd name="T59" fmla="*/ 80 h 265"/>
                <a:gd name="T60" fmla="*/ 10 w 20"/>
                <a:gd name="T61" fmla="*/ 65 h 265"/>
                <a:gd name="T62" fmla="*/ 10 w 20"/>
                <a:gd name="T63" fmla="*/ 50 h 265"/>
                <a:gd name="T64" fmla="*/ 15 w 20"/>
                <a:gd name="T65" fmla="*/ 35 h 265"/>
                <a:gd name="T66" fmla="*/ 15 w 20"/>
                <a:gd name="T67" fmla="*/ 15 h 265"/>
                <a:gd name="T68" fmla="*/ 20 w 20"/>
                <a:gd name="T69" fmla="*/ 0 h 265"/>
                <a:gd name="T70" fmla="*/ 20 w 20"/>
                <a:gd name="T71" fmla="*/ 0 h 265"/>
                <a:gd name="T72" fmla="*/ 15 w 20"/>
                <a:gd name="T73" fmla="*/ 0 h 265"/>
                <a:gd name="T74" fmla="*/ 15 w 20"/>
                <a:gd name="T75" fmla="*/ 0 h 265"/>
                <a:gd name="T76" fmla="*/ 15 w 20"/>
                <a:gd name="T77" fmla="*/ 0 h 26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0"/>
                <a:gd name="T118" fmla="*/ 0 h 265"/>
                <a:gd name="T119" fmla="*/ 20 w 20"/>
                <a:gd name="T120" fmla="*/ 265 h 26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0" h="265">
                  <a:moveTo>
                    <a:pt x="15" y="0"/>
                  </a:moveTo>
                  <a:lnTo>
                    <a:pt x="15" y="0"/>
                  </a:lnTo>
                  <a:lnTo>
                    <a:pt x="10" y="15"/>
                  </a:lnTo>
                  <a:lnTo>
                    <a:pt x="10" y="30"/>
                  </a:lnTo>
                  <a:lnTo>
                    <a:pt x="5" y="50"/>
                  </a:lnTo>
                  <a:lnTo>
                    <a:pt x="5" y="65"/>
                  </a:lnTo>
                  <a:lnTo>
                    <a:pt x="0" y="80"/>
                  </a:lnTo>
                  <a:lnTo>
                    <a:pt x="0" y="100"/>
                  </a:lnTo>
                  <a:lnTo>
                    <a:pt x="0" y="115"/>
                  </a:lnTo>
                  <a:lnTo>
                    <a:pt x="0" y="130"/>
                  </a:lnTo>
                  <a:lnTo>
                    <a:pt x="0" y="145"/>
                  </a:lnTo>
                  <a:lnTo>
                    <a:pt x="0" y="165"/>
                  </a:lnTo>
                  <a:lnTo>
                    <a:pt x="0" y="180"/>
                  </a:lnTo>
                  <a:lnTo>
                    <a:pt x="0" y="195"/>
                  </a:lnTo>
                  <a:lnTo>
                    <a:pt x="0" y="215"/>
                  </a:lnTo>
                  <a:lnTo>
                    <a:pt x="5" y="230"/>
                  </a:lnTo>
                  <a:lnTo>
                    <a:pt x="5" y="250"/>
                  </a:lnTo>
                  <a:lnTo>
                    <a:pt x="10" y="265"/>
                  </a:lnTo>
                  <a:lnTo>
                    <a:pt x="15" y="265"/>
                  </a:lnTo>
                  <a:lnTo>
                    <a:pt x="10" y="245"/>
                  </a:lnTo>
                  <a:lnTo>
                    <a:pt x="10" y="230"/>
                  </a:lnTo>
                  <a:lnTo>
                    <a:pt x="10" y="215"/>
                  </a:lnTo>
                  <a:lnTo>
                    <a:pt x="5" y="195"/>
                  </a:lnTo>
                  <a:lnTo>
                    <a:pt x="5" y="180"/>
                  </a:lnTo>
                  <a:lnTo>
                    <a:pt x="5" y="165"/>
                  </a:lnTo>
                  <a:lnTo>
                    <a:pt x="5" y="145"/>
                  </a:lnTo>
                  <a:lnTo>
                    <a:pt x="5" y="130"/>
                  </a:lnTo>
                  <a:lnTo>
                    <a:pt x="5" y="115"/>
                  </a:lnTo>
                  <a:lnTo>
                    <a:pt x="5" y="100"/>
                  </a:lnTo>
                  <a:lnTo>
                    <a:pt x="10" y="80"/>
                  </a:lnTo>
                  <a:lnTo>
                    <a:pt x="10" y="65"/>
                  </a:lnTo>
                  <a:lnTo>
                    <a:pt x="10" y="50"/>
                  </a:lnTo>
                  <a:lnTo>
                    <a:pt x="15" y="35"/>
                  </a:lnTo>
                  <a:lnTo>
                    <a:pt x="15" y="15"/>
                  </a:lnTo>
                  <a:lnTo>
                    <a:pt x="20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5882" y="644"/>
              <a:ext cx="25" cy="269"/>
            </a:xfrm>
            <a:custGeom>
              <a:avLst/>
              <a:gdLst>
                <a:gd name="T0" fmla="*/ 0 w 25"/>
                <a:gd name="T1" fmla="*/ 0 h 269"/>
                <a:gd name="T2" fmla="*/ 0 w 25"/>
                <a:gd name="T3" fmla="*/ 0 h 269"/>
                <a:gd name="T4" fmla="*/ 5 w 25"/>
                <a:gd name="T5" fmla="*/ 20 h 269"/>
                <a:gd name="T6" fmla="*/ 10 w 25"/>
                <a:gd name="T7" fmla="*/ 35 h 269"/>
                <a:gd name="T8" fmla="*/ 10 w 25"/>
                <a:gd name="T9" fmla="*/ 50 h 269"/>
                <a:gd name="T10" fmla="*/ 15 w 25"/>
                <a:gd name="T11" fmla="*/ 70 h 269"/>
                <a:gd name="T12" fmla="*/ 15 w 25"/>
                <a:gd name="T13" fmla="*/ 85 h 269"/>
                <a:gd name="T14" fmla="*/ 20 w 25"/>
                <a:gd name="T15" fmla="*/ 100 h 269"/>
                <a:gd name="T16" fmla="*/ 20 w 25"/>
                <a:gd name="T17" fmla="*/ 120 h 269"/>
                <a:gd name="T18" fmla="*/ 20 w 25"/>
                <a:gd name="T19" fmla="*/ 135 h 269"/>
                <a:gd name="T20" fmla="*/ 20 w 25"/>
                <a:gd name="T21" fmla="*/ 150 h 269"/>
                <a:gd name="T22" fmla="*/ 20 w 25"/>
                <a:gd name="T23" fmla="*/ 170 h 269"/>
                <a:gd name="T24" fmla="*/ 20 w 25"/>
                <a:gd name="T25" fmla="*/ 184 h 269"/>
                <a:gd name="T26" fmla="*/ 15 w 25"/>
                <a:gd name="T27" fmla="*/ 199 h 269"/>
                <a:gd name="T28" fmla="*/ 15 w 25"/>
                <a:gd name="T29" fmla="*/ 219 h 269"/>
                <a:gd name="T30" fmla="*/ 15 w 25"/>
                <a:gd name="T31" fmla="*/ 234 h 269"/>
                <a:gd name="T32" fmla="*/ 10 w 25"/>
                <a:gd name="T33" fmla="*/ 249 h 269"/>
                <a:gd name="T34" fmla="*/ 10 w 25"/>
                <a:gd name="T35" fmla="*/ 269 h 269"/>
                <a:gd name="T36" fmla="*/ 15 w 25"/>
                <a:gd name="T37" fmla="*/ 269 h 269"/>
                <a:gd name="T38" fmla="*/ 15 w 25"/>
                <a:gd name="T39" fmla="*/ 254 h 269"/>
                <a:gd name="T40" fmla="*/ 20 w 25"/>
                <a:gd name="T41" fmla="*/ 234 h 269"/>
                <a:gd name="T42" fmla="*/ 20 w 25"/>
                <a:gd name="T43" fmla="*/ 219 h 269"/>
                <a:gd name="T44" fmla="*/ 20 w 25"/>
                <a:gd name="T45" fmla="*/ 199 h 269"/>
                <a:gd name="T46" fmla="*/ 25 w 25"/>
                <a:gd name="T47" fmla="*/ 184 h 269"/>
                <a:gd name="T48" fmla="*/ 25 w 25"/>
                <a:gd name="T49" fmla="*/ 170 h 269"/>
                <a:gd name="T50" fmla="*/ 25 w 25"/>
                <a:gd name="T51" fmla="*/ 150 h 269"/>
                <a:gd name="T52" fmla="*/ 25 w 25"/>
                <a:gd name="T53" fmla="*/ 135 h 269"/>
                <a:gd name="T54" fmla="*/ 25 w 25"/>
                <a:gd name="T55" fmla="*/ 120 h 269"/>
                <a:gd name="T56" fmla="*/ 25 w 25"/>
                <a:gd name="T57" fmla="*/ 100 h 269"/>
                <a:gd name="T58" fmla="*/ 20 w 25"/>
                <a:gd name="T59" fmla="*/ 85 h 269"/>
                <a:gd name="T60" fmla="*/ 20 w 25"/>
                <a:gd name="T61" fmla="*/ 65 h 269"/>
                <a:gd name="T62" fmla="*/ 20 w 25"/>
                <a:gd name="T63" fmla="*/ 50 h 269"/>
                <a:gd name="T64" fmla="*/ 15 w 25"/>
                <a:gd name="T65" fmla="*/ 35 h 269"/>
                <a:gd name="T66" fmla="*/ 10 w 25"/>
                <a:gd name="T67" fmla="*/ 15 h 269"/>
                <a:gd name="T68" fmla="*/ 10 w 25"/>
                <a:gd name="T69" fmla="*/ 0 h 269"/>
                <a:gd name="T70" fmla="*/ 10 w 25"/>
                <a:gd name="T71" fmla="*/ 0 h 269"/>
                <a:gd name="T72" fmla="*/ 10 w 25"/>
                <a:gd name="T73" fmla="*/ 0 h 269"/>
                <a:gd name="T74" fmla="*/ 10 w 25"/>
                <a:gd name="T75" fmla="*/ 0 h 269"/>
                <a:gd name="T76" fmla="*/ 10 w 25"/>
                <a:gd name="T77" fmla="*/ 0 h 269"/>
                <a:gd name="T78" fmla="*/ 0 w 25"/>
                <a:gd name="T79" fmla="*/ 0 h 269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25"/>
                <a:gd name="T121" fmla="*/ 0 h 269"/>
                <a:gd name="T122" fmla="*/ 25 w 25"/>
                <a:gd name="T123" fmla="*/ 269 h 269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25" h="269">
                  <a:moveTo>
                    <a:pt x="0" y="0"/>
                  </a:moveTo>
                  <a:lnTo>
                    <a:pt x="0" y="0"/>
                  </a:lnTo>
                  <a:lnTo>
                    <a:pt x="5" y="20"/>
                  </a:lnTo>
                  <a:lnTo>
                    <a:pt x="10" y="35"/>
                  </a:lnTo>
                  <a:lnTo>
                    <a:pt x="10" y="50"/>
                  </a:lnTo>
                  <a:lnTo>
                    <a:pt x="15" y="70"/>
                  </a:lnTo>
                  <a:lnTo>
                    <a:pt x="15" y="85"/>
                  </a:lnTo>
                  <a:lnTo>
                    <a:pt x="20" y="100"/>
                  </a:lnTo>
                  <a:lnTo>
                    <a:pt x="20" y="120"/>
                  </a:lnTo>
                  <a:lnTo>
                    <a:pt x="20" y="135"/>
                  </a:lnTo>
                  <a:lnTo>
                    <a:pt x="20" y="150"/>
                  </a:lnTo>
                  <a:lnTo>
                    <a:pt x="20" y="170"/>
                  </a:lnTo>
                  <a:lnTo>
                    <a:pt x="20" y="184"/>
                  </a:lnTo>
                  <a:lnTo>
                    <a:pt x="15" y="199"/>
                  </a:lnTo>
                  <a:lnTo>
                    <a:pt x="15" y="219"/>
                  </a:lnTo>
                  <a:lnTo>
                    <a:pt x="15" y="234"/>
                  </a:lnTo>
                  <a:lnTo>
                    <a:pt x="10" y="249"/>
                  </a:lnTo>
                  <a:lnTo>
                    <a:pt x="10" y="269"/>
                  </a:lnTo>
                  <a:lnTo>
                    <a:pt x="15" y="269"/>
                  </a:lnTo>
                  <a:lnTo>
                    <a:pt x="15" y="254"/>
                  </a:lnTo>
                  <a:lnTo>
                    <a:pt x="20" y="234"/>
                  </a:lnTo>
                  <a:lnTo>
                    <a:pt x="20" y="219"/>
                  </a:lnTo>
                  <a:lnTo>
                    <a:pt x="20" y="199"/>
                  </a:lnTo>
                  <a:lnTo>
                    <a:pt x="25" y="184"/>
                  </a:lnTo>
                  <a:lnTo>
                    <a:pt x="25" y="170"/>
                  </a:lnTo>
                  <a:lnTo>
                    <a:pt x="25" y="150"/>
                  </a:lnTo>
                  <a:lnTo>
                    <a:pt x="25" y="135"/>
                  </a:lnTo>
                  <a:lnTo>
                    <a:pt x="25" y="120"/>
                  </a:lnTo>
                  <a:lnTo>
                    <a:pt x="25" y="100"/>
                  </a:lnTo>
                  <a:lnTo>
                    <a:pt x="20" y="85"/>
                  </a:lnTo>
                  <a:lnTo>
                    <a:pt x="20" y="65"/>
                  </a:lnTo>
                  <a:lnTo>
                    <a:pt x="20" y="50"/>
                  </a:lnTo>
                  <a:lnTo>
                    <a:pt x="15" y="35"/>
                  </a:lnTo>
                  <a:lnTo>
                    <a:pt x="10" y="15"/>
                  </a:lnTo>
                  <a:lnTo>
                    <a:pt x="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843" y="390"/>
              <a:ext cx="49" cy="254"/>
            </a:xfrm>
            <a:custGeom>
              <a:avLst/>
              <a:gdLst>
                <a:gd name="T0" fmla="*/ 0 w 49"/>
                <a:gd name="T1" fmla="*/ 5 h 254"/>
                <a:gd name="T2" fmla="*/ 0 w 49"/>
                <a:gd name="T3" fmla="*/ 5 h 254"/>
                <a:gd name="T4" fmla="*/ 0 w 49"/>
                <a:gd name="T5" fmla="*/ 20 h 254"/>
                <a:gd name="T6" fmla="*/ 5 w 49"/>
                <a:gd name="T7" fmla="*/ 35 h 254"/>
                <a:gd name="T8" fmla="*/ 5 w 49"/>
                <a:gd name="T9" fmla="*/ 49 h 254"/>
                <a:gd name="T10" fmla="*/ 10 w 49"/>
                <a:gd name="T11" fmla="*/ 64 h 254"/>
                <a:gd name="T12" fmla="*/ 10 w 49"/>
                <a:gd name="T13" fmla="*/ 84 h 254"/>
                <a:gd name="T14" fmla="*/ 15 w 49"/>
                <a:gd name="T15" fmla="*/ 99 h 254"/>
                <a:gd name="T16" fmla="*/ 15 w 49"/>
                <a:gd name="T17" fmla="*/ 114 h 254"/>
                <a:gd name="T18" fmla="*/ 15 w 49"/>
                <a:gd name="T19" fmla="*/ 129 h 254"/>
                <a:gd name="T20" fmla="*/ 20 w 49"/>
                <a:gd name="T21" fmla="*/ 144 h 254"/>
                <a:gd name="T22" fmla="*/ 20 w 49"/>
                <a:gd name="T23" fmla="*/ 164 h 254"/>
                <a:gd name="T24" fmla="*/ 25 w 49"/>
                <a:gd name="T25" fmla="*/ 179 h 254"/>
                <a:gd name="T26" fmla="*/ 29 w 49"/>
                <a:gd name="T27" fmla="*/ 194 h 254"/>
                <a:gd name="T28" fmla="*/ 29 w 49"/>
                <a:gd name="T29" fmla="*/ 209 h 254"/>
                <a:gd name="T30" fmla="*/ 34 w 49"/>
                <a:gd name="T31" fmla="*/ 224 h 254"/>
                <a:gd name="T32" fmla="*/ 39 w 49"/>
                <a:gd name="T33" fmla="*/ 239 h 254"/>
                <a:gd name="T34" fmla="*/ 39 w 49"/>
                <a:gd name="T35" fmla="*/ 254 h 254"/>
                <a:gd name="T36" fmla="*/ 49 w 49"/>
                <a:gd name="T37" fmla="*/ 254 h 254"/>
                <a:gd name="T38" fmla="*/ 44 w 49"/>
                <a:gd name="T39" fmla="*/ 239 h 254"/>
                <a:gd name="T40" fmla="*/ 39 w 49"/>
                <a:gd name="T41" fmla="*/ 224 h 254"/>
                <a:gd name="T42" fmla="*/ 34 w 49"/>
                <a:gd name="T43" fmla="*/ 209 h 254"/>
                <a:gd name="T44" fmla="*/ 34 w 49"/>
                <a:gd name="T45" fmla="*/ 194 h 254"/>
                <a:gd name="T46" fmla="*/ 29 w 49"/>
                <a:gd name="T47" fmla="*/ 179 h 254"/>
                <a:gd name="T48" fmla="*/ 29 w 49"/>
                <a:gd name="T49" fmla="*/ 159 h 254"/>
                <a:gd name="T50" fmla="*/ 25 w 49"/>
                <a:gd name="T51" fmla="*/ 144 h 254"/>
                <a:gd name="T52" fmla="*/ 25 w 49"/>
                <a:gd name="T53" fmla="*/ 129 h 254"/>
                <a:gd name="T54" fmla="*/ 20 w 49"/>
                <a:gd name="T55" fmla="*/ 114 h 254"/>
                <a:gd name="T56" fmla="*/ 20 w 49"/>
                <a:gd name="T57" fmla="*/ 99 h 254"/>
                <a:gd name="T58" fmla="*/ 15 w 49"/>
                <a:gd name="T59" fmla="*/ 79 h 254"/>
                <a:gd name="T60" fmla="*/ 15 w 49"/>
                <a:gd name="T61" fmla="*/ 64 h 254"/>
                <a:gd name="T62" fmla="*/ 15 w 49"/>
                <a:gd name="T63" fmla="*/ 49 h 254"/>
                <a:gd name="T64" fmla="*/ 10 w 49"/>
                <a:gd name="T65" fmla="*/ 35 h 254"/>
                <a:gd name="T66" fmla="*/ 10 w 49"/>
                <a:gd name="T67" fmla="*/ 15 h 254"/>
                <a:gd name="T68" fmla="*/ 5 w 49"/>
                <a:gd name="T69" fmla="*/ 0 h 254"/>
                <a:gd name="T70" fmla="*/ 5 w 49"/>
                <a:gd name="T71" fmla="*/ 0 h 254"/>
                <a:gd name="T72" fmla="*/ 0 w 49"/>
                <a:gd name="T73" fmla="*/ 5 h 254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49"/>
                <a:gd name="T112" fmla="*/ 0 h 254"/>
                <a:gd name="T113" fmla="*/ 49 w 49"/>
                <a:gd name="T114" fmla="*/ 254 h 254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49" h="254">
                  <a:moveTo>
                    <a:pt x="0" y="5"/>
                  </a:moveTo>
                  <a:lnTo>
                    <a:pt x="0" y="5"/>
                  </a:lnTo>
                  <a:lnTo>
                    <a:pt x="0" y="20"/>
                  </a:lnTo>
                  <a:lnTo>
                    <a:pt x="5" y="35"/>
                  </a:lnTo>
                  <a:lnTo>
                    <a:pt x="5" y="49"/>
                  </a:lnTo>
                  <a:lnTo>
                    <a:pt x="10" y="64"/>
                  </a:lnTo>
                  <a:lnTo>
                    <a:pt x="10" y="84"/>
                  </a:lnTo>
                  <a:lnTo>
                    <a:pt x="15" y="99"/>
                  </a:lnTo>
                  <a:lnTo>
                    <a:pt x="15" y="114"/>
                  </a:lnTo>
                  <a:lnTo>
                    <a:pt x="15" y="129"/>
                  </a:lnTo>
                  <a:lnTo>
                    <a:pt x="20" y="144"/>
                  </a:lnTo>
                  <a:lnTo>
                    <a:pt x="20" y="164"/>
                  </a:lnTo>
                  <a:lnTo>
                    <a:pt x="25" y="179"/>
                  </a:lnTo>
                  <a:lnTo>
                    <a:pt x="29" y="194"/>
                  </a:lnTo>
                  <a:lnTo>
                    <a:pt x="29" y="209"/>
                  </a:lnTo>
                  <a:lnTo>
                    <a:pt x="34" y="224"/>
                  </a:lnTo>
                  <a:lnTo>
                    <a:pt x="39" y="239"/>
                  </a:lnTo>
                  <a:lnTo>
                    <a:pt x="39" y="254"/>
                  </a:lnTo>
                  <a:lnTo>
                    <a:pt x="49" y="254"/>
                  </a:lnTo>
                  <a:lnTo>
                    <a:pt x="44" y="239"/>
                  </a:lnTo>
                  <a:lnTo>
                    <a:pt x="39" y="224"/>
                  </a:lnTo>
                  <a:lnTo>
                    <a:pt x="34" y="209"/>
                  </a:lnTo>
                  <a:lnTo>
                    <a:pt x="34" y="194"/>
                  </a:lnTo>
                  <a:lnTo>
                    <a:pt x="29" y="179"/>
                  </a:lnTo>
                  <a:lnTo>
                    <a:pt x="29" y="159"/>
                  </a:lnTo>
                  <a:lnTo>
                    <a:pt x="25" y="144"/>
                  </a:lnTo>
                  <a:lnTo>
                    <a:pt x="25" y="129"/>
                  </a:lnTo>
                  <a:lnTo>
                    <a:pt x="20" y="114"/>
                  </a:lnTo>
                  <a:lnTo>
                    <a:pt x="20" y="99"/>
                  </a:lnTo>
                  <a:lnTo>
                    <a:pt x="15" y="79"/>
                  </a:lnTo>
                  <a:lnTo>
                    <a:pt x="15" y="64"/>
                  </a:lnTo>
                  <a:lnTo>
                    <a:pt x="15" y="49"/>
                  </a:lnTo>
                  <a:lnTo>
                    <a:pt x="10" y="35"/>
                  </a:lnTo>
                  <a:lnTo>
                    <a:pt x="10" y="15"/>
                  </a:lnTo>
                  <a:lnTo>
                    <a:pt x="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5768" y="240"/>
              <a:ext cx="80" cy="155"/>
            </a:xfrm>
            <a:custGeom>
              <a:avLst/>
              <a:gdLst>
                <a:gd name="T0" fmla="*/ 0 w 80"/>
                <a:gd name="T1" fmla="*/ 5 h 155"/>
                <a:gd name="T2" fmla="*/ 0 w 80"/>
                <a:gd name="T3" fmla="*/ 5 h 155"/>
                <a:gd name="T4" fmla="*/ 10 w 80"/>
                <a:gd name="T5" fmla="*/ 5 h 155"/>
                <a:gd name="T6" fmla="*/ 20 w 80"/>
                <a:gd name="T7" fmla="*/ 5 h 155"/>
                <a:gd name="T8" fmla="*/ 30 w 80"/>
                <a:gd name="T9" fmla="*/ 10 h 155"/>
                <a:gd name="T10" fmla="*/ 35 w 80"/>
                <a:gd name="T11" fmla="*/ 20 h 155"/>
                <a:gd name="T12" fmla="*/ 45 w 80"/>
                <a:gd name="T13" fmla="*/ 25 h 155"/>
                <a:gd name="T14" fmla="*/ 50 w 80"/>
                <a:gd name="T15" fmla="*/ 35 h 155"/>
                <a:gd name="T16" fmla="*/ 55 w 80"/>
                <a:gd name="T17" fmla="*/ 45 h 155"/>
                <a:gd name="T18" fmla="*/ 60 w 80"/>
                <a:gd name="T19" fmla="*/ 60 h 155"/>
                <a:gd name="T20" fmla="*/ 60 w 80"/>
                <a:gd name="T21" fmla="*/ 70 h 155"/>
                <a:gd name="T22" fmla="*/ 65 w 80"/>
                <a:gd name="T23" fmla="*/ 85 h 155"/>
                <a:gd name="T24" fmla="*/ 65 w 80"/>
                <a:gd name="T25" fmla="*/ 100 h 155"/>
                <a:gd name="T26" fmla="*/ 70 w 80"/>
                <a:gd name="T27" fmla="*/ 110 h 155"/>
                <a:gd name="T28" fmla="*/ 70 w 80"/>
                <a:gd name="T29" fmla="*/ 125 h 155"/>
                <a:gd name="T30" fmla="*/ 75 w 80"/>
                <a:gd name="T31" fmla="*/ 135 h 155"/>
                <a:gd name="T32" fmla="*/ 75 w 80"/>
                <a:gd name="T33" fmla="*/ 145 h 155"/>
                <a:gd name="T34" fmla="*/ 75 w 80"/>
                <a:gd name="T35" fmla="*/ 155 h 155"/>
                <a:gd name="T36" fmla="*/ 80 w 80"/>
                <a:gd name="T37" fmla="*/ 150 h 155"/>
                <a:gd name="T38" fmla="*/ 80 w 80"/>
                <a:gd name="T39" fmla="*/ 145 h 155"/>
                <a:gd name="T40" fmla="*/ 80 w 80"/>
                <a:gd name="T41" fmla="*/ 135 h 155"/>
                <a:gd name="T42" fmla="*/ 75 w 80"/>
                <a:gd name="T43" fmla="*/ 120 h 155"/>
                <a:gd name="T44" fmla="*/ 75 w 80"/>
                <a:gd name="T45" fmla="*/ 110 h 155"/>
                <a:gd name="T46" fmla="*/ 75 w 80"/>
                <a:gd name="T47" fmla="*/ 95 h 155"/>
                <a:gd name="T48" fmla="*/ 70 w 80"/>
                <a:gd name="T49" fmla="*/ 85 h 155"/>
                <a:gd name="T50" fmla="*/ 70 w 80"/>
                <a:gd name="T51" fmla="*/ 70 h 155"/>
                <a:gd name="T52" fmla="*/ 65 w 80"/>
                <a:gd name="T53" fmla="*/ 55 h 155"/>
                <a:gd name="T54" fmla="*/ 60 w 80"/>
                <a:gd name="T55" fmla="*/ 45 h 155"/>
                <a:gd name="T56" fmla="*/ 55 w 80"/>
                <a:gd name="T57" fmla="*/ 35 h 155"/>
                <a:gd name="T58" fmla="*/ 45 w 80"/>
                <a:gd name="T59" fmla="*/ 20 h 155"/>
                <a:gd name="T60" fmla="*/ 40 w 80"/>
                <a:gd name="T61" fmla="*/ 15 h 155"/>
                <a:gd name="T62" fmla="*/ 30 w 80"/>
                <a:gd name="T63" fmla="*/ 5 h 155"/>
                <a:gd name="T64" fmla="*/ 20 w 80"/>
                <a:gd name="T65" fmla="*/ 0 h 155"/>
                <a:gd name="T66" fmla="*/ 10 w 80"/>
                <a:gd name="T67" fmla="*/ 0 h 155"/>
                <a:gd name="T68" fmla="*/ 0 w 80"/>
                <a:gd name="T69" fmla="*/ 0 h 155"/>
                <a:gd name="T70" fmla="*/ 0 w 80"/>
                <a:gd name="T71" fmla="*/ 0 h 155"/>
                <a:gd name="T72" fmla="*/ 0 w 80"/>
                <a:gd name="T73" fmla="*/ 0 h 155"/>
                <a:gd name="T74" fmla="*/ 0 w 80"/>
                <a:gd name="T75" fmla="*/ 0 h 155"/>
                <a:gd name="T76" fmla="*/ 0 w 80"/>
                <a:gd name="T77" fmla="*/ 0 h 155"/>
                <a:gd name="T78" fmla="*/ 0 w 80"/>
                <a:gd name="T79" fmla="*/ 5 h 15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80"/>
                <a:gd name="T121" fmla="*/ 0 h 155"/>
                <a:gd name="T122" fmla="*/ 80 w 80"/>
                <a:gd name="T123" fmla="*/ 155 h 15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80" h="155">
                  <a:moveTo>
                    <a:pt x="0" y="5"/>
                  </a:moveTo>
                  <a:lnTo>
                    <a:pt x="0" y="5"/>
                  </a:lnTo>
                  <a:lnTo>
                    <a:pt x="10" y="5"/>
                  </a:lnTo>
                  <a:lnTo>
                    <a:pt x="20" y="5"/>
                  </a:lnTo>
                  <a:lnTo>
                    <a:pt x="30" y="10"/>
                  </a:lnTo>
                  <a:lnTo>
                    <a:pt x="35" y="20"/>
                  </a:lnTo>
                  <a:lnTo>
                    <a:pt x="45" y="25"/>
                  </a:lnTo>
                  <a:lnTo>
                    <a:pt x="50" y="35"/>
                  </a:lnTo>
                  <a:lnTo>
                    <a:pt x="55" y="45"/>
                  </a:lnTo>
                  <a:lnTo>
                    <a:pt x="60" y="60"/>
                  </a:lnTo>
                  <a:lnTo>
                    <a:pt x="60" y="70"/>
                  </a:lnTo>
                  <a:lnTo>
                    <a:pt x="65" y="85"/>
                  </a:lnTo>
                  <a:lnTo>
                    <a:pt x="65" y="100"/>
                  </a:lnTo>
                  <a:lnTo>
                    <a:pt x="70" y="110"/>
                  </a:lnTo>
                  <a:lnTo>
                    <a:pt x="70" y="125"/>
                  </a:lnTo>
                  <a:lnTo>
                    <a:pt x="75" y="135"/>
                  </a:lnTo>
                  <a:lnTo>
                    <a:pt x="75" y="145"/>
                  </a:lnTo>
                  <a:lnTo>
                    <a:pt x="75" y="155"/>
                  </a:lnTo>
                  <a:lnTo>
                    <a:pt x="80" y="150"/>
                  </a:lnTo>
                  <a:lnTo>
                    <a:pt x="80" y="145"/>
                  </a:lnTo>
                  <a:lnTo>
                    <a:pt x="80" y="135"/>
                  </a:lnTo>
                  <a:lnTo>
                    <a:pt x="75" y="120"/>
                  </a:lnTo>
                  <a:lnTo>
                    <a:pt x="75" y="110"/>
                  </a:lnTo>
                  <a:lnTo>
                    <a:pt x="75" y="95"/>
                  </a:lnTo>
                  <a:lnTo>
                    <a:pt x="70" y="85"/>
                  </a:lnTo>
                  <a:lnTo>
                    <a:pt x="70" y="70"/>
                  </a:lnTo>
                  <a:lnTo>
                    <a:pt x="65" y="55"/>
                  </a:lnTo>
                  <a:lnTo>
                    <a:pt x="60" y="45"/>
                  </a:lnTo>
                  <a:lnTo>
                    <a:pt x="55" y="35"/>
                  </a:lnTo>
                  <a:lnTo>
                    <a:pt x="45" y="20"/>
                  </a:lnTo>
                  <a:lnTo>
                    <a:pt x="40" y="15"/>
                  </a:lnTo>
                  <a:lnTo>
                    <a:pt x="30" y="5"/>
                  </a:lnTo>
                  <a:lnTo>
                    <a:pt x="20" y="0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733" y="240"/>
              <a:ext cx="35" cy="120"/>
            </a:xfrm>
            <a:custGeom>
              <a:avLst/>
              <a:gdLst>
                <a:gd name="T0" fmla="*/ 10 w 35"/>
                <a:gd name="T1" fmla="*/ 120 h 120"/>
                <a:gd name="T2" fmla="*/ 10 w 35"/>
                <a:gd name="T3" fmla="*/ 120 h 120"/>
                <a:gd name="T4" fmla="*/ 10 w 35"/>
                <a:gd name="T5" fmla="*/ 115 h 120"/>
                <a:gd name="T6" fmla="*/ 10 w 35"/>
                <a:gd name="T7" fmla="*/ 105 h 120"/>
                <a:gd name="T8" fmla="*/ 5 w 35"/>
                <a:gd name="T9" fmla="*/ 100 h 120"/>
                <a:gd name="T10" fmla="*/ 5 w 35"/>
                <a:gd name="T11" fmla="*/ 90 h 120"/>
                <a:gd name="T12" fmla="*/ 5 w 35"/>
                <a:gd name="T13" fmla="*/ 85 h 120"/>
                <a:gd name="T14" fmla="*/ 5 w 35"/>
                <a:gd name="T15" fmla="*/ 75 h 120"/>
                <a:gd name="T16" fmla="*/ 5 w 35"/>
                <a:gd name="T17" fmla="*/ 65 h 120"/>
                <a:gd name="T18" fmla="*/ 5 w 35"/>
                <a:gd name="T19" fmla="*/ 55 h 120"/>
                <a:gd name="T20" fmla="*/ 5 w 35"/>
                <a:gd name="T21" fmla="*/ 45 h 120"/>
                <a:gd name="T22" fmla="*/ 10 w 35"/>
                <a:gd name="T23" fmla="*/ 40 h 120"/>
                <a:gd name="T24" fmla="*/ 10 w 35"/>
                <a:gd name="T25" fmla="*/ 30 h 120"/>
                <a:gd name="T26" fmla="*/ 15 w 35"/>
                <a:gd name="T27" fmla="*/ 25 h 120"/>
                <a:gd name="T28" fmla="*/ 20 w 35"/>
                <a:gd name="T29" fmla="*/ 15 h 120"/>
                <a:gd name="T30" fmla="*/ 25 w 35"/>
                <a:gd name="T31" fmla="*/ 15 h 120"/>
                <a:gd name="T32" fmla="*/ 30 w 35"/>
                <a:gd name="T33" fmla="*/ 10 h 120"/>
                <a:gd name="T34" fmla="*/ 35 w 35"/>
                <a:gd name="T35" fmla="*/ 5 h 120"/>
                <a:gd name="T36" fmla="*/ 35 w 35"/>
                <a:gd name="T37" fmla="*/ 0 h 120"/>
                <a:gd name="T38" fmla="*/ 25 w 35"/>
                <a:gd name="T39" fmla="*/ 5 h 120"/>
                <a:gd name="T40" fmla="*/ 20 w 35"/>
                <a:gd name="T41" fmla="*/ 10 h 120"/>
                <a:gd name="T42" fmla="*/ 15 w 35"/>
                <a:gd name="T43" fmla="*/ 15 h 120"/>
                <a:gd name="T44" fmla="*/ 10 w 35"/>
                <a:gd name="T45" fmla="*/ 20 h 120"/>
                <a:gd name="T46" fmla="*/ 5 w 35"/>
                <a:gd name="T47" fmla="*/ 30 h 120"/>
                <a:gd name="T48" fmla="*/ 0 w 35"/>
                <a:gd name="T49" fmla="*/ 35 h 120"/>
                <a:gd name="T50" fmla="*/ 0 w 35"/>
                <a:gd name="T51" fmla="*/ 45 h 120"/>
                <a:gd name="T52" fmla="*/ 0 w 35"/>
                <a:gd name="T53" fmla="*/ 55 h 120"/>
                <a:gd name="T54" fmla="*/ 0 w 35"/>
                <a:gd name="T55" fmla="*/ 65 h 120"/>
                <a:gd name="T56" fmla="*/ 0 w 35"/>
                <a:gd name="T57" fmla="*/ 75 h 120"/>
                <a:gd name="T58" fmla="*/ 0 w 35"/>
                <a:gd name="T59" fmla="*/ 85 h 120"/>
                <a:gd name="T60" fmla="*/ 0 w 35"/>
                <a:gd name="T61" fmla="*/ 90 h 120"/>
                <a:gd name="T62" fmla="*/ 0 w 35"/>
                <a:gd name="T63" fmla="*/ 100 h 120"/>
                <a:gd name="T64" fmla="*/ 0 w 35"/>
                <a:gd name="T65" fmla="*/ 110 h 120"/>
                <a:gd name="T66" fmla="*/ 5 w 35"/>
                <a:gd name="T67" fmla="*/ 115 h 120"/>
                <a:gd name="T68" fmla="*/ 5 w 35"/>
                <a:gd name="T69" fmla="*/ 120 h 120"/>
                <a:gd name="T70" fmla="*/ 5 w 35"/>
                <a:gd name="T71" fmla="*/ 120 h 120"/>
                <a:gd name="T72" fmla="*/ 5 w 35"/>
                <a:gd name="T73" fmla="*/ 120 h 120"/>
                <a:gd name="T74" fmla="*/ 5 w 35"/>
                <a:gd name="T75" fmla="*/ 120 h 120"/>
                <a:gd name="T76" fmla="*/ 5 w 35"/>
                <a:gd name="T77" fmla="*/ 120 h 120"/>
                <a:gd name="T78" fmla="*/ 10 w 35"/>
                <a:gd name="T79" fmla="*/ 120 h 120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5"/>
                <a:gd name="T121" fmla="*/ 0 h 120"/>
                <a:gd name="T122" fmla="*/ 35 w 35"/>
                <a:gd name="T123" fmla="*/ 120 h 120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5" h="120">
                  <a:moveTo>
                    <a:pt x="10" y="120"/>
                  </a:moveTo>
                  <a:lnTo>
                    <a:pt x="10" y="120"/>
                  </a:lnTo>
                  <a:lnTo>
                    <a:pt x="10" y="115"/>
                  </a:lnTo>
                  <a:lnTo>
                    <a:pt x="10" y="105"/>
                  </a:lnTo>
                  <a:lnTo>
                    <a:pt x="5" y="100"/>
                  </a:lnTo>
                  <a:lnTo>
                    <a:pt x="5" y="90"/>
                  </a:lnTo>
                  <a:lnTo>
                    <a:pt x="5" y="85"/>
                  </a:lnTo>
                  <a:lnTo>
                    <a:pt x="5" y="75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5" y="45"/>
                  </a:lnTo>
                  <a:lnTo>
                    <a:pt x="10" y="40"/>
                  </a:lnTo>
                  <a:lnTo>
                    <a:pt x="10" y="30"/>
                  </a:lnTo>
                  <a:lnTo>
                    <a:pt x="15" y="25"/>
                  </a:lnTo>
                  <a:lnTo>
                    <a:pt x="20" y="15"/>
                  </a:lnTo>
                  <a:lnTo>
                    <a:pt x="25" y="15"/>
                  </a:lnTo>
                  <a:lnTo>
                    <a:pt x="30" y="10"/>
                  </a:lnTo>
                  <a:lnTo>
                    <a:pt x="35" y="5"/>
                  </a:lnTo>
                  <a:lnTo>
                    <a:pt x="35" y="0"/>
                  </a:lnTo>
                  <a:lnTo>
                    <a:pt x="25" y="5"/>
                  </a:lnTo>
                  <a:lnTo>
                    <a:pt x="20" y="10"/>
                  </a:lnTo>
                  <a:lnTo>
                    <a:pt x="15" y="15"/>
                  </a:lnTo>
                  <a:lnTo>
                    <a:pt x="10" y="20"/>
                  </a:lnTo>
                  <a:lnTo>
                    <a:pt x="5" y="30"/>
                  </a:lnTo>
                  <a:lnTo>
                    <a:pt x="0" y="35"/>
                  </a:lnTo>
                  <a:lnTo>
                    <a:pt x="0" y="45"/>
                  </a:lnTo>
                  <a:lnTo>
                    <a:pt x="0" y="55"/>
                  </a:lnTo>
                  <a:lnTo>
                    <a:pt x="0" y="65"/>
                  </a:lnTo>
                  <a:lnTo>
                    <a:pt x="0" y="75"/>
                  </a:lnTo>
                  <a:lnTo>
                    <a:pt x="0" y="85"/>
                  </a:lnTo>
                  <a:lnTo>
                    <a:pt x="0" y="90"/>
                  </a:lnTo>
                  <a:lnTo>
                    <a:pt x="0" y="100"/>
                  </a:lnTo>
                  <a:lnTo>
                    <a:pt x="0" y="110"/>
                  </a:lnTo>
                  <a:lnTo>
                    <a:pt x="5" y="115"/>
                  </a:lnTo>
                  <a:lnTo>
                    <a:pt x="5" y="120"/>
                  </a:lnTo>
                  <a:lnTo>
                    <a:pt x="10" y="12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738" y="360"/>
              <a:ext cx="15" cy="89"/>
            </a:xfrm>
            <a:custGeom>
              <a:avLst/>
              <a:gdLst>
                <a:gd name="T0" fmla="*/ 15 w 15"/>
                <a:gd name="T1" fmla="*/ 89 h 89"/>
                <a:gd name="T2" fmla="*/ 15 w 15"/>
                <a:gd name="T3" fmla="*/ 89 h 89"/>
                <a:gd name="T4" fmla="*/ 15 w 15"/>
                <a:gd name="T5" fmla="*/ 75 h 89"/>
                <a:gd name="T6" fmla="*/ 15 w 15"/>
                <a:gd name="T7" fmla="*/ 65 h 89"/>
                <a:gd name="T8" fmla="*/ 15 w 15"/>
                <a:gd name="T9" fmla="*/ 55 h 89"/>
                <a:gd name="T10" fmla="*/ 15 w 15"/>
                <a:gd name="T11" fmla="*/ 45 h 89"/>
                <a:gd name="T12" fmla="*/ 15 w 15"/>
                <a:gd name="T13" fmla="*/ 35 h 89"/>
                <a:gd name="T14" fmla="*/ 15 w 15"/>
                <a:gd name="T15" fmla="*/ 20 h 89"/>
                <a:gd name="T16" fmla="*/ 10 w 15"/>
                <a:gd name="T17" fmla="*/ 10 h 89"/>
                <a:gd name="T18" fmla="*/ 5 w 15"/>
                <a:gd name="T19" fmla="*/ 0 h 89"/>
                <a:gd name="T20" fmla="*/ 0 w 15"/>
                <a:gd name="T21" fmla="*/ 0 h 89"/>
                <a:gd name="T22" fmla="*/ 5 w 15"/>
                <a:gd name="T23" fmla="*/ 15 h 89"/>
                <a:gd name="T24" fmla="*/ 5 w 15"/>
                <a:gd name="T25" fmla="*/ 25 h 89"/>
                <a:gd name="T26" fmla="*/ 10 w 15"/>
                <a:gd name="T27" fmla="*/ 35 h 89"/>
                <a:gd name="T28" fmla="*/ 10 w 15"/>
                <a:gd name="T29" fmla="*/ 45 h 89"/>
                <a:gd name="T30" fmla="*/ 10 w 15"/>
                <a:gd name="T31" fmla="*/ 55 h 89"/>
                <a:gd name="T32" fmla="*/ 10 w 15"/>
                <a:gd name="T33" fmla="*/ 65 h 89"/>
                <a:gd name="T34" fmla="*/ 10 w 15"/>
                <a:gd name="T35" fmla="*/ 75 h 89"/>
                <a:gd name="T36" fmla="*/ 10 w 15"/>
                <a:gd name="T37" fmla="*/ 89 h 89"/>
                <a:gd name="T38" fmla="*/ 10 w 15"/>
                <a:gd name="T39" fmla="*/ 89 h 89"/>
                <a:gd name="T40" fmla="*/ 10 w 15"/>
                <a:gd name="T41" fmla="*/ 89 h 89"/>
                <a:gd name="T42" fmla="*/ 10 w 15"/>
                <a:gd name="T43" fmla="*/ 89 h 89"/>
                <a:gd name="T44" fmla="*/ 10 w 15"/>
                <a:gd name="T45" fmla="*/ 89 h 89"/>
                <a:gd name="T46" fmla="*/ 15 w 15"/>
                <a:gd name="T47" fmla="*/ 89 h 8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5"/>
                <a:gd name="T73" fmla="*/ 0 h 89"/>
                <a:gd name="T74" fmla="*/ 15 w 15"/>
                <a:gd name="T75" fmla="*/ 89 h 89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5" h="89">
                  <a:moveTo>
                    <a:pt x="15" y="89"/>
                  </a:moveTo>
                  <a:lnTo>
                    <a:pt x="15" y="89"/>
                  </a:lnTo>
                  <a:lnTo>
                    <a:pt x="15" y="75"/>
                  </a:lnTo>
                  <a:lnTo>
                    <a:pt x="15" y="65"/>
                  </a:lnTo>
                  <a:lnTo>
                    <a:pt x="15" y="55"/>
                  </a:lnTo>
                  <a:lnTo>
                    <a:pt x="15" y="45"/>
                  </a:lnTo>
                  <a:lnTo>
                    <a:pt x="15" y="35"/>
                  </a:lnTo>
                  <a:lnTo>
                    <a:pt x="15" y="20"/>
                  </a:lnTo>
                  <a:lnTo>
                    <a:pt x="10" y="10"/>
                  </a:lnTo>
                  <a:lnTo>
                    <a:pt x="5" y="0"/>
                  </a:lnTo>
                  <a:lnTo>
                    <a:pt x="0" y="0"/>
                  </a:lnTo>
                  <a:lnTo>
                    <a:pt x="5" y="15"/>
                  </a:lnTo>
                  <a:lnTo>
                    <a:pt x="5" y="25"/>
                  </a:lnTo>
                  <a:lnTo>
                    <a:pt x="10" y="35"/>
                  </a:lnTo>
                  <a:lnTo>
                    <a:pt x="10" y="45"/>
                  </a:lnTo>
                  <a:lnTo>
                    <a:pt x="10" y="55"/>
                  </a:lnTo>
                  <a:lnTo>
                    <a:pt x="10" y="65"/>
                  </a:lnTo>
                  <a:lnTo>
                    <a:pt x="10" y="75"/>
                  </a:lnTo>
                  <a:lnTo>
                    <a:pt x="10" y="89"/>
                  </a:lnTo>
                  <a:lnTo>
                    <a:pt x="15" y="8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748" y="449"/>
              <a:ext cx="10" cy="50"/>
            </a:xfrm>
            <a:custGeom>
              <a:avLst/>
              <a:gdLst>
                <a:gd name="T0" fmla="*/ 10 w 10"/>
                <a:gd name="T1" fmla="*/ 50 h 50"/>
                <a:gd name="T2" fmla="*/ 10 w 10"/>
                <a:gd name="T3" fmla="*/ 50 h 50"/>
                <a:gd name="T4" fmla="*/ 10 w 10"/>
                <a:gd name="T5" fmla="*/ 45 h 50"/>
                <a:gd name="T6" fmla="*/ 10 w 10"/>
                <a:gd name="T7" fmla="*/ 35 h 50"/>
                <a:gd name="T8" fmla="*/ 5 w 10"/>
                <a:gd name="T9" fmla="*/ 30 h 50"/>
                <a:gd name="T10" fmla="*/ 5 w 10"/>
                <a:gd name="T11" fmla="*/ 25 h 50"/>
                <a:gd name="T12" fmla="*/ 5 w 10"/>
                <a:gd name="T13" fmla="*/ 20 h 50"/>
                <a:gd name="T14" fmla="*/ 5 w 10"/>
                <a:gd name="T15" fmla="*/ 15 h 50"/>
                <a:gd name="T16" fmla="*/ 5 w 10"/>
                <a:gd name="T17" fmla="*/ 5 h 50"/>
                <a:gd name="T18" fmla="*/ 5 w 10"/>
                <a:gd name="T19" fmla="*/ 0 h 50"/>
                <a:gd name="T20" fmla="*/ 0 w 10"/>
                <a:gd name="T21" fmla="*/ 0 h 50"/>
                <a:gd name="T22" fmla="*/ 0 w 10"/>
                <a:gd name="T23" fmla="*/ 5 h 50"/>
                <a:gd name="T24" fmla="*/ 0 w 10"/>
                <a:gd name="T25" fmla="*/ 15 h 50"/>
                <a:gd name="T26" fmla="*/ 0 w 10"/>
                <a:gd name="T27" fmla="*/ 20 h 50"/>
                <a:gd name="T28" fmla="*/ 0 w 10"/>
                <a:gd name="T29" fmla="*/ 25 h 50"/>
                <a:gd name="T30" fmla="*/ 0 w 10"/>
                <a:gd name="T31" fmla="*/ 30 h 50"/>
                <a:gd name="T32" fmla="*/ 0 w 10"/>
                <a:gd name="T33" fmla="*/ 40 h 50"/>
                <a:gd name="T34" fmla="*/ 5 w 10"/>
                <a:gd name="T35" fmla="*/ 45 h 50"/>
                <a:gd name="T36" fmla="*/ 5 w 10"/>
                <a:gd name="T37" fmla="*/ 50 h 50"/>
                <a:gd name="T38" fmla="*/ 5 w 10"/>
                <a:gd name="T39" fmla="*/ 50 h 50"/>
                <a:gd name="T40" fmla="*/ 5 w 10"/>
                <a:gd name="T41" fmla="*/ 50 h 50"/>
                <a:gd name="T42" fmla="*/ 5 w 10"/>
                <a:gd name="T43" fmla="*/ 50 h 50"/>
                <a:gd name="T44" fmla="*/ 5 w 10"/>
                <a:gd name="T45" fmla="*/ 50 h 50"/>
                <a:gd name="T46" fmla="*/ 10 w 10"/>
                <a:gd name="T47" fmla="*/ 50 h 50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"/>
                <a:gd name="T73" fmla="*/ 0 h 50"/>
                <a:gd name="T74" fmla="*/ 10 w 10"/>
                <a:gd name="T75" fmla="*/ 50 h 50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" h="50">
                  <a:moveTo>
                    <a:pt x="10" y="50"/>
                  </a:moveTo>
                  <a:lnTo>
                    <a:pt x="10" y="50"/>
                  </a:lnTo>
                  <a:lnTo>
                    <a:pt x="10" y="45"/>
                  </a:lnTo>
                  <a:lnTo>
                    <a:pt x="10" y="35"/>
                  </a:lnTo>
                  <a:lnTo>
                    <a:pt x="5" y="30"/>
                  </a:lnTo>
                  <a:lnTo>
                    <a:pt x="5" y="25"/>
                  </a:lnTo>
                  <a:lnTo>
                    <a:pt x="5" y="20"/>
                  </a:lnTo>
                  <a:lnTo>
                    <a:pt x="5" y="15"/>
                  </a:lnTo>
                  <a:lnTo>
                    <a:pt x="5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5"/>
                  </a:lnTo>
                  <a:lnTo>
                    <a:pt x="0" y="20"/>
                  </a:lnTo>
                  <a:lnTo>
                    <a:pt x="0" y="25"/>
                  </a:lnTo>
                  <a:lnTo>
                    <a:pt x="0" y="30"/>
                  </a:lnTo>
                  <a:lnTo>
                    <a:pt x="0" y="40"/>
                  </a:lnTo>
                  <a:lnTo>
                    <a:pt x="5" y="45"/>
                  </a:lnTo>
                  <a:lnTo>
                    <a:pt x="5" y="50"/>
                  </a:lnTo>
                  <a:lnTo>
                    <a:pt x="10" y="5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5748" y="499"/>
              <a:ext cx="10" cy="85"/>
            </a:xfrm>
            <a:custGeom>
              <a:avLst/>
              <a:gdLst>
                <a:gd name="T0" fmla="*/ 0 w 10"/>
                <a:gd name="T1" fmla="*/ 85 h 85"/>
                <a:gd name="T2" fmla="*/ 5 w 10"/>
                <a:gd name="T3" fmla="*/ 85 h 85"/>
                <a:gd name="T4" fmla="*/ 5 w 10"/>
                <a:gd name="T5" fmla="*/ 75 h 85"/>
                <a:gd name="T6" fmla="*/ 10 w 10"/>
                <a:gd name="T7" fmla="*/ 60 h 85"/>
                <a:gd name="T8" fmla="*/ 10 w 10"/>
                <a:gd name="T9" fmla="*/ 50 h 85"/>
                <a:gd name="T10" fmla="*/ 10 w 10"/>
                <a:gd name="T11" fmla="*/ 40 h 85"/>
                <a:gd name="T12" fmla="*/ 10 w 10"/>
                <a:gd name="T13" fmla="*/ 30 h 85"/>
                <a:gd name="T14" fmla="*/ 10 w 10"/>
                <a:gd name="T15" fmla="*/ 20 h 85"/>
                <a:gd name="T16" fmla="*/ 10 w 10"/>
                <a:gd name="T17" fmla="*/ 10 h 85"/>
                <a:gd name="T18" fmla="*/ 10 w 10"/>
                <a:gd name="T19" fmla="*/ 0 h 85"/>
                <a:gd name="T20" fmla="*/ 5 w 10"/>
                <a:gd name="T21" fmla="*/ 0 h 85"/>
                <a:gd name="T22" fmla="*/ 5 w 10"/>
                <a:gd name="T23" fmla="*/ 10 h 85"/>
                <a:gd name="T24" fmla="*/ 5 w 10"/>
                <a:gd name="T25" fmla="*/ 20 h 85"/>
                <a:gd name="T26" fmla="*/ 5 w 10"/>
                <a:gd name="T27" fmla="*/ 30 h 85"/>
                <a:gd name="T28" fmla="*/ 5 w 10"/>
                <a:gd name="T29" fmla="*/ 40 h 85"/>
                <a:gd name="T30" fmla="*/ 5 w 10"/>
                <a:gd name="T31" fmla="*/ 50 h 85"/>
                <a:gd name="T32" fmla="*/ 0 w 10"/>
                <a:gd name="T33" fmla="*/ 60 h 85"/>
                <a:gd name="T34" fmla="*/ 0 w 10"/>
                <a:gd name="T35" fmla="*/ 70 h 85"/>
                <a:gd name="T36" fmla="*/ 0 w 10"/>
                <a:gd name="T37" fmla="*/ 85 h 85"/>
                <a:gd name="T38" fmla="*/ 5 w 10"/>
                <a:gd name="T39" fmla="*/ 80 h 85"/>
                <a:gd name="T40" fmla="*/ 0 w 10"/>
                <a:gd name="T41" fmla="*/ 85 h 85"/>
                <a:gd name="T42" fmla="*/ 5 w 10"/>
                <a:gd name="T43" fmla="*/ 85 h 85"/>
                <a:gd name="T44" fmla="*/ 5 w 10"/>
                <a:gd name="T45" fmla="*/ 85 h 85"/>
                <a:gd name="T46" fmla="*/ 0 w 10"/>
                <a:gd name="T47" fmla="*/ 85 h 8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10"/>
                <a:gd name="T73" fmla="*/ 0 h 85"/>
                <a:gd name="T74" fmla="*/ 10 w 10"/>
                <a:gd name="T75" fmla="*/ 85 h 85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10" h="85">
                  <a:moveTo>
                    <a:pt x="0" y="85"/>
                  </a:moveTo>
                  <a:lnTo>
                    <a:pt x="5" y="85"/>
                  </a:lnTo>
                  <a:lnTo>
                    <a:pt x="5" y="75"/>
                  </a:lnTo>
                  <a:lnTo>
                    <a:pt x="10" y="60"/>
                  </a:lnTo>
                  <a:lnTo>
                    <a:pt x="10" y="50"/>
                  </a:lnTo>
                  <a:lnTo>
                    <a:pt x="10" y="40"/>
                  </a:lnTo>
                  <a:lnTo>
                    <a:pt x="10" y="30"/>
                  </a:lnTo>
                  <a:lnTo>
                    <a:pt x="10" y="20"/>
                  </a:lnTo>
                  <a:lnTo>
                    <a:pt x="10" y="1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5" y="10"/>
                  </a:lnTo>
                  <a:lnTo>
                    <a:pt x="5" y="20"/>
                  </a:lnTo>
                  <a:lnTo>
                    <a:pt x="5" y="30"/>
                  </a:lnTo>
                  <a:lnTo>
                    <a:pt x="5" y="40"/>
                  </a:lnTo>
                  <a:lnTo>
                    <a:pt x="5" y="50"/>
                  </a:lnTo>
                  <a:lnTo>
                    <a:pt x="0" y="60"/>
                  </a:lnTo>
                  <a:lnTo>
                    <a:pt x="0" y="70"/>
                  </a:lnTo>
                  <a:lnTo>
                    <a:pt x="0" y="85"/>
                  </a:lnTo>
                  <a:lnTo>
                    <a:pt x="5" y="80"/>
                  </a:lnTo>
                  <a:lnTo>
                    <a:pt x="0" y="85"/>
                  </a:lnTo>
                  <a:lnTo>
                    <a:pt x="5" y="85"/>
                  </a:lnTo>
                  <a:lnTo>
                    <a:pt x="0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643" y="519"/>
              <a:ext cx="110" cy="65"/>
            </a:xfrm>
            <a:custGeom>
              <a:avLst/>
              <a:gdLst>
                <a:gd name="T0" fmla="*/ 0 w 110"/>
                <a:gd name="T1" fmla="*/ 5 h 65"/>
                <a:gd name="T2" fmla="*/ 0 w 110"/>
                <a:gd name="T3" fmla="*/ 5 h 65"/>
                <a:gd name="T4" fmla="*/ 5 w 110"/>
                <a:gd name="T5" fmla="*/ 10 h 65"/>
                <a:gd name="T6" fmla="*/ 15 w 110"/>
                <a:gd name="T7" fmla="*/ 10 h 65"/>
                <a:gd name="T8" fmla="*/ 20 w 110"/>
                <a:gd name="T9" fmla="*/ 15 h 65"/>
                <a:gd name="T10" fmla="*/ 25 w 110"/>
                <a:gd name="T11" fmla="*/ 20 h 65"/>
                <a:gd name="T12" fmla="*/ 35 w 110"/>
                <a:gd name="T13" fmla="*/ 20 h 65"/>
                <a:gd name="T14" fmla="*/ 40 w 110"/>
                <a:gd name="T15" fmla="*/ 25 h 65"/>
                <a:gd name="T16" fmla="*/ 45 w 110"/>
                <a:gd name="T17" fmla="*/ 30 h 65"/>
                <a:gd name="T18" fmla="*/ 55 w 110"/>
                <a:gd name="T19" fmla="*/ 35 h 65"/>
                <a:gd name="T20" fmla="*/ 60 w 110"/>
                <a:gd name="T21" fmla="*/ 40 h 65"/>
                <a:gd name="T22" fmla="*/ 65 w 110"/>
                <a:gd name="T23" fmla="*/ 40 h 65"/>
                <a:gd name="T24" fmla="*/ 75 w 110"/>
                <a:gd name="T25" fmla="*/ 45 h 65"/>
                <a:gd name="T26" fmla="*/ 80 w 110"/>
                <a:gd name="T27" fmla="*/ 50 h 65"/>
                <a:gd name="T28" fmla="*/ 85 w 110"/>
                <a:gd name="T29" fmla="*/ 55 h 65"/>
                <a:gd name="T30" fmla="*/ 95 w 110"/>
                <a:gd name="T31" fmla="*/ 55 h 65"/>
                <a:gd name="T32" fmla="*/ 100 w 110"/>
                <a:gd name="T33" fmla="*/ 60 h 65"/>
                <a:gd name="T34" fmla="*/ 105 w 110"/>
                <a:gd name="T35" fmla="*/ 65 h 65"/>
                <a:gd name="T36" fmla="*/ 110 w 110"/>
                <a:gd name="T37" fmla="*/ 60 h 65"/>
                <a:gd name="T38" fmla="*/ 105 w 110"/>
                <a:gd name="T39" fmla="*/ 55 h 65"/>
                <a:gd name="T40" fmla="*/ 95 w 110"/>
                <a:gd name="T41" fmla="*/ 50 h 65"/>
                <a:gd name="T42" fmla="*/ 90 w 110"/>
                <a:gd name="T43" fmla="*/ 50 h 65"/>
                <a:gd name="T44" fmla="*/ 85 w 110"/>
                <a:gd name="T45" fmla="*/ 45 h 65"/>
                <a:gd name="T46" fmla="*/ 75 w 110"/>
                <a:gd name="T47" fmla="*/ 40 h 65"/>
                <a:gd name="T48" fmla="*/ 70 w 110"/>
                <a:gd name="T49" fmla="*/ 35 h 65"/>
                <a:gd name="T50" fmla="*/ 65 w 110"/>
                <a:gd name="T51" fmla="*/ 35 h 65"/>
                <a:gd name="T52" fmla="*/ 55 w 110"/>
                <a:gd name="T53" fmla="*/ 30 h 65"/>
                <a:gd name="T54" fmla="*/ 50 w 110"/>
                <a:gd name="T55" fmla="*/ 25 h 65"/>
                <a:gd name="T56" fmla="*/ 45 w 110"/>
                <a:gd name="T57" fmla="*/ 20 h 65"/>
                <a:gd name="T58" fmla="*/ 35 w 110"/>
                <a:gd name="T59" fmla="*/ 20 h 65"/>
                <a:gd name="T60" fmla="*/ 30 w 110"/>
                <a:gd name="T61" fmla="*/ 15 h 65"/>
                <a:gd name="T62" fmla="*/ 25 w 110"/>
                <a:gd name="T63" fmla="*/ 10 h 65"/>
                <a:gd name="T64" fmla="*/ 15 w 110"/>
                <a:gd name="T65" fmla="*/ 5 h 65"/>
                <a:gd name="T66" fmla="*/ 10 w 110"/>
                <a:gd name="T67" fmla="*/ 5 h 65"/>
                <a:gd name="T68" fmla="*/ 5 w 110"/>
                <a:gd name="T69" fmla="*/ 0 h 65"/>
                <a:gd name="T70" fmla="*/ 5 w 110"/>
                <a:gd name="T71" fmla="*/ 0 h 65"/>
                <a:gd name="T72" fmla="*/ 5 w 110"/>
                <a:gd name="T73" fmla="*/ 0 h 65"/>
                <a:gd name="T74" fmla="*/ 5 w 110"/>
                <a:gd name="T75" fmla="*/ 0 h 65"/>
                <a:gd name="T76" fmla="*/ 5 w 110"/>
                <a:gd name="T77" fmla="*/ 0 h 65"/>
                <a:gd name="T78" fmla="*/ 0 w 110"/>
                <a:gd name="T79" fmla="*/ 5 h 6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10"/>
                <a:gd name="T121" fmla="*/ 0 h 65"/>
                <a:gd name="T122" fmla="*/ 110 w 110"/>
                <a:gd name="T123" fmla="*/ 65 h 6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10" h="65">
                  <a:moveTo>
                    <a:pt x="0" y="5"/>
                  </a:moveTo>
                  <a:lnTo>
                    <a:pt x="0" y="5"/>
                  </a:lnTo>
                  <a:lnTo>
                    <a:pt x="5" y="10"/>
                  </a:lnTo>
                  <a:lnTo>
                    <a:pt x="15" y="10"/>
                  </a:lnTo>
                  <a:lnTo>
                    <a:pt x="20" y="15"/>
                  </a:lnTo>
                  <a:lnTo>
                    <a:pt x="25" y="20"/>
                  </a:lnTo>
                  <a:lnTo>
                    <a:pt x="35" y="20"/>
                  </a:lnTo>
                  <a:lnTo>
                    <a:pt x="40" y="25"/>
                  </a:lnTo>
                  <a:lnTo>
                    <a:pt x="45" y="30"/>
                  </a:lnTo>
                  <a:lnTo>
                    <a:pt x="55" y="35"/>
                  </a:lnTo>
                  <a:lnTo>
                    <a:pt x="60" y="40"/>
                  </a:lnTo>
                  <a:lnTo>
                    <a:pt x="65" y="40"/>
                  </a:lnTo>
                  <a:lnTo>
                    <a:pt x="75" y="45"/>
                  </a:lnTo>
                  <a:lnTo>
                    <a:pt x="80" y="50"/>
                  </a:lnTo>
                  <a:lnTo>
                    <a:pt x="85" y="55"/>
                  </a:lnTo>
                  <a:lnTo>
                    <a:pt x="95" y="55"/>
                  </a:lnTo>
                  <a:lnTo>
                    <a:pt x="100" y="60"/>
                  </a:lnTo>
                  <a:lnTo>
                    <a:pt x="105" y="65"/>
                  </a:lnTo>
                  <a:lnTo>
                    <a:pt x="110" y="60"/>
                  </a:lnTo>
                  <a:lnTo>
                    <a:pt x="105" y="55"/>
                  </a:lnTo>
                  <a:lnTo>
                    <a:pt x="95" y="50"/>
                  </a:lnTo>
                  <a:lnTo>
                    <a:pt x="90" y="50"/>
                  </a:lnTo>
                  <a:lnTo>
                    <a:pt x="85" y="45"/>
                  </a:lnTo>
                  <a:lnTo>
                    <a:pt x="75" y="40"/>
                  </a:lnTo>
                  <a:lnTo>
                    <a:pt x="70" y="35"/>
                  </a:lnTo>
                  <a:lnTo>
                    <a:pt x="65" y="35"/>
                  </a:lnTo>
                  <a:lnTo>
                    <a:pt x="55" y="30"/>
                  </a:lnTo>
                  <a:lnTo>
                    <a:pt x="50" y="25"/>
                  </a:lnTo>
                  <a:lnTo>
                    <a:pt x="45" y="20"/>
                  </a:lnTo>
                  <a:lnTo>
                    <a:pt x="35" y="20"/>
                  </a:lnTo>
                  <a:lnTo>
                    <a:pt x="30" y="15"/>
                  </a:lnTo>
                  <a:lnTo>
                    <a:pt x="25" y="10"/>
                  </a:lnTo>
                  <a:lnTo>
                    <a:pt x="15" y="5"/>
                  </a:lnTo>
                  <a:lnTo>
                    <a:pt x="10" y="5"/>
                  </a:lnTo>
                  <a:lnTo>
                    <a:pt x="5" y="0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5559" y="514"/>
              <a:ext cx="89" cy="85"/>
            </a:xfrm>
            <a:custGeom>
              <a:avLst/>
              <a:gdLst>
                <a:gd name="T0" fmla="*/ 5 w 89"/>
                <a:gd name="T1" fmla="*/ 85 h 85"/>
                <a:gd name="T2" fmla="*/ 5 w 89"/>
                <a:gd name="T3" fmla="*/ 85 h 85"/>
                <a:gd name="T4" fmla="*/ 5 w 89"/>
                <a:gd name="T5" fmla="*/ 75 h 85"/>
                <a:gd name="T6" fmla="*/ 5 w 89"/>
                <a:gd name="T7" fmla="*/ 65 h 85"/>
                <a:gd name="T8" fmla="*/ 5 w 89"/>
                <a:gd name="T9" fmla="*/ 55 h 85"/>
                <a:gd name="T10" fmla="*/ 10 w 89"/>
                <a:gd name="T11" fmla="*/ 50 h 85"/>
                <a:gd name="T12" fmla="*/ 10 w 89"/>
                <a:gd name="T13" fmla="*/ 40 h 85"/>
                <a:gd name="T14" fmla="*/ 14 w 89"/>
                <a:gd name="T15" fmla="*/ 35 h 85"/>
                <a:gd name="T16" fmla="*/ 19 w 89"/>
                <a:gd name="T17" fmla="*/ 25 h 85"/>
                <a:gd name="T18" fmla="*/ 24 w 89"/>
                <a:gd name="T19" fmla="*/ 20 h 85"/>
                <a:gd name="T20" fmla="*/ 29 w 89"/>
                <a:gd name="T21" fmla="*/ 15 h 85"/>
                <a:gd name="T22" fmla="*/ 34 w 89"/>
                <a:gd name="T23" fmla="*/ 10 h 85"/>
                <a:gd name="T24" fmla="*/ 44 w 89"/>
                <a:gd name="T25" fmla="*/ 10 h 85"/>
                <a:gd name="T26" fmla="*/ 49 w 89"/>
                <a:gd name="T27" fmla="*/ 5 h 85"/>
                <a:gd name="T28" fmla="*/ 59 w 89"/>
                <a:gd name="T29" fmla="*/ 5 h 85"/>
                <a:gd name="T30" fmla="*/ 69 w 89"/>
                <a:gd name="T31" fmla="*/ 5 h 85"/>
                <a:gd name="T32" fmla="*/ 74 w 89"/>
                <a:gd name="T33" fmla="*/ 10 h 85"/>
                <a:gd name="T34" fmla="*/ 84 w 89"/>
                <a:gd name="T35" fmla="*/ 10 h 85"/>
                <a:gd name="T36" fmla="*/ 89 w 89"/>
                <a:gd name="T37" fmla="*/ 5 h 85"/>
                <a:gd name="T38" fmla="*/ 79 w 89"/>
                <a:gd name="T39" fmla="*/ 0 h 85"/>
                <a:gd name="T40" fmla="*/ 69 w 89"/>
                <a:gd name="T41" fmla="*/ 0 h 85"/>
                <a:gd name="T42" fmla="*/ 59 w 89"/>
                <a:gd name="T43" fmla="*/ 0 h 85"/>
                <a:gd name="T44" fmla="*/ 49 w 89"/>
                <a:gd name="T45" fmla="*/ 0 h 85"/>
                <a:gd name="T46" fmla="*/ 39 w 89"/>
                <a:gd name="T47" fmla="*/ 5 h 85"/>
                <a:gd name="T48" fmla="*/ 34 w 89"/>
                <a:gd name="T49" fmla="*/ 5 h 85"/>
                <a:gd name="T50" fmla="*/ 24 w 89"/>
                <a:gd name="T51" fmla="*/ 10 h 85"/>
                <a:gd name="T52" fmla="*/ 19 w 89"/>
                <a:gd name="T53" fmla="*/ 15 h 85"/>
                <a:gd name="T54" fmla="*/ 14 w 89"/>
                <a:gd name="T55" fmla="*/ 25 h 85"/>
                <a:gd name="T56" fmla="*/ 10 w 89"/>
                <a:gd name="T57" fmla="*/ 30 h 85"/>
                <a:gd name="T58" fmla="*/ 5 w 89"/>
                <a:gd name="T59" fmla="*/ 40 h 85"/>
                <a:gd name="T60" fmla="*/ 5 w 89"/>
                <a:gd name="T61" fmla="*/ 45 h 85"/>
                <a:gd name="T62" fmla="*/ 0 w 89"/>
                <a:gd name="T63" fmla="*/ 55 h 85"/>
                <a:gd name="T64" fmla="*/ 0 w 89"/>
                <a:gd name="T65" fmla="*/ 65 h 85"/>
                <a:gd name="T66" fmla="*/ 0 w 89"/>
                <a:gd name="T67" fmla="*/ 75 h 85"/>
                <a:gd name="T68" fmla="*/ 0 w 89"/>
                <a:gd name="T69" fmla="*/ 85 h 85"/>
                <a:gd name="T70" fmla="*/ 5 w 89"/>
                <a:gd name="T71" fmla="*/ 80 h 85"/>
                <a:gd name="T72" fmla="*/ 5 w 89"/>
                <a:gd name="T73" fmla="*/ 85 h 85"/>
                <a:gd name="T74" fmla="*/ 5 w 89"/>
                <a:gd name="T75" fmla="*/ 85 h 85"/>
                <a:gd name="T76" fmla="*/ 5 w 89"/>
                <a:gd name="T77" fmla="*/ 85 h 85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89"/>
                <a:gd name="T118" fmla="*/ 0 h 85"/>
                <a:gd name="T119" fmla="*/ 89 w 89"/>
                <a:gd name="T120" fmla="*/ 85 h 85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89" h="85">
                  <a:moveTo>
                    <a:pt x="5" y="85"/>
                  </a:moveTo>
                  <a:lnTo>
                    <a:pt x="5" y="85"/>
                  </a:lnTo>
                  <a:lnTo>
                    <a:pt x="5" y="75"/>
                  </a:lnTo>
                  <a:lnTo>
                    <a:pt x="5" y="65"/>
                  </a:lnTo>
                  <a:lnTo>
                    <a:pt x="5" y="55"/>
                  </a:lnTo>
                  <a:lnTo>
                    <a:pt x="10" y="50"/>
                  </a:lnTo>
                  <a:lnTo>
                    <a:pt x="10" y="40"/>
                  </a:lnTo>
                  <a:lnTo>
                    <a:pt x="14" y="35"/>
                  </a:lnTo>
                  <a:lnTo>
                    <a:pt x="19" y="25"/>
                  </a:lnTo>
                  <a:lnTo>
                    <a:pt x="24" y="20"/>
                  </a:lnTo>
                  <a:lnTo>
                    <a:pt x="29" y="15"/>
                  </a:lnTo>
                  <a:lnTo>
                    <a:pt x="34" y="10"/>
                  </a:lnTo>
                  <a:lnTo>
                    <a:pt x="44" y="10"/>
                  </a:lnTo>
                  <a:lnTo>
                    <a:pt x="49" y="5"/>
                  </a:lnTo>
                  <a:lnTo>
                    <a:pt x="59" y="5"/>
                  </a:lnTo>
                  <a:lnTo>
                    <a:pt x="69" y="5"/>
                  </a:lnTo>
                  <a:lnTo>
                    <a:pt x="74" y="10"/>
                  </a:lnTo>
                  <a:lnTo>
                    <a:pt x="84" y="10"/>
                  </a:lnTo>
                  <a:lnTo>
                    <a:pt x="89" y="5"/>
                  </a:lnTo>
                  <a:lnTo>
                    <a:pt x="79" y="0"/>
                  </a:lnTo>
                  <a:lnTo>
                    <a:pt x="69" y="0"/>
                  </a:lnTo>
                  <a:lnTo>
                    <a:pt x="59" y="0"/>
                  </a:lnTo>
                  <a:lnTo>
                    <a:pt x="49" y="0"/>
                  </a:lnTo>
                  <a:lnTo>
                    <a:pt x="39" y="5"/>
                  </a:lnTo>
                  <a:lnTo>
                    <a:pt x="34" y="5"/>
                  </a:lnTo>
                  <a:lnTo>
                    <a:pt x="24" y="10"/>
                  </a:lnTo>
                  <a:lnTo>
                    <a:pt x="19" y="15"/>
                  </a:lnTo>
                  <a:lnTo>
                    <a:pt x="14" y="25"/>
                  </a:lnTo>
                  <a:lnTo>
                    <a:pt x="10" y="30"/>
                  </a:lnTo>
                  <a:lnTo>
                    <a:pt x="5" y="40"/>
                  </a:lnTo>
                  <a:lnTo>
                    <a:pt x="5" y="45"/>
                  </a:lnTo>
                  <a:lnTo>
                    <a:pt x="0" y="55"/>
                  </a:lnTo>
                  <a:lnTo>
                    <a:pt x="0" y="65"/>
                  </a:lnTo>
                  <a:lnTo>
                    <a:pt x="0" y="75"/>
                  </a:lnTo>
                  <a:lnTo>
                    <a:pt x="0" y="85"/>
                  </a:lnTo>
                  <a:lnTo>
                    <a:pt x="5" y="80"/>
                  </a:lnTo>
                  <a:lnTo>
                    <a:pt x="5" y="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534" y="594"/>
              <a:ext cx="30" cy="10"/>
            </a:xfrm>
            <a:custGeom>
              <a:avLst/>
              <a:gdLst>
                <a:gd name="T0" fmla="*/ 0 w 30"/>
                <a:gd name="T1" fmla="*/ 10 h 10"/>
                <a:gd name="T2" fmla="*/ 0 w 30"/>
                <a:gd name="T3" fmla="*/ 10 h 10"/>
                <a:gd name="T4" fmla="*/ 5 w 30"/>
                <a:gd name="T5" fmla="*/ 10 h 10"/>
                <a:gd name="T6" fmla="*/ 5 w 30"/>
                <a:gd name="T7" fmla="*/ 10 h 10"/>
                <a:gd name="T8" fmla="*/ 10 w 30"/>
                <a:gd name="T9" fmla="*/ 10 h 10"/>
                <a:gd name="T10" fmla="*/ 15 w 30"/>
                <a:gd name="T11" fmla="*/ 5 h 10"/>
                <a:gd name="T12" fmla="*/ 20 w 30"/>
                <a:gd name="T13" fmla="*/ 5 h 10"/>
                <a:gd name="T14" fmla="*/ 20 w 30"/>
                <a:gd name="T15" fmla="*/ 5 h 10"/>
                <a:gd name="T16" fmla="*/ 25 w 30"/>
                <a:gd name="T17" fmla="*/ 5 h 10"/>
                <a:gd name="T18" fmla="*/ 30 w 30"/>
                <a:gd name="T19" fmla="*/ 5 h 10"/>
                <a:gd name="T20" fmla="*/ 30 w 30"/>
                <a:gd name="T21" fmla="*/ 0 h 10"/>
                <a:gd name="T22" fmla="*/ 25 w 30"/>
                <a:gd name="T23" fmla="*/ 0 h 10"/>
                <a:gd name="T24" fmla="*/ 20 w 30"/>
                <a:gd name="T25" fmla="*/ 0 h 10"/>
                <a:gd name="T26" fmla="*/ 20 w 30"/>
                <a:gd name="T27" fmla="*/ 0 h 10"/>
                <a:gd name="T28" fmla="*/ 15 w 30"/>
                <a:gd name="T29" fmla="*/ 0 h 10"/>
                <a:gd name="T30" fmla="*/ 10 w 30"/>
                <a:gd name="T31" fmla="*/ 0 h 10"/>
                <a:gd name="T32" fmla="*/ 5 w 30"/>
                <a:gd name="T33" fmla="*/ 0 h 10"/>
                <a:gd name="T34" fmla="*/ 0 w 30"/>
                <a:gd name="T35" fmla="*/ 5 h 10"/>
                <a:gd name="T36" fmla="*/ 0 w 30"/>
                <a:gd name="T37" fmla="*/ 5 h 10"/>
                <a:gd name="T38" fmla="*/ 0 w 30"/>
                <a:gd name="T39" fmla="*/ 5 h 10"/>
                <a:gd name="T40" fmla="*/ 0 w 30"/>
                <a:gd name="T41" fmla="*/ 10 h 10"/>
                <a:gd name="T42" fmla="*/ 0 w 30"/>
                <a:gd name="T43" fmla="*/ 10 h 10"/>
                <a:gd name="T44" fmla="*/ 0 w 30"/>
                <a:gd name="T45" fmla="*/ 10 h 1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30"/>
                <a:gd name="T70" fmla="*/ 0 h 10"/>
                <a:gd name="T71" fmla="*/ 30 w 30"/>
                <a:gd name="T72" fmla="*/ 10 h 10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30" h="10">
                  <a:moveTo>
                    <a:pt x="0" y="10"/>
                  </a:moveTo>
                  <a:lnTo>
                    <a:pt x="0" y="10"/>
                  </a:lnTo>
                  <a:lnTo>
                    <a:pt x="5" y="10"/>
                  </a:lnTo>
                  <a:lnTo>
                    <a:pt x="10" y="10"/>
                  </a:lnTo>
                  <a:lnTo>
                    <a:pt x="15" y="5"/>
                  </a:lnTo>
                  <a:lnTo>
                    <a:pt x="20" y="5"/>
                  </a:lnTo>
                  <a:lnTo>
                    <a:pt x="25" y="5"/>
                  </a:lnTo>
                  <a:lnTo>
                    <a:pt x="30" y="5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5" y="0"/>
                  </a:lnTo>
                  <a:lnTo>
                    <a:pt x="10" y="0"/>
                  </a:lnTo>
                  <a:lnTo>
                    <a:pt x="5" y="0"/>
                  </a:lnTo>
                  <a:lnTo>
                    <a:pt x="0" y="5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484" y="599"/>
              <a:ext cx="50" cy="115"/>
            </a:xfrm>
            <a:custGeom>
              <a:avLst/>
              <a:gdLst>
                <a:gd name="T0" fmla="*/ 5 w 50"/>
                <a:gd name="T1" fmla="*/ 115 h 115"/>
                <a:gd name="T2" fmla="*/ 10 w 50"/>
                <a:gd name="T3" fmla="*/ 110 h 115"/>
                <a:gd name="T4" fmla="*/ 10 w 50"/>
                <a:gd name="T5" fmla="*/ 105 h 115"/>
                <a:gd name="T6" fmla="*/ 10 w 50"/>
                <a:gd name="T7" fmla="*/ 100 h 115"/>
                <a:gd name="T8" fmla="*/ 10 w 50"/>
                <a:gd name="T9" fmla="*/ 90 h 115"/>
                <a:gd name="T10" fmla="*/ 10 w 50"/>
                <a:gd name="T11" fmla="*/ 85 h 115"/>
                <a:gd name="T12" fmla="*/ 10 w 50"/>
                <a:gd name="T13" fmla="*/ 75 h 115"/>
                <a:gd name="T14" fmla="*/ 15 w 50"/>
                <a:gd name="T15" fmla="*/ 65 h 115"/>
                <a:gd name="T16" fmla="*/ 15 w 50"/>
                <a:gd name="T17" fmla="*/ 60 h 115"/>
                <a:gd name="T18" fmla="*/ 15 w 50"/>
                <a:gd name="T19" fmla="*/ 50 h 115"/>
                <a:gd name="T20" fmla="*/ 20 w 50"/>
                <a:gd name="T21" fmla="*/ 40 h 115"/>
                <a:gd name="T22" fmla="*/ 25 w 50"/>
                <a:gd name="T23" fmla="*/ 35 h 115"/>
                <a:gd name="T24" fmla="*/ 25 w 50"/>
                <a:gd name="T25" fmla="*/ 25 h 115"/>
                <a:gd name="T26" fmla="*/ 30 w 50"/>
                <a:gd name="T27" fmla="*/ 20 h 115"/>
                <a:gd name="T28" fmla="*/ 35 w 50"/>
                <a:gd name="T29" fmla="*/ 15 h 115"/>
                <a:gd name="T30" fmla="*/ 40 w 50"/>
                <a:gd name="T31" fmla="*/ 10 h 115"/>
                <a:gd name="T32" fmla="*/ 45 w 50"/>
                <a:gd name="T33" fmla="*/ 5 h 115"/>
                <a:gd name="T34" fmla="*/ 50 w 50"/>
                <a:gd name="T35" fmla="*/ 5 h 115"/>
                <a:gd name="T36" fmla="*/ 50 w 50"/>
                <a:gd name="T37" fmla="*/ 0 h 115"/>
                <a:gd name="T38" fmla="*/ 40 w 50"/>
                <a:gd name="T39" fmla="*/ 0 h 115"/>
                <a:gd name="T40" fmla="*/ 35 w 50"/>
                <a:gd name="T41" fmla="*/ 5 h 115"/>
                <a:gd name="T42" fmla="*/ 30 w 50"/>
                <a:gd name="T43" fmla="*/ 10 h 115"/>
                <a:gd name="T44" fmla="*/ 25 w 50"/>
                <a:gd name="T45" fmla="*/ 15 h 115"/>
                <a:gd name="T46" fmla="*/ 20 w 50"/>
                <a:gd name="T47" fmla="*/ 25 h 115"/>
                <a:gd name="T48" fmla="*/ 15 w 50"/>
                <a:gd name="T49" fmla="*/ 30 h 115"/>
                <a:gd name="T50" fmla="*/ 15 w 50"/>
                <a:gd name="T51" fmla="*/ 40 h 115"/>
                <a:gd name="T52" fmla="*/ 10 w 50"/>
                <a:gd name="T53" fmla="*/ 45 h 115"/>
                <a:gd name="T54" fmla="*/ 10 w 50"/>
                <a:gd name="T55" fmla="*/ 55 h 115"/>
                <a:gd name="T56" fmla="*/ 5 w 50"/>
                <a:gd name="T57" fmla="*/ 65 h 115"/>
                <a:gd name="T58" fmla="*/ 5 w 50"/>
                <a:gd name="T59" fmla="*/ 75 h 115"/>
                <a:gd name="T60" fmla="*/ 5 w 50"/>
                <a:gd name="T61" fmla="*/ 80 h 115"/>
                <a:gd name="T62" fmla="*/ 5 w 50"/>
                <a:gd name="T63" fmla="*/ 90 h 115"/>
                <a:gd name="T64" fmla="*/ 0 w 50"/>
                <a:gd name="T65" fmla="*/ 100 h 115"/>
                <a:gd name="T66" fmla="*/ 0 w 50"/>
                <a:gd name="T67" fmla="*/ 105 h 115"/>
                <a:gd name="T68" fmla="*/ 0 w 50"/>
                <a:gd name="T69" fmla="*/ 110 h 115"/>
                <a:gd name="T70" fmla="*/ 5 w 50"/>
                <a:gd name="T71" fmla="*/ 110 h 115"/>
                <a:gd name="T72" fmla="*/ 5 w 50"/>
                <a:gd name="T73" fmla="*/ 115 h 115"/>
                <a:gd name="T74" fmla="*/ 10 w 50"/>
                <a:gd name="T75" fmla="*/ 115 h 115"/>
                <a:gd name="T76" fmla="*/ 10 w 50"/>
                <a:gd name="T77" fmla="*/ 110 h 115"/>
                <a:gd name="T78" fmla="*/ 5 w 50"/>
                <a:gd name="T79" fmla="*/ 115 h 11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50"/>
                <a:gd name="T121" fmla="*/ 0 h 115"/>
                <a:gd name="T122" fmla="*/ 50 w 50"/>
                <a:gd name="T123" fmla="*/ 115 h 11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50" h="115">
                  <a:moveTo>
                    <a:pt x="5" y="115"/>
                  </a:moveTo>
                  <a:lnTo>
                    <a:pt x="10" y="110"/>
                  </a:lnTo>
                  <a:lnTo>
                    <a:pt x="10" y="105"/>
                  </a:lnTo>
                  <a:lnTo>
                    <a:pt x="10" y="100"/>
                  </a:lnTo>
                  <a:lnTo>
                    <a:pt x="10" y="90"/>
                  </a:lnTo>
                  <a:lnTo>
                    <a:pt x="10" y="85"/>
                  </a:lnTo>
                  <a:lnTo>
                    <a:pt x="10" y="7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0"/>
                  </a:lnTo>
                  <a:lnTo>
                    <a:pt x="20" y="40"/>
                  </a:lnTo>
                  <a:lnTo>
                    <a:pt x="25" y="35"/>
                  </a:lnTo>
                  <a:lnTo>
                    <a:pt x="25" y="25"/>
                  </a:lnTo>
                  <a:lnTo>
                    <a:pt x="30" y="20"/>
                  </a:lnTo>
                  <a:lnTo>
                    <a:pt x="35" y="15"/>
                  </a:lnTo>
                  <a:lnTo>
                    <a:pt x="40" y="10"/>
                  </a:lnTo>
                  <a:lnTo>
                    <a:pt x="45" y="5"/>
                  </a:lnTo>
                  <a:lnTo>
                    <a:pt x="50" y="5"/>
                  </a:lnTo>
                  <a:lnTo>
                    <a:pt x="50" y="0"/>
                  </a:lnTo>
                  <a:lnTo>
                    <a:pt x="40" y="0"/>
                  </a:lnTo>
                  <a:lnTo>
                    <a:pt x="35" y="5"/>
                  </a:lnTo>
                  <a:lnTo>
                    <a:pt x="30" y="10"/>
                  </a:lnTo>
                  <a:lnTo>
                    <a:pt x="25" y="15"/>
                  </a:lnTo>
                  <a:lnTo>
                    <a:pt x="20" y="25"/>
                  </a:lnTo>
                  <a:lnTo>
                    <a:pt x="15" y="30"/>
                  </a:lnTo>
                  <a:lnTo>
                    <a:pt x="15" y="40"/>
                  </a:lnTo>
                  <a:lnTo>
                    <a:pt x="10" y="45"/>
                  </a:lnTo>
                  <a:lnTo>
                    <a:pt x="10" y="55"/>
                  </a:lnTo>
                  <a:lnTo>
                    <a:pt x="5" y="65"/>
                  </a:lnTo>
                  <a:lnTo>
                    <a:pt x="5" y="75"/>
                  </a:lnTo>
                  <a:lnTo>
                    <a:pt x="5" y="80"/>
                  </a:lnTo>
                  <a:lnTo>
                    <a:pt x="5" y="90"/>
                  </a:lnTo>
                  <a:lnTo>
                    <a:pt x="0" y="100"/>
                  </a:lnTo>
                  <a:lnTo>
                    <a:pt x="0" y="105"/>
                  </a:lnTo>
                  <a:lnTo>
                    <a:pt x="0" y="110"/>
                  </a:lnTo>
                  <a:lnTo>
                    <a:pt x="5" y="110"/>
                  </a:lnTo>
                  <a:lnTo>
                    <a:pt x="5" y="115"/>
                  </a:lnTo>
                  <a:lnTo>
                    <a:pt x="10" y="115"/>
                  </a:lnTo>
                  <a:lnTo>
                    <a:pt x="10" y="110"/>
                  </a:lnTo>
                  <a:lnTo>
                    <a:pt x="5" y="11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5424" y="704"/>
              <a:ext cx="65" cy="95"/>
            </a:xfrm>
            <a:custGeom>
              <a:avLst/>
              <a:gdLst>
                <a:gd name="T0" fmla="*/ 10 w 65"/>
                <a:gd name="T1" fmla="*/ 95 h 95"/>
                <a:gd name="T2" fmla="*/ 10 w 65"/>
                <a:gd name="T3" fmla="*/ 95 h 95"/>
                <a:gd name="T4" fmla="*/ 10 w 65"/>
                <a:gd name="T5" fmla="*/ 85 h 95"/>
                <a:gd name="T6" fmla="*/ 5 w 65"/>
                <a:gd name="T7" fmla="*/ 80 h 95"/>
                <a:gd name="T8" fmla="*/ 5 w 65"/>
                <a:gd name="T9" fmla="*/ 70 h 95"/>
                <a:gd name="T10" fmla="*/ 5 w 65"/>
                <a:gd name="T11" fmla="*/ 60 h 95"/>
                <a:gd name="T12" fmla="*/ 5 w 65"/>
                <a:gd name="T13" fmla="*/ 55 h 95"/>
                <a:gd name="T14" fmla="*/ 10 w 65"/>
                <a:gd name="T15" fmla="*/ 45 h 95"/>
                <a:gd name="T16" fmla="*/ 10 w 65"/>
                <a:gd name="T17" fmla="*/ 35 h 95"/>
                <a:gd name="T18" fmla="*/ 15 w 65"/>
                <a:gd name="T19" fmla="*/ 30 h 95"/>
                <a:gd name="T20" fmla="*/ 15 w 65"/>
                <a:gd name="T21" fmla="*/ 25 h 95"/>
                <a:gd name="T22" fmla="*/ 20 w 65"/>
                <a:gd name="T23" fmla="*/ 15 h 95"/>
                <a:gd name="T24" fmla="*/ 25 w 65"/>
                <a:gd name="T25" fmla="*/ 10 h 95"/>
                <a:gd name="T26" fmla="*/ 30 w 65"/>
                <a:gd name="T27" fmla="*/ 10 h 95"/>
                <a:gd name="T28" fmla="*/ 40 w 65"/>
                <a:gd name="T29" fmla="*/ 5 h 95"/>
                <a:gd name="T30" fmla="*/ 45 w 65"/>
                <a:gd name="T31" fmla="*/ 5 h 95"/>
                <a:gd name="T32" fmla="*/ 55 w 65"/>
                <a:gd name="T33" fmla="*/ 5 h 95"/>
                <a:gd name="T34" fmla="*/ 65 w 65"/>
                <a:gd name="T35" fmla="*/ 10 h 95"/>
                <a:gd name="T36" fmla="*/ 65 w 65"/>
                <a:gd name="T37" fmla="*/ 5 h 95"/>
                <a:gd name="T38" fmla="*/ 55 w 65"/>
                <a:gd name="T39" fmla="*/ 0 h 95"/>
                <a:gd name="T40" fmla="*/ 45 w 65"/>
                <a:gd name="T41" fmla="*/ 0 h 95"/>
                <a:gd name="T42" fmla="*/ 35 w 65"/>
                <a:gd name="T43" fmla="*/ 0 h 95"/>
                <a:gd name="T44" fmla="*/ 30 w 65"/>
                <a:gd name="T45" fmla="*/ 5 h 95"/>
                <a:gd name="T46" fmla="*/ 25 w 65"/>
                <a:gd name="T47" fmla="*/ 5 h 95"/>
                <a:gd name="T48" fmla="*/ 15 w 65"/>
                <a:gd name="T49" fmla="*/ 15 h 95"/>
                <a:gd name="T50" fmla="*/ 10 w 65"/>
                <a:gd name="T51" fmla="*/ 20 h 95"/>
                <a:gd name="T52" fmla="*/ 10 w 65"/>
                <a:gd name="T53" fmla="*/ 25 h 95"/>
                <a:gd name="T54" fmla="*/ 5 w 65"/>
                <a:gd name="T55" fmla="*/ 35 h 95"/>
                <a:gd name="T56" fmla="*/ 0 w 65"/>
                <a:gd name="T57" fmla="*/ 45 h 95"/>
                <a:gd name="T58" fmla="*/ 0 w 65"/>
                <a:gd name="T59" fmla="*/ 50 h 95"/>
                <a:gd name="T60" fmla="*/ 0 w 65"/>
                <a:gd name="T61" fmla="*/ 60 h 95"/>
                <a:gd name="T62" fmla="*/ 0 w 65"/>
                <a:gd name="T63" fmla="*/ 70 h 95"/>
                <a:gd name="T64" fmla="*/ 0 w 65"/>
                <a:gd name="T65" fmla="*/ 80 h 95"/>
                <a:gd name="T66" fmla="*/ 0 w 65"/>
                <a:gd name="T67" fmla="*/ 90 h 95"/>
                <a:gd name="T68" fmla="*/ 5 w 65"/>
                <a:gd name="T69" fmla="*/ 95 h 95"/>
                <a:gd name="T70" fmla="*/ 5 w 65"/>
                <a:gd name="T71" fmla="*/ 95 h 95"/>
                <a:gd name="T72" fmla="*/ 5 w 65"/>
                <a:gd name="T73" fmla="*/ 95 h 95"/>
                <a:gd name="T74" fmla="*/ 5 w 65"/>
                <a:gd name="T75" fmla="*/ 95 h 95"/>
                <a:gd name="T76" fmla="*/ 5 w 65"/>
                <a:gd name="T77" fmla="*/ 95 h 95"/>
                <a:gd name="T78" fmla="*/ 10 w 65"/>
                <a:gd name="T79" fmla="*/ 95 h 9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65"/>
                <a:gd name="T121" fmla="*/ 0 h 95"/>
                <a:gd name="T122" fmla="*/ 65 w 65"/>
                <a:gd name="T123" fmla="*/ 95 h 9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65" h="95">
                  <a:moveTo>
                    <a:pt x="10" y="95"/>
                  </a:moveTo>
                  <a:lnTo>
                    <a:pt x="10" y="95"/>
                  </a:lnTo>
                  <a:lnTo>
                    <a:pt x="10" y="85"/>
                  </a:lnTo>
                  <a:lnTo>
                    <a:pt x="5" y="80"/>
                  </a:lnTo>
                  <a:lnTo>
                    <a:pt x="5" y="70"/>
                  </a:lnTo>
                  <a:lnTo>
                    <a:pt x="5" y="60"/>
                  </a:lnTo>
                  <a:lnTo>
                    <a:pt x="5" y="55"/>
                  </a:lnTo>
                  <a:lnTo>
                    <a:pt x="10" y="45"/>
                  </a:lnTo>
                  <a:lnTo>
                    <a:pt x="10" y="35"/>
                  </a:lnTo>
                  <a:lnTo>
                    <a:pt x="15" y="30"/>
                  </a:lnTo>
                  <a:lnTo>
                    <a:pt x="15" y="25"/>
                  </a:lnTo>
                  <a:lnTo>
                    <a:pt x="20" y="15"/>
                  </a:lnTo>
                  <a:lnTo>
                    <a:pt x="25" y="10"/>
                  </a:lnTo>
                  <a:lnTo>
                    <a:pt x="30" y="10"/>
                  </a:lnTo>
                  <a:lnTo>
                    <a:pt x="40" y="5"/>
                  </a:lnTo>
                  <a:lnTo>
                    <a:pt x="45" y="5"/>
                  </a:lnTo>
                  <a:lnTo>
                    <a:pt x="55" y="5"/>
                  </a:lnTo>
                  <a:lnTo>
                    <a:pt x="65" y="10"/>
                  </a:lnTo>
                  <a:lnTo>
                    <a:pt x="65" y="5"/>
                  </a:lnTo>
                  <a:lnTo>
                    <a:pt x="55" y="0"/>
                  </a:lnTo>
                  <a:lnTo>
                    <a:pt x="45" y="0"/>
                  </a:lnTo>
                  <a:lnTo>
                    <a:pt x="35" y="0"/>
                  </a:lnTo>
                  <a:lnTo>
                    <a:pt x="30" y="5"/>
                  </a:lnTo>
                  <a:lnTo>
                    <a:pt x="25" y="5"/>
                  </a:lnTo>
                  <a:lnTo>
                    <a:pt x="15" y="15"/>
                  </a:lnTo>
                  <a:lnTo>
                    <a:pt x="10" y="20"/>
                  </a:lnTo>
                  <a:lnTo>
                    <a:pt x="10" y="25"/>
                  </a:lnTo>
                  <a:lnTo>
                    <a:pt x="5" y="35"/>
                  </a:lnTo>
                  <a:lnTo>
                    <a:pt x="0" y="45"/>
                  </a:lnTo>
                  <a:lnTo>
                    <a:pt x="0" y="50"/>
                  </a:lnTo>
                  <a:lnTo>
                    <a:pt x="0" y="60"/>
                  </a:lnTo>
                  <a:lnTo>
                    <a:pt x="0" y="70"/>
                  </a:lnTo>
                  <a:lnTo>
                    <a:pt x="0" y="80"/>
                  </a:lnTo>
                  <a:lnTo>
                    <a:pt x="0" y="90"/>
                  </a:lnTo>
                  <a:lnTo>
                    <a:pt x="5" y="95"/>
                  </a:lnTo>
                  <a:lnTo>
                    <a:pt x="10" y="9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429" y="799"/>
              <a:ext cx="25" cy="34"/>
            </a:xfrm>
            <a:custGeom>
              <a:avLst/>
              <a:gdLst>
                <a:gd name="T0" fmla="*/ 25 w 25"/>
                <a:gd name="T1" fmla="*/ 34 h 34"/>
                <a:gd name="T2" fmla="*/ 25 w 25"/>
                <a:gd name="T3" fmla="*/ 34 h 34"/>
                <a:gd name="T4" fmla="*/ 20 w 25"/>
                <a:gd name="T5" fmla="*/ 29 h 34"/>
                <a:gd name="T6" fmla="*/ 20 w 25"/>
                <a:gd name="T7" fmla="*/ 25 h 34"/>
                <a:gd name="T8" fmla="*/ 15 w 25"/>
                <a:gd name="T9" fmla="*/ 20 h 34"/>
                <a:gd name="T10" fmla="*/ 15 w 25"/>
                <a:gd name="T11" fmla="*/ 15 h 34"/>
                <a:gd name="T12" fmla="*/ 10 w 25"/>
                <a:gd name="T13" fmla="*/ 15 h 34"/>
                <a:gd name="T14" fmla="*/ 10 w 25"/>
                <a:gd name="T15" fmla="*/ 10 h 34"/>
                <a:gd name="T16" fmla="*/ 5 w 25"/>
                <a:gd name="T17" fmla="*/ 5 h 34"/>
                <a:gd name="T18" fmla="*/ 5 w 25"/>
                <a:gd name="T19" fmla="*/ 0 h 34"/>
                <a:gd name="T20" fmla="*/ 0 w 25"/>
                <a:gd name="T21" fmla="*/ 0 h 34"/>
                <a:gd name="T22" fmla="*/ 0 w 25"/>
                <a:gd name="T23" fmla="*/ 5 h 34"/>
                <a:gd name="T24" fmla="*/ 5 w 25"/>
                <a:gd name="T25" fmla="*/ 10 h 34"/>
                <a:gd name="T26" fmla="*/ 5 w 25"/>
                <a:gd name="T27" fmla="*/ 15 h 34"/>
                <a:gd name="T28" fmla="*/ 10 w 25"/>
                <a:gd name="T29" fmla="*/ 20 h 34"/>
                <a:gd name="T30" fmla="*/ 10 w 25"/>
                <a:gd name="T31" fmla="*/ 25 h 34"/>
                <a:gd name="T32" fmla="*/ 15 w 25"/>
                <a:gd name="T33" fmla="*/ 29 h 34"/>
                <a:gd name="T34" fmla="*/ 15 w 25"/>
                <a:gd name="T35" fmla="*/ 34 h 34"/>
                <a:gd name="T36" fmla="*/ 20 w 25"/>
                <a:gd name="T37" fmla="*/ 34 h 34"/>
                <a:gd name="T38" fmla="*/ 20 w 25"/>
                <a:gd name="T39" fmla="*/ 34 h 34"/>
                <a:gd name="T40" fmla="*/ 25 w 25"/>
                <a:gd name="T41" fmla="*/ 34 h 34"/>
                <a:gd name="T42" fmla="*/ 25 w 25"/>
                <a:gd name="T43" fmla="*/ 34 h 34"/>
                <a:gd name="T44" fmla="*/ 25 w 25"/>
                <a:gd name="T45" fmla="*/ 34 h 3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25"/>
                <a:gd name="T70" fmla="*/ 0 h 34"/>
                <a:gd name="T71" fmla="*/ 25 w 25"/>
                <a:gd name="T72" fmla="*/ 34 h 3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25" h="34">
                  <a:moveTo>
                    <a:pt x="25" y="34"/>
                  </a:moveTo>
                  <a:lnTo>
                    <a:pt x="25" y="34"/>
                  </a:lnTo>
                  <a:lnTo>
                    <a:pt x="20" y="29"/>
                  </a:lnTo>
                  <a:lnTo>
                    <a:pt x="20" y="25"/>
                  </a:lnTo>
                  <a:lnTo>
                    <a:pt x="15" y="20"/>
                  </a:lnTo>
                  <a:lnTo>
                    <a:pt x="15" y="15"/>
                  </a:lnTo>
                  <a:lnTo>
                    <a:pt x="10" y="15"/>
                  </a:lnTo>
                  <a:lnTo>
                    <a:pt x="10" y="10"/>
                  </a:lnTo>
                  <a:lnTo>
                    <a:pt x="5" y="5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10" y="20"/>
                  </a:lnTo>
                  <a:lnTo>
                    <a:pt x="10" y="25"/>
                  </a:lnTo>
                  <a:lnTo>
                    <a:pt x="15" y="29"/>
                  </a:lnTo>
                  <a:lnTo>
                    <a:pt x="15" y="34"/>
                  </a:lnTo>
                  <a:lnTo>
                    <a:pt x="20" y="34"/>
                  </a:lnTo>
                  <a:lnTo>
                    <a:pt x="25" y="3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5449" y="833"/>
              <a:ext cx="35" cy="185"/>
            </a:xfrm>
            <a:custGeom>
              <a:avLst/>
              <a:gdLst>
                <a:gd name="T0" fmla="*/ 35 w 35"/>
                <a:gd name="T1" fmla="*/ 180 h 185"/>
                <a:gd name="T2" fmla="*/ 35 w 35"/>
                <a:gd name="T3" fmla="*/ 180 h 185"/>
                <a:gd name="T4" fmla="*/ 30 w 35"/>
                <a:gd name="T5" fmla="*/ 170 h 185"/>
                <a:gd name="T6" fmla="*/ 25 w 35"/>
                <a:gd name="T7" fmla="*/ 160 h 185"/>
                <a:gd name="T8" fmla="*/ 20 w 35"/>
                <a:gd name="T9" fmla="*/ 150 h 185"/>
                <a:gd name="T10" fmla="*/ 20 w 35"/>
                <a:gd name="T11" fmla="*/ 135 h 185"/>
                <a:gd name="T12" fmla="*/ 15 w 35"/>
                <a:gd name="T13" fmla="*/ 125 h 185"/>
                <a:gd name="T14" fmla="*/ 15 w 35"/>
                <a:gd name="T15" fmla="*/ 115 h 185"/>
                <a:gd name="T16" fmla="*/ 15 w 35"/>
                <a:gd name="T17" fmla="*/ 105 h 185"/>
                <a:gd name="T18" fmla="*/ 10 w 35"/>
                <a:gd name="T19" fmla="*/ 95 h 185"/>
                <a:gd name="T20" fmla="*/ 10 w 35"/>
                <a:gd name="T21" fmla="*/ 80 h 185"/>
                <a:gd name="T22" fmla="*/ 10 w 35"/>
                <a:gd name="T23" fmla="*/ 70 h 185"/>
                <a:gd name="T24" fmla="*/ 10 w 35"/>
                <a:gd name="T25" fmla="*/ 60 h 185"/>
                <a:gd name="T26" fmla="*/ 10 w 35"/>
                <a:gd name="T27" fmla="*/ 50 h 185"/>
                <a:gd name="T28" fmla="*/ 5 w 35"/>
                <a:gd name="T29" fmla="*/ 35 h 185"/>
                <a:gd name="T30" fmla="*/ 5 w 35"/>
                <a:gd name="T31" fmla="*/ 25 h 185"/>
                <a:gd name="T32" fmla="*/ 5 w 35"/>
                <a:gd name="T33" fmla="*/ 10 h 185"/>
                <a:gd name="T34" fmla="*/ 5 w 35"/>
                <a:gd name="T35" fmla="*/ 0 h 185"/>
                <a:gd name="T36" fmla="*/ 0 w 35"/>
                <a:gd name="T37" fmla="*/ 0 h 185"/>
                <a:gd name="T38" fmla="*/ 0 w 35"/>
                <a:gd name="T39" fmla="*/ 10 h 185"/>
                <a:gd name="T40" fmla="*/ 0 w 35"/>
                <a:gd name="T41" fmla="*/ 25 h 185"/>
                <a:gd name="T42" fmla="*/ 0 w 35"/>
                <a:gd name="T43" fmla="*/ 35 h 185"/>
                <a:gd name="T44" fmla="*/ 0 w 35"/>
                <a:gd name="T45" fmla="*/ 50 h 185"/>
                <a:gd name="T46" fmla="*/ 5 w 35"/>
                <a:gd name="T47" fmla="*/ 60 h 185"/>
                <a:gd name="T48" fmla="*/ 5 w 35"/>
                <a:gd name="T49" fmla="*/ 70 h 185"/>
                <a:gd name="T50" fmla="*/ 5 w 35"/>
                <a:gd name="T51" fmla="*/ 80 h 185"/>
                <a:gd name="T52" fmla="*/ 5 w 35"/>
                <a:gd name="T53" fmla="*/ 95 h 185"/>
                <a:gd name="T54" fmla="*/ 5 w 35"/>
                <a:gd name="T55" fmla="*/ 105 h 185"/>
                <a:gd name="T56" fmla="*/ 10 w 35"/>
                <a:gd name="T57" fmla="*/ 115 h 185"/>
                <a:gd name="T58" fmla="*/ 10 w 35"/>
                <a:gd name="T59" fmla="*/ 125 h 185"/>
                <a:gd name="T60" fmla="*/ 15 w 35"/>
                <a:gd name="T61" fmla="*/ 140 h 185"/>
                <a:gd name="T62" fmla="*/ 15 w 35"/>
                <a:gd name="T63" fmla="*/ 150 h 185"/>
                <a:gd name="T64" fmla="*/ 20 w 35"/>
                <a:gd name="T65" fmla="*/ 160 h 185"/>
                <a:gd name="T66" fmla="*/ 25 w 35"/>
                <a:gd name="T67" fmla="*/ 170 h 185"/>
                <a:gd name="T68" fmla="*/ 30 w 35"/>
                <a:gd name="T69" fmla="*/ 185 h 185"/>
                <a:gd name="T70" fmla="*/ 30 w 35"/>
                <a:gd name="T71" fmla="*/ 185 h 185"/>
                <a:gd name="T72" fmla="*/ 30 w 35"/>
                <a:gd name="T73" fmla="*/ 185 h 185"/>
                <a:gd name="T74" fmla="*/ 30 w 35"/>
                <a:gd name="T75" fmla="*/ 185 h 185"/>
                <a:gd name="T76" fmla="*/ 30 w 35"/>
                <a:gd name="T77" fmla="*/ 185 h 185"/>
                <a:gd name="T78" fmla="*/ 35 w 35"/>
                <a:gd name="T79" fmla="*/ 180 h 18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35"/>
                <a:gd name="T121" fmla="*/ 0 h 185"/>
                <a:gd name="T122" fmla="*/ 35 w 35"/>
                <a:gd name="T123" fmla="*/ 185 h 18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35" h="185">
                  <a:moveTo>
                    <a:pt x="35" y="180"/>
                  </a:moveTo>
                  <a:lnTo>
                    <a:pt x="35" y="180"/>
                  </a:lnTo>
                  <a:lnTo>
                    <a:pt x="30" y="170"/>
                  </a:lnTo>
                  <a:lnTo>
                    <a:pt x="25" y="160"/>
                  </a:lnTo>
                  <a:lnTo>
                    <a:pt x="20" y="150"/>
                  </a:lnTo>
                  <a:lnTo>
                    <a:pt x="20" y="135"/>
                  </a:lnTo>
                  <a:lnTo>
                    <a:pt x="15" y="125"/>
                  </a:lnTo>
                  <a:lnTo>
                    <a:pt x="15" y="115"/>
                  </a:lnTo>
                  <a:lnTo>
                    <a:pt x="15" y="105"/>
                  </a:lnTo>
                  <a:lnTo>
                    <a:pt x="10" y="95"/>
                  </a:lnTo>
                  <a:lnTo>
                    <a:pt x="10" y="80"/>
                  </a:lnTo>
                  <a:lnTo>
                    <a:pt x="10" y="70"/>
                  </a:lnTo>
                  <a:lnTo>
                    <a:pt x="10" y="60"/>
                  </a:lnTo>
                  <a:lnTo>
                    <a:pt x="10" y="50"/>
                  </a:lnTo>
                  <a:lnTo>
                    <a:pt x="5" y="35"/>
                  </a:lnTo>
                  <a:lnTo>
                    <a:pt x="5" y="25"/>
                  </a:lnTo>
                  <a:lnTo>
                    <a:pt x="5" y="1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25"/>
                  </a:lnTo>
                  <a:lnTo>
                    <a:pt x="0" y="35"/>
                  </a:lnTo>
                  <a:lnTo>
                    <a:pt x="0" y="50"/>
                  </a:lnTo>
                  <a:lnTo>
                    <a:pt x="5" y="60"/>
                  </a:lnTo>
                  <a:lnTo>
                    <a:pt x="5" y="70"/>
                  </a:lnTo>
                  <a:lnTo>
                    <a:pt x="5" y="80"/>
                  </a:lnTo>
                  <a:lnTo>
                    <a:pt x="5" y="95"/>
                  </a:lnTo>
                  <a:lnTo>
                    <a:pt x="5" y="105"/>
                  </a:lnTo>
                  <a:lnTo>
                    <a:pt x="10" y="115"/>
                  </a:lnTo>
                  <a:lnTo>
                    <a:pt x="10" y="125"/>
                  </a:lnTo>
                  <a:lnTo>
                    <a:pt x="15" y="140"/>
                  </a:lnTo>
                  <a:lnTo>
                    <a:pt x="15" y="150"/>
                  </a:lnTo>
                  <a:lnTo>
                    <a:pt x="20" y="160"/>
                  </a:lnTo>
                  <a:lnTo>
                    <a:pt x="25" y="170"/>
                  </a:lnTo>
                  <a:lnTo>
                    <a:pt x="30" y="185"/>
                  </a:lnTo>
                  <a:lnTo>
                    <a:pt x="35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5479" y="1013"/>
              <a:ext cx="134" cy="185"/>
            </a:xfrm>
            <a:custGeom>
              <a:avLst/>
              <a:gdLst>
                <a:gd name="T0" fmla="*/ 134 w 134"/>
                <a:gd name="T1" fmla="*/ 180 h 185"/>
                <a:gd name="T2" fmla="*/ 134 w 134"/>
                <a:gd name="T3" fmla="*/ 180 h 185"/>
                <a:gd name="T4" fmla="*/ 124 w 134"/>
                <a:gd name="T5" fmla="*/ 170 h 185"/>
                <a:gd name="T6" fmla="*/ 119 w 134"/>
                <a:gd name="T7" fmla="*/ 155 h 185"/>
                <a:gd name="T8" fmla="*/ 109 w 134"/>
                <a:gd name="T9" fmla="*/ 145 h 185"/>
                <a:gd name="T10" fmla="*/ 104 w 134"/>
                <a:gd name="T11" fmla="*/ 135 h 185"/>
                <a:gd name="T12" fmla="*/ 94 w 134"/>
                <a:gd name="T13" fmla="*/ 120 h 185"/>
                <a:gd name="T14" fmla="*/ 85 w 134"/>
                <a:gd name="T15" fmla="*/ 110 h 185"/>
                <a:gd name="T16" fmla="*/ 80 w 134"/>
                <a:gd name="T17" fmla="*/ 100 h 185"/>
                <a:gd name="T18" fmla="*/ 70 w 134"/>
                <a:gd name="T19" fmla="*/ 90 h 185"/>
                <a:gd name="T20" fmla="*/ 60 w 134"/>
                <a:gd name="T21" fmla="*/ 80 h 185"/>
                <a:gd name="T22" fmla="*/ 50 w 134"/>
                <a:gd name="T23" fmla="*/ 70 h 185"/>
                <a:gd name="T24" fmla="*/ 45 w 134"/>
                <a:gd name="T25" fmla="*/ 60 h 185"/>
                <a:gd name="T26" fmla="*/ 35 w 134"/>
                <a:gd name="T27" fmla="*/ 45 h 185"/>
                <a:gd name="T28" fmla="*/ 25 w 134"/>
                <a:gd name="T29" fmla="*/ 35 h 185"/>
                <a:gd name="T30" fmla="*/ 20 w 134"/>
                <a:gd name="T31" fmla="*/ 25 h 185"/>
                <a:gd name="T32" fmla="*/ 10 w 134"/>
                <a:gd name="T33" fmla="*/ 10 h 185"/>
                <a:gd name="T34" fmla="*/ 5 w 134"/>
                <a:gd name="T35" fmla="*/ 0 h 185"/>
                <a:gd name="T36" fmla="*/ 0 w 134"/>
                <a:gd name="T37" fmla="*/ 5 h 185"/>
                <a:gd name="T38" fmla="*/ 5 w 134"/>
                <a:gd name="T39" fmla="*/ 15 h 185"/>
                <a:gd name="T40" fmla="*/ 15 w 134"/>
                <a:gd name="T41" fmla="*/ 30 h 185"/>
                <a:gd name="T42" fmla="*/ 20 w 134"/>
                <a:gd name="T43" fmla="*/ 40 h 185"/>
                <a:gd name="T44" fmla="*/ 30 w 134"/>
                <a:gd name="T45" fmla="*/ 50 h 185"/>
                <a:gd name="T46" fmla="*/ 40 w 134"/>
                <a:gd name="T47" fmla="*/ 60 h 185"/>
                <a:gd name="T48" fmla="*/ 45 w 134"/>
                <a:gd name="T49" fmla="*/ 70 h 185"/>
                <a:gd name="T50" fmla="*/ 55 w 134"/>
                <a:gd name="T51" fmla="*/ 85 h 185"/>
                <a:gd name="T52" fmla="*/ 65 w 134"/>
                <a:gd name="T53" fmla="*/ 95 h 185"/>
                <a:gd name="T54" fmla="*/ 75 w 134"/>
                <a:gd name="T55" fmla="*/ 105 h 185"/>
                <a:gd name="T56" fmla="*/ 80 w 134"/>
                <a:gd name="T57" fmla="*/ 115 h 185"/>
                <a:gd name="T58" fmla="*/ 90 w 134"/>
                <a:gd name="T59" fmla="*/ 125 h 185"/>
                <a:gd name="T60" fmla="*/ 99 w 134"/>
                <a:gd name="T61" fmla="*/ 135 h 185"/>
                <a:gd name="T62" fmla="*/ 104 w 134"/>
                <a:gd name="T63" fmla="*/ 150 h 185"/>
                <a:gd name="T64" fmla="*/ 114 w 134"/>
                <a:gd name="T65" fmla="*/ 160 h 185"/>
                <a:gd name="T66" fmla="*/ 119 w 134"/>
                <a:gd name="T67" fmla="*/ 170 h 185"/>
                <a:gd name="T68" fmla="*/ 129 w 134"/>
                <a:gd name="T69" fmla="*/ 185 h 185"/>
                <a:gd name="T70" fmla="*/ 129 w 134"/>
                <a:gd name="T71" fmla="*/ 185 h 185"/>
                <a:gd name="T72" fmla="*/ 129 w 134"/>
                <a:gd name="T73" fmla="*/ 185 h 185"/>
                <a:gd name="T74" fmla="*/ 129 w 134"/>
                <a:gd name="T75" fmla="*/ 185 h 185"/>
                <a:gd name="T76" fmla="*/ 129 w 134"/>
                <a:gd name="T77" fmla="*/ 185 h 185"/>
                <a:gd name="T78" fmla="*/ 134 w 134"/>
                <a:gd name="T79" fmla="*/ 180 h 185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134"/>
                <a:gd name="T121" fmla="*/ 0 h 185"/>
                <a:gd name="T122" fmla="*/ 134 w 134"/>
                <a:gd name="T123" fmla="*/ 185 h 185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134" h="185">
                  <a:moveTo>
                    <a:pt x="134" y="180"/>
                  </a:moveTo>
                  <a:lnTo>
                    <a:pt x="134" y="180"/>
                  </a:lnTo>
                  <a:lnTo>
                    <a:pt x="124" y="170"/>
                  </a:lnTo>
                  <a:lnTo>
                    <a:pt x="119" y="155"/>
                  </a:lnTo>
                  <a:lnTo>
                    <a:pt x="109" y="145"/>
                  </a:lnTo>
                  <a:lnTo>
                    <a:pt x="104" y="135"/>
                  </a:lnTo>
                  <a:lnTo>
                    <a:pt x="94" y="120"/>
                  </a:lnTo>
                  <a:lnTo>
                    <a:pt x="85" y="110"/>
                  </a:lnTo>
                  <a:lnTo>
                    <a:pt x="80" y="100"/>
                  </a:lnTo>
                  <a:lnTo>
                    <a:pt x="70" y="90"/>
                  </a:lnTo>
                  <a:lnTo>
                    <a:pt x="60" y="80"/>
                  </a:lnTo>
                  <a:lnTo>
                    <a:pt x="50" y="70"/>
                  </a:lnTo>
                  <a:lnTo>
                    <a:pt x="45" y="60"/>
                  </a:lnTo>
                  <a:lnTo>
                    <a:pt x="35" y="45"/>
                  </a:lnTo>
                  <a:lnTo>
                    <a:pt x="25" y="35"/>
                  </a:lnTo>
                  <a:lnTo>
                    <a:pt x="20" y="25"/>
                  </a:lnTo>
                  <a:lnTo>
                    <a:pt x="10" y="10"/>
                  </a:lnTo>
                  <a:lnTo>
                    <a:pt x="5" y="0"/>
                  </a:lnTo>
                  <a:lnTo>
                    <a:pt x="0" y="5"/>
                  </a:lnTo>
                  <a:lnTo>
                    <a:pt x="5" y="15"/>
                  </a:lnTo>
                  <a:lnTo>
                    <a:pt x="15" y="30"/>
                  </a:lnTo>
                  <a:lnTo>
                    <a:pt x="20" y="40"/>
                  </a:lnTo>
                  <a:lnTo>
                    <a:pt x="30" y="50"/>
                  </a:lnTo>
                  <a:lnTo>
                    <a:pt x="40" y="60"/>
                  </a:lnTo>
                  <a:lnTo>
                    <a:pt x="45" y="70"/>
                  </a:lnTo>
                  <a:lnTo>
                    <a:pt x="55" y="85"/>
                  </a:lnTo>
                  <a:lnTo>
                    <a:pt x="65" y="95"/>
                  </a:lnTo>
                  <a:lnTo>
                    <a:pt x="75" y="105"/>
                  </a:lnTo>
                  <a:lnTo>
                    <a:pt x="80" y="115"/>
                  </a:lnTo>
                  <a:lnTo>
                    <a:pt x="90" y="125"/>
                  </a:lnTo>
                  <a:lnTo>
                    <a:pt x="99" y="135"/>
                  </a:lnTo>
                  <a:lnTo>
                    <a:pt x="104" y="150"/>
                  </a:lnTo>
                  <a:lnTo>
                    <a:pt x="114" y="160"/>
                  </a:lnTo>
                  <a:lnTo>
                    <a:pt x="119" y="170"/>
                  </a:lnTo>
                  <a:lnTo>
                    <a:pt x="129" y="185"/>
                  </a:lnTo>
                  <a:lnTo>
                    <a:pt x="134" y="1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5608" y="1193"/>
              <a:ext cx="45" cy="114"/>
            </a:xfrm>
            <a:custGeom>
              <a:avLst/>
              <a:gdLst>
                <a:gd name="T0" fmla="*/ 40 w 45"/>
                <a:gd name="T1" fmla="*/ 109 h 114"/>
                <a:gd name="T2" fmla="*/ 45 w 45"/>
                <a:gd name="T3" fmla="*/ 109 h 114"/>
                <a:gd name="T4" fmla="*/ 40 w 45"/>
                <a:gd name="T5" fmla="*/ 104 h 114"/>
                <a:gd name="T6" fmla="*/ 40 w 45"/>
                <a:gd name="T7" fmla="*/ 99 h 114"/>
                <a:gd name="T8" fmla="*/ 40 w 45"/>
                <a:gd name="T9" fmla="*/ 89 h 114"/>
                <a:gd name="T10" fmla="*/ 35 w 45"/>
                <a:gd name="T11" fmla="*/ 84 h 114"/>
                <a:gd name="T12" fmla="*/ 35 w 45"/>
                <a:gd name="T13" fmla="*/ 74 h 114"/>
                <a:gd name="T14" fmla="*/ 30 w 45"/>
                <a:gd name="T15" fmla="*/ 69 h 114"/>
                <a:gd name="T16" fmla="*/ 30 w 45"/>
                <a:gd name="T17" fmla="*/ 59 h 114"/>
                <a:gd name="T18" fmla="*/ 25 w 45"/>
                <a:gd name="T19" fmla="*/ 54 h 114"/>
                <a:gd name="T20" fmla="*/ 25 w 45"/>
                <a:gd name="T21" fmla="*/ 49 h 114"/>
                <a:gd name="T22" fmla="*/ 20 w 45"/>
                <a:gd name="T23" fmla="*/ 39 h 114"/>
                <a:gd name="T24" fmla="*/ 20 w 45"/>
                <a:gd name="T25" fmla="*/ 34 h 114"/>
                <a:gd name="T26" fmla="*/ 15 w 45"/>
                <a:gd name="T27" fmla="*/ 25 h 114"/>
                <a:gd name="T28" fmla="*/ 15 w 45"/>
                <a:gd name="T29" fmla="*/ 20 h 114"/>
                <a:gd name="T30" fmla="*/ 10 w 45"/>
                <a:gd name="T31" fmla="*/ 15 h 114"/>
                <a:gd name="T32" fmla="*/ 5 w 45"/>
                <a:gd name="T33" fmla="*/ 5 h 114"/>
                <a:gd name="T34" fmla="*/ 5 w 45"/>
                <a:gd name="T35" fmla="*/ 0 h 114"/>
                <a:gd name="T36" fmla="*/ 0 w 45"/>
                <a:gd name="T37" fmla="*/ 5 h 114"/>
                <a:gd name="T38" fmla="*/ 5 w 45"/>
                <a:gd name="T39" fmla="*/ 10 h 114"/>
                <a:gd name="T40" fmla="*/ 5 w 45"/>
                <a:gd name="T41" fmla="*/ 15 h 114"/>
                <a:gd name="T42" fmla="*/ 10 w 45"/>
                <a:gd name="T43" fmla="*/ 25 h 114"/>
                <a:gd name="T44" fmla="*/ 10 w 45"/>
                <a:gd name="T45" fmla="*/ 29 h 114"/>
                <a:gd name="T46" fmla="*/ 15 w 45"/>
                <a:gd name="T47" fmla="*/ 34 h 114"/>
                <a:gd name="T48" fmla="*/ 15 w 45"/>
                <a:gd name="T49" fmla="*/ 44 h 114"/>
                <a:gd name="T50" fmla="*/ 20 w 45"/>
                <a:gd name="T51" fmla="*/ 49 h 114"/>
                <a:gd name="T52" fmla="*/ 20 w 45"/>
                <a:gd name="T53" fmla="*/ 54 h 114"/>
                <a:gd name="T54" fmla="*/ 25 w 45"/>
                <a:gd name="T55" fmla="*/ 64 h 114"/>
                <a:gd name="T56" fmla="*/ 25 w 45"/>
                <a:gd name="T57" fmla="*/ 69 h 114"/>
                <a:gd name="T58" fmla="*/ 30 w 45"/>
                <a:gd name="T59" fmla="*/ 79 h 114"/>
                <a:gd name="T60" fmla="*/ 30 w 45"/>
                <a:gd name="T61" fmla="*/ 84 h 114"/>
                <a:gd name="T62" fmla="*/ 30 w 45"/>
                <a:gd name="T63" fmla="*/ 89 h 114"/>
                <a:gd name="T64" fmla="*/ 35 w 45"/>
                <a:gd name="T65" fmla="*/ 99 h 114"/>
                <a:gd name="T66" fmla="*/ 35 w 45"/>
                <a:gd name="T67" fmla="*/ 104 h 114"/>
                <a:gd name="T68" fmla="*/ 35 w 45"/>
                <a:gd name="T69" fmla="*/ 114 h 114"/>
                <a:gd name="T70" fmla="*/ 40 w 45"/>
                <a:gd name="T71" fmla="*/ 114 h 114"/>
                <a:gd name="T72" fmla="*/ 35 w 45"/>
                <a:gd name="T73" fmla="*/ 114 h 114"/>
                <a:gd name="T74" fmla="*/ 40 w 45"/>
                <a:gd name="T75" fmla="*/ 114 h 114"/>
                <a:gd name="T76" fmla="*/ 40 w 45"/>
                <a:gd name="T77" fmla="*/ 114 h 114"/>
                <a:gd name="T78" fmla="*/ 40 w 45"/>
                <a:gd name="T79" fmla="*/ 109 h 114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w 45"/>
                <a:gd name="T121" fmla="*/ 0 h 114"/>
                <a:gd name="T122" fmla="*/ 45 w 45"/>
                <a:gd name="T123" fmla="*/ 114 h 114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T120" t="T121" r="T122" b="T123"/>
              <a:pathLst>
                <a:path w="45" h="114">
                  <a:moveTo>
                    <a:pt x="40" y="109"/>
                  </a:moveTo>
                  <a:lnTo>
                    <a:pt x="45" y="109"/>
                  </a:lnTo>
                  <a:lnTo>
                    <a:pt x="40" y="104"/>
                  </a:lnTo>
                  <a:lnTo>
                    <a:pt x="40" y="99"/>
                  </a:lnTo>
                  <a:lnTo>
                    <a:pt x="40" y="89"/>
                  </a:lnTo>
                  <a:lnTo>
                    <a:pt x="35" y="84"/>
                  </a:lnTo>
                  <a:lnTo>
                    <a:pt x="35" y="74"/>
                  </a:lnTo>
                  <a:lnTo>
                    <a:pt x="30" y="69"/>
                  </a:lnTo>
                  <a:lnTo>
                    <a:pt x="30" y="59"/>
                  </a:lnTo>
                  <a:lnTo>
                    <a:pt x="25" y="54"/>
                  </a:lnTo>
                  <a:lnTo>
                    <a:pt x="25" y="49"/>
                  </a:lnTo>
                  <a:lnTo>
                    <a:pt x="20" y="39"/>
                  </a:lnTo>
                  <a:lnTo>
                    <a:pt x="20" y="34"/>
                  </a:lnTo>
                  <a:lnTo>
                    <a:pt x="15" y="25"/>
                  </a:lnTo>
                  <a:lnTo>
                    <a:pt x="15" y="20"/>
                  </a:lnTo>
                  <a:lnTo>
                    <a:pt x="10" y="15"/>
                  </a:lnTo>
                  <a:lnTo>
                    <a:pt x="5" y="5"/>
                  </a:lnTo>
                  <a:lnTo>
                    <a:pt x="5" y="0"/>
                  </a:lnTo>
                  <a:lnTo>
                    <a:pt x="0" y="5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10" y="25"/>
                  </a:lnTo>
                  <a:lnTo>
                    <a:pt x="10" y="29"/>
                  </a:lnTo>
                  <a:lnTo>
                    <a:pt x="15" y="34"/>
                  </a:lnTo>
                  <a:lnTo>
                    <a:pt x="15" y="44"/>
                  </a:lnTo>
                  <a:lnTo>
                    <a:pt x="20" y="49"/>
                  </a:lnTo>
                  <a:lnTo>
                    <a:pt x="20" y="54"/>
                  </a:lnTo>
                  <a:lnTo>
                    <a:pt x="25" y="64"/>
                  </a:lnTo>
                  <a:lnTo>
                    <a:pt x="25" y="69"/>
                  </a:lnTo>
                  <a:lnTo>
                    <a:pt x="30" y="79"/>
                  </a:lnTo>
                  <a:lnTo>
                    <a:pt x="30" y="84"/>
                  </a:lnTo>
                  <a:lnTo>
                    <a:pt x="30" y="89"/>
                  </a:lnTo>
                  <a:lnTo>
                    <a:pt x="35" y="99"/>
                  </a:lnTo>
                  <a:lnTo>
                    <a:pt x="35" y="104"/>
                  </a:lnTo>
                  <a:lnTo>
                    <a:pt x="35" y="114"/>
                  </a:lnTo>
                  <a:lnTo>
                    <a:pt x="40" y="114"/>
                  </a:lnTo>
                  <a:lnTo>
                    <a:pt x="35" y="114"/>
                  </a:lnTo>
                  <a:lnTo>
                    <a:pt x="40" y="114"/>
                  </a:lnTo>
                  <a:lnTo>
                    <a:pt x="40" y="10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5648" y="1178"/>
              <a:ext cx="234" cy="129"/>
            </a:xfrm>
            <a:custGeom>
              <a:avLst/>
              <a:gdLst>
                <a:gd name="T0" fmla="*/ 234 w 234"/>
                <a:gd name="T1" fmla="*/ 0 h 129"/>
                <a:gd name="T2" fmla="*/ 234 w 234"/>
                <a:gd name="T3" fmla="*/ 0 h 129"/>
                <a:gd name="T4" fmla="*/ 220 w 234"/>
                <a:gd name="T5" fmla="*/ 10 h 129"/>
                <a:gd name="T6" fmla="*/ 205 w 234"/>
                <a:gd name="T7" fmla="*/ 15 h 129"/>
                <a:gd name="T8" fmla="*/ 190 w 234"/>
                <a:gd name="T9" fmla="*/ 25 h 129"/>
                <a:gd name="T10" fmla="*/ 175 w 234"/>
                <a:gd name="T11" fmla="*/ 30 h 129"/>
                <a:gd name="T12" fmla="*/ 160 w 234"/>
                <a:gd name="T13" fmla="*/ 40 h 129"/>
                <a:gd name="T14" fmla="*/ 145 w 234"/>
                <a:gd name="T15" fmla="*/ 49 h 129"/>
                <a:gd name="T16" fmla="*/ 130 w 234"/>
                <a:gd name="T17" fmla="*/ 54 h 129"/>
                <a:gd name="T18" fmla="*/ 115 w 234"/>
                <a:gd name="T19" fmla="*/ 64 h 129"/>
                <a:gd name="T20" fmla="*/ 105 w 234"/>
                <a:gd name="T21" fmla="*/ 69 h 129"/>
                <a:gd name="T22" fmla="*/ 90 w 234"/>
                <a:gd name="T23" fmla="*/ 79 h 129"/>
                <a:gd name="T24" fmla="*/ 75 w 234"/>
                <a:gd name="T25" fmla="*/ 84 h 129"/>
                <a:gd name="T26" fmla="*/ 60 w 234"/>
                <a:gd name="T27" fmla="*/ 94 h 129"/>
                <a:gd name="T28" fmla="*/ 45 w 234"/>
                <a:gd name="T29" fmla="*/ 104 h 129"/>
                <a:gd name="T30" fmla="*/ 30 w 234"/>
                <a:gd name="T31" fmla="*/ 109 h 129"/>
                <a:gd name="T32" fmla="*/ 15 w 234"/>
                <a:gd name="T33" fmla="*/ 119 h 129"/>
                <a:gd name="T34" fmla="*/ 0 w 234"/>
                <a:gd name="T35" fmla="*/ 124 h 129"/>
                <a:gd name="T36" fmla="*/ 0 w 234"/>
                <a:gd name="T37" fmla="*/ 129 h 129"/>
                <a:gd name="T38" fmla="*/ 15 w 234"/>
                <a:gd name="T39" fmla="*/ 119 h 129"/>
                <a:gd name="T40" fmla="*/ 30 w 234"/>
                <a:gd name="T41" fmla="*/ 114 h 129"/>
                <a:gd name="T42" fmla="*/ 45 w 234"/>
                <a:gd name="T43" fmla="*/ 104 h 129"/>
                <a:gd name="T44" fmla="*/ 60 w 234"/>
                <a:gd name="T45" fmla="*/ 99 h 129"/>
                <a:gd name="T46" fmla="*/ 75 w 234"/>
                <a:gd name="T47" fmla="*/ 89 h 129"/>
                <a:gd name="T48" fmla="*/ 90 w 234"/>
                <a:gd name="T49" fmla="*/ 84 h 129"/>
                <a:gd name="T50" fmla="*/ 105 w 234"/>
                <a:gd name="T51" fmla="*/ 74 h 129"/>
                <a:gd name="T52" fmla="*/ 120 w 234"/>
                <a:gd name="T53" fmla="*/ 69 h 129"/>
                <a:gd name="T54" fmla="*/ 135 w 234"/>
                <a:gd name="T55" fmla="*/ 59 h 129"/>
                <a:gd name="T56" fmla="*/ 150 w 234"/>
                <a:gd name="T57" fmla="*/ 54 h 129"/>
                <a:gd name="T58" fmla="*/ 165 w 234"/>
                <a:gd name="T59" fmla="*/ 44 h 129"/>
                <a:gd name="T60" fmla="*/ 180 w 234"/>
                <a:gd name="T61" fmla="*/ 35 h 129"/>
                <a:gd name="T62" fmla="*/ 195 w 234"/>
                <a:gd name="T63" fmla="*/ 30 h 129"/>
                <a:gd name="T64" fmla="*/ 210 w 234"/>
                <a:gd name="T65" fmla="*/ 20 h 129"/>
                <a:gd name="T66" fmla="*/ 224 w 234"/>
                <a:gd name="T67" fmla="*/ 15 h 129"/>
                <a:gd name="T68" fmla="*/ 234 w 234"/>
                <a:gd name="T69" fmla="*/ 5 h 129"/>
                <a:gd name="T70" fmla="*/ 234 w 234"/>
                <a:gd name="T71" fmla="*/ 5 h 129"/>
                <a:gd name="T72" fmla="*/ 234 w 234"/>
                <a:gd name="T73" fmla="*/ 0 h 129"/>
                <a:gd name="T74" fmla="*/ 234 w 234"/>
                <a:gd name="T75" fmla="*/ 0 h 129"/>
                <a:gd name="T76" fmla="*/ 234 w 234"/>
                <a:gd name="T77" fmla="*/ 0 h 129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w 234"/>
                <a:gd name="T118" fmla="*/ 0 h 129"/>
                <a:gd name="T119" fmla="*/ 234 w 234"/>
                <a:gd name="T120" fmla="*/ 129 h 129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T117" t="T118" r="T119" b="T120"/>
              <a:pathLst>
                <a:path w="234" h="129">
                  <a:moveTo>
                    <a:pt x="234" y="0"/>
                  </a:moveTo>
                  <a:lnTo>
                    <a:pt x="234" y="0"/>
                  </a:lnTo>
                  <a:lnTo>
                    <a:pt x="220" y="10"/>
                  </a:lnTo>
                  <a:lnTo>
                    <a:pt x="205" y="15"/>
                  </a:lnTo>
                  <a:lnTo>
                    <a:pt x="190" y="25"/>
                  </a:lnTo>
                  <a:lnTo>
                    <a:pt x="175" y="30"/>
                  </a:lnTo>
                  <a:lnTo>
                    <a:pt x="160" y="40"/>
                  </a:lnTo>
                  <a:lnTo>
                    <a:pt x="145" y="49"/>
                  </a:lnTo>
                  <a:lnTo>
                    <a:pt x="130" y="54"/>
                  </a:lnTo>
                  <a:lnTo>
                    <a:pt x="115" y="64"/>
                  </a:lnTo>
                  <a:lnTo>
                    <a:pt x="105" y="69"/>
                  </a:lnTo>
                  <a:lnTo>
                    <a:pt x="90" y="79"/>
                  </a:lnTo>
                  <a:lnTo>
                    <a:pt x="75" y="84"/>
                  </a:lnTo>
                  <a:lnTo>
                    <a:pt x="60" y="94"/>
                  </a:lnTo>
                  <a:lnTo>
                    <a:pt x="45" y="104"/>
                  </a:lnTo>
                  <a:lnTo>
                    <a:pt x="30" y="109"/>
                  </a:lnTo>
                  <a:lnTo>
                    <a:pt x="15" y="119"/>
                  </a:lnTo>
                  <a:lnTo>
                    <a:pt x="0" y="124"/>
                  </a:lnTo>
                  <a:lnTo>
                    <a:pt x="0" y="129"/>
                  </a:lnTo>
                  <a:lnTo>
                    <a:pt x="15" y="119"/>
                  </a:lnTo>
                  <a:lnTo>
                    <a:pt x="30" y="114"/>
                  </a:lnTo>
                  <a:lnTo>
                    <a:pt x="45" y="104"/>
                  </a:lnTo>
                  <a:lnTo>
                    <a:pt x="60" y="99"/>
                  </a:lnTo>
                  <a:lnTo>
                    <a:pt x="75" y="89"/>
                  </a:lnTo>
                  <a:lnTo>
                    <a:pt x="90" y="84"/>
                  </a:lnTo>
                  <a:lnTo>
                    <a:pt x="105" y="74"/>
                  </a:lnTo>
                  <a:lnTo>
                    <a:pt x="120" y="69"/>
                  </a:lnTo>
                  <a:lnTo>
                    <a:pt x="135" y="59"/>
                  </a:lnTo>
                  <a:lnTo>
                    <a:pt x="150" y="54"/>
                  </a:lnTo>
                  <a:lnTo>
                    <a:pt x="165" y="44"/>
                  </a:lnTo>
                  <a:lnTo>
                    <a:pt x="180" y="35"/>
                  </a:lnTo>
                  <a:lnTo>
                    <a:pt x="195" y="30"/>
                  </a:lnTo>
                  <a:lnTo>
                    <a:pt x="210" y="20"/>
                  </a:lnTo>
                  <a:lnTo>
                    <a:pt x="224" y="15"/>
                  </a:lnTo>
                  <a:lnTo>
                    <a:pt x="234" y="5"/>
                  </a:lnTo>
                  <a:lnTo>
                    <a:pt x="2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5882" y="1173"/>
              <a:ext cx="10" cy="10"/>
            </a:xfrm>
            <a:custGeom>
              <a:avLst/>
              <a:gdLst>
                <a:gd name="T0" fmla="*/ 5 w 10"/>
                <a:gd name="T1" fmla="*/ 5 h 10"/>
                <a:gd name="T2" fmla="*/ 5 w 10"/>
                <a:gd name="T3" fmla="*/ 0 h 10"/>
                <a:gd name="T4" fmla="*/ 0 w 10"/>
                <a:gd name="T5" fmla="*/ 5 h 10"/>
                <a:gd name="T6" fmla="*/ 0 w 10"/>
                <a:gd name="T7" fmla="*/ 10 h 10"/>
                <a:gd name="T8" fmla="*/ 10 w 10"/>
                <a:gd name="T9" fmla="*/ 5 h 10"/>
                <a:gd name="T10" fmla="*/ 10 w 10"/>
                <a:gd name="T11" fmla="*/ 5 h 10"/>
                <a:gd name="T12" fmla="*/ 10 w 10"/>
                <a:gd name="T13" fmla="*/ 5 h 10"/>
                <a:gd name="T14" fmla="*/ 10 w 10"/>
                <a:gd name="T15" fmla="*/ 5 h 10"/>
                <a:gd name="T16" fmla="*/ 10 w 10"/>
                <a:gd name="T17" fmla="*/ 5 h 10"/>
                <a:gd name="T18" fmla="*/ 5 w 10"/>
                <a:gd name="T19" fmla="*/ 5 h 1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"/>
                <a:gd name="T31" fmla="*/ 0 h 10"/>
                <a:gd name="T32" fmla="*/ 10 w 10"/>
                <a:gd name="T33" fmla="*/ 10 h 10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" h="10">
                  <a:moveTo>
                    <a:pt x="5" y="5"/>
                  </a:moveTo>
                  <a:lnTo>
                    <a:pt x="5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10" y="5"/>
                  </a:lnTo>
                  <a:lnTo>
                    <a:pt x="5" y="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5534" y="634"/>
              <a:ext cx="274" cy="239"/>
            </a:xfrm>
            <a:custGeom>
              <a:avLst/>
              <a:gdLst>
                <a:gd name="T0" fmla="*/ 269 w 274"/>
                <a:gd name="T1" fmla="*/ 120 h 239"/>
                <a:gd name="T2" fmla="*/ 254 w 274"/>
                <a:gd name="T3" fmla="*/ 110 h 239"/>
                <a:gd name="T4" fmla="*/ 239 w 274"/>
                <a:gd name="T5" fmla="*/ 105 h 239"/>
                <a:gd name="T6" fmla="*/ 229 w 274"/>
                <a:gd name="T7" fmla="*/ 100 h 239"/>
                <a:gd name="T8" fmla="*/ 214 w 274"/>
                <a:gd name="T9" fmla="*/ 95 h 239"/>
                <a:gd name="T10" fmla="*/ 204 w 274"/>
                <a:gd name="T11" fmla="*/ 90 h 239"/>
                <a:gd name="T12" fmla="*/ 194 w 274"/>
                <a:gd name="T13" fmla="*/ 85 h 239"/>
                <a:gd name="T14" fmla="*/ 179 w 274"/>
                <a:gd name="T15" fmla="*/ 75 h 239"/>
                <a:gd name="T16" fmla="*/ 169 w 274"/>
                <a:gd name="T17" fmla="*/ 70 h 239"/>
                <a:gd name="T18" fmla="*/ 164 w 274"/>
                <a:gd name="T19" fmla="*/ 60 h 239"/>
                <a:gd name="T20" fmla="*/ 154 w 274"/>
                <a:gd name="T21" fmla="*/ 55 h 239"/>
                <a:gd name="T22" fmla="*/ 149 w 274"/>
                <a:gd name="T23" fmla="*/ 45 h 239"/>
                <a:gd name="T24" fmla="*/ 139 w 274"/>
                <a:gd name="T25" fmla="*/ 40 h 239"/>
                <a:gd name="T26" fmla="*/ 129 w 274"/>
                <a:gd name="T27" fmla="*/ 35 h 239"/>
                <a:gd name="T28" fmla="*/ 124 w 274"/>
                <a:gd name="T29" fmla="*/ 25 h 239"/>
                <a:gd name="T30" fmla="*/ 114 w 274"/>
                <a:gd name="T31" fmla="*/ 20 h 239"/>
                <a:gd name="T32" fmla="*/ 104 w 274"/>
                <a:gd name="T33" fmla="*/ 15 h 239"/>
                <a:gd name="T34" fmla="*/ 94 w 274"/>
                <a:gd name="T35" fmla="*/ 10 h 239"/>
                <a:gd name="T36" fmla="*/ 84 w 274"/>
                <a:gd name="T37" fmla="*/ 10 h 239"/>
                <a:gd name="T38" fmla="*/ 79 w 274"/>
                <a:gd name="T39" fmla="*/ 5 h 239"/>
                <a:gd name="T40" fmla="*/ 69 w 274"/>
                <a:gd name="T41" fmla="*/ 5 h 239"/>
                <a:gd name="T42" fmla="*/ 59 w 274"/>
                <a:gd name="T43" fmla="*/ 0 h 239"/>
                <a:gd name="T44" fmla="*/ 49 w 274"/>
                <a:gd name="T45" fmla="*/ 0 h 239"/>
                <a:gd name="T46" fmla="*/ 39 w 274"/>
                <a:gd name="T47" fmla="*/ 0 h 239"/>
                <a:gd name="T48" fmla="*/ 30 w 274"/>
                <a:gd name="T49" fmla="*/ 0 h 239"/>
                <a:gd name="T50" fmla="*/ 20 w 274"/>
                <a:gd name="T51" fmla="*/ 0 h 239"/>
                <a:gd name="T52" fmla="*/ 10 w 274"/>
                <a:gd name="T53" fmla="*/ 5 h 239"/>
                <a:gd name="T54" fmla="*/ 5 w 274"/>
                <a:gd name="T55" fmla="*/ 15 h 239"/>
                <a:gd name="T56" fmla="*/ 0 w 274"/>
                <a:gd name="T57" fmla="*/ 25 h 239"/>
                <a:gd name="T58" fmla="*/ 0 w 274"/>
                <a:gd name="T59" fmla="*/ 40 h 239"/>
                <a:gd name="T60" fmla="*/ 0 w 274"/>
                <a:gd name="T61" fmla="*/ 55 h 239"/>
                <a:gd name="T62" fmla="*/ 5 w 274"/>
                <a:gd name="T63" fmla="*/ 70 h 239"/>
                <a:gd name="T64" fmla="*/ 10 w 274"/>
                <a:gd name="T65" fmla="*/ 80 h 239"/>
                <a:gd name="T66" fmla="*/ 20 w 274"/>
                <a:gd name="T67" fmla="*/ 90 h 239"/>
                <a:gd name="T68" fmla="*/ 30 w 274"/>
                <a:gd name="T69" fmla="*/ 100 h 239"/>
                <a:gd name="T70" fmla="*/ 39 w 274"/>
                <a:gd name="T71" fmla="*/ 105 h 239"/>
                <a:gd name="T72" fmla="*/ 44 w 274"/>
                <a:gd name="T73" fmla="*/ 110 h 239"/>
                <a:gd name="T74" fmla="*/ 54 w 274"/>
                <a:gd name="T75" fmla="*/ 115 h 239"/>
                <a:gd name="T76" fmla="*/ 59 w 274"/>
                <a:gd name="T77" fmla="*/ 120 h 239"/>
                <a:gd name="T78" fmla="*/ 64 w 274"/>
                <a:gd name="T79" fmla="*/ 125 h 239"/>
                <a:gd name="T80" fmla="*/ 74 w 274"/>
                <a:gd name="T81" fmla="*/ 125 h 239"/>
                <a:gd name="T82" fmla="*/ 79 w 274"/>
                <a:gd name="T83" fmla="*/ 130 h 239"/>
                <a:gd name="T84" fmla="*/ 84 w 274"/>
                <a:gd name="T85" fmla="*/ 135 h 239"/>
                <a:gd name="T86" fmla="*/ 89 w 274"/>
                <a:gd name="T87" fmla="*/ 140 h 239"/>
                <a:gd name="T88" fmla="*/ 99 w 274"/>
                <a:gd name="T89" fmla="*/ 150 h 239"/>
                <a:gd name="T90" fmla="*/ 104 w 274"/>
                <a:gd name="T91" fmla="*/ 165 h 239"/>
                <a:gd name="T92" fmla="*/ 109 w 274"/>
                <a:gd name="T93" fmla="*/ 180 h 239"/>
                <a:gd name="T94" fmla="*/ 119 w 274"/>
                <a:gd name="T95" fmla="*/ 194 h 239"/>
                <a:gd name="T96" fmla="*/ 129 w 274"/>
                <a:gd name="T97" fmla="*/ 204 h 239"/>
                <a:gd name="T98" fmla="*/ 139 w 274"/>
                <a:gd name="T99" fmla="*/ 209 h 239"/>
                <a:gd name="T100" fmla="*/ 144 w 274"/>
                <a:gd name="T101" fmla="*/ 214 h 239"/>
                <a:gd name="T102" fmla="*/ 154 w 274"/>
                <a:gd name="T103" fmla="*/ 219 h 239"/>
                <a:gd name="T104" fmla="*/ 164 w 274"/>
                <a:gd name="T105" fmla="*/ 224 h 239"/>
                <a:gd name="T106" fmla="*/ 174 w 274"/>
                <a:gd name="T107" fmla="*/ 229 h 239"/>
                <a:gd name="T108" fmla="*/ 184 w 274"/>
                <a:gd name="T109" fmla="*/ 234 h 239"/>
                <a:gd name="T110" fmla="*/ 194 w 274"/>
                <a:gd name="T111" fmla="*/ 234 h 239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w 274"/>
                <a:gd name="T169" fmla="*/ 0 h 239"/>
                <a:gd name="T170" fmla="*/ 274 w 274"/>
                <a:gd name="T171" fmla="*/ 239 h 239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T168" t="T169" r="T170" b="T171"/>
              <a:pathLst>
                <a:path w="274" h="239">
                  <a:moveTo>
                    <a:pt x="274" y="125"/>
                  </a:moveTo>
                  <a:lnTo>
                    <a:pt x="269" y="120"/>
                  </a:lnTo>
                  <a:lnTo>
                    <a:pt x="259" y="115"/>
                  </a:lnTo>
                  <a:lnTo>
                    <a:pt x="254" y="110"/>
                  </a:lnTo>
                  <a:lnTo>
                    <a:pt x="249" y="110"/>
                  </a:lnTo>
                  <a:lnTo>
                    <a:pt x="239" y="105"/>
                  </a:lnTo>
                  <a:lnTo>
                    <a:pt x="234" y="100"/>
                  </a:lnTo>
                  <a:lnTo>
                    <a:pt x="229" y="100"/>
                  </a:lnTo>
                  <a:lnTo>
                    <a:pt x="224" y="95"/>
                  </a:lnTo>
                  <a:lnTo>
                    <a:pt x="214" y="95"/>
                  </a:lnTo>
                  <a:lnTo>
                    <a:pt x="209" y="95"/>
                  </a:lnTo>
                  <a:lnTo>
                    <a:pt x="204" y="90"/>
                  </a:lnTo>
                  <a:lnTo>
                    <a:pt x="199" y="85"/>
                  </a:lnTo>
                  <a:lnTo>
                    <a:pt x="194" y="85"/>
                  </a:lnTo>
                  <a:lnTo>
                    <a:pt x="189" y="80"/>
                  </a:lnTo>
                  <a:lnTo>
                    <a:pt x="179" y="75"/>
                  </a:lnTo>
                  <a:lnTo>
                    <a:pt x="174" y="70"/>
                  </a:lnTo>
                  <a:lnTo>
                    <a:pt x="169" y="70"/>
                  </a:lnTo>
                  <a:lnTo>
                    <a:pt x="169" y="65"/>
                  </a:lnTo>
                  <a:lnTo>
                    <a:pt x="164" y="60"/>
                  </a:lnTo>
                  <a:lnTo>
                    <a:pt x="159" y="60"/>
                  </a:lnTo>
                  <a:lnTo>
                    <a:pt x="154" y="55"/>
                  </a:lnTo>
                  <a:lnTo>
                    <a:pt x="149" y="50"/>
                  </a:lnTo>
                  <a:lnTo>
                    <a:pt x="149" y="45"/>
                  </a:lnTo>
                  <a:lnTo>
                    <a:pt x="144" y="45"/>
                  </a:lnTo>
                  <a:lnTo>
                    <a:pt x="139" y="40"/>
                  </a:lnTo>
                  <a:lnTo>
                    <a:pt x="134" y="35"/>
                  </a:lnTo>
                  <a:lnTo>
                    <a:pt x="129" y="35"/>
                  </a:lnTo>
                  <a:lnTo>
                    <a:pt x="124" y="30"/>
                  </a:lnTo>
                  <a:lnTo>
                    <a:pt x="124" y="25"/>
                  </a:lnTo>
                  <a:lnTo>
                    <a:pt x="119" y="25"/>
                  </a:lnTo>
                  <a:lnTo>
                    <a:pt x="114" y="20"/>
                  </a:lnTo>
                  <a:lnTo>
                    <a:pt x="109" y="20"/>
                  </a:lnTo>
                  <a:lnTo>
                    <a:pt x="104" y="15"/>
                  </a:lnTo>
                  <a:lnTo>
                    <a:pt x="99" y="15"/>
                  </a:lnTo>
                  <a:lnTo>
                    <a:pt x="94" y="10"/>
                  </a:lnTo>
                  <a:lnTo>
                    <a:pt x="89" y="10"/>
                  </a:lnTo>
                  <a:lnTo>
                    <a:pt x="84" y="10"/>
                  </a:lnTo>
                  <a:lnTo>
                    <a:pt x="79" y="10"/>
                  </a:lnTo>
                  <a:lnTo>
                    <a:pt x="79" y="5"/>
                  </a:lnTo>
                  <a:lnTo>
                    <a:pt x="74" y="5"/>
                  </a:lnTo>
                  <a:lnTo>
                    <a:pt x="69" y="5"/>
                  </a:lnTo>
                  <a:lnTo>
                    <a:pt x="64" y="5"/>
                  </a:lnTo>
                  <a:lnTo>
                    <a:pt x="59" y="0"/>
                  </a:lnTo>
                  <a:lnTo>
                    <a:pt x="54" y="0"/>
                  </a:lnTo>
                  <a:lnTo>
                    <a:pt x="49" y="0"/>
                  </a:lnTo>
                  <a:lnTo>
                    <a:pt x="44" y="0"/>
                  </a:lnTo>
                  <a:lnTo>
                    <a:pt x="39" y="0"/>
                  </a:lnTo>
                  <a:lnTo>
                    <a:pt x="35" y="0"/>
                  </a:lnTo>
                  <a:lnTo>
                    <a:pt x="30" y="0"/>
                  </a:lnTo>
                  <a:lnTo>
                    <a:pt x="25" y="0"/>
                  </a:lnTo>
                  <a:lnTo>
                    <a:pt x="20" y="0"/>
                  </a:lnTo>
                  <a:lnTo>
                    <a:pt x="15" y="5"/>
                  </a:lnTo>
                  <a:lnTo>
                    <a:pt x="10" y="5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0" y="15"/>
                  </a:lnTo>
                  <a:lnTo>
                    <a:pt x="0" y="25"/>
                  </a:lnTo>
                  <a:lnTo>
                    <a:pt x="0" y="30"/>
                  </a:lnTo>
                  <a:lnTo>
                    <a:pt x="0" y="40"/>
                  </a:lnTo>
                  <a:lnTo>
                    <a:pt x="0" y="45"/>
                  </a:lnTo>
                  <a:lnTo>
                    <a:pt x="0" y="55"/>
                  </a:lnTo>
                  <a:lnTo>
                    <a:pt x="0" y="60"/>
                  </a:lnTo>
                  <a:lnTo>
                    <a:pt x="5" y="70"/>
                  </a:lnTo>
                  <a:lnTo>
                    <a:pt x="5" y="75"/>
                  </a:lnTo>
                  <a:lnTo>
                    <a:pt x="10" y="80"/>
                  </a:lnTo>
                  <a:lnTo>
                    <a:pt x="15" y="85"/>
                  </a:lnTo>
                  <a:lnTo>
                    <a:pt x="20" y="90"/>
                  </a:lnTo>
                  <a:lnTo>
                    <a:pt x="25" y="95"/>
                  </a:lnTo>
                  <a:lnTo>
                    <a:pt x="30" y="100"/>
                  </a:lnTo>
                  <a:lnTo>
                    <a:pt x="35" y="100"/>
                  </a:lnTo>
                  <a:lnTo>
                    <a:pt x="39" y="105"/>
                  </a:lnTo>
                  <a:lnTo>
                    <a:pt x="44" y="110"/>
                  </a:lnTo>
                  <a:lnTo>
                    <a:pt x="49" y="115"/>
                  </a:lnTo>
                  <a:lnTo>
                    <a:pt x="54" y="115"/>
                  </a:lnTo>
                  <a:lnTo>
                    <a:pt x="59" y="120"/>
                  </a:lnTo>
                  <a:lnTo>
                    <a:pt x="64" y="120"/>
                  </a:lnTo>
                  <a:lnTo>
                    <a:pt x="64" y="125"/>
                  </a:lnTo>
                  <a:lnTo>
                    <a:pt x="69" y="125"/>
                  </a:lnTo>
                  <a:lnTo>
                    <a:pt x="74" y="125"/>
                  </a:lnTo>
                  <a:lnTo>
                    <a:pt x="74" y="130"/>
                  </a:lnTo>
                  <a:lnTo>
                    <a:pt x="79" y="130"/>
                  </a:lnTo>
                  <a:lnTo>
                    <a:pt x="84" y="135"/>
                  </a:lnTo>
                  <a:lnTo>
                    <a:pt x="89" y="135"/>
                  </a:lnTo>
                  <a:lnTo>
                    <a:pt x="89" y="140"/>
                  </a:lnTo>
                  <a:lnTo>
                    <a:pt x="94" y="145"/>
                  </a:lnTo>
                  <a:lnTo>
                    <a:pt x="99" y="150"/>
                  </a:lnTo>
                  <a:lnTo>
                    <a:pt x="99" y="155"/>
                  </a:lnTo>
                  <a:lnTo>
                    <a:pt x="104" y="165"/>
                  </a:lnTo>
                  <a:lnTo>
                    <a:pt x="109" y="170"/>
                  </a:lnTo>
                  <a:lnTo>
                    <a:pt x="109" y="180"/>
                  </a:lnTo>
                  <a:lnTo>
                    <a:pt x="114" y="185"/>
                  </a:lnTo>
                  <a:lnTo>
                    <a:pt x="119" y="194"/>
                  </a:lnTo>
                  <a:lnTo>
                    <a:pt x="124" y="199"/>
                  </a:lnTo>
                  <a:lnTo>
                    <a:pt x="129" y="204"/>
                  </a:lnTo>
                  <a:lnTo>
                    <a:pt x="134" y="204"/>
                  </a:lnTo>
                  <a:lnTo>
                    <a:pt x="139" y="209"/>
                  </a:lnTo>
                  <a:lnTo>
                    <a:pt x="139" y="214"/>
                  </a:lnTo>
                  <a:lnTo>
                    <a:pt x="144" y="214"/>
                  </a:lnTo>
                  <a:lnTo>
                    <a:pt x="149" y="219"/>
                  </a:lnTo>
                  <a:lnTo>
                    <a:pt x="154" y="219"/>
                  </a:lnTo>
                  <a:lnTo>
                    <a:pt x="159" y="219"/>
                  </a:lnTo>
                  <a:lnTo>
                    <a:pt x="164" y="224"/>
                  </a:lnTo>
                  <a:lnTo>
                    <a:pt x="169" y="224"/>
                  </a:lnTo>
                  <a:lnTo>
                    <a:pt x="174" y="229"/>
                  </a:lnTo>
                  <a:lnTo>
                    <a:pt x="179" y="229"/>
                  </a:lnTo>
                  <a:lnTo>
                    <a:pt x="184" y="234"/>
                  </a:lnTo>
                  <a:lnTo>
                    <a:pt x="189" y="234"/>
                  </a:lnTo>
                  <a:lnTo>
                    <a:pt x="194" y="234"/>
                  </a:lnTo>
                  <a:lnTo>
                    <a:pt x="194" y="23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5454" y="709"/>
              <a:ext cx="149" cy="229"/>
            </a:xfrm>
            <a:custGeom>
              <a:avLst/>
              <a:gdLst>
                <a:gd name="T0" fmla="*/ 40 w 149"/>
                <a:gd name="T1" fmla="*/ 10 h 229"/>
                <a:gd name="T2" fmla="*/ 55 w 149"/>
                <a:gd name="T3" fmla="*/ 30 h 229"/>
                <a:gd name="T4" fmla="*/ 65 w 149"/>
                <a:gd name="T5" fmla="*/ 50 h 229"/>
                <a:gd name="T6" fmla="*/ 70 w 149"/>
                <a:gd name="T7" fmla="*/ 75 h 229"/>
                <a:gd name="T8" fmla="*/ 80 w 149"/>
                <a:gd name="T9" fmla="*/ 95 h 229"/>
                <a:gd name="T10" fmla="*/ 90 w 149"/>
                <a:gd name="T11" fmla="*/ 105 h 229"/>
                <a:gd name="T12" fmla="*/ 100 w 149"/>
                <a:gd name="T13" fmla="*/ 119 h 229"/>
                <a:gd name="T14" fmla="*/ 110 w 149"/>
                <a:gd name="T15" fmla="*/ 134 h 229"/>
                <a:gd name="T16" fmla="*/ 115 w 149"/>
                <a:gd name="T17" fmla="*/ 149 h 229"/>
                <a:gd name="T18" fmla="*/ 129 w 149"/>
                <a:gd name="T19" fmla="*/ 159 h 229"/>
                <a:gd name="T20" fmla="*/ 139 w 149"/>
                <a:gd name="T21" fmla="*/ 169 h 229"/>
                <a:gd name="T22" fmla="*/ 144 w 149"/>
                <a:gd name="T23" fmla="*/ 179 h 229"/>
                <a:gd name="T24" fmla="*/ 149 w 149"/>
                <a:gd name="T25" fmla="*/ 189 h 229"/>
                <a:gd name="T26" fmla="*/ 149 w 149"/>
                <a:gd name="T27" fmla="*/ 199 h 229"/>
                <a:gd name="T28" fmla="*/ 144 w 149"/>
                <a:gd name="T29" fmla="*/ 209 h 229"/>
                <a:gd name="T30" fmla="*/ 139 w 149"/>
                <a:gd name="T31" fmla="*/ 219 h 229"/>
                <a:gd name="T32" fmla="*/ 129 w 149"/>
                <a:gd name="T33" fmla="*/ 224 h 229"/>
                <a:gd name="T34" fmla="*/ 115 w 149"/>
                <a:gd name="T35" fmla="*/ 229 h 229"/>
                <a:gd name="T36" fmla="*/ 105 w 149"/>
                <a:gd name="T37" fmla="*/ 229 h 229"/>
                <a:gd name="T38" fmla="*/ 95 w 149"/>
                <a:gd name="T39" fmla="*/ 224 h 229"/>
                <a:gd name="T40" fmla="*/ 90 w 149"/>
                <a:gd name="T41" fmla="*/ 219 h 229"/>
                <a:gd name="T42" fmla="*/ 85 w 149"/>
                <a:gd name="T43" fmla="*/ 209 h 229"/>
                <a:gd name="T44" fmla="*/ 80 w 149"/>
                <a:gd name="T45" fmla="*/ 204 h 229"/>
                <a:gd name="T46" fmla="*/ 75 w 149"/>
                <a:gd name="T47" fmla="*/ 194 h 229"/>
                <a:gd name="T48" fmla="*/ 65 w 149"/>
                <a:gd name="T49" fmla="*/ 189 h 229"/>
                <a:gd name="T50" fmla="*/ 55 w 149"/>
                <a:gd name="T51" fmla="*/ 179 h 229"/>
                <a:gd name="T52" fmla="*/ 45 w 149"/>
                <a:gd name="T53" fmla="*/ 164 h 229"/>
                <a:gd name="T54" fmla="*/ 30 w 149"/>
                <a:gd name="T55" fmla="*/ 154 h 229"/>
                <a:gd name="T56" fmla="*/ 20 w 149"/>
                <a:gd name="T57" fmla="*/ 144 h 229"/>
                <a:gd name="T58" fmla="*/ 10 w 149"/>
                <a:gd name="T59" fmla="*/ 134 h 229"/>
                <a:gd name="T60" fmla="*/ 0 w 149"/>
                <a:gd name="T61" fmla="*/ 129 h 229"/>
                <a:gd name="T62" fmla="*/ 0 w 149"/>
                <a:gd name="T63" fmla="*/ 124 h 22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49"/>
                <a:gd name="T97" fmla="*/ 0 h 229"/>
                <a:gd name="T98" fmla="*/ 149 w 149"/>
                <a:gd name="T99" fmla="*/ 229 h 229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49" h="229">
                  <a:moveTo>
                    <a:pt x="35" y="0"/>
                  </a:moveTo>
                  <a:lnTo>
                    <a:pt x="40" y="10"/>
                  </a:lnTo>
                  <a:lnTo>
                    <a:pt x="50" y="20"/>
                  </a:lnTo>
                  <a:lnTo>
                    <a:pt x="55" y="30"/>
                  </a:lnTo>
                  <a:lnTo>
                    <a:pt x="60" y="40"/>
                  </a:lnTo>
                  <a:lnTo>
                    <a:pt x="65" y="50"/>
                  </a:lnTo>
                  <a:lnTo>
                    <a:pt x="70" y="65"/>
                  </a:lnTo>
                  <a:lnTo>
                    <a:pt x="70" y="75"/>
                  </a:lnTo>
                  <a:lnTo>
                    <a:pt x="75" y="85"/>
                  </a:lnTo>
                  <a:lnTo>
                    <a:pt x="80" y="95"/>
                  </a:lnTo>
                  <a:lnTo>
                    <a:pt x="85" y="100"/>
                  </a:lnTo>
                  <a:lnTo>
                    <a:pt x="90" y="105"/>
                  </a:lnTo>
                  <a:lnTo>
                    <a:pt x="95" y="115"/>
                  </a:lnTo>
                  <a:lnTo>
                    <a:pt x="100" y="119"/>
                  </a:lnTo>
                  <a:lnTo>
                    <a:pt x="105" y="129"/>
                  </a:lnTo>
                  <a:lnTo>
                    <a:pt x="110" y="134"/>
                  </a:lnTo>
                  <a:lnTo>
                    <a:pt x="115" y="144"/>
                  </a:lnTo>
                  <a:lnTo>
                    <a:pt x="115" y="149"/>
                  </a:lnTo>
                  <a:lnTo>
                    <a:pt x="119" y="154"/>
                  </a:lnTo>
                  <a:lnTo>
                    <a:pt x="129" y="159"/>
                  </a:lnTo>
                  <a:lnTo>
                    <a:pt x="134" y="164"/>
                  </a:lnTo>
                  <a:lnTo>
                    <a:pt x="139" y="169"/>
                  </a:lnTo>
                  <a:lnTo>
                    <a:pt x="139" y="174"/>
                  </a:lnTo>
                  <a:lnTo>
                    <a:pt x="144" y="179"/>
                  </a:lnTo>
                  <a:lnTo>
                    <a:pt x="149" y="184"/>
                  </a:lnTo>
                  <a:lnTo>
                    <a:pt x="149" y="189"/>
                  </a:lnTo>
                  <a:lnTo>
                    <a:pt x="149" y="194"/>
                  </a:lnTo>
                  <a:lnTo>
                    <a:pt x="149" y="199"/>
                  </a:lnTo>
                  <a:lnTo>
                    <a:pt x="144" y="204"/>
                  </a:lnTo>
                  <a:lnTo>
                    <a:pt x="144" y="209"/>
                  </a:lnTo>
                  <a:lnTo>
                    <a:pt x="139" y="214"/>
                  </a:lnTo>
                  <a:lnTo>
                    <a:pt x="139" y="219"/>
                  </a:lnTo>
                  <a:lnTo>
                    <a:pt x="134" y="219"/>
                  </a:lnTo>
                  <a:lnTo>
                    <a:pt x="129" y="224"/>
                  </a:lnTo>
                  <a:lnTo>
                    <a:pt x="124" y="224"/>
                  </a:lnTo>
                  <a:lnTo>
                    <a:pt x="115" y="229"/>
                  </a:lnTo>
                  <a:lnTo>
                    <a:pt x="110" y="229"/>
                  </a:lnTo>
                  <a:lnTo>
                    <a:pt x="105" y="229"/>
                  </a:lnTo>
                  <a:lnTo>
                    <a:pt x="100" y="224"/>
                  </a:lnTo>
                  <a:lnTo>
                    <a:pt x="95" y="224"/>
                  </a:lnTo>
                  <a:lnTo>
                    <a:pt x="90" y="219"/>
                  </a:lnTo>
                  <a:lnTo>
                    <a:pt x="85" y="214"/>
                  </a:lnTo>
                  <a:lnTo>
                    <a:pt x="85" y="209"/>
                  </a:lnTo>
                  <a:lnTo>
                    <a:pt x="80" y="204"/>
                  </a:lnTo>
                  <a:lnTo>
                    <a:pt x="75" y="199"/>
                  </a:lnTo>
                  <a:lnTo>
                    <a:pt x="75" y="194"/>
                  </a:lnTo>
                  <a:lnTo>
                    <a:pt x="70" y="194"/>
                  </a:lnTo>
                  <a:lnTo>
                    <a:pt x="65" y="189"/>
                  </a:lnTo>
                  <a:lnTo>
                    <a:pt x="60" y="184"/>
                  </a:lnTo>
                  <a:lnTo>
                    <a:pt x="55" y="179"/>
                  </a:lnTo>
                  <a:lnTo>
                    <a:pt x="50" y="174"/>
                  </a:lnTo>
                  <a:lnTo>
                    <a:pt x="45" y="164"/>
                  </a:lnTo>
                  <a:lnTo>
                    <a:pt x="40" y="159"/>
                  </a:lnTo>
                  <a:lnTo>
                    <a:pt x="30" y="154"/>
                  </a:lnTo>
                  <a:lnTo>
                    <a:pt x="25" y="149"/>
                  </a:lnTo>
                  <a:lnTo>
                    <a:pt x="20" y="144"/>
                  </a:lnTo>
                  <a:lnTo>
                    <a:pt x="15" y="139"/>
                  </a:lnTo>
                  <a:lnTo>
                    <a:pt x="10" y="134"/>
                  </a:lnTo>
                  <a:lnTo>
                    <a:pt x="5" y="134"/>
                  </a:lnTo>
                  <a:lnTo>
                    <a:pt x="0" y="129"/>
                  </a:lnTo>
                  <a:lnTo>
                    <a:pt x="0" y="124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27"/>
            <p:cNvSpPr>
              <a:spLocks/>
            </p:cNvSpPr>
            <p:nvPr/>
          </p:nvSpPr>
          <p:spPr bwMode="auto">
            <a:xfrm>
              <a:off x="5539" y="853"/>
              <a:ext cx="30" cy="25"/>
            </a:xfrm>
            <a:custGeom>
              <a:avLst/>
              <a:gdLst>
                <a:gd name="T0" fmla="*/ 0 w 30"/>
                <a:gd name="T1" fmla="*/ 25 h 25"/>
                <a:gd name="T2" fmla="*/ 0 w 30"/>
                <a:gd name="T3" fmla="*/ 20 h 25"/>
                <a:gd name="T4" fmla="*/ 5 w 30"/>
                <a:gd name="T5" fmla="*/ 15 h 25"/>
                <a:gd name="T6" fmla="*/ 10 w 30"/>
                <a:gd name="T7" fmla="*/ 10 h 25"/>
                <a:gd name="T8" fmla="*/ 10 w 30"/>
                <a:gd name="T9" fmla="*/ 10 h 25"/>
                <a:gd name="T10" fmla="*/ 15 w 30"/>
                <a:gd name="T11" fmla="*/ 5 h 25"/>
                <a:gd name="T12" fmla="*/ 20 w 30"/>
                <a:gd name="T13" fmla="*/ 0 h 25"/>
                <a:gd name="T14" fmla="*/ 25 w 30"/>
                <a:gd name="T15" fmla="*/ 0 h 25"/>
                <a:gd name="T16" fmla="*/ 30 w 30"/>
                <a:gd name="T17" fmla="*/ 0 h 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25"/>
                <a:gd name="T29" fmla="*/ 30 w 30"/>
                <a:gd name="T30" fmla="*/ 25 h 2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25">
                  <a:moveTo>
                    <a:pt x="0" y="25"/>
                  </a:moveTo>
                  <a:lnTo>
                    <a:pt x="0" y="20"/>
                  </a:lnTo>
                  <a:lnTo>
                    <a:pt x="5" y="15"/>
                  </a:lnTo>
                  <a:lnTo>
                    <a:pt x="10" y="10"/>
                  </a:lnTo>
                  <a:lnTo>
                    <a:pt x="15" y="5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3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5608" y="833"/>
              <a:ext cx="50" cy="65"/>
            </a:xfrm>
            <a:custGeom>
              <a:avLst/>
              <a:gdLst>
                <a:gd name="T0" fmla="*/ 0 w 50"/>
                <a:gd name="T1" fmla="*/ 60 h 65"/>
                <a:gd name="T2" fmla="*/ 5 w 50"/>
                <a:gd name="T3" fmla="*/ 65 h 65"/>
                <a:gd name="T4" fmla="*/ 15 w 50"/>
                <a:gd name="T5" fmla="*/ 65 h 65"/>
                <a:gd name="T6" fmla="*/ 20 w 50"/>
                <a:gd name="T7" fmla="*/ 60 h 65"/>
                <a:gd name="T8" fmla="*/ 25 w 50"/>
                <a:gd name="T9" fmla="*/ 60 h 65"/>
                <a:gd name="T10" fmla="*/ 30 w 50"/>
                <a:gd name="T11" fmla="*/ 55 h 65"/>
                <a:gd name="T12" fmla="*/ 35 w 50"/>
                <a:gd name="T13" fmla="*/ 55 h 65"/>
                <a:gd name="T14" fmla="*/ 35 w 50"/>
                <a:gd name="T15" fmla="*/ 50 h 65"/>
                <a:gd name="T16" fmla="*/ 40 w 50"/>
                <a:gd name="T17" fmla="*/ 45 h 65"/>
                <a:gd name="T18" fmla="*/ 45 w 50"/>
                <a:gd name="T19" fmla="*/ 40 h 65"/>
                <a:gd name="T20" fmla="*/ 45 w 50"/>
                <a:gd name="T21" fmla="*/ 35 h 65"/>
                <a:gd name="T22" fmla="*/ 50 w 50"/>
                <a:gd name="T23" fmla="*/ 30 h 65"/>
                <a:gd name="T24" fmla="*/ 50 w 50"/>
                <a:gd name="T25" fmla="*/ 25 h 65"/>
                <a:gd name="T26" fmla="*/ 50 w 50"/>
                <a:gd name="T27" fmla="*/ 15 h 65"/>
                <a:gd name="T28" fmla="*/ 50 w 50"/>
                <a:gd name="T29" fmla="*/ 10 h 65"/>
                <a:gd name="T30" fmla="*/ 50 w 50"/>
                <a:gd name="T31" fmla="*/ 5 h 65"/>
                <a:gd name="T32" fmla="*/ 45 w 50"/>
                <a:gd name="T33" fmla="*/ 0 h 6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0"/>
                <a:gd name="T52" fmla="*/ 0 h 65"/>
                <a:gd name="T53" fmla="*/ 50 w 50"/>
                <a:gd name="T54" fmla="*/ 65 h 6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0" h="65">
                  <a:moveTo>
                    <a:pt x="0" y="60"/>
                  </a:moveTo>
                  <a:lnTo>
                    <a:pt x="5" y="65"/>
                  </a:lnTo>
                  <a:lnTo>
                    <a:pt x="15" y="65"/>
                  </a:lnTo>
                  <a:lnTo>
                    <a:pt x="20" y="60"/>
                  </a:lnTo>
                  <a:lnTo>
                    <a:pt x="25" y="60"/>
                  </a:lnTo>
                  <a:lnTo>
                    <a:pt x="30" y="55"/>
                  </a:lnTo>
                  <a:lnTo>
                    <a:pt x="35" y="55"/>
                  </a:lnTo>
                  <a:lnTo>
                    <a:pt x="35" y="50"/>
                  </a:lnTo>
                  <a:lnTo>
                    <a:pt x="40" y="45"/>
                  </a:lnTo>
                  <a:lnTo>
                    <a:pt x="45" y="40"/>
                  </a:lnTo>
                  <a:lnTo>
                    <a:pt x="45" y="35"/>
                  </a:lnTo>
                  <a:lnTo>
                    <a:pt x="50" y="30"/>
                  </a:lnTo>
                  <a:lnTo>
                    <a:pt x="50" y="25"/>
                  </a:lnTo>
                  <a:lnTo>
                    <a:pt x="50" y="15"/>
                  </a:lnTo>
                  <a:lnTo>
                    <a:pt x="50" y="10"/>
                  </a:lnTo>
                  <a:lnTo>
                    <a:pt x="50" y="5"/>
                  </a:lnTo>
                  <a:lnTo>
                    <a:pt x="4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5588" y="799"/>
              <a:ext cx="45" cy="29"/>
            </a:xfrm>
            <a:custGeom>
              <a:avLst/>
              <a:gdLst>
                <a:gd name="T0" fmla="*/ 45 w 45"/>
                <a:gd name="T1" fmla="*/ 0 h 29"/>
                <a:gd name="T2" fmla="*/ 45 w 45"/>
                <a:gd name="T3" fmla="*/ 0 h 29"/>
                <a:gd name="T4" fmla="*/ 40 w 45"/>
                <a:gd name="T5" fmla="*/ 0 h 29"/>
                <a:gd name="T6" fmla="*/ 35 w 45"/>
                <a:gd name="T7" fmla="*/ 0 h 29"/>
                <a:gd name="T8" fmla="*/ 30 w 45"/>
                <a:gd name="T9" fmla="*/ 0 h 29"/>
                <a:gd name="T10" fmla="*/ 30 w 45"/>
                <a:gd name="T11" fmla="*/ 5 h 29"/>
                <a:gd name="T12" fmla="*/ 25 w 45"/>
                <a:gd name="T13" fmla="*/ 5 h 29"/>
                <a:gd name="T14" fmla="*/ 20 w 45"/>
                <a:gd name="T15" fmla="*/ 5 h 29"/>
                <a:gd name="T16" fmla="*/ 20 w 45"/>
                <a:gd name="T17" fmla="*/ 10 h 29"/>
                <a:gd name="T18" fmla="*/ 15 w 45"/>
                <a:gd name="T19" fmla="*/ 10 h 29"/>
                <a:gd name="T20" fmla="*/ 10 w 45"/>
                <a:gd name="T21" fmla="*/ 10 h 29"/>
                <a:gd name="T22" fmla="*/ 10 w 45"/>
                <a:gd name="T23" fmla="*/ 15 h 29"/>
                <a:gd name="T24" fmla="*/ 5 w 45"/>
                <a:gd name="T25" fmla="*/ 15 h 29"/>
                <a:gd name="T26" fmla="*/ 5 w 45"/>
                <a:gd name="T27" fmla="*/ 20 h 29"/>
                <a:gd name="T28" fmla="*/ 5 w 45"/>
                <a:gd name="T29" fmla="*/ 25 h 29"/>
                <a:gd name="T30" fmla="*/ 0 w 45"/>
                <a:gd name="T31" fmla="*/ 25 h 29"/>
                <a:gd name="T32" fmla="*/ 0 w 45"/>
                <a:gd name="T33" fmla="*/ 29 h 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5"/>
                <a:gd name="T52" fmla="*/ 0 h 29"/>
                <a:gd name="T53" fmla="*/ 45 w 45"/>
                <a:gd name="T54" fmla="*/ 29 h 2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5" h="29">
                  <a:moveTo>
                    <a:pt x="45" y="0"/>
                  </a:moveTo>
                  <a:lnTo>
                    <a:pt x="45" y="0"/>
                  </a:lnTo>
                  <a:lnTo>
                    <a:pt x="40" y="0"/>
                  </a:lnTo>
                  <a:lnTo>
                    <a:pt x="35" y="0"/>
                  </a:lnTo>
                  <a:lnTo>
                    <a:pt x="30" y="0"/>
                  </a:lnTo>
                  <a:lnTo>
                    <a:pt x="30" y="5"/>
                  </a:lnTo>
                  <a:lnTo>
                    <a:pt x="25" y="5"/>
                  </a:lnTo>
                  <a:lnTo>
                    <a:pt x="20" y="5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10" y="10"/>
                  </a:lnTo>
                  <a:lnTo>
                    <a:pt x="10" y="15"/>
                  </a:lnTo>
                  <a:lnTo>
                    <a:pt x="5" y="15"/>
                  </a:lnTo>
                  <a:lnTo>
                    <a:pt x="5" y="20"/>
                  </a:lnTo>
                  <a:lnTo>
                    <a:pt x="5" y="25"/>
                  </a:lnTo>
                  <a:lnTo>
                    <a:pt x="0" y="25"/>
                  </a:lnTo>
                  <a:lnTo>
                    <a:pt x="0" y="2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5564" y="599"/>
              <a:ext cx="19" cy="35"/>
            </a:xfrm>
            <a:custGeom>
              <a:avLst/>
              <a:gdLst>
                <a:gd name="T0" fmla="*/ 0 w 19"/>
                <a:gd name="T1" fmla="*/ 0 h 35"/>
                <a:gd name="T2" fmla="*/ 0 w 19"/>
                <a:gd name="T3" fmla="*/ 5 h 35"/>
                <a:gd name="T4" fmla="*/ 5 w 19"/>
                <a:gd name="T5" fmla="*/ 10 h 35"/>
                <a:gd name="T6" fmla="*/ 5 w 19"/>
                <a:gd name="T7" fmla="*/ 15 h 35"/>
                <a:gd name="T8" fmla="*/ 9 w 19"/>
                <a:gd name="T9" fmla="*/ 20 h 35"/>
                <a:gd name="T10" fmla="*/ 9 w 19"/>
                <a:gd name="T11" fmla="*/ 25 h 35"/>
                <a:gd name="T12" fmla="*/ 14 w 19"/>
                <a:gd name="T13" fmla="*/ 30 h 35"/>
                <a:gd name="T14" fmla="*/ 14 w 19"/>
                <a:gd name="T15" fmla="*/ 30 h 35"/>
                <a:gd name="T16" fmla="*/ 19 w 19"/>
                <a:gd name="T17" fmla="*/ 35 h 3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9"/>
                <a:gd name="T28" fmla="*/ 0 h 35"/>
                <a:gd name="T29" fmla="*/ 19 w 19"/>
                <a:gd name="T30" fmla="*/ 35 h 3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9" h="35">
                  <a:moveTo>
                    <a:pt x="0" y="0"/>
                  </a:moveTo>
                  <a:lnTo>
                    <a:pt x="0" y="5"/>
                  </a:lnTo>
                  <a:lnTo>
                    <a:pt x="5" y="10"/>
                  </a:lnTo>
                  <a:lnTo>
                    <a:pt x="5" y="15"/>
                  </a:lnTo>
                  <a:lnTo>
                    <a:pt x="9" y="20"/>
                  </a:lnTo>
                  <a:lnTo>
                    <a:pt x="9" y="25"/>
                  </a:lnTo>
                  <a:lnTo>
                    <a:pt x="14" y="30"/>
                  </a:lnTo>
                  <a:lnTo>
                    <a:pt x="19" y="35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5628" y="898"/>
              <a:ext cx="55" cy="200"/>
            </a:xfrm>
            <a:custGeom>
              <a:avLst/>
              <a:gdLst>
                <a:gd name="T0" fmla="*/ 0 w 55"/>
                <a:gd name="T1" fmla="*/ 0 h 200"/>
                <a:gd name="T2" fmla="*/ 0 w 55"/>
                <a:gd name="T3" fmla="*/ 15 h 200"/>
                <a:gd name="T4" fmla="*/ 0 w 55"/>
                <a:gd name="T5" fmla="*/ 25 h 200"/>
                <a:gd name="T6" fmla="*/ 5 w 55"/>
                <a:gd name="T7" fmla="*/ 40 h 200"/>
                <a:gd name="T8" fmla="*/ 5 w 55"/>
                <a:gd name="T9" fmla="*/ 50 h 200"/>
                <a:gd name="T10" fmla="*/ 5 w 55"/>
                <a:gd name="T11" fmla="*/ 60 h 200"/>
                <a:gd name="T12" fmla="*/ 5 w 55"/>
                <a:gd name="T13" fmla="*/ 70 h 200"/>
                <a:gd name="T14" fmla="*/ 10 w 55"/>
                <a:gd name="T15" fmla="*/ 80 h 200"/>
                <a:gd name="T16" fmla="*/ 10 w 55"/>
                <a:gd name="T17" fmla="*/ 95 h 200"/>
                <a:gd name="T18" fmla="*/ 15 w 55"/>
                <a:gd name="T19" fmla="*/ 105 h 200"/>
                <a:gd name="T20" fmla="*/ 15 w 55"/>
                <a:gd name="T21" fmla="*/ 115 h 200"/>
                <a:gd name="T22" fmla="*/ 20 w 55"/>
                <a:gd name="T23" fmla="*/ 130 h 200"/>
                <a:gd name="T24" fmla="*/ 25 w 55"/>
                <a:gd name="T25" fmla="*/ 140 h 200"/>
                <a:gd name="T26" fmla="*/ 30 w 55"/>
                <a:gd name="T27" fmla="*/ 155 h 200"/>
                <a:gd name="T28" fmla="*/ 35 w 55"/>
                <a:gd name="T29" fmla="*/ 170 h 200"/>
                <a:gd name="T30" fmla="*/ 45 w 55"/>
                <a:gd name="T31" fmla="*/ 185 h 200"/>
                <a:gd name="T32" fmla="*/ 55 w 55"/>
                <a:gd name="T33" fmla="*/ 200 h 20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5"/>
                <a:gd name="T52" fmla="*/ 0 h 200"/>
                <a:gd name="T53" fmla="*/ 55 w 55"/>
                <a:gd name="T54" fmla="*/ 200 h 200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5" h="200">
                  <a:moveTo>
                    <a:pt x="0" y="0"/>
                  </a:moveTo>
                  <a:lnTo>
                    <a:pt x="0" y="15"/>
                  </a:lnTo>
                  <a:lnTo>
                    <a:pt x="0" y="25"/>
                  </a:lnTo>
                  <a:lnTo>
                    <a:pt x="5" y="40"/>
                  </a:lnTo>
                  <a:lnTo>
                    <a:pt x="5" y="50"/>
                  </a:lnTo>
                  <a:lnTo>
                    <a:pt x="5" y="60"/>
                  </a:lnTo>
                  <a:lnTo>
                    <a:pt x="5" y="70"/>
                  </a:lnTo>
                  <a:lnTo>
                    <a:pt x="10" y="80"/>
                  </a:lnTo>
                  <a:lnTo>
                    <a:pt x="10" y="95"/>
                  </a:lnTo>
                  <a:lnTo>
                    <a:pt x="15" y="105"/>
                  </a:lnTo>
                  <a:lnTo>
                    <a:pt x="15" y="115"/>
                  </a:lnTo>
                  <a:lnTo>
                    <a:pt x="20" y="130"/>
                  </a:lnTo>
                  <a:lnTo>
                    <a:pt x="25" y="140"/>
                  </a:lnTo>
                  <a:lnTo>
                    <a:pt x="30" y="155"/>
                  </a:lnTo>
                  <a:lnTo>
                    <a:pt x="35" y="170"/>
                  </a:lnTo>
                  <a:lnTo>
                    <a:pt x="45" y="185"/>
                  </a:lnTo>
                  <a:lnTo>
                    <a:pt x="55" y="20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5588" y="928"/>
              <a:ext cx="5" cy="60"/>
            </a:xfrm>
            <a:custGeom>
              <a:avLst/>
              <a:gdLst>
                <a:gd name="T0" fmla="*/ 5 w 5"/>
                <a:gd name="T1" fmla="*/ 0 h 60"/>
                <a:gd name="T2" fmla="*/ 0 w 5"/>
                <a:gd name="T3" fmla="*/ 15 h 60"/>
                <a:gd name="T4" fmla="*/ 0 w 5"/>
                <a:gd name="T5" fmla="*/ 30 h 60"/>
                <a:gd name="T6" fmla="*/ 5 w 5"/>
                <a:gd name="T7" fmla="*/ 45 h 60"/>
                <a:gd name="T8" fmla="*/ 5 w 5"/>
                <a:gd name="T9" fmla="*/ 60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"/>
                <a:gd name="T16" fmla="*/ 0 h 60"/>
                <a:gd name="T17" fmla="*/ 5 w 5"/>
                <a:gd name="T18" fmla="*/ 60 h 6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" h="60">
                  <a:moveTo>
                    <a:pt x="5" y="0"/>
                  </a:moveTo>
                  <a:lnTo>
                    <a:pt x="0" y="15"/>
                  </a:lnTo>
                  <a:lnTo>
                    <a:pt x="0" y="30"/>
                  </a:lnTo>
                  <a:lnTo>
                    <a:pt x="5" y="45"/>
                  </a:lnTo>
                  <a:lnTo>
                    <a:pt x="5" y="6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3"/>
            <p:cNvSpPr>
              <a:spLocks/>
            </p:cNvSpPr>
            <p:nvPr/>
          </p:nvSpPr>
          <p:spPr bwMode="auto">
            <a:xfrm>
              <a:off x="5578" y="1078"/>
              <a:ext cx="439" cy="379"/>
            </a:xfrm>
            <a:custGeom>
              <a:avLst/>
              <a:gdLst>
                <a:gd name="T0" fmla="*/ 304 w 439"/>
                <a:gd name="T1" fmla="*/ 5 h 379"/>
                <a:gd name="T2" fmla="*/ 20 w 439"/>
                <a:gd name="T3" fmla="*/ 169 h 379"/>
                <a:gd name="T4" fmla="*/ 10 w 439"/>
                <a:gd name="T5" fmla="*/ 174 h 379"/>
                <a:gd name="T6" fmla="*/ 5 w 439"/>
                <a:gd name="T7" fmla="*/ 174 h 379"/>
                <a:gd name="T8" fmla="*/ 5 w 439"/>
                <a:gd name="T9" fmla="*/ 184 h 379"/>
                <a:gd name="T10" fmla="*/ 0 w 439"/>
                <a:gd name="T11" fmla="*/ 189 h 379"/>
                <a:gd name="T12" fmla="*/ 0 w 439"/>
                <a:gd name="T13" fmla="*/ 194 h 379"/>
                <a:gd name="T14" fmla="*/ 0 w 439"/>
                <a:gd name="T15" fmla="*/ 204 h 379"/>
                <a:gd name="T16" fmla="*/ 0 w 439"/>
                <a:gd name="T17" fmla="*/ 209 h 379"/>
                <a:gd name="T18" fmla="*/ 5 w 439"/>
                <a:gd name="T19" fmla="*/ 214 h 379"/>
                <a:gd name="T20" fmla="*/ 85 w 439"/>
                <a:gd name="T21" fmla="*/ 359 h 379"/>
                <a:gd name="T22" fmla="*/ 90 w 439"/>
                <a:gd name="T23" fmla="*/ 364 h 379"/>
                <a:gd name="T24" fmla="*/ 90 w 439"/>
                <a:gd name="T25" fmla="*/ 364 h 379"/>
                <a:gd name="T26" fmla="*/ 95 w 439"/>
                <a:gd name="T27" fmla="*/ 369 h 379"/>
                <a:gd name="T28" fmla="*/ 95 w 439"/>
                <a:gd name="T29" fmla="*/ 369 h 379"/>
                <a:gd name="T30" fmla="*/ 100 w 439"/>
                <a:gd name="T31" fmla="*/ 374 h 379"/>
                <a:gd name="T32" fmla="*/ 100 w 439"/>
                <a:gd name="T33" fmla="*/ 374 h 379"/>
                <a:gd name="T34" fmla="*/ 105 w 439"/>
                <a:gd name="T35" fmla="*/ 374 h 379"/>
                <a:gd name="T36" fmla="*/ 110 w 439"/>
                <a:gd name="T37" fmla="*/ 374 h 379"/>
                <a:gd name="T38" fmla="*/ 110 w 439"/>
                <a:gd name="T39" fmla="*/ 379 h 379"/>
                <a:gd name="T40" fmla="*/ 115 w 439"/>
                <a:gd name="T41" fmla="*/ 379 h 379"/>
                <a:gd name="T42" fmla="*/ 120 w 439"/>
                <a:gd name="T43" fmla="*/ 379 h 379"/>
                <a:gd name="T44" fmla="*/ 120 w 439"/>
                <a:gd name="T45" fmla="*/ 379 h 379"/>
                <a:gd name="T46" fmla="*/ 125 w 439"/>
                <a:gd name="T47" fmla="*/ 379 h 379"/>
                <a:gd name="T48" fmla="*/ 130 w 439"/>
                <a:gd name="T49" fmla="*/ 374 h 379"/>
                <a:gd name="T50" fmla="*/ 130 w 439"/>
                <a:gd name="T51" fmla="*/ 374 h 379"/>
                <a:gd name="T52" fmla="*/ 135 w 439"/>
                <a:gd name="T53" fmla="*/ 374 h 379"/>
                <a:gd name="T54" fmla="*/ 424 w 439"/>
                <a:gd name="T55" fmla="*/ 209 h 379"/>
                <a:gd name="T56" fmla="*/ 429 w 439"/>
                <a:gd name="T57" fmla="*/ 204 h 379"/>
                <a:gd name="T58" fmla="*/ 434 w 439"/>
                <a:gd name="T59" fmla="*/ 199 h 379"/>
                <a:gd name="T60" fmla="*/ 434 w 439"/>
                <a:gd name="T61" fmla="*/ 194 h 379"/>
                <a:gd name="T62" fmla="*/ 439 w 439"/>
                <a:gd name="T63" fmla="*/ 189 h 379"/>
                <a:gd name="T64" fmla="*/ 439 w 439"/>
                <a:gd name="T65" fmla="*/ 179 h 379"/>
                <a:gd name="T66" fmla="*/ 439 w 439"/>
                <a:gd name="T67" fmla="*/ 174 h 379"/>
                <a:gd name="T68" fmla="*/ 439 w 439"/>
                <a:gd name="T69" fmla="*/ 169 h 379"/>
                <a:gd name="T70" fmla="*/ 434 w 439"/>
                <a:gd name="T71" fmla="*/ 159 h 379"/>
                <a:gd name="T72" fmla="*/ 354 w 439"/>
                <a:gd name="T73" fmla="*/ 15 h 379"/>
                <a:gd name="T74" fmla="*/ 349 w 439"/>
                <a:gd name="T75" fmla="*/ 15 h 379"/>
                <a:gd name="T76" fmla="*/ 349 w 439"/>
                <a:gd name="T77" fmla="*/ 10 h 379"/>
                <a:gd name="T78" fmla="*/ 344 w 439"/>
                <a:gd name="T79" fmla="*/ 10 h 379"/>
                <a:gd name="T80" fmla="*/ 344 w 439"/>
                <a:gd name="T81" fmla="*/ 5 h 379"/>
                <a:gd name="T82" fmla="*/ 339 w 439"/>
                <a:gd name="T83" fmla="*/ 5 h 379"/>
                <a:gd name="T84" fmla="*/ 339 w 439"/>
                <a:gd name="T85" fmla="*/ 5 h 379"/>
                <a:gd name="T86" fmla="*/ 334 w 439"/>
                <a:gd name="T87" fmla="*/ 0 h 379"/>
                <a:gd name="T88" fmla="*/ 329 w 439"/>
                <a:gd name="T89" fmla="*/ 0 h 379"/>
                <a:gd name="T90" fmla="*/ 329 w 439"/>
                <a:gd name="T91" fmla="*/ 0 h 379"/>
                <a:gd name="T92" fmla="*/ 324 w 439"/>
                <a:gd name="T93" fmla="*/ 0 h 379"/>
                <a:gd name="T94" fmla="*/ 319 w 439"/>
                <a:gd name="T95" fmla="*/ 0 h 379"/>
                <a:gd name="T96" fmla="*/ 319 w 439"/>
                <a:gd name="T97" fmla="*/ 0 h 379"/>
                <a:gd name="T98" fmla="*/ 314 w 439"/>
                <a:gd name="T99" fmla="*/ 0 h 379"/>
                <a:gd name="T100" fmla="*/ 309 w 439"/>
                <a:gd name="T101" fmla="*/ 0 h 379"/>
                <a:gd name="T102" fmla="*/ 309 w 439"/>
                <a:gd name="T103" fmla="*/ 0 h 379"/>
                <a:gd name="T104" fmla="*/ 304 w 439"/>
                <a:gd name="T105" fmla="*/ 5 h 37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39"/>
                <a:gd name="T160" fmla="*/ 0 h 379"/>
                <a:gd name="T161" fmla="*/ 439 w 439"/>
                <a:gd name="T162" fmla="*/ 379 h 37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39" h="379">
                  <a:moveTo>
                    <a:pt x="304" y="5"/>
                  </a:moveTo>
                  <a:lnTo>
                    <a:pt x="20" y="169"/>
                  </a:lnTo>
                  <a:lnTo>
                    <a:pt x="10" y="174"/>
                  </a:lnTo>
                  <a:lnTo>
                    <a:pt x="5" y="174"/>
                  </a:lnTo>
                  <a:lnTo>
                    <a:pt x="5" y="184"/>
                  </a:lnTo>
                  <a:lnTo>
                    <a:pt x="0" y="189"/>
                  </a:lnTo>
                  <a:lnTo>
                    <a:pt x="0" y="194"/>
                  </a:lnTo>
                  <a:lnTo>
                    <a:pt x="0" y="204"/>
                  </a:lnTo>
                  <a:lnTo>
                    <a:pt x="0" y="209"/>
                  </a:lnTo>
                  <a:lnTo>
                    <a:pt x="5" y="214"/>
                  </a:lnTo>
                  <a:lnTo>
                    <a:pt x="85" y="359"/>
                  </a:lnTo>
                  <a:lnTo>
                    <a:pt x="90" y="364"/>
                  </a:lnTo>
                  <a:lnTo>
                    <a:pt x="95" y="369"/>
                  </a:lnTo>
                  <a:lnTo>
                    <a:pt x="100" y="374"/>
                  </a:lnTo>
                  <a:lnTo>
                    <a:pt x="105" y="374"/>
                  </a:lnTo>
                  <a:lnTo>
                    <a:pt x="110" y="374"/>
                  </a:lnTo>
                  <a:lnTo>
                    <a:pt x="110" y="379"/>
                  </a:lnTo>
                  <a:lnTo>
                    <a:pt x="115" y="379"/>
                  </a:lnTo>
                  <a:lnTo>
                    <a:pt x="120" y="379"/>
                  </a:lnTo>
                  <a:lnTo>
                    <a:pt x="125" y="379"/>
                  </a:lnTo>
                  <a:lnTo>
                    <a:pt x="130" y="374"/>
                  </a:lnTo>
                  <a:lnTo>
                    <a:pt x="135" y="374"/>
                  </a:lnTo>
                  <a:lnTo>
                    <a:pt x="424" y="209"/>
                  </a:lnTo>
                  <a:lnTo>
                    <a:pt x="429" y="204"/>
                  </a:lnTo>
                  <a:lnTo>
                    <a:pt x="434" y="199"/>
                  </a:lnTo>
                  <a:lnTo>
                    <a:pt x="434" y="194"/>
                  </a:lnTo>
                  <a:lnTo>
                    <a:pt x="439" y="189"/>
                  </a:lnTo>
                  <a:lnTo>
                    <a:pt x="439" y="179"/>
                  </a:lnTo>
                  <a:lnTo>
                    <a:pt x="439" y="174"/>
                  </a:lnTo>
                  <a:lnTo>
                    <a:pt x="439" y="169"/>
                  </a:lnTo>
                  <a:lnTo>
                    <a:pt x="434" y="159"/>
                  </a:lnTo>
                  <a:lnTo>
                    <a:pt x="354" y="15"/>
                  </a:lnTo>
                  <a:lnTo>
                    <a:pt x="349" y="15"/>
                  </a:lnTo>
                  <a:lnTo>
                    <a:pt x="349" y="10"/>
                  </a:lnTo>
                  <a:lnTo>
                    <a:pt x="344" y="10"/>
                  </a:lnTo>
                  <a:lnTo>
                    <a:pt x="344" y="5"/>
                  </a:lnTo>
                  <a:lnTo>
                    <a:pt x="339" y="5"/>
                  </a:lnTo>
                  <a:lnTo>
                    <a:pt x="334" y="0"/>
                  </a:lnTo>
                  <a:lnTo>
                    <a:pt x="329" y="0"/>
                  </a:lnTo>
                  <a:lnTo>
                    <a:pt x="324" y="0"/>
                  </a:lnTo>
                  <a:lnTo>
                    <a:pt x="319" y="0"/>
                  </a:lnTo>
                  <a:lnTo>
                    <a:pt x="314" y="0"/>
                  </a:lnTo>
                  <a:lnTo>
                    <a:pt x="309" y="0"/>
                  </a:lnTo>
                  <a:lnTo>
                    <a:pt x="304" y="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5578" y="1078"/>
              <a:ext cx="439" cy="379"/>
            </a:xfrm>
            <a:custGeom>
              <a:avLst/>
              <a:gdLst>
                <a:gd name="T0" fmla="*/ 304 w 439"/>
                <a:gd name="T1" fmla="*/ 5 h 379"/>
                <a:gd name="T2" fmla="*/ 20 w 439"/>
                <a:gd name="T3" fmla="*/ 169 h 379"/>
                <a:gd name="T4" fmla="*/ 10 w 439"/>
                <a:gd name="T5" fmla="*/ 174 h 379"/>
                <a:gd name="T6" fmla="*/ 5 w 439"/>
                <a:gd name="T7" fmla="*/ 174 h 379"/>
                <a:gd name="T8" fmla="*/ 5 w 439"/>
                <a:gd name="T9" fmla="*/ 184 h 379"/>
                <a:gd name="T10" fmla="*/ 0 w 439"/>
                <a:gd name="T11" fmla="*/ 189 h 379"/>
                <a:gd name="T12" fmla="*/ 0 w 439"/>
                <a:gd name="T13" fmla="*/ 194 h 379"/>
                <a:gd name="T14" fmla="*/ 0 w 439"/>
                <a:gd name="T15" fmla="*/ 204 h 379"/>
                <a:gd name="T16" fmla="*/ 0 w 439"/>
                <a:gd name="T17" fmla="*/ 209 h 379"/>
                <a:gd name="T18" fmla="*/ 5 w 439"/>
                <a:gd name="T19" fmla="*/ 214 h 379"/>
                <a:gd name="T20" fmla="*/ 85 w 439"/>
                <a:gd name="T21" fmla="*/ 359 h 379"/>
                <a:gd name="T22" fmla="*/ 90 w 439"/>
                <a:gd name="T23" fmla="*/ 364 h 379"/>
                <a:gd name="T24" fmla="*/ 90 w 439"/>
                <a:gd name="T25" fmla="*/ 364 h 379"/>
                <a:gd name="T26" fmla="*/ 95 w 439"/>
                <a:gd name="T27" fmla="*/ 369 h 379"/>
                <a:gd name="T28" fmla="*/ 95 w 439"/>
                <a:gd name="T29" fmla="*/ 369 h 379"/>
                <a:gd name="T30" fmla="*/ 100 w 439"/>
                <a:gd name="T31" fmla="*/ 374 h 379"/>
                <a:gd name="T32" fmla="*/ 100 w 439"/>
                <a:gd name="T33" fmla="*/ 374 h 379"/>
                <a:gd name="T34" fmla="*/ 105 w 439"/>
                <a:gd name="T35" fmla="*/ 374 h 379"/>
                <a:gd name="T36" fmla="*/ 110 w 439"/>
                <a:gd name="T37" fmla="*/ 374 h 379"/>
                <a:gd name="T38" fmla="*/ 110 w 439"/>
                <a:gd name="T39" fmla="*/ 379 h 379"/>
                <a:gd name="T40" fmla="*/ 115 w 439"/>
                <a:gd name="T41" fmla="*/ 379 h 379"/>
                <a:gd name="T42" fmla="*/ 120 w 439"/>
                <a:gd name="T43" fmla="*/ 379 h 379"/>
                <a:gd name="T44" fmla="*/ 120 w 439"/>
                <a:gd name="T45" fmla="*/ 379 h 379"/>
                <a:gd name="T46" fmla="*/ 125 w 439"/>
                <a:gd name="T47" fmla="*/ 379 h 379"/>
                <a:gd name="T48" fmla="*/ 130 w 439"/>
                <a:gd name="T49" fmla="*/ 374 h 379"/>
                <a:gd name="T50" fmla="*/ 130 w 439"/>
                <a:gd name="T51" fmla="*/ 374 h 379"/>
                <a:gd name="T52" fmla="*/ 135 w 439"/>
                <a:gd name="T53" fmla="*/ 374 h 379"/>
                <a:gd name="T54" fmla="*/ 424 w 439"/>
                <a:gd name="T55" fmla="*/ 209 h 379"/>
                <a:gd name="T56" fmla="*/ 429 w 439"/>
                <a:gd name="T57" fmla="*/ 204 h 379"/>
                <a:gd name="T58" fmla="*/ 434 w 439"/>
                <a:gd name="T59" fmla="*/ 199 h 379"/>
                <a:gd name="T60" fmla="*/ 434 w 439"/>
                <a:gd name="T61" fmla="*/ 194 h 379"/>
                <a:gd name="T62" fmla="*/ 439 w 439"/>
                <a:gd name="T63" fmla="*/ 189 h 379"/>
                <a:gd name="T64" fmla="*/ 439 w 439"/>
                <a:gd name="T65" fmla="*/ 179 h 379"/>
                <a:gd name="T66" fmla="*/ 439 w 439"/>
                <a:gd name="T67" fmla="*/ 174 h 379"/>
                <a:gd name="T68" fmla="*/ 439 w 439"/>
                <a:gd name="T69" fmla="*/ 169 h 379"/>
                <a:gd name="T70" fmla="*/ 434 w 439"/>
                <a:gd name="T71" fmla="*/ 159 h 379"/>
                <a:gd name="T72" fmla="*/ 354 w 439"/>
                <a:gd name="T73" fmla="*/ 15 h 379"/>
                <a:gd name="T74" fmla="*/ 349 w 439"/>
                <a:gd name="T75" fmla="*/ 15 h 379"/>
                <a:gd name="T76" fmla="*/ 349 w 439"/>
                <a:gd name="T77" fmla="*/ 10 h 379"/>
                <a:gd name="T78" fmla="*/ 344 w 439"/>
                <a:gd name="T79" fmla="*/ 10 h 379"/>
                <a:gd name="T80" fmla="*/ 344 w 439"/>
                <a:gd name="T81" fmla="*/ 5 h 379"/>
                <a:gd name="T82" fmla="*/ 339 w 439"/>
                <a:gd name="T83" fmla="*/ 5 h 379"/>
                <a:gd name="T84" fmla="*/ 339 w 439"/>
                <a:gd name="T85" fmla="*/ 5 h 379"/>
                <a:gd name="T86" fmla="*/ 334 w 439"/>
                <a:gd name="T87" fmla="*/ 0 h 379"/>
                <a:gd name="T88" fmla="*/ 329 w 439"/>
                <a:gd name="T89" fmla="*/ 0 h 379"/>
                <a:gd name="T90" fmla="*/ 329 w 439"/>
                <a:gd name="T91" fmla="*/ 0 h 379"/>
                <a:gd name="T92" fmla="*/ 324 w 439"/>
                <a:gd name="T93" fmla="*/ 0 h 379"/>
                <a:gd name="T94" fmla="*/ 319 w 439"/>
                <a:gd name="T95" fmla="*/ 0 h 379"/>
                <a:gd name="T96" fmla="*/ 319 w 439"/>
                <a:gd name="T97" fmla="*/ 0 h 379"/>
                <a:gd name="T98" fmla="*/ 314 w 439"/>
                <a:gd name="T99" fmla="*/ 0 h 379"/>
                <a:gd name="T100" fmla="*/ 309 w 439"/>
                <a:gd name="T101" fmla="*/ 0 h 379"/>
                <a:gd name="T102" fmla="*/ 309 w 439"/>
                <a:gd name="T103" fmla="*/ 0 h 379"/>
                <a:gd name="T104" fmla="*/ 304 w 439"/>
                <a:gd name="T105" fmla="*/ 5 h 379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39"/>
                <a:gd name="T160" fmla="*/ 0 h 379"/>
                <a:gd name="T161" fmla="*/ 439 w 439"/>
                <a:gd name="T162" fmla="*/ 379 h 379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39" h="379">
                  <a:moveTo>
                    <a:pt x="304" y="5"/>
                  </a:moveTo>
                  <a:lnTo>
                    <a:pt x="20" y="169"/>
                  </a:lnTo>
                  <a:lnTo>
                    <a:pt x="10" y="174"/>
                  </a:lnTo>
                  <a:lnTo>
                    <a:pt x="5" y="174"/>
                  </a:lnTo>
                  <a:lnTo>
                    <a:pt x="5" y="184"/>
                  </a:lnTo>
                  <a:lnTo>
                    <a:pt x="0" y="189"/>
                  </a:lnTo>
                  <a:lnTo>
                    <a:pt x="0" y="194"/>
                  </a:lnTo>
                  <a:lnTo>
                    <a:pt x="0" y="204"/>
                  </a:lnTo>
                  <a:lnTo>
                    <a:pt x="0" y="209"/>
                  </a:lnTo>
                  <a:lnTo>
                    <a:pt x="5" y="214"/>
                  </a:lnTo>
                  <a:lnTo>
                    <a:pt x="85" y="359"/>
                  </a:lnTo>
                  <a:lnTo>
                    <a:pt x="90" y="364"/>
                  </a:lnTo>
                  <a:lnTo>
                    <a:pt x="95" y="369"/>
                  </a:lnTo>
                  <a:lnTo>
                    <a:pt x="100" y="374"/>
                  </a:lnTo>
                  <a:lnTo>
                    <a:pt x="105" y="374"/>
                  </a:lnTo>
                  <a:lnTo>
                    <a:pt x="110" y="374"/>
                  </a:lnTo>
                  <a:lnTo>
                    <a:pt x="110" y="379"/>
                  </a:lnTo>
                  <a:lnTo>
                    <a:pt x="115" y="379"/>
                  </a:lnTo>
                  <a:lnTo>
                    <a:pt x="120" y="379"/>
                  </a:lnTo>
                  <a:lnTo>
                    <a:pt x="125" y="379"/>
                  </a:lnTo>
                  <a:lnTo>
                    <a:pt x="130" y="374"/>
                  </a:lnTo>
                  <a:lnTo>
                    <a:pt x="135" y="374"/>
                  </a:lnTo>
                  <a:lnTo>
                    <a:pt x="424" y="209"/>
                  </a:lnTo>
                  <a:lnTo>
                    <a:pt x="429" y="204"/>
                  </a:lnTo>
                  <a:lnTo>
                    <a:pt x="434" y="199"/>
                  </a:lnTo>
                  <a:lnTo>
                    <a:pt x="434" y="194"/>
                  </a:lnTo>
                  <a:lnTo>
                    <a:pt x="439" y="189"/>
                  </a:lnTo>
                  <a:lnTo>
                    <a:pt x="439" y="179"/>
                  </a:lnTo>
                  <a:lnTo>
                    <a:pt x="439" y="174"/>
                  </a:lnTo>
                  <a:lnTo>
                    <a:pt x="439" y="169"/>
                  </a:lnTo>
                  <a:lnTo>
                    <a:pt x="434" y="159"/>
                  </a:lnTo>
                  <a:lnTo>
                    <a:pt x="354" y="15"/>
                  </a:lnTo>
                  <a:lnTo>
                    <a:pt x="349" y="15"/>
                  </a:lnTo>
                  <a:lnTo>
                    <a:pt x="349" y="10"/>
                  </a:lnTo>
                  <a:lnTo>
                    <a:pt x="344" y="10"/>
                  </a:lnTo>
                  <a:lnTo>
                    <a:pt x="344" y="5"/>
                  </a:lnTo>
                  <a:lnTo>
                    <a:pt x="339" y="5"/>
                  </a:lnTo>
                  <a:lnTo>
                    <a:pt x="334" y="0"/>
                  </a:lnTo>
                  <a:lnTo>
                    <a:pt x="329" y="0"/>
                  </a:lnTo>
                  <a:lnTo>
                    <a:pt x="324" y="0"/>
                  </a:lnTo>
                  <a:lnTo>
                    <a:pt x="319" y="0"/>
                  </a:lnTo>
                  <a:lnTo>
                    <a:pt x="314" y="0"/>
                  </a:lnTo>
                  <a:lnTo>
                    <a:pt x="309" y="0"/>
                  </a:lnTo>
                  <a:lnTo>
                    <a:pt x="304" y="5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5534" y="654"/>
              <a:ext cx="104" cy="50"/>
            </a:xfrm>
            <a:custGeom>
              <a:avLst/>
              <a:gdLst>
                <a:gd name="T0" fmla="*/ 104 w 104"/>
                <a:gd name="T1" fmla="*/ 0 h 50"/>
                <a:gd name="T2" fmla="*/ 99 w 104"/>
                <a:gd name="T3" fmla="*/ 0 h 50"/>
                <a:gd name="T4" fmla="*/ 99 w 104"/>
                <a:gd name="T5" fmla="*/ 5 h 50"/>
                <a:gd name="T6" fmla="*/ 94 w 104"/>
                <a:gd name="T7" fmla="*/ 5 h 50"/>
                <a:gd name="T8" fmla="*/ 89 w 104"/>
                <a:gd name="T9" fmla="*/ 10 h 50"/>
                <a:gd name="T10" fmla="*/ 89 w 104"/>
                <a:gd name="T11" fmla="*/ 10 h 50"/>
                <a:gd name="T12" fmla="*/ 84 w 104"/>
                <a:gd name="T13" fmla="*/ 15 h 50"/>
                <a:gd name="T14" fmla="*/ 79 w 104"/>
                <a:gd name="T15" fmla="*/ 15 h 50"/>
                <a:gd name="T16" fmla="*/ 79 w 104"/>
                <a:gd name="T17" fmla="*/ 20 h 50"/>
                <a:gd name="T18" fmla="*/ 74 w 104"/>
                <a:gd name="T19" fmla="*/ 25 h 50"/>
                <a:gd name="T20" fmla="*/ 74 w 104"/>
                <a:gd name="T21" fmla="*/ 25 h 50"/>
                <a:gd name="T22" fmla="*/ 69 w 104"/>
                <a:gd name="T23" fmla="*/ 30 h 50"/>
                <a:gd name="T24" fmla="*/ 69 w 104"/>
                <a:gd name="T25" fmla="*/ 35 h 50"/>
                <a:gd name="T26" fmla="*/ 64 w 104"/>
                <a:gd name="T27" fmla="*/ 35 h 50"/>
                <a:gd name="T28" fmla="*/ 64 w 104"/>
                <a:gd name="T29" fmla="*/ 40 h 50"/>
                <a:gd name="T30" fmla="*/ 59 w 104"/>
                <a:gd name="T31" fmla="*/ 45 h 50"/>
                <a:gd name="T32" fmla="*/ 59 w 104"/>
                <a:gd name="T33" fmla="*/ 50 h 50"/>
                <a:gd name="T34" fmla="*/ 54 w 104"/>
                <a:gd name="T35" fmla="*/ 45 h 50"/>
                <a:gd name="T36" fmla="*/ 49 w 104"/>
                <a:gd name="T37" fmla="*/ 45 h 50"/>
                <a:gd name="T38" fmla="*/ 49 w 104"/>
                <a:gd name="T39" fmla="*/ 40 h 50"/>
                <a:gd name="T40" fmla="*/ 44 w 104"/>
                <a:gd name="T41" fmla="*/ 40 h 50"/>
                <a:gd name="T42" fmla="*/ 39 w 104"/>
                <a:gd name="T43" fmla="*/ 35 h 50"/>
                <a:gd name="T44" fmla="*/ 35 w 104"/>
                <a:gd name="T45" fmla="*/ 35 h 50"/>
                <a:gd name="T46" fmla="*/ 30 w 104"/>
                <a:gd name="T47" fmla="*/ 35 h 50"/>
                <a:gd name="T48" fmla="*/ 25 w 104"/>
                <a:gd name="T49" fmla="*/ 30 h 50"/>
                <a:gd name="T50" fmla="*/ 25 w 104"/>
                <a:gd name="T51" fmla="*/ 30 h 50"/>
                <a:gd name="T52" fmla="*/ 20 w 104"/>
                <a:gd name="T53" fmla="*/ 30 h 50"/>
                <a:gd name="T54" fmla="*/ 15 w 104"/>
                <a:gd name="T55" fmla="*/ 25 h 50"/>
                <a:gd name="T56" fmla="*/ 10 w 104"/>
                <a:gd name="T57" fmla="*/ 25 h 50"/>
                <a:gd name="T58" fmla="*/ 10 w 104"/>
                <a:gd name="T59" fmla="*/ 25 h 50"/>
                <a:gd name="T60" fmla="*/ 5 w 104"/>
                <a:gd name="T61" fmla="*/ 25 h 50"/>
                <a:gd name="T62" fmla="*/ 0 w 104"/>
                <a:gd name="T63" fmla="*/ 25 h 50"/>
                <a:gd name="T64" fmla="*/ 0 w 104"/>
                <a:gd name="T65" fmla="*/ 25 h 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04"/>
                <a:gd name="T100" fmla="*/ 0 h 50"/>
                <a:gd name="T101" fmla="*/ 104 w 104"/>
                <a:gd name="T102" fmla="*/ 50 h 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04" h="50">
                  <a:moveTo>
                    <a:pt x="104" y="0"/>
                  </a:moveTo>
                  <a:lnTo>
                    <a:pt x="99" y="0"/>
                  </a:lnTo>
                  <a:lnTo>
                    <a:pt x="99" y="5"/>
                  </a:lnTo>
                  <a:lnTo>
                    <a:pt x="94" y="5"/>
                  </a:lnTo>
                  <a:lnTo>
                    <a:pt x="89" y="10"/>
                  </a:lnTo>
                  <a:lnTo>
                    <a:pt x="84" y="15"/>
                  </a:lnTo>
                  <a:lnTo>
                    <a:pt x="79" y="15"/>
                  </a:lnTo>
                  <a:lnTo>
                    <a:pt x="79" y="20"/>
                  </a:lnTo>
                  <a:lnTo>
                    <a:pt x="74" y="25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4" y="35"/>
                  </a:lnTo>
                  <a:lnTo>
                    <a:pt x="64" y="40"/>
                  </a:lnTo>
                  <a:lnTo>
                    <a:pt x="59" y="45"/>
                  </a:lnTo>
                  <a:lnTo>
                    <a:pt x="59" y="50"/>
                  </a:lnTo>
                  <a:lnTo>
                    <a:pt x="54" y="45"/>
                  </a:lnTo>
                  <a:lnTo>
                    <a:pt x="49" y="45"/>
                  </a:lnTo>
                  <a:lnTo>
                    <a:pt x="49" y="40"/>
                  </a:lnTo>
                  <a:lnTo>
                    <a:pt x="44" y="40"/>
                  </a:lnTo>
                  <a:lnTo>
                    <a:pt x="39" y="35"/>
                  </a:lnTo>
                  <a:lnTo>
                    <a:pt x="35" y="35"/>
                  </a:lnTo>
                  <a:lnTo>
                    <a:pt x="30" y="35"/>
                  </a:lnTo>
                  <a:lnTo>
                    <a:pt x="25" y="30"/>
                  </a:lnTo>
                  <a:lnTo>
                    <a:pt x="20" y="30"/>
                  </a:lnTo>
                  <a:lnTo>
                    <a:pt x="15" y="25"/>
                  </a:lnTo>
                  <a:lnTo>
                    <a:pt x="10" y="25"/>
                  </a:lnTo>
                  <a:lnTo>
                    <a:pt x="5" y="25"/>
                  </a:lnTo>
                  <a:lnTo>
                    <a:pt x="0" y="25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5758" y="514"/>
              <a:ext cx="35" cy="5"/>
            </a:xfrm>
            <a:custGeom>
              <a:avLst/>
              <a:gdLst>
                <a:gd name="T0" fmla="*/ 35 w 35"/>
                <a:gd name="T1" fmla="*/ 0 h 5"/>
                <a:gd name="T2" fmla="*/ 30 w 35"/>
                <a:gd name="T3" fmla="*/ 0 h 5"/>
                <a:gd name="T4" fmla="*/ 30 w 35"/>
                <a:gd name="T5" fmla="*/ 0 h 5"/>
                <a:gd name="T6" fmla="*/ 25 w 35"/>
                <a:gd name="T7" fmla="*/ 0 h 5"/>
                <a:gd name="T8" fmla="*/ 20 w 35"/>
                <a:gd name="T9" fmla="*/ 5 h 5"/>
                <a:gd name="T10" fmla="*/ 15 w 35"/>
                <a:gd name="T11" fmla="*/ 5 h 5"/>
                <a:gd name="T12" fmla="*/ 10 w 35"/>
                <a:gd name="T13" fmla="*/ 5 h 5"/>
                <a:gd name="T14" fmla="*/ 5 w 35"/>
                <a:gd name="T15" fmla="*/ 0 h 5"/>
                <a:gd name="T16" fmla="*/ 0 w 35"/>
                <a:gd name="T17" fmla="*/ 0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5"/>
                <a:gd name="T28" fmla="*/ 0 h 5"/>
                <a:gd name="T29" fmla="*/ 35 w 35"/>
                <a:gd name="T30" fmla="*/ 5 h 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5" h="5">
                  <a:moveTo>
                    <a:pt x="35" y="0"/>
                  </a:moveTo>
                  <a:lnTo>
                    <a:pt x="30" y="0"/>
                  </a:lnTo>
                  <a:lnTo>
                    <a:pt x="25" y="0"/>
                  </a:lnTo>
                  <a:lnTo>
                    <a:pt x="20" y="5"/>
                  </a:lnTo>
                  <a:lnTo>
                    <a:pt x="15" y="5"/>
                  </a:lnTo>
                  <a:lnTo>
                    <a:pt x="10" y="5"/>
                  </a:lnTo>
                  <a:lnTo>
                    <a:pt x="5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Freeform 37"/>
            <p:cNvSpPr>
              <a:spLocks/>
            </p:cNvSpPr>
            <p:nvPr/>
          </p:nvSpPr>
          <p:spPr bwMode="auto">
            <a:xfrm>
              <a:off x="5753" y="380"/>
              <a:ext cx="10" cy="5"/>
            </a:xfrm>
            <a:custGeom>
              <a:avLst/>
              <a:gdLst>
                <a:gd name="T0" fmla="*/ 10 w 10"/>
                <a:gd name="T1" fmla="*/ 5 h 5"/>
                <a:gd name="T2" fmla="*/ 10 w 10"/>
                <a:gd name="T3" fmla="*/ 5 h 5"/>
                <a:gd name="T4" fmla="*/ 10 w 10"/>
                <a:gd name="T5" fmla="*/ 5 h 5"/>
                <a:gd name="T6" fmla="*/ 5 w 10"/>
                <a:gd name="T7" fmla="*/ 0 h 5"/>
                <a:gd name="T8" fmla="*/ 5 w 10"/>
                <a:gd name="T9" fmla="*/ 0 h 5"/>
                <a:gd name="T10" fmla="*/ 5 w 10"/>
                <a:gd name="T11" fmla="*/ 0 h 5"/>
                <a:gd name="T12" fmla="*/ 0 w 10"/>
                <a:gd name="T13" fmla="*/ 0 h 5"/>
                <a:gd name="T14" fmla="*/ 0 w 10"/>
                <a:gd name="T15" fmla="*/ 0 h 5"/>
                <a:gd name="T16" fmla="*/ 0 w 10"/>
                <a:gd name="T17" fmla="*/ 0 h 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"/>
                <a:gd name="T28" fmla="*/ 0 h 5"/>
                <a:gd name="T29" fmla="*/ 10 w 10"/>
                <a:gd name="T30" fmla="*/ 5 h 5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" h="5">
                  <a:moveTo>
                    <a:pt x="10" y="5"/>
                  </a:moveTo>
                  <a:lnTo>
                    <a:pt x="10" y="5"/>
                  </a:lnTo>
                  <a:lnTo>
                    <a:pt x="5" y="0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1" name="Retângulo de cantos arredondados 3">
            <a:extLst>
              <a:ext uri="{FF2B5EF4-FFF2-40B4-BE49-F238E27FC236}">
                <a16:creationId xmlns:a16="http://schemas.microsoft.com/office/drawing/2014/main" id="{190465F1-7A73-4F11-B484-3FB433001256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7785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409950" y="1524000"/>
            <a:ext cx="4941888" cy="6810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pt-BR" sz="2200" dirty="0" err="1">
                <a:latin typeface="Incised901 BT"/>
              </a:rPr>
              <a:t>Ações</a:t>
            </a:r>
            <a:r>
              <a:rPr lang="en-US" altLang="pt-BR" sz="2200" dirty="0">
                <a:latin typeface="Incised901 BT"/>
              </a:rPr>
              <a:t> que </a:t>
            </a:r>
            <a:r>
              <a:rPr lang="en-US" altLang="pt-BR" sz="2200" dirty="0" err="1">
                <a:latin typeface="Incised901 BT"/>
              </a:rPr>
              <a:t>requerem</a:t>
            </a:r>
            <a:r>
              <a:rPr lang="en-US" altLang="pt-BR" sz="2200" dirty="0">
                <a:latin typeface="Incised901 BT"/>
              </a:rPr>
              <a:t> </a:t>
            </a:r>
            <a:r>
              <a:rPr lang="en-US" altLang="pt-BR" sz="2200" dirty="0" err="1">
                <a:latin typeface="Incised901 BT"/>
              </a:rPr>
              <a:t>inevitavelmente</a:t>
            </a:r>
            <a:r>
              <a:rPr lang="en-US" altLang="pt-BR" sz="2200" dirty="0">
                <a:latin typeface="Incised901 BT"/>
              </a:rPr>
              <a:t> que a </a:t>
            </a:r>
            <a:r>
              <a:rPr lang="en-US" altLang="pt-BR" sz="2200" dirty="0" err="1">
                <a:latin typeface="Incised901 BT"/>
              </a:rPr>
              <a:t>máquina</a:t>
            </a:r>
            <a:r>
              <a:rPr lang="en-US" altLang="pt-BR" sz="2200" dirty="0">
                <a:latin typeface="Incised901 BT"/>
              </a:rPr>
              <a:t> (</a:t>
            </a:r>
            <a:r>
              <a:rPr lang="en-US" altLang="pt-BR" sz="2200" dirty="0" err="1">
                <a:latin typeface="Incised901 BT"/>
              </a:rPr>
              <a:t>processo</a:t>
            </a:r>
            <a:r>
              <a:rPr lang="en-US" altLang="pt-BR" sz="2200" dirty="0">
                <a:latin typeface="Incised901 BT"/>
              </a:rPr>
              <a:t>) </a:t>
            </a:r>
            <a:r>
              <a:rPr lang="en-US" altLang="pt-BR" sz="2200" dirty="0" err="1">
                <a:latin typeface="Incised901 BT"/>
              </a:rPr>
              <a:t>esteja</a:t>
            </a:r>
            <a:r>
              <a:rPr lang="en-US" altLang="pt-BR" sz="2200" dirty="0">
                <a:latin typeface="Incised901 BT"/>
              </a:rPr>
              <a:t> </a:t>
            </a:r>
            <a:r>
              <a:rPr lang="en-US" altLang="pt-BR" sz="2200" dirty="0" err="1">
                <a:latin typeface="Incised901 BT"/>
              </a:rPr>
              <a:t>parado</a:t>
            </a:r>
            <a:r>
              <a:rPr lang="en-US" altLang="pt-BR" sz="2200" dirty="0">
                <a:latin typeface="Incised901 BT"/>
              </a:rPr>
              <a:t>.</a:t>
            </a:r>
            <a:endParaRPr lang="pt-BR" altLang="pt-BR" sz="2200" dirty="0">
              <a:latin typeface="Incised901 BT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429000" y="4724400"/>
            <a:ext cx="49228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2200" dirty="0" err="1">
                <a:latin typeface="Incised901 BT"/>
              </a:rPr>
              <a:t>Ações</a:t>
            </a:r>
            <a:r>
              <a:rPr lang="en-US" altLang="pt-BR" sz="2200" dirty="0">
                <a:latin typeface="Incised901 BT"/>
              </a:rPr>
              <a:t> que </a:t>
            </a:r>
            <a:r>
              <a:rPr lang="en-US" altLang="pt-BR" sz="2200" dirty="0" err="1">
                <a:latin typeface="Incised901 BT"/>
              </a:rPr>
              <a:t>podem</a:t>
            </a:r>
            <a:r>
              <a:rPr lang="en-US" altLang="pt-BR" sz="2200" dirty="0">
                <a:latin typeface="Incised901 BT"/>
              </a:rPr>
              <a:t> ser </a:t>
            </a:r>
            <a:r>
              <a:rPr lang="en-US" altLang="pt-BR" sz="2200" dirty="0" err="1">
                <a:latin typeface="Incised901 BT"/>
              </a:rPr>
              <a:t>executadas</a:t>
            </a:r>
            <a:r>
              <a:rPr lang="en-US" altLang="pt-BR" sz="2200" dirty="0">
                <a:latin typeface="Incised901 BT"/>
              </a:rPr>
              <a:t> </a:t>
            </a:r>
            <a:r>
              <a:rPr lang="en-US" altLang="pt-BR" sz="2200" dirty="0" err="1">
                <a:latin typeface="Incised901 BT"/>
              </a:rPr>
              <a:t>enquanto</a:t>
            </a:r>
            <a:r>
              <a:rPr lang="en-US" altLang="pt-BR" sz="2200" dirty="0">
                <a:latin typeface="Incised901 BT"/>
              </a:rPr>
              <a:t> a </a:t>
            </a:r>
            <a:r>
              <a:rPr lang="en-US" altLang="pt-BR" sz="2200" dirty="0" err="1">
                <a:latin typeface="Incised901 BT"/>
              </a:rPr>
              <a:t>máquina</a:t>
            </a:r>
            <a:r>
              <a:rPr lang="en-US" altLang="pt-BR" sz="2200" dirty="0">
                <a:latin typeface="Incised901 BT"/>
              </a:rPr>
              <a:t> (</a:t>
            </a:r>
            <a:r>
              <a:rPr lang="en-US" altLang="pt-BR" sz="2200" dirty="0" err="1">
                <a:latin typeface="Incised901 BT"/>
              </a:rPr>
              <a:t>processo</a:t>
            </a:r>
            <a:r>
              <a:rPr lang="en-US" altLang="pt-BR" sz="2200" dirty="0">
                <a:latin typeface="Incised901 BT"/>
              </a:rPr>
              <a:t>) </a:t>
            </a:r>
            <a:r>
              <a:rPr lang="en-US" altLang="pt-BR" sz="2200" dirty="0" err="1">
                <a:latin typeface="Incised901 BT"/>
              </a:rPr>
              <a:t>está</a:t>
            </a:r>
            <a:r>
              <a:rPr lang="en-US" altLang="pt-BR" sz="2200" dirty="0">
                <a:latin typeface="Incised901 BT"/>
              </a:rPr>
              <a:t> operando.</a:t>
            </a:r>
            <a:endParaRPr lang="pt-BR" altLang="pt-BR" sz="2200" dirty="0">
              <a:latin typeface="Incised901 BT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764088" y="3276600"/>
            <a:ext cx="2462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3000" b="1">
                <a:solidFill>
                  <a:srgbClr val="F7173C"/>
                </a:solidFill>
                <a:latin typeface="Incised901 BT"/>
              </a:rPr>
              <a:t>SEPARAR</a:t>
            </a:r>
            <a:endParaRPr lang="pt-BR" altLang="pt-BR" sz="30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8" name="AutoShape 5"/>
          <p:cNvSpPr>
            <a:spLocks noChangeArrowheads="1"/>
          </p:cNvSpPr>
          <p:nvPr/>
        </p:nvSpPr>
        <p:spPr bwMode="auto">
          <a:xfrm>
            <a:off x="5608638" y="2667000"/>
            <a:ext cx="703262" cy="4572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>
              <a:latin typeface="Incised901 BT"/>
            </a:endParaRPr>
          </a:p>
        </p:txBody>
      </p:sp>
      <p:sp>
        <p:nvSpPr>
          <p:cNvPr id="9" name="AutoShape 6"/>
          <p:cNvSpPr>
            <a:spLocks noChangeArrowheads="1"/>
          </p:cNvSpPr>
          <p:nvPr/>
        </p:nvSpPr>
        <p:spPr bwMode="auto">
          <a:xfrm rot="10861193">
            <a:off x="5608638" y="3962400"/>
            <a:ext cx="703262" cy="457200"/>
          </a:xfrm>
          <a:prstGeom prst="up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rot="10800000"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pt-BR" altLang="pt-BR">
              <a:latin typeface="Incised901 BT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755650" y="3200400"/>
            <a:ext cx="2462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3000" b="1">
                <a:solidFill>
                  <a:srgbClr val="F7173C"/>
                </a:solidFill>
                <a:latin typeface="Incised901 BT"/>
              </a:rPr>
              <a:t>Preparação</a:t>
            </a:r>
            <a:endParaRPr lang="pt-BR" altLang="pt-BR" sz="30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1036638" y="4724400"/>
            <a:ext cx="2462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3000" b="1">
                <a:solidFill>
                  <a:srgbClr val="F7173C"/>
                </a:solidFill>
                <a:latin typeface="Incised901 BT"/>
              </a:rPr>
              <a:t>Externa</a:t>
            </a:r>
            <a:endParaRPr lang="pt-BR" altLang="pt-BR" sz="30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1036638" y="1676400"/>
            <a:ext cx="2462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3000" b="1">
                <a:solidFill>
                  <a:srgbClr val="F7173C"/>
                </a:solidFill>
                <a:latin typeface="Incised901 BT"/>
              </a:rPr>
              <a:t>Interna</a:t>
            </a:r>
            <a:endParaRPr lang="pt-BR" altLang="pt-BR" sz="30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 flipV="1">
            <a:off x="1881188" y="2286000"/>
            <a:ext cx="350837" cy="914400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 rot="7662675" flipV="1">
            <a:off x="1866107" y="3921918"/>
            <a:ext cx="381000" cy="842963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5" name="Retângulo de cantos arredondados 3">
            <a:extLst>
              <a:ext uri="{FF2B5EF4-FFF2-40B4-BE49-F238E27FC236}">
                <a16:creationId xmlns:a16="http://schemas.microsoft.com/office/drawing/2014/main" id="{B0D79F9C-E889-491E-B1D4-7EAA7C7B064E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0654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8"/>
          <p:cNvSpPr>
            <a:spLocks noChangeArrowheads="1"/>
          </p:cNvSpPr>
          <p:nvPr/>
        </p:nvSpPr>
        <p:spPr bwMode="auto">
          <a:xfrm>
            <a:off x="3241675" y="2851150"/>
            <a:ext cx="11826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>
              <a:latin typeface="Arial MT Black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4651375" y="4683125"/>
            <a:ext cx="1182688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>
              <a:latin typeface="Arial MT Black"/>
            </a:endParaRPr>
          </a:p>
        </p:txBody>
      </p:sp>
      <p:sp>
        <p:nvSpPr>
          <p:cNvPr id="7" name="Freeform 3"/>
          <p:cNvSpPr>
            <a:spLocks/>
          </p:cNvSpPr>
          <p:nvPr/>
        </p:nvSpPr>
        <p:spPr bwMode="auto">
          <a:xfrm>
            <a:off x="2484438" y="1908175"/>
            <a:ext cx="4356100" cy="2133600"/>
          </a:xfrm>
          <a:custGeom>
            <a:avLst/>
            <a:gdLst>
              <a:gd name="T0" fmla="*/ 2147483646 w 5398"/>
              <a:gd name="T1" fmla="*/ 2147483646 h 2602"/>
              <a:gd name="T2" fmla="*/ 2147483646 w 5398"/>
              <a:gd name="T3" fmla="*/ 2147483646 h 2602"/>
              <a:gd name="T4" fmla="*/ 2147483646 w 5398"/>
              <a:gd name="T5" fmla="*/ 2147483646 h 2602"/>
              <a:gd name="T6" fmla="*/ 2147483646 w 5398"/>
              <a:gd name="T7" fmla="*/ 2147483646 h 2602"/>
              <a:gd name="T8" fmla="*/ 2147483646 w 5398"/>
              <a:gd name="T9" fmla="*/ 2147483646 h 2602"/>
              <a:gd name="T10" fmla="*/ 2147483646 w 5398"/>
              <a:gd name="T11" fmla="*/ 2147483646 h 2602"/>
              <a:gd name="T12" fmla="*/ 2147483646 w 5398"/>
              <a:gd name="T13" fmla="*/ 2147483646 h 2602"/>
              <a:gd name="T14" fmla="*/ 2147483646 w 5398"/>
              <a:gd name="T15" fmla="*/ 2147483646 h 2602"/>
              <a:gd name="T16" fmla="*/ 2147483646 w 5398"/>
              <a:gd name="T17" fmla="*/ 2147483646 h 2602"/>
              <a:gd name="T18" fmla="*/ 2147483646 w 5398"/>
              <a:gd name="T19" fmla="*/ 2147483646 h 2602"/>
              <a:gd name="T20" fmla="*/ 2147483646 w 5398"/>
              <a:gd name="T21" fmla="*/ 2147483646 h 2602"/>
              <a:gd name="T22" fmla="*/ 2147483646 w 5398"/>
              <a:gd name="T23" fmla="*/ 2147483646 h 2602"/>
              <a:gd name="T24" fmla="*/ 2147483646 w 5398"/>
              <a:gd name="T25" fmla="*/ 2147483646 h 2602"/>
              <a:gd name="T26" fmla="*/ 2147483646 w 5398"/>
              <a:gd name="T27" fmla="*/ 2147483646 h 2602"/>
              <a:gd name="T28" fmla="*/ 2147483646 w 5398"/>
              <a:gd name="T29" fmla="*/ 2147483646 h 2602"/>
              <a:gd name="T30" fmla="*/ 2147483646 w 5398"/>
              <a:gd name="T31" fmla="*/ 2147483646 h 2602"/>
              <a:gd name="T32" fmla="*/ 2147483646 w 5398"/>
              <a:gd name="T33" fmla="*/ 2147483646 h 2602"/>
              <a:gd name="T34" fmla="*/ 2147483646 w 5398"/>
              <a:gd name="T35" fmla="*/ 2147483646 h 2602"/>
              <a:gd name="T36" fmla="*/ 2147483646 w 5398"/>
              <a:gd name="T37" fmla="*/ 2147483646 h 2602"/>
              <a:gd name="T38" fmla="*/ 2147483646 w 5398"/>
              <a:gd name="T39" fmla="*/ 0 h 2602"/>
              <a:gd name="T40" fmla="*/ 2147483646 w 5398"/>
              <a:gd name="T41" fmla="*/ 2147483646 h 2602"/>
              <a:gd name="T42" fmla="*/ 2147483646 w 5398"/>
              <a:gd name="T43" fmla="*/ 2147483646 h 2602"/>
              <a:gd name="T44" fmla="*/ 2147483646 w 5398"/>
              <a:gd name="T45" fmla="*/ 2147483646 h 2602"/>
              <a:gd name="T46" fmla="*/ 2147483646 w 5398"/>
              <a:gd name="T47" fmla="*/ 2147483646 h 2602"/>
              <a:gd name="T48" fmla="*/ 2147483646 w 5398"/>
              <a:gd name="T49" fmla="*/ 2147483646 h 2602"/>
              <a:gd name="T50" fmla="*/ 2147483646 w 5398"/>
              <a:gd name="T51" fmla="*/ 2147483646 h 2602"/>
              <a:gd name="T52" fmla="*/ 2147483646 w 5398"/>
              <a:gd name="T53" fmla="*/ 2147483646 h 2602"/>
              <a:gd name="T54" fmla="*/ 2147483646 w 5398"/>
              <a:gd name="T55" fmla="*/ 2147483646 h 2602"/>
              <a:gd name="T56" fmla="*/ 2147483646 w 5398"/>
              <a:gd name="T57" fmla="*/ 2147483646 h 2602"/>
              <a:gd name="T58" fmla="*/ 2147483646 w 5398"/>
              <a:gd name="T59" fmla="*/ 2147483646 h 2602"/>
              <a:gd name="T60" fmla="*/ 2147483646 w 5398"/>
              <a:gd name="T61" fmla="*/ 2147483646 h 2602"/>
              <a:gd name="T62" fmla="*/ 2147483646 w 5398"/>
              <a:gd name="T63" fmla="*/ 2147483646 h 2602"/>
              <a:gd name="T64" fmla="*/ 2147483646 w 5398"/>
              <a:gd name="T65" fmla="*/ 2147483646 h 2602"/>
              <a:gd name="T66" fmla="*/ 2147483646 w 5398"/>
              <a:gd name="T67" fmla="*/ 2147483646 h 2602"/>
              <a:gd name="T68" fmla="*/ 2147483646 w 5398"/>
              <a:gd name="T69" fmla="*/ 2147483646 h 2602"/>
              <a:gd name="T70" fmla="*/ 2147483646 w 5398"/>
              <a:gd name="T71" fmla="*/ 2147483646 h 2602"/>
              <a:gd name="T72" fmla="*/ 2147483646 w 5398"/>
              <a:gd name="T73" fmla="*/ 2147483646 h 2602"/>
              <a:gd name="T74" fmla="*/ 2147483646 w 5398"/>
              <a:gd name="T75" fmla="*/ 2147483646 h 2602"/>
              <a:gd name="T76" fmla="*/ 2147483646 w 5398"/>
              <a:gd name="T77" fmla="*/ 2147483646 h 2602"/>
              <a:gd name="T78" fmla="*/ 2147483646 w 5398"/>
              <a:gd name="T79" fmla="*/ 2147483646 h 2602"/>
              <a:gd name="T80" fmla="*/ 2147483646 w 5398"/>
              <a:gd name="T81" fmla="*/ 2147483646 h 2602"/>
              <a:gd name="T82" fmla="*/ 2147483646 w 5398"/>
              <a:gd name="T83" fmla="*/ 2147483646 h 2602"/>
              <a:gd name="T84" fmla="*/ 2147483646 w 5398"/>
              <a:gd name="T85" fmla="*/ 2147483646 h 2602"/>
              <a:gd name="T86" fmla="*/ 2147483646 w 5398"/>
              <a:gd name="T87" fmla="*/ 2147483646 h 2602"/>
              <a:gd name="T88" fmla="*/ 2147483646 w 5398"/>
              <a:gd name="T89" fmla="*/ 2147483646 h 2602"/>
              <a:gd name="T90" fmla="*/ 2147483646 w 5398"/>
              <a:gd name="T91" fmla="*/ 2147483646 h 2602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w 5398"/>
              <a:gd name="T139" fmla="*/ 0 h 2602"/>
              <a:gd name="T140" fmla="*/ 5398 w 5398"/>
              <a:gd name="T141" fmla="*/ 2602 h 2602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T138" t="T139" r="T140" b="T141"/>
            <a:pathLst>
              <a:path w="5398" h="2602">
                <a:moveTo>
                  <a:pt x="0" y="2600"/>
                </a:moveTo>
                <a:lnTo>
                  <a:pt x="5" y="2506"/>
                </a:lnTo>
                <a:lnTo>
                  <a:pt x="11" y="2432"/>
                </a:lnTo>
                <a:lnTo>
                  <a:pt x="25" y="2306"/>
                </a:lnTo>
                <a:lnTo>
                  <a:pt x="40" y="2190"/>
                </a:lnTo>
                <a:lnTo>
                  <a:pt x="51" y="2118"/>
                </a:lnTo>
                <a:lnTo>
                  <a:pt x="77" y="2011"/>
                </a:lnTo>
                <a:lnTo>
                  <a:pt x="95" y="1934"/>
                </a:lnTo>
                <a:lnTo>
                  <a:pt x="121" y="1853"/>
                </a:lnTo>
                <a:lnTo>
                  <a:pt x="156" y="1739"/>
                </a:lnTo>
                <a:lnTo>
                  <a:pt x="198" y="1639"/>
                </a:lnTo>
                <a:lnTo>
                  <a:pt x="226" y="1569"/>
                </a:lnTo>
                <a:lnTo>
                  <a:pt x="277" y="1464"/>
                </a:lnTo>
                <a:lnTo>
                  <a:pt x="340" y="1348"/>
                </a:lnTo>
                <a:lnTo>
                  <a:pt x="382" y="1281"/>
                </a:lnTo>
                <a:lnTo>
                  <a:pt x="435" y="1202"/>
                </a:lnTo>
                <a:lnTo>
                  <a:pt x="505" y="1090"/>
                </a:lnTo>
                <a:lnTo>
                  <a:pt x="563" y="1021"/>
                </a:lnTo>
                <a:lnTo>
                  <a:pt x="625" y="944"/>
                </a:lnTo>
                <a:lnTo>
                  <a:pt x="726" y="837"/>
                </a:lnTo>
                <a:lnTo>
                  <a:pt x="789" y="765"/>
                </a:lnTo>
                <a:lnTo>
                  <a:pt x="858" y="707"/>
                </a:lnTo>
                <a:lnTo>
                  <a:pt x="935" y="637"/>
                </a:lnTo>
                <a:lnTo>
                  <a:pt x="1003" y="581"/>
                </a:lnTo>
                <a:lnTo>
                  <a:pt x="1077" y="528"/>
                </a:lnTo>
                <a:lnTo>
                  <a:pt x="1214" y="434"/>
                </a:lnTo>
                <a:lnTo>
                  <a:pt x="1293" y="385"/>
                </a:lnTo>
                <a:lnTo>
                  <a:pt x="1358" y="348"/>
                </a:lnTo>
                <a:lnTo>
                  <a:pt x="1467" y="290"/>
                </a:lnTo>
                <a:lnTo>
                  <a:pt x="1579" y="239"/>
                </a:lnTo>
                <a:lnTo>
                  <a:pt x="1672" y="197"/>
                </a:lnTo>
                <a:lnTo>
                  <a:pt x="1768" y="160"/>
                </a:lnTo>
                <a:lnTo>
                  <a:pt x="1861" y="134"/>
                </a:lnTo>
                <a:lnTo>
                  <a:pt x="1919" y="113"/>
                </a:lnTo>
                <a:lnTo>
                  <a:pt x="1998" y="90"/>
                </a:lnTo>
                <a:lnTo>
                  <a:pt x="2116" y="60"/>
                </a:lnTo>
                <a:lnTo>
                  <a:pt x="2258" y="37"/>
                </a:lnTo>
                <a:lnTo>
                  <a:pt x="2384" y="21"/>
                </a:lnTo>
                <a:lnTo>
                  <a:pt x="2519" y="7"/>
                </a:lnTo>
                <a:lnTo>
                  <a:pt x="2658" y="0"/>
                </a:lnTo>
                <a:lnTo>
                  <a:pt x="2747" y="2"/>
                </a:lnTo>
                <a:lnTo>
                  <a:pt x="2826" y="2"/>
                </a:lnTo>
                <a:lnTo>
                  <a:pt x="2893" y="7"/>
                </a:lnTo>
                <a:lnTo>
                  <a:pt x="2973" y="13"/>
                </a:lnTo>
                <a:lnTo>
                  <a:pt x="3042" y="23"/>
                </a:lnTo>
                <a:lnTo>
                  <a:pt x="3087" y="28"/>
                </a:lnTo>
                <a:lnTo>
                  <a:pt x="3168" y="42"/>
                </a:lnTo>
                <a:lnTo>
                  <a:pt x="3251" y="58"/>
                </a:lnTo>
                <a:lnTo>
                  <a:pt x="3337" y="76"/>
                </a:lnTo>
                <a:lnTo>
                  <a:pt x="3430" y="97"/>
                </a:lnTo>
                <a:lnTo>
                  <a:pt x="3529" y="128"/>
                </a:lnTo>
                <a:lnTo>
                  <a:pt x="3608" y="153"/>
                </a:lnTo>
                <a:lnTo>
                  <a:pt x="3682" y="176"/>
                </a:lnTo>
                <a:lnTo>
                  <a:pt x="3779" y="216"/>
                </a:lnTo>
                <a:lnTo>
                  <a:pt x="3866" y="255"/>
                </a:lnTo>
                <a:lnTo>
                  <a:pt x="3921" y="281"/>
                </a:lnTo>
                <a:lnTo>
                  <a:pt x="3947" y="297"/>
                </a:lnTo>
                <a:lnTo>
                  <a:pt x="3998" y="327"/>
                </a:lnTo>
                <a:lnTo>
                  <a:pt x="4061" y="360"/>
                </a:lnTo>
                <a:lnTo>
                  <a:pt x="4126" y="400"/>
                </a:lnTo>
                <a:lnTo>
                  <a:pt x="4198" y="439"/>
                </a:lnTo>
                <a:lnTo>
                  <a:pt x="4247" y="474"/>
                </a:lnTo>
                <a:lnTo>
                  <a:pt x="4315" y="527"/>
                </a:lnTo>
                <a:lnTo>
                  <a:pt x="4384" y="572"/>
                </a:lnTo>
                <a:lnTo>
                  <a:pt x="4468" y="644"/>
                </a:lnTo>
                <a:lnTo>
                  <a:pt x="4545" y="707"/>
                </a:lnTo>
                <a:lnTo>
                  <a:pt x="4603" y="769"/>
                </a:lnTo>
                <a:lnTo>
                  <a:pt x="4656" y="813"/>
                </a:lnTo>
                <a:lnTo>
                  <a:pt x="4703" y="863"/>
                </a:lnTo>
                <a:lnTo>
                  <a:pt x="4752" y="921"/>
                </a:lnTo>
                <a:lnTo>
                  <a:pt x="4798" y="971"/>
                </a:lnTo>
                <a:lnTo>
                  <a:pt x="4850" y="1044"/>
                </a:lnTo>
                <a:lnTo>
                  <a:pt x="4894" y="1102"/>
                </a:lnTo>
                <a:lnTo>
                  <a:pt x="4942" y="1165"/>
                </a:lnTo>
                <a:lnTo>
                  <a:pt x="4984" y="1232"/>
                </a:lnTo>
                <a:lnTo>
                  <a:pt x="5021" y="1297"/>
                </a:lnTo>
                <a:lnTo>
                  <a:pt x="5071" y="1376"/>
                </a:lnTo>
                <a:lnTo>
                  <a:pt x="5142" y="1499"/>
                </a:lnTo>
                <a:lnTo>
                  <a:pt x="5182" y="1602"/>
                </a:lnTo>
                <a:lnTo>
                  <a:pt x="5226" y="1711"/>
                </a:lnTo>
                <a:lnTo>
                  <a:pt x="5256" y="1795"/>
                </a:lnTo>
                <a:lnTo>
                  <a:pt x="5287" y="1885"/>
                </a:lnTo>
                <a:lnTo>
                  <a:pt x="5315" y="1981"/>
                </a:lnTo>
                <a:lnTo>
                  <a:pt x="5336" y="2086"/>
                </a:lnTo>
                <a:lnTo>
                  <a:pt x="5357" y="2195"/>
                </a:lnTo>
                <a:lnTo>
                  <a:pt x="5368" y="2276"/>
                </a:lnTo>
                <a:lnTo>
                  <a:pt x="5378" y="2323"/>
                </a:lnTo>
                <a:lnTo>
                  <a:pt x="5378" y="2348"/>
                </a:lnTo>
                <a:lnTo>
                  <a:pt x="5387" y="2418"/>
                </a:lnTo>
                <a:lnTo>
                  <a:pt x="5389" y="2495"/>
                </a:lnTo>
                <a:lnTo>
                  <a:pt x="5392" y="2548"/>
                </a:lnTo>
                <a:lnTo>
                  <a:pt x="5398" y="2602"/>
                </a:lnTo>
                <a:lnTo>
                  <a:pt x="0" y="2600"/>
                </a:lnTo>
                <a:close/>
              </a:path>
            </a:pathLst>
          </a:custGeom>
          <a:solidFill>
            <a:srgbClr val="33CC33"/>
          </a:solidFill>
          <a:ln w="6350">
            <a:solidFill>
              <a:srgbClr val="33CC33"/>
            </a:solidFill>
            <a:round/>
            <a:headEnd/>
            <a:tailEnd/>
          </a:ln>
        </p:spPr>
        <p:txBody>
          <a:bodyPr/>
          <a:lstStyle/>
          <a:p>
            <a:endParaRPr lang="pt-BR"/>
          </a:p>
        </p:txBody>
      </p:sp>
      <p:sp>
        <p:nvSpPr>
          <p:cNvPr id="8" name="Freeform 3"/>
          <p:cNvSpPr>
            <a:spLocks/>
          </p:cNvSpPr>
          <p:nvPr/>
        </p:nvSpPr>
        <p:spPr bwMode="auto">
          <a:xfrm>
            <a:off x="2493664" y="4418164"/>
            <a:ext cx="4356116" cy="2133569"/>
          </a:xfrm>
          <a:custGeom>
            <a:avLst/>
            <a:gdLst/>
            <a:ahLst/>
            <a:cxnLst>
              <a:cxn ang="0">
                <a:pos x="5" y="2506"/>
              </a:cxn>
              <a:cxn ang="0">
                <a:pos x="25" y="2306"/>
              </a:cxn>
              <a:cxn ang="0">
                <a:pos x="51" y="2118"/>
              </a:cxn>
              <a:cxn ang="0">
                <a:pos x="95" y="1934"/>
              </a:cxn>
              <a:cxn ang="0">
                <a:pos x="156" y="1739"/>
              </a:cxn>
              <a:cxn ang="0">
                <a:pos x="226" y="1569"/>
              </a:cxn>
              <a:cxn ang="0">
                <a:pos x="340" y="1348"/>
              </a:cxn>
              <a:cxn ang="0">
                <a:pos x="435" y="1202"/>
              </a:cxn>
              <a:cxn ang="0">
                <a:pos x="563" y="1021"/>
              </a:cxn>
              <a:cxn ang="0">
                <a:pos x="726" y="837"/>
              </a:cxn>
              <a:cxn ang="0">
                <a:pos x="858" y="707"/>
              </a:cxn>
              <a:cxn ang="0">
                <a:pos x="1003" y="581"/>
              </a:cxn>
              <a:cxn ang="0">
                <a:pos x="1214" y="434"/>
              </a:cxn>
              <a:cxn ang="0">
                <a:pos x="1358" y="348"/>
              </a:cxn>
              <a:cxn ang="0">
                <a:pos x="1579" y="239"/>
              </a:cxn>
              <a:cxn ang="0">
                <a:pos x="1768" y="160"/>
              </a:cxn>
              <a:cxn ang="0">
                <a:pos x="1919" y="113"/>
              </a:cxn>
              <a:cxn ang="0">
                <a:pos x="2116" y="60"/>
              </a:cxn>
              <a:cxn ang="0">
                <a:pos x="2384" y="21"/>
              </a:cxn>
              <a:cxn ang="0">
                <a:pos x="2658" y="0"/>
              </a:cxn>
              <a:cxn ang="0">
                <a:pos x="2826" y="2"/>
              </a:cxn>
              <a:cxn ang="0">
                <a:pos x="2973" y="13"/>
              </a:cxn>
              <a:cxn ang="0">
                <a:pos x="3087" y="28"/>
              </a:cxn>
              <a:cxn ang="0">
                <a:pos x="3251" y="58"/>
              </a:cxn>
              <a:cxn ang="0">
                <a:pos x="3430" y="97"/>
              </a:cxn>
              <a:cxn ang="0">
                <a:pos x="3608" y="153"/>
              </a:cxn>
              <a:cxn ang="0">
                <a:pos x="3779" y="216"/>
              </a:cxn>
              <a:cxn ang="0">
                <a:pos x="3921" y="281"/>
              </a:cxn>
              <a:cxn ang="0">
                <a:pos x="3998" y="327"/>
              </a:cxn>
              <a:cxn ang="0">
                <a:pos x="4126" y="400"/>
              </a:cxn>
              <a:cxn ang="0">
                <a:pos x="4247" y="474"/>
              </a:cxn>
              <a:cxn ang="0">
                <a:pos x="4384" y="572"/>
              </a:cxn>
              <a:cxn ang="0">
                <a:pos x="4545" y="707"/>
              </a:cxn>
              <a:cxn ang="0">
                <a:pos x="4656" y="813"/>
              </a:cxn>
              <a:cxn ang="0">
                <a:pos x="4752" y="921"/>
              </a:cxn>
              <a:cxn ang="0">
                <a:pos x="4850" y="1044"/>
              </a:cxn>
              <a:cxn ang="0">
                <a:pos x="4942" y="1165"/>
              </a:cxn>
              <a:cxn ang="0">
                <a:pos x="5021" y="1297"/>
              </a:cxn>
              <a:cxn ang="0">
                <a:pos x="5142" y="1499"/>
              </a:cxn>
              <a:cxn ang="0">
                <a:pos x="5226" y="1711"/>
              </a:cxn>
              <a:cxn ang="0">
                <a:pos x="5287" y="1885"/>
              </a:cxn>
              <a:cxn ang="0">
                <a:pos x="5336" y="2086"/>
              </a:cxn>
              <a:cxn ang="0">
                <a:pos x="5368" y="2276"/>
              </a:cxn>
              <a:cxn ang="0">
                <a:pos x="5378" y="2348"/>
              </a:cxn>
              <a:cxn ang="0">
                <a:pos x="5389" y="2495"/>
              </a:cxn>
              <a:cxn ang="0">
                <a:pos x="5398" y="2602"/>
              </a:cxn>
            </a:cxnLst>
            <a:rect l="0" t="0" r="r" b="b"/>
            <a:pathLst>
              <a:path w="5398" h="2602">
                <a:moveTo>
                  <a:pt x="0" y="2600"/>
                </a:moveTo>
                <a:lnTo>
                  <a:pt x="5" y="2506"/>
                </a:lnTo>
                <a:lnTo>
                  <a:pt x="11" y="2432"/>
                </a:lnTo>
                <a:lnTo>
                  <a:pt x="25" y="2306"/>
                </a:lnTo>
                <a:lnTo>
                  <a:pt x="40" y="2190"/>
                </a:lnTo>
                <a:lnTo>
                  <a:pt x="51" y="2118"/>
                </a:lnTo>
                <a:lnTo>
                  <a:pt x="77" y="2011"/>
                </a:lnTo>
                <a:lnTo>
                  <a:pt x="95" y="1934"/>
                </a:lnTo>
                <a:lnTo>
                  <a:pt x="121" y="1853"/>
                </a:lnTo>
                <a:lnTo>
                  <a:pt x="156" y="1739"/>
                </a:lnTo>
                <a:lnTo>
                  <a:pt x="198" y="1639"/>
                </a:lnTo>
                <a:lnTo>
                  <a:pt x="226" y="1569"/>
                </a:lnTo>
                <a:lnTo>
                  <a:pt x="277" y="1464"/>
                </a:lnTo>
                <a:lnTo>
                  <a:pt x="340" y="1348"/>
                </a:lnTo>
                <a:lnTo>
                  <a:pt x="382" y="1281"/>
                </a:lnTo>
                <a:lnTo>
                  <a:pt x="435" y="1202"/>
                </a:lnTo>
                <a:lnTo>
                  <a:pt x="505" y="1090"/>
                </a:lnTo>
                <a:lnTo>
                  <a:pt x="563" y="1021"/>
                </a:lnTo>
                <a:lnTo>
                  <a:pt x="625" y="944"/>
                </a:lnTo>
                <a:lnTo>
                  <a:pt x="726" y="837"/>
                </a:lnTo>
                <a:lnTo>
                  <a:pt x="789" y="765"/>
                </a:lnTo>
                <a:lnTo>
                  <a:pt x="858" y="707"/>
                </a:lnTo>
                <a:lnTo>
                  <a:pt x="935" y="637"/>
                </a:lnTo>
                <a:lnTo>
                  <a:pt x="1003" y="581"/>
                </a:lnTo>
                <a:lnTo>
                  <a:pt x="1077" y="528"/>
                </a:lnTo>
                <a:lnTo>
                  <a:pt x="1214" y="434"/>
                </a:lnTo>
                <a:lnTo>
                  <a:pt x="1293" y="385"/>
                </a:lnTo>
                <a:lnTo>
                  <a:pt x="1358" y="348"/>
                </a:lnTo>
                <a:lnTo>
                  <a:pt x="1467" y="290"/>
                </a:lnTo>
                <a:lnTo>
                  <a:pt x="1579" y="239"/>
                </a:lnTo>
                <a:lnTo>
                  <a:pt x="1672" y="197"/>
                </a:lnTo>
                <a:lnTo>
                  <a:pt x="1768" y="160"/>
                </a:lnTo>
                <a:lnTo>
                  <a:pt x="1861" y="134"/>
                </a:lnTo>
                <a:lnTo>
                  <a:pt x="1919" y="113"/>
                </a:lnTo>
                <a:lnTo>
                  <a:pt x="1998" y="90"/>
                </a:lnTo>
                <a:lnTo>
                  <a:pt x="2116" y="60"/>
                </a:lnTo>
                <a:lnTo>
                  <a:pt x="2258" y="37"/>
                </a:lnTo>
                <a:lnTo>
                  <a:pt x="2384" y="21"/>
                </a:lnTo>
                <a:lnTo>
                  <a:pt x="2519" y="7"/>
                </a:lnTo>
                <a:lnTo>
                  <a:pt x="2658" y="0"/>
                </a:lnTo>
                <a:lnTo>
                  <a:pt x="2747" y="2"/>
                </a:lnTo>
                <a:lnTo>
                  <a:pt x="2826" y="2"/>
                </a:lnTo>
                <a:lnTo>
                  <a:pt x="2893" y="7"/>
                </a:lnTo>
                <a:lnTo>
                  <a:pt x="2973" y="13"/>
                </a:lnTo>
                <a:lnTo>
                  <a:pt x="3042" y="23"/>
                </a:lnTo>
                <a:lnTo>
                  <a:pt x="3087" y="28"/>
                </a:lnTo>
                <a:lnTo>
                  <a:pt x="3168" y="42"/>
                </a:lnTo>
                <a:lnTo>
                  <a:pt x="3251" y="58"/>
                </a:lnTo>
                <a:lnTo>
                  <a:pt x="3337" y="76"/>
                </a:lnTo>
                <a:lnTo>
                  <a:pt x="3430" y="97"/>
                </a:lnTo>
                <a:lnTo>
                  <a:pt x="3529" y="128"/>
                </a:lnTo>
                <a:lnTo>
                  <a:pt x="3608" y="153"/>
                </a:lnTo>
                <a:lnTo>
                  <a:pt x="3682" y="176"/>
                </a:lnTo>
                <a:lnTo>
                  <a:pt x="3779" y="216"/>
                </a:lnTo>
                <a:lnTo>
                  <a:pt x="3866" y="255"/>
                </a:lnTo>
                <a:lnTo>
                  <a:pt x="3921" y="281"/>
                </a:lnTo>
                <a:lnTo>
                  <a:pt x="3947" y="297"/>
                </a:lnTo>
                <a:lnTo>
                  <a:pt x="3998" y="327"/>
                </a:lnTo>
                <a:lnTo>
                  <a:pt x="4061" y="360"/>
                </a:lnTo>
                <a:lnTo>
                  <a:pt x="4126" y="400"/>
                </a:lnTo>
                <a:lnTo>
                  <a:pt x="4198" y="439"/>
                </a:lnTo>
                <a:lnTo>
                  <a:pt x="4247" y="474"/>
                </a:lnTo>
                <a:lnTo>
                  <a:pt x="4315" y="527"/>
                </a:lnTo>
                <a:lnTo>
                  <a:pt x="4384" y="572"/>
                </a:lnTo>
                <a:lnTo>
                  <a:pt x="4468" y="644"/>
                </a:lnTo>
                <a:lnTo>
                  <a:pt x="4545" y="707"/>
                </a:lnTo>
                <a:lnTo>
                  <a:pt x="4603" y="769"/>
                </a:lnTo>
                <a:lnTo>
                  <a:pt x="4656" y="813"/>
                </a:lnTo>
                <a:lnTo>
                  <a:pt x="4703" y="863"/>
                </a:lnTo>
                <a:lnTo>
                  <a:pt x="4752" y="921"/>
                </a:lnTo>
                <a:lnTo>
                  <a:pt x="4798" y="971"/>
                </a:lnTo>
                <a:lnTo>
                  <a:pt x="4850" y="1044"/>
                </a:lnTo>
                <a:lnTo>
                  <a:pt x="4894" y="1102"/>
                </a:lnTo>
                <a:lnTo>
                  <a:pt x="4942" y="1165"/>
                </a:lnTo>
                <a:lnTo>
                  <a:pt x="4984" y="1232"/>
                </a:lnTo>
                <a:lnTo>
                  <a:pt x="5021" y="1297"/>
                </a:lnTo>
                <a:lnTo>
                  <a:pt x="5071" y="1376"/>
                </a:lnTo>
                <a:lnTo>
                  <a:pt x="5142" y="1499"/>
                </a:lnTo>
                <a:lnTo>
                  <a:pt x="5182" y="1602"/>
                </a:lnTo>
                <a:lnTo>
                  <a:pt x="5226" y="1711"/>
                </a:lnTo>
                <a:lnTo>
                  <a:pt x="5256" y="1795"/>
                </a:lnTo>
                <a:lnTo>
                  <a:pt x="5287" y="1885"/>
                </a:lnTo>
                <a:lnTo>
                  <a:pt x="5315" y="1981"/>
                </a:lnTo>
                <a:lnTo>
                  <a:pt x="5336" y="2086"/>
                </a:lnTo>
                <a:lnTo>
                  <a:pt x="5357" y="2195"/>
                </a:lnTo>
                <a:lnTo>
                  <a:pt x="5368" y="2276"/>
                </a:lnTo>
                <a:lnTo>
                  <a:pt x="5378" y="2323"/>
                </a:lnTo>
                <a:lnTo>
                  <a:pt x="5378" y="2348"/>
                </a:lnTo>
                <a:lnTo>
                  <a:pt x="5387" y="2418"/>
                </a:lnTo>
                <a:lnTo>
                  <a:pt x="5389" y="2495"/>
                </a:lnTo>
                <a:lnTo>
                  <a:pt x="5392" y="2548"/>
                </a:lnTo>
                <a:lnTo>
                  <a:pt x="5398" y="2602"/>
                </a:lnTo>
                <a:lnTo>
                  <a:pt x="0" y="2600"/>
                </a:lnTo>
                <a:close/>
              </a:path>
            </a:pathLst>
          </a:custGeom>
          <a:solidFill>
            <a:srgbClr val="F40000"/>
          </a:solidFill>
          <a:ln w="6350">
            <a:solidFill>
              <a:srgbClr val="33CC33"/>
            </a:solidFill>
            <a:prstDash val="solid"/>
            <a:round/>
            <a:headEnd/>
            <a:tailEnd/>
          </a:ln>
          <a:scene3d>
            <a:camera prst="orthographicFront">
              <a:rot lat="10800000" lon="0" rev="0"/>
            </a:camera>
            <a:lightRig rig="threePt" dir="t"/>
          </a:scene3d>
        </p:spPr>
        <p:txBody>
          <a:bodyPr/>
          <a:lstStyle/>
          <a:p>
            <a:pPr eaLnBrk="1" hangingPunct="1">
              <a:defRPr/>
            </a:pPr>
            <a:endParaRPr lang="pt-BR" dirty="0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3279775" y="4689475"/>
            <a:ext cx="2846388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  <a:latin typeface="Arial MT Black"/>
              </a:rPr>
              <a:t>Atividades Externas</a:t>
            </a:r>
            <a:endParaRPr lang="pt-BR" altLang="pt-BR">
              <a:latin typeface="Arial MT Black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3697288" y="2765425"/>
            <a:ext cx="1785937" cy="862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  <a:latin typeface="Arial MT Black"/>
              </a:rPr>
              <a:t>Atividades Internas</a:t>
            </a:r>
            <a:endParaRPr lang="pt-BR" altLang="pt-BR">
              <a:latin typeface="Arial MT Black"/>
            </a:endParaRPr>
          </a:p>
        </p:txBody>
      </p:sp>
      <p:grpSp>
        <p:nvGrpSpPr>
          <p:cNvPr id="11" name="Grupo 15"/>
          <p:cNvGrpSpPr>
            <a:grpSpLocks/>
          </p:cNvGrpSpPr>
          <p:nvPr/>
        </p:nvGrpSpPr>
        <p:grpSpPr bwMode="auto">
          <a:xfrm>
            <a:off x="3840163" y="4265613"/>
            <a:ext cx="1571625" cy="2251075"/>
            <a:chOff x="714347" y="2321711"/>
            <a:chExt cx="1571637" cy="2250297"/>
          </a:xfrm>
        </p:grpSpPr>
        <p:cxnSp>
          <p:nvCxnSpPr>
            <p:cNvPr id="12" name="Conector reto 13"/>
            <p:cNvCxnSpPr>
              <a:cxnSpLocks noChangeShapeType="1"/>
            </p:cNvCxnSpPr>
            <p:nvPr/>
          </p:nvCxnSpPr>
          <p:spPr bwMode="auto">
            <a:xfrm rot="16200000" flipH="1">
              <a:off x="428596" y="2678901"/>
              <a:ext cx="2214578" cy="1500198"/>
            </a:xfrm>
            <a:prstGeom prst="line">
              <a:avLst/>
            </a:prstGeom>
            <a:noFill/>
            <a:ln w="1905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Conector reto 12"/>
            <p:cNvCxnSpPr/>
            <p:nvPr/>
          </p:nvCxnSpPr>
          <p:spPr bwMode="auto">
            <a:xfrm rot="16200000" flipH="1">
              <a:off x="357157" y="2714620"/>
              <a:ext cx="2214578" cy="1500198"/>
            </a:xfrm>
            <a:prstGeom prst="line">
              <a:avLst/>
            </a:prstGeom>
            <a:solidFill>
              <a:srgbClr val="003399">
                <a:alpha val="25000"/>
              </a:srgbClr>
            </a:solidFill>
            <a:ln w="190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scene3d>
              <a:camera prst="orthographicFront">
                <a:rot lat="0" lon="10800000" rev="0"/>
              </a:camera>
              <a:lightRig rig="threePt" dir="t"/>
            </a:scene3d>
          </p:spPr>
        </p:cxnSp>
      </p:grpSp>
      <p:sp>
        <p:nvSpPr>
          <p:cNvPr id="14" name="Rectangle 2"/>
          <p:cNvSpPr txBox="1">
            <a:spLocks noChangeArrowheads="1"/>
          </p:cNvSpPr>
          <p:nvPr/>
        </p:nvSpPr>
        <p:spPr bwMode="auto">
          <a:xfrm>
            <a:off x="381000" y="1382713"/>
            <a:ext cx="8643938" cy="1671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400" b="1" kern="0" dirty="0" err="1">
                <a:latin typeface="Incised901 BT" pitchFamily="34" charset="0"/>
              </a:rPr>
              <a:t>Separe</a:t>
            </a:r>
            <a:r>
              <a:rPr lang="en-US" sz="3400" b="1" kern="0" dirty="0">
                <a:latin typeface="Incised901 BT" pitchFamily="34" charset="0"/>
              </a:rPr>
              <a:t> a </a:t>
            </a:r>
            <a:r>
              <a:rPr lang="en-US" sz="3400" b="1" kern="0" dirty="0" err="1">
                <a:latin typeface="Incised901 BT" pitchFamily="34" charset="0"/>
              </a:rPr>
              <a:t>preparação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em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>
                <a:solidFill>
                  <a:srgbClr val="CC0000"/>
                </a:solidFill>
                <a:latin typeface="Incised901 BT" pitchFamily="34" charset="0"/>
              </a:rPr>
              <a:t>INTERNA </a:t>
            </a:r>
            <a:r>
              <a:rPr lang="en-US" sz="3400" b="1" kern="0" dirty="0">
                <a:latin typeface="Incised901 BT" pitchFamily="34" charset="0"/>
              </a:rPr>
              <a:t>e </a:t>
            </a:r>
            <a:r>
              <a:rPr lang="en-US" sz="3400" b="1" kern="0" dirty="0">
                <a:solidFill>
                  <a:srgbClr val="CC0000"/>
                </a:solidFill>
                <a:latin typeface="Incised901 BT" pitchFamily="34" charset="0"/>
              </a:rPr>
              <a:t>EXTERNA</a:t>
            </a:r>
            <a:endParaRPr lang="pt-BR" sz="3400" b="1" kern="0" dirty="0">
              <a:solidFill>
                <a:srgbClr val="CC0000"/>
              </a:solidFill>
              <a:latin typeface="Incised901 BT" pitchFamily="34" charset="0"/>
            </a:endParaRPr>
          </a:p>
        </p:txBody>
      </p:sp>
      <p:sp>
        <p:nvSpPr>
          <p:cNvPr id="15" name="Retângulo de cantos arredondados 3">
            <a:extLst>
              <a:ext uri="{FF2B5EF4-FFF2-40B4-BE49-F238E27FC236}">
                <a16:creationId xmlns:a16="http://schemas.microsoft.com/office/drawing/2014/main" id="{574D6DC1-77D8-4E48-B79E-EE76213BCD7D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98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10"/>
          <p:cNvGrpSpPr>
            <a:grpSpLocks/>
          </p:cNvGrpSpPr>
          <p:nvPr/>
        </p:nvGrpSpPr>
        <p:grpSpPr bwMode="auto">
          <a:xfrm>
            <a:off x="2484438" y="4292600"/>
            <a:ext cx="4356100" cy="2133600"/>
            <a:chOff x="2501900" y="1571612"/>
            <a:chExt cx="4356116" cy="2133569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3259138" y="2514600"/>
              <a:ext cx="1182687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2501900" y="1571612"/>
              <a:ext cx="4356116" cy="2133569"/>
            </a:xfrm>
            <a:custGeom>
              <a:avLst/>
              <a:gdLst>
                <a:gd name="T0" fmla="*/ 2147483646 w 5398"/>
                <a:gd name="T1" fmla="*/ 2147483646 h 2602"/>
                <a:gd name="T2" fmla="*/ 2147483646 w 5398"/>
                <a:gd name="T3" fmla="*/ 2147483646 h 2602"/>
                <a:gd name="T4" fmla="*/ 2147483646 w 5398"/>
                <a:gd name="T5" fmla="*/ 2147483646 h 2602"/>
                <a:gd name="T6" fmla="*/ 2147483646 w 5398"/>
                <a:gd name="T7" fmla="*/ 2147483646 h 2602"/>
                <a:gd name="T8" fmla="*/ 2147483646 w 5398"/>
                <a:gd name="T9" fmla="*/ 2147483646 h 2602"/>
                <a:gd name="T10" fmla="*/ 2147483646 w 5398"/>
                <a:gd name="T11" fmla="*/ 2147483646 h 2602"/>
                <a:gd name="T12" fmla="*/ 2147483646 w 5398"/>
                <a:gd name="T13" fmla="*/ 2147483646 h 2602"/>
                <a:gd name="T14" fmla="*/ 2147483646 w 5398"/>
                <a:gd name="T15" fmla="*/ 2147483646 h 2602"/>
                <a:gd name="T16" fmla="*/ 2147483646 w 5398"/>
                <a:gd name="T17" fmla="*/ 2147483646 h 2602"/>
                <a:gd name="T18" fmla="*/ 2147483646 w 5398"/>
                <a:gd name="T19" fmla="*/ 2147483646 h 2602"/>
                <a:gd name="T20" fmla="*/ 2147483646 w 5398"/>
                <a:gd name="T21" fmla="*/ 2147483646 h 2602"/>
                <a:gd name="T22" fmla="*/ 2147483646 w 5398"/>
                <a:gd name="T23" fmla="*/ 2147483646 h 2602"/>
                <a:gd name="T24" fmla="*/ 2147483646 w 5398"/>
                <a:gd name="T25" fmla="*/ 2147483646 h 2602"/>
                <a:gd name="T26" fmla="*/ 2147483646 w 5398"/>
                <a:gd name="T27" fmla="*/ 2147483646 h 2602"/>
                <a:gd name="T28" fmla="*/ 2147483646 w 5398"/>
                <a:gd name="T29" fmla="*/ 2147483646 h 2602"/>
                <a:gd name="T30" fmla="*/ 2147483646 w 5398"/>
                <a:gd name="T31" fmla="*/ 2147483646 h 2602"/>
                <a:gd name="T32" fmla="*/ 2147483646 w 5398"/>
                <a:gd name="T33" fmla="*/ 2147483646 h 2602"/>
                <a:gd name="T34" fmla="*/ 2147483646 w 5398"/>
                <a:gd name="T35" fmla="*/ 2147483646 h 2602"/>
                <a:gd name="T36" fmla="*/ 2147483646 w 5398"/>
                <a:gd name="T37" fmla="*/ 2147483646 h 2602"/>
                <a:gd name="T38" fmla="*/ 2147483646 w 5398"/>
                <a:gd name="T39" fmla="*/ 0 h 2602"/>
                <a:gd name="T40" fmla="*/ 2147483646 w 5398"/>
                <a:gd name="T41" fmla="*/ 2147483646 h 2602"/>
                <a:gd name="T42" fmla="*/ 2147483646 w 5398"/>
                <a:gd name="T43" fmla="*/ 2147483646 h 2602"/>
                <a:gd name="T44" fmla="*/ 2147483646 w 5398"/>
                <a:gd name="T45" fmla="*/ 2147483646 h 2602"/>
                <a:gd name="T46" fmla="*/ 2147483646 w 5398"/>
                <a:gd name="T47" fmla="*/ 2147483646 h 2602"/>
                <a:gd name="T48" fmla="*/ 2147483646 w 5398"/>
                <a:gd name="T49" fmla="*/ 2147483646 h 2602"/>
                <a:gd name="T50" fmla="*/ 2147483646 w 5398"/>
                <a:gd name="T51" fmla="*/ 2147483646 h 2602"/>
                <a:gd name="T52" fmla="*/ 2147483646 w 5398"/>
                <a:gd name="T53" fmla="*/ 2147483646 h 2602"/>
                <a:gd name="T54" fmla="*/ 2147483646 w 5398"/>
                <a:gd name="T55" fmla="*/ 2147483646 h 2602"/>
                <a:gd name="T56" fmla="*/ 2147483646 w 5398"/>
                <a:gd name="T57" fmla="*/ 2147483646 h 2602"/>
                <a:gd name="T58" fmla="*/ 2147483646 w 5398"/>
                <a:gd name="T59" fmla="*/ 2147483646 h 2602"/>
                <a:gd name="T60" fmla="*/ 2147483646 w 5398"/>
                <a:gd name="T61" fmla="*/ 2147483646 h 2602"/>
                <a:gd name="T62" fmla="*/ 2147483646 w 5398"/>
                <a:gd name="T63" fmla="*/ 2147483646 h 2602"/>
                <a:gd name="T64" fmla="*/ 2147483646 w 5398"/>
                <a:gd name="T65" fmla="*/ 2147483646 h 2602"/>
                <a:gd name="T66" fmla="*/ 2147483646 w 5398"/>
                <a:gd name="T67" fmla="*/ 2147483646 h 2602"/>
                <a:gd name="T68" fmla="*/ 2147483646 w 5398"/>
                <a:gd name="T69" fmla="*/ 2147483646 h 2602"/>
                <a:gd name="T70" fmla="*/ 2147483646 w 5398"/>
                <a:gd name="T71" fmla="*/ 2147483646 h 2602"/>
                <a:gd name="T72" fmla="*/ 2147483646 w 5398"/>
                <a:gd name="T73" fmla="*/ 2147483646 h 2602"/>
                <a:gd name="T74" fmla="*/ 2147483646 w 5398"/>
                <a:gd name="T75" fmla="*/ 2147483646 h 2602"/>
                <a:gd name="T76" fmla="*/ 2147483646 w 5398"/>
                <a:gd name="T77" fmla="*/ 2147483646 h 2602"/>
                <a:gd name="T78" fmla="*/ 2147483646 w 5398"/>
                <a:gd name="T79" fmla="*/ 2147483646 h 2602"/>
                <a:gd name="T80" fmla="*/ 2147483646 w 5398"/>
                <a:gd name="T81" fmla="*/ 2147483646 h 2602"/>
                <a:gd name="T82" fmla="*/ 2147483646 w 5398"/>
                <a:gd name="T83" fmla="*/ 2147483646 h 2602"/>
                <a:gd name="T84" fmla="*/ 2147483646 w 5398"/>
                <a:gd name="T85" fmla="*/ 2147483646 h 2602"/>
                <a:gd name="T86" fmla="*/ 2147483646 w 5398"/>
                <a:gd name="T87" fmla="*/ 2147483646 h 2602"/>
                <a:gd name="T88" fmla="*/ 2147483646 w 5398"/>
                <a:gd name="T89" fmla="*/ 2147483646 h 2602"/>
                <a:gd name="T90" fmla="*/ 2147483646 w 5398"/>
                <a:gd name="T91" fmla="*/ 2147483646 h 26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5398"/>
                <a:gd name="T139" fmla="*/ 0 h 2602"/>
                <a:gd name="T140" fmla="*/ 5398 w 5398"/>
                <a:gd name="T141" fmla="*/ 2602 h 26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5398" h="2602">
                  <a:moveTo>
                    <a:pt x="0" y="2600"/>
                  </a:moveTo>
                  <a:lnTo>
                    <a:pt x="5" y="2506"/>
                  </a:lnTo>
                  <a:lnTo>
                    <a:pt x="11" y="2432"/>
                  </a:lnTo>
                  <a:lnTo>
                    <a:pt x="25" y="2306"/>
                  </a:lnTo>
                  <a:lnTo>
                    <a:pt x="40" y="2190"/>
                  </a:lnTo>
                  <a:lnTo>
                    <a:pt x="51" y="2118"/>
                  </a:lnTo>
                  <a:lnTo>
                    <a:pt x="77" y="2011"/>
                  </a:lnTo>
                  <a:lnTo>
                    <a:pt x="95" y="1934"/>
                  </a:lnTo>
                  <a:lnTo>
                    <a:pt x="121" y="1853"/>
                  </a:lnTo>
                  <a:lnTo>
                    <a:pt x="156" y="1739"/>
                  </a:lnTo>
                  <a:lnTo>
                    <a:pt x="198" y="1639"/>
                  </a:lnTo>
                  <a:lnTo>
                    <a:pt x="226" y="1569"/>
                  </a:lnTo>
                  <a:lnTo>
                    <a:pt x="277" y="1464"/>
                  </a:lnTo>
                  <a:lnTo>
                    <a:pt x="340" y="1348"/>
                  </a:lnTo>
                  <a:lnTo>
                    <a:pt x="382" y="1281"/>
                  </a:lnTo>
                  <a:lnTo>
                    <a:pt x="435" y="1202"/>
                  </a:lnTo>
                  <a:lnTo>
                    <a:pt x="505" y="1090"/>
                  </a:lnTo>
                  <a:lnTo>
                    <a:pt x="563" y="1021"/>
                  </a:lnTo>
                  <a:lnTo>
                    <a:pt x="625" y="944"/>
                  </a:lnTo>
                  <a:lnTo>
                    <a:pt x="726" y="837"/>
                  </a:lnTo>
                  <a:lnTo>
                    <a:pt x="789" y="765"/>
                  </a:lnTo>
                  <a:lnTo>
                    <a:pt x="858" y="707"/>
                  </a:lnTo>
                  <a:lnTo>
                    <a:pt x="935" y="637"/>
                  </a:lnTo>
                  <a:lnTo>
                    <a:pt x="1003" y="581"/>
                  </a:lnTo>
                  <a:lnTo>
                    <a:pt x="1077" y="528"/>
                  </a:lnTo>
                  <a:lnTo>
                    <a:pt x="1214" y="434"/>
                  </a:lnTo>
                  <a:lnTo>
                    <a:pt x="1293" y="385"/>
                  </a:lnTo>
                  <a:lnTo>
                    <a:pt x="1358" y="348"/>
                  </a:lnTo>
                  <a:lnTo>
                    <a:pt x="1467" y="290"/>
                  </a:lnTo>
                  <a:lnTo>
                    <a:pt x="1579" y="239"/>
                  </a:lnTo>
                  <a:lnTo>
                    <a:pt x="1672" y="197"/>
                  </a:lnTo>
                  <a:lnTo>
                    <a:pt x="1768" y="160"/>
                  </a:lnTo>
                  <a:lnTo>
                    <a:pt x="1861" y="134"/>
                  </a:lnTo>
                  <a:lnTo>
                    <a:pt x="1919" y="113"/>
                  </a:lnTo>
                  <a:lnTo>
                    <a:pt x="1998" y="90"/>
                  </a:lnTo>
                  <a:lnTo>
                    <a:pt x="2116" y="60"/>
                  </a:lnTo>
                  <a:lnTo>
                    <a:pt x="2258" y="37"/>
                  </a:lnTo>
                  <a:lnTo>
                    <a:pt x="2384" y="21"/>
                  </a:lnTo>
                  <a:lnTo>
                    <a:pt x="2519" y="7"/>
                  </a:lnTo>
                  <a:lnTo>
                    <a:pt x="2658" y="0"/>
                  </a:lnTo>
                  <a:lnTo>
                    <a:pt x="2747" y="2"/>
                  </a:lnTo>
                  <a:lnTo>
                    <a:pt x="2826" y="2"/>
                  </a:lnTo>
                  <a:lnTo>
                    <a:pt x="2893" y="7"/>
                  </a:lnTo>
                  <a:lnTo>
                    <a:pt x="2973" y="13"/>
                  </a:lnTo>
                  <a:lnTo>
                    <a:pt x="3042" y="23"/>
                  </a:lnTo>
                  <a:lnTo>
                    <a:pt x="3087" y="28"/>
                  </a:lnTo>
                  <a:lnTo>
                    <a:pt x="3168" y="42"/>
                  </a:lnTo>
                  <a:lnTo>
                    <a:pt x="3251" y="58"/>
                  </a:lnTo>
                  <a:lnTo>
                    <a:pt x="3337" y="76"/>
                  </a:lnTo>
                  <a:lnTo>
                    <a:pt x="3430" y="97"/>
                  </a:lnTo>
                  <a:lnTo>
                    <a:pt x="3529" y="128"/>
                  </a:lnTo>
                  <a:lnTo>
                    <a:pt x="3608" y="153"/>
                  </a:lnTo>
                  <a:lnTo>
                    <a:pt x="3682" y="176"/>
                  </a:lnTo>
                  <a:lnTo>
                    <a:pt x="3779" y="216"/>
                  </a:lnTo>
                  <a:lnTo>
                    <a:pt x="3866" y="255"/>
                  </a:lnTo>
                  <a:lnTo>
                    <a:pt x="3921" y="281"/>
                  </a:lnTo>
                  <a:lnTo>
                    <a:pt x="3947" y="297"/>
                  </a:lnTo>
                  <a:lnTo>
                    <a:pt x="3998" y="327"/>
                  </a:lnTo>
                  <a:lnTo>
                    <a:pt x="4061" y="360"/>
                  </a:lnTo>
                  <a:lnTo>
                    <a:pt x="4126" y="400"/>
                  </a:lnTo>
                  <a:lnTo>
                    <a:pt x="4198" y="439"/>
                  </a:lnTo>
                  <a:lnTo>
                    <a:pt x="4247" y="474"/>
                  </a:lnTo>
                  <a:lnTo>
                    <a:pt x="4315" y="527"/>
                  </a:lnTo>
                  <a:lnTo>
                    <a:pt x="4384" y="572"/>
                  </a:lnTo>
                  <a:lnTo>
                    <a:pt x="4468" y="644"/>
                  </a:lnTo>
                  <a:lnTo>
                    <a:pt x="4545" y="707"/>
                  </a:lnTo>
                  <a:lnTo>
                    <a:pt x="4603" y="769"/>
                  </a:lnTo>
                  <a:lnTo>
                    <a:pt x="4656" y="813"/>
                  </a:lnTo>
                  <a:lnTo>
                    <a:pt x="4703" y="863"/>
                  </a:lnTo>
                  <a:lnTo>
                    <a:pt x="4752" y="921"/>
                  </a:lnTo>
                  <a:lnTo>
                    <a:pt x="4798" y="971"/>
                  </a:lnTo>
                  <a:lnTo>
                    <a:pt x="4850" y="1044"/>
                  </a:lnTo>
                  <a:lnTo>
                    <a:pt x="4894" y="1102"/>
                  </a:lnTo>
                  <a:lnTo>
                    <a:pt x="4942" y="1165"/>
                  </a:lnTo>
                  <a:lnTo>
                    <a:pt x="4984" y="1232"/>
                  </a:lnTo>
                  <a:lnTo>
                    <a:pt x="5021" y="1297"/>
                  </a:lnTo>
                  <a:lnTo>
                    <a:pt x="5071" y="1376"/>
                  </a:lnTo>
                  <a:lnTo>
                    <a:pt x="5142" y="1499"/>
                  </a:lnTo>
                  <a:lnTo>
                    <a:pt x="5182" y="1602"/>
                  </a:lnTo>
                  <a:lnTo>
                    <a:pt x="5226" y="1711"/>
                  </a:lnTo>
                  <a:lnTo>
                    <a:pt x="5256" y="1795"/>
                  </a:lnTo>
                  <a:lnTo>
                    <a:pt x="5287" y="1885"/>
                  </a:lnTo>
                  <a:lnTo>
                    <a:pt x="5315" y="1981"/>
                  </a:lnTo>
                  <a:lnTo>
                    <a:pt x="5336" y="2086"/>
                  </a:lnTo>
                  <a:lnTo>
                    <a:pt x="5357" y="2195"/>
                  </a:lnTo>
                  <a:lnTo>
                    <a:pt x="5368" y="2276"/>
                  </a:lnTo>
                  <a:lnTo>
                    <a:pt x="5378" y="2323"/>
                  </a:lnTo>
                  <a:lnTo>
                    <a:pt x="5378" y="2348"/>
                  </a:lnTo>
                  <a:lnTo>
                    <a:pt x="5387" y="2418"/>
                  </a:lnTo>
                  <a:lnTo>
                    <a:pt x="5389" y="2495"/>
                  </a:lnTo>
                  <a:lnTo>
                    <a:pt x="5392" y="2548"/>
                  </a:lnTo>
                  <a:lnTo>
                    <a:pt x="5398" y="2602"/>
                  </a:lnTo>
                  <a:lnTo>
                    <a:pt x="0" y="2600"/>
                  </a:lnTo>
                  <a:close/>
                </a:path>
              </a:pathLst>
            </a:custGeom>
            <a:solidFill>
              <a:srgbClr val="33CC33"/>
            </a:solidFill>
            <a:ln w="6350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3714744" y="2428868"/>
              <a:ext cx="178595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solidFill>
                    <a:srgbClr val="000000"/>
                  </a:solidFill>
                  <a:latin typeface="Arial MT Black"/>
                </a:rPr>
                <a:t>Atividades Internas</a:t>
              </a:r>
              <a:endParaRPr lang="pt-BR" altLang="pt-BR">
                <a:latin typeface="Arial MT Black"/>
              </a:endParaRPr>
            </a:p>
          </p:txBody>
        </p:sp>
      </p:grp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473075" y="2149475"/>
            <a:ext cx="8643938" cy="1671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sz="3400" b="1" kern="0" dirty="0">
                <a:latin typeface="Incised901 BT" pitchFamily="34" charset="0"/>
              </a:rPr>
              <a:t>O tempo de setup é </a:t>
            </a:r>
            <a:r>
              <a:rPr lang="en-US" sz="3400" b="1" kern="0" dirty="0" err="1">
                <a:latin typeface="Incised901 BT" pitchFamily="34" charset="0"/>
              </a:rPr>
              <a:t>reduzido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muitas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vezes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em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torno</a:t>
            </a:r>
            <a:r>
              <a:rPr lang="en-US" sz="3400" b="1" kern="0" dirty="0">
                <a:latin typeface="Incised901 BT" pitchFamily="34" charset="0"/>
              </a:rPr>
              <a:t> de 50% com </a:t>
            </a:r>
            <a:r>
              <a:rPr lang="en-US" sz="3400" b="1" kern="0" dirty="0" err="1">
                <a:latin typeface="Incised901 BT" pitchFamily="34" charset="0"/>
              </a:rPr>
              <a:t>estas</a:t>
            </a:r>
            <a:r>
              <a:rPr lang="en-US" sz="3400" b="1" kern="0" dirty="0">
                <a:latin typeface="Incised901 BT" pitchFamily="34" charset="0"/>
              </a:rPr>
              <a:t> </a:t>
            </a:r>
            <a:r>
              <a:rPr lang="en-US" sz="3400" b="1" kern="0" dirty="0" err="1">
                <a:latin typeface="Incised901 BT" pitchFamily="34" charset="0"/>
              </a:rPr>
              <a:t>ações</a:t>
            </a:r>
            <a:r>
              <a:rPr lang="en-US" sz="3400" b="1" kern="0" dirty="0">
                <a:latin typeface="Incised901 BT" pitchFamily="34" charset="0"/>
              </a:rPr>
              <a:t> simples….</a:t>
            </a:r>
            <a:endParaRPr lang="pt-BR" sz="3400" b="1" kern="0" dirty="0">
              <a:solidFill>
                <a:srgbClr val="CC0000"/>
              </a:solidFill>
              <a:latin typeface="Incised901 BT" pitchFamily="34" charset="0"/>
            </a:endParaRPr>
          </a:p>
        </p:txBody>
      </p:sp>
      <p:sp>
        <p:nvSpPr>
          <p:cNvPr id="10" name="Retângulo de cantos arredondados 3">
            <a:extLst>
              <a:ext uri="{FF2B5EF4-FFF2-40B4-BE49-F238E27FC236}">
                <a16:creationId xmlns:a16="http://schemas.microsoft.com/office/drawing/2014/main" id="{BBA3365C-C935-4C2F-9699-326B040BF678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98462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050925" y="3575050"/>
            <a:ext cx="6967538" cy="1719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3400" b="1">
                <a:latin typeface="Incised901 BT"/>
              </a:rPr>
              <a:t>Transfira, </a:t>
            </a:r>
            <a:r>
              <a:rPr lang="en-US" altLang="pt-BR" sz="3400" b="1" u="sng">
                <a:latin typeface="Incised901 BT"/>
              </a:rPr>
              <a:t>tanto quanto possível,</a:t>
            </a:r>
            <a:r>
              <a:rPr lang="en-US" altLang="pt-BR" sz="3400" b="1">
                <a:latin typeface="Incised901 BT"/>
              </a:rPr>
              <a:t> as ações de preparação INTERNA para a EXTERNA</a:t>
            </a:r>
            <a:endParaRPr lang="pt-BR" altLang="pt-BR" sz="3400" b="1">
              <a:latin typeface="Incised901 BT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62038" y="2133600"/>
            <a:ext cx="6964362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3000" b="1">
                <a:latin typeface="Incised901 BT"/>
              </a:rPr>
              <a:t>Passo 2:</a:t>
            </a:r>
            <a:endParaRPr lang="pt-BR" altLang="pt-BR" sz="3000" b="1">
              <a:latin typeface="Incised901 BT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7807325" y="1462088"/>
            <a:ext cx="844550" cy="1895475"/>
            <a:chOff x="5424" y="192"/>
            <a:chExt cx="576" cy="1194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5424" y="192"/>
              <a:ext cx="492" cy="1062"/>
            </a:xfrm>
            <a:custGeom>
              <a:avLst/>
              <a:gdLst>
                <a:gd name="T0" fmla="*/ 228 w 492"/>
                <a:gd name="T1" fmla="*/ 1020 h 1062"/>
                <a:gd name="T2" fmla="*/ 210 w 492"/>
                <a:gd name="T3" fmla="*/ 966 h 1062"/>
                <a:gd name="T4" fmla="*/ 192 w 492"/>
                <a:gd name="T5" fmla="*/ 918 h 1062"/>
                <a:gd name="T6" fmla="*/ 150 w 492"/>
                <a:gd name="T7" fmla="*/ 864 h 1062"/>
                <a:gd name="T8" fmla="*/ 96 w 492"/>
                <a:gd name="T9" fmla="*/ 810 h 1062"/>
                <a:gd name="T10" fmla="*/ 66 w 492"/>
                <a:gd name="T11" fmla="*/ 750 h 1062"/>
                <a:gd name="T12" fmla="*/ 48 w 492"/>
                <a:gd name="T13" fmla="*/ 678 h 1062"/>
                <a:gd name="T14" fmla="*/ 42 w 492"/>
                <a:gd name="T15" fmla="*/ 606 h 1062"/>
                <a:gd name="T16" fmla="*/ 18 w 492"/>
                <a:gd name="T17" fmla="*/ 564 h 1062"/>
                <a:gd name="T18" fmla="*/ 0 w 492"/>
                <a:gd name="T19" fmla="*/ 522 h 1062"/>
                <a:gd name="T20" fmla="*/ 12 w 492"/>
                <a:gd name="T21" fmla="*/ 480 h 1062"/>
                <a:gd name="T22" fmla="*/ 42 w 492"/>
                <a:gd name="T23" fmla="*/ 462 h 1062"/>
                <a:gd name="T24" fmla="*/ 30 w 492"/>
                <a:gd name="T25" fmla="*/ 426 h 1062"/>
                <a:gd name="T26" fmla="*/ 24 w 492"/>
                <a:gd name="T27" fmla="*/ 390 h 1062"/>
                <a:gd name="T28" fmla="*/ 48 w 492"/>
                <a:gd name="T29" fmla="*/ 348 h 1062"/>
                <a:gd name="T30" fmla="*/ 84 w 492"/>
                <a:gd name="T31" fmla="*/ 336 h 1062"/>
                <a:gd name="T32" fmla="*/ 126 w 492"/>
                <a:gd name="T33" fmla="*/ 354 h 1062"/>
                <a:gd name="T34" fmla="*/ 168 w 492"/>
                <a:gd name="T35" fmla="*/ 390 h 1062"/>
                <a:gd name="T36" fmla="*/ 180 w 492"/>
                <a:gd name="T37" fmla="*/ 390 h 1062"/>
                <a:gd name="T38" fmla="*/ 174 w 492"/>
                <a:gd name="T39" fmla="*/ 348 h 1062"/>
                <a:gd name="T40" fmla="*/ 162 w 492"/>
                <a:gd name="T41" fmla="*/ 312 h 1062"/>
                <a:gd name="T42" fmla="*/ 156 w 492"/>
                <a:gd name="T43" fmla="*/ 276 h 1062"/>
                <a:gd name="T44" fmla="*/ 138 w 492"/>
                <a:gd name="T45" fmla="*/ 228 h 1062"/>
                <a:gd name="T46" fmla="*/ 126 w 492"/>
                <a:gd name="T47" fmla="*/ 186 h 1062"/>
                <a:gd name="T48" fmla="*/ 108 w 492"/>
                <a:gd name="T49" fmla="*/ 144 h 1062"/>
                <a:gd name="T50" fmla="*/ 96 w 492"/>
                <a:gd name="T51" fmla="*/ 72 h 1062"/>
                <a:gd name="T52" fmla="*/ 150 w 492"/>
                <a:gd name="T53" fmla="*/ 48 h 1062"/>
                <a:gd name="T54" fmla="*/ 198 w 492"/>
                <a:gd name="T55" fmla="*/ 114 h 1062"/>
                <a:gd name="T56" fmla="*/ 240 w 492"/>
                <a:gd name="T57" fmla="*/ 186 h 1062"/>
                <a:gd name="T58" fmla="*/ 270 w 492"/>
                <a:gd name="T59" fmla="*/ 252 h 1062"/>
                <a:gd name="T60" fmla="*/ 306 w 492"/>
                <a:gd name="T61" fmla="*/ 324 h 1062"/>
                <a:gd name="T62" fmla="*/ 318 w 492"/>
                <a:gd name="T63" fmla="*/ 330 h 1062"/>
                <a:gd name="T64" fmla="*/ 318 w 492"/>
                <a:gd name="T65" fmla="*/ 288 h 1062"/>
                <a:gd name="T66" fmla="*/ 318 w 492"/>
                <a:gd name="T67" fmla="*/ 240 h 1062"/>
                <a:gd name="T68" fmla="*/ 318 w 492"/>
                <a:gd name="T69" fmla="*/ 204 h 1062"/>
                <a:gd name="T70" fmla="*/ 318 w 492"/>
                <a:gd name="T71" fmla="*/ 162 h 1062"/>
                <a:gd name="T72" fmla="*/ 324 w 492"/>
                <a:gd name="T73" fmla="*/ 126 h 1062"/>
                <a:gd name="T74" fmla="*/ 324 w 492"/>
                <a:gd name="T75" fmla="*/ 78 h 1062"/>
                <a:gd name="T76" fmla="*/ 336 w 492"/>
                <a:gd name="T77" fmla="*/ 6 h 1062"/>
                <a:gd name="T78" fmla="*/ 396 w 492"/>
                <a:gd name="T79" fmla="*/ 36 h 1062"/>
                <a:gd name="T80" fmla="*/ 408 w 492"/>
                <a:gd name="T81" fmla="*/ 108 h 1062"/>
                <a:gd name="T82" fmla="*/ 420 w 492"/>
                <a:gd name="T83" fmla="*/ 168 h 1062"/>
                <a:gd name="T84" fmla="*/ 426 w 492"/>
                <a:gd name="T85" fmla="*/ 234 h 1062"/>
                <a:gd name="T86" fmla="*/ 438 w 492"/>
                <a:gd name="T87" fmla="*/ 318 h 1062"/>
                <a:gd name="T88" fmla="*/ 450 w 492"/>
                <a:gd name="T89" fmla="*/ 402 h 1062"/>
                <a:gd name="T90" fmla="*/ 462 w 492"/>
                <a:gd name="T91" fmla="*/ 480 h 1062"/>
                <a:gd name="T92" fmla="*/ 462 w 492"/>
                <a:gd name="T93" fmla="*/ 522 h 1062"/>
                <a:gd name="T94" fmla="*/ 468 w 492"/>
                <a:gd name="T95" fmla="*/ 564 h 1062"/>
                <a:gd name="T96" fmla="*/ 462 w 492"/>
                <a:gd name="T97" fmla="*/ 606 h 1062"/>
                <a:gd name="T98" fmla="*/ 444 w 492"/>
                <a:gd name="T99" fmla="*/ 672 h 1062"/>
                <a:gd name="T100" fmla="*/ 444 w 492"/>
                <a:gd name="T101" fmla="*/ 744 h 1062"/>
                <a:gd name="T102" fmla="*/ 456 w 492"/>
                <a:gd name="T103" fmla="*/ 816 h 1062"/>
                <a:gd name="T104" fmla="*/ 474 w 492"/>
                <a:gd name="T105" fmla="*/ 888 h 1062"/>
                <a:gd name="T106" fmla="*/ 492 w 492"/>
                <a:gd name="T107" fmla="*/ 960 h 1062"/>
                <a:gd name="T108" fmla="*/ 414 w 492"/>
                <a:gd name="T109" fmla="*/ 990 h 1062"/>
                <a:gd name="T110" fmla="*/ 336 w 492"/>
                <a:gd name="T111" fmla="*/ 1026 h 1062"/>
                <a:gd name="T112" fmla="*/ 252 w 492"/>
                <a:gd name="T113" fmla="*/ 1056 h 106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492"/>
                <a:gd name="T172" fmla="*/ 0 h 1062"/>
                <a:gd name="T173" fmla="*/ 492 w 492"/>
                <a:gd name="T174" fmla="*/ 1062 h 106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492" h="1062">
                  <a:moveTo>
                    <a:pt x="240" y="1062"/>
                  </a:moveTo>
                  <a:lnTo>
                    <a:pt x="234" y="1056"/>
                  </a:lnTo>
                  <a:lnTo>
                    <a:pt x="234" y="1044"/>
                  </a:lnTo>
                  <a:lnTo>
                    <a:pt x="228" y="1032"/>
                  </a:lnTo>
                  <a:lnTo>
                    <a:pt x="228" y="1020"/>
                  </a:lnTo>
                  <a:lnTo>
                    <a:pt x="222" y="1008"/>
                  </a:lnTo>
                  <a:lnTo>
                    <a:pt x="222" y="1002"/>
                  </a:lnTo>
                  <a:lnTo>
                    <a:pt x="216" y="990"/>
                  </a:lnTo>
                  <a:lnTo>
                    <a:pt x="216" y="978"/>
                  </a:lnTo>
                  <a:lnTo>
                    <a:pt x="210" y="966"/>
                  </a:lnTo>
                  <a:lnTo>
                    <a:pt x="210" y="960"/>
                  </a:lnTo>
                  <a:lnTo>
                    <a:pt x="204" y="948"/>
                  </a:lnTo>
                  <a:lnTo>
                    <a:pt x="198" y="936"/>
                  </a:lnTo>
                  <a:lnTo>
                    <a:pt x="192" y="924"/>
                  </a:lnTo>
                  <a:lnTo>
                    <a:pt x="192" y="918"/>
                  </a:lnTo>
                  <a:lnTo>
                    <a:pt x="186" y="906"/>
                  </a:lnTo>
                  <a:lnTo>
                    <a:pt x="180" y="900"/>
                  </a:lnTo>
                  <a:lnTo>
                    <a:pt x="168" y="888"/>
                  </a:lnTo>
                  <a:lnTo>
                    <a:pt x="156" y="876"/>
                  </a:lnTo>
                  <a:lnTo>
                    <a:pt x="150" y="864"/>
                  </a:lnTo>
                  <a:lnTo>
                    <a:pt x="138" y="852"/>
                  </a:lnTo>
                  <a:lnTo>
                    <a:pt x="126" y="840"/>
                  </a:lnTo>
                  <a:lnTo>
                    <a:pt x="114" y="834"/>
                  </a:lnTo>
                  <a:lnTo>
                    <a:pt x="108" y="822"/>
                  </a:lnTo>
                  <a:lnTo>
                    <a:pt x="96" y="810"/>
                  </a:lnTo>
                  <a:lnTo>
                    <a:pt x="90" y="798"/>
                  </a:lnTo>
                  <a:lnTo>
                    <a:pt x="84" y="786"/>
                  </a:lnTo>
                  <a:lnTo>
                    <a:pt x="78" y="774"/>
                  </a:lnTo>
                  <a:lnTo>
                    <a:pt x="72" y="762"/>
                  </a:lnTo>
                  <a:lnTo>
                    <a:pt x="66" y="750"/>
                  </a:lnTo>
                  <a:lnTo>
                    <a:pt x="60" y="732"/>
                  </a:lnTo>
                  <a:lnTo>
                    <a:pt x="60" y="720"/>
                  </a:lnTo>
                  <a:lnTo>
                    <a:pt x="54" y="708"/>
                  </a:lnTo>
                  <a:lnTo>
                    <a:pt x="54" y="690"/>
                  </a:lnTo>
                  <a:lnTo>
                    <a:pt x="48" y="678"/>
                  </a:lnTo>
                  <a:lnTo>
                    <a:pt x="48" y="666"/>
                  </a:lnTo>
                  <a:lnTo>
                    <a:pt x="42" y="648"/>
                  </a:lnTo>
                  <a:lnTo>
                    <a:pt x="42" y="636"/>
                  </a:lnTo>
                  <a:lnTo>
                    <a:pt x="42" y="624"/>
                  </a:lnTo>
                  <a:lnTo>
                    <a:pt x="42" y="606"/>
                  </a:lnTo>
                  <a:lnTo>
                    <a:pt x="36" y="594"/>
                  </a:lnTo>
                  <a:lnTo>
                    <a:pt x="36" y="588"/>
                  </a:lnTo>
                  <a:lnTo>
                    <a:pt x="30" y="582"/>
                  </a:lnTo>
                  <a:lnTo>
                    <a:pt x="24" y="570"/>
                  </a:lnTo>
                  <a:lnTo>
                    <a:pt x="18" y="564"/>
                  </a:lnTo>
                  <a:lnTo>
                    <a:pt x="12" y="558"/>
                  </a:lnTo>
                  <a:lnTo>
                    <a:pt x="6" y="546"/>
                  </a:lnTo>
                  <a:lnTo>
                    <a:pt x="6" y="540"/>
                  </a:lnTo>
                  <a:lnTo>
                    <a:pt x="0" y="528"/>
                  </a:lnTo>
                  <a:lnTo>
                    <a:pt x="0" y="522"/>
                  </a:lnTo>
                  <a:lnTo>
                    <a:pt x="0" y="510"/>
                  </a:lnTo>
                  <a:lnTo>
                    <a:pt x="0" y="504"/>
                  </a:lnTo>
                  <a:lnTo>
                    <a:pt x="0" y="492"/>
                  </a:lnTo>
                  <a:lnTo>
                    <a:pt x="6" y="486"/>
                  </a:lnTo>
                  <a:lnTo>
                    <a:pt x="12" y="480"/>
                  </a:lnTo>
                  <a:lnTo>
                    <a:pt x="18" y="474"/>
                  </a:lnTo>
                  <a:lnTo>
                    <a:pt x="30" y="468"/>
                  </a:lnTo>
                  <a:lnTo>
                    <a:pt x="36" y="468"/>
                  </a:lnTo>
                  <a:lnTo>
                    <a:pt x="36" y="462"/>
                  </a:lnTo>
                  <a:lnTo>
                    <a:pt x="42" y="462"/>
                  </a:lnTo>
                  <a:lnTo>
                    <a:pt x="36" y="456"/>
                  </a:lnTo>
                  <a:lnTo>
                    <a:pt x="36" y="444"/>
                  </a:lnTo>
                  <a:lnTo>
                    <a:pt x="30" y="438"/>
                  </a:lnTo>
                  <a:lnTo>
                    <a:pt x="30" y="426"/>
                  </a:lnTo>
                  <a:lnTo>
                    <a:pt x="24" y="420"/>
                  </a:lnTo>
                  <a:lnTo>
                    <a:pt x="24" y="414"/>
                  </a:lnTo>
                  <a:lnTo>
                    <a:pt x="24" y="402"/>
                  </a:lnTo>
                  <a:lnTo>
                    <a:pt x="24" y="396"/>
                  </a:lnTo>
                  <a:lnTo>
                    <a:pt x="24" y="390"/>
                  </a:lnTo>
                  <a:lnTo>
                    <a:pt x="30" y="378"/>
                  </a:lnTo>
                  <a:lnTo>
                    <a:pt x="30" y="372"/>
                  </a:lnTo>
                  <a:lnTo>
                    <a:pt x="36" y="366"/>
                  </a:lnTo>
                  <a:lnTo>
                    <a:pt x="42" y="360"/>
                  </a:lnTo>
                  <a:lnTo>
                    <a:pt x="48" y="348"/>
                  </a:lnTo>
                  <a:lnTo>
                    <a:pt x="54" y="342"/>
                  </a:lnTo>
                  <a:lnTo>
                    <a:pt x="60" y="336"/>
                  </a:lnTo>
                  <a:lnTo>
                    <a:pt x="66" y="336"/>
                  </a:lnTo>
                  <a:lnTo>
                    <a:pt x="72" y="336"/>
                  </a:lnTo>
                  <a:lnTo>
                    <a:pt x="84" y="336"/>
                  </a:lnTo>
                  <a:lnTo>
                    <a:pt x="90" y="336"/>
                  </a:lnTo>
                  <a:lnTo>
                    <a:pt x="96" y="342"/>
                  </a:lnTo>
                  <a:lnTo>
                    <a:pt x="108" y="342"/>
                  </a:lnTo>
                  <a:lnTo>
                    <a:pt x="114" y="348"/>
                  </a:lnTo>
                  <a:lnTo>
                    <a:pt x="126" y="354"/>
                  </a:lnTo>
                  <a:lnTo>
                    <a:pt x="132" y="360"/>
                  </a:lnTo>
                  <a:lnTo>
                    <a:pt x="144" y="366"/>
                  </a:lnTo>
                  <a:lnTo>
                    <a:pt x="150" y="378"/>
                  </a:lnTo>
                  <a:lnTo>
                    <a:pt x="162" y="384"/>
                  </a:lnTo>
                  <a:lnTo>
                    <a:pt x="168" y="390"/>
                  </a:lnTo>
                  <a:lnTo>
                    <a:pt x="174" y="396"/>
                  </a:lnTo>
                  <a:lnTo>
                    <a:pt x="180" y="396"/>
                  </a:lnTo>
                  <a:lnTo>
                    <a:pt x="186" y="402"/>
                  </a:lnTo>
                  <a:lnTo>
                    <a:pt x="186" y="396"/>
                  </a:lnTo>
                  <a:lnTo>
                    <a:pt x="180" y="390"/>
                  </a:lnTo>
                  <a:lnTo>
                    <a:pt x="180" y="378"/>
                  </a:lnTo>
                  <a:lnTo>
                    <a:pt x="180" y="372"/>
                  </a:lnTo>
                  <a:lnTo>
                    <a:pt x="174" y="366"/>
                  </a:lnTo>
                  <a:lnTo>
                    <a:pt x="174" y="360"/>
                  </a:lnTo>
                  <a:lnTo>
                    <a:pt x="174" y="348"/>
                  </a:lnTo>
                  <a:lnTo>
                    <a:pt x="174" y="342"/>
                  </a:lnTo>
                  <a:lnTo>
                    <a:pt x="168" y="336"/>
                  </a:lnTo>
                  <a:lnTo>
                    <a:pt x="168" y="330"/>
                  </a:lnTo>
                  <a:lnTo>
                    <a:pt x="168" y="318"/>
                  </a:lnTo>
                  <a:lnTo>
                    <a:pt x="162" y="312"/>
                  </a:lnTo>
                  <a:lnTo>
                    <a:pt x="162" y="306"/>
                  </a:lnTo>
                  <a:lnTo>
                    <a:pt x="162" y="300"/>
                  </a:lnTo>
                  <a:lnTo>
                    <a:pt x="156" y="288"/>
                  </a:lnTo>
                  <a:lnTo>
                    <a:pt x="156" y="282"/>
                  </a:lnTo>
                  <a:lnTo>
                    <a:pt x="156" y="276"/>
                  </a:lnTo>
                  <a:lnTo>
                    <a:pt x="150" y="264"/>
                  </a:lnTo>
                  <a:lnTo>
                    <a:pt x="150" y="258"/>
                  </a:lnTo>
                  <a:lnTo>
                    <a:pt x="144" y="246"/>
                  </a:lnTo>
                  <a:lnTo>
                    <a:pt x="144" y="240"/>
                  </a:lnTo>
                  <a:lnTo>
                    <a:pt x="138" y="228"/>
                  </a:lnTo>
                  <a:lnTo>
                    <a:pt x="138" y="222"/>
                  </a:lnTo>
                  <a:lnTo>
                    <a:pt x="132" y="216"/>
                  </a:lnTo>
                  <a:lnTo>
                    <a:pt x="132" y="204"/>
                  </a:lnTo>
                  <a:lnTo>
                    <a:pt x="126" y="198"/>
                  </a:lnTo>
                  <a:lnTo>
                    <a:pt x="126" y="186"/>
                  </a:lnTo>
                  <a:lnTo>
                    <a:pt x="120" y="180"/>
                  </a:lnTo>
                  <a:lnTo>
                    <a:pt x="120" y="168"/>
                  </a:lnTo>
                  <a:lnTo>
                    <a:pt x="114" y="162"/>
                  </a:lnTo>
                  <a:lnTo>
                    <a:pt x="114" y="156"/>
                  </a:lnTo>
                  <a:lnTo>
                    <a:pt x="108" y="144"/>
                  </a:lnTo>
                  <a:lnTo>
                    <a:pt x="102" y="132"/>
                  </a:lnTo>
                  <a:lnTo>
                    <a:pt x="102" y="120"/>
                  </a:lnTo>
                  <a:lnTo>
                    <a:pt x="96" y="102"/>
                  </a:lnTo>
                  <a:lnTo>
                    <a:pt x="96" y="84"/>
                  </a:lnTo>
                  <a:lnTo>
                    <a:pt x="96" y="72"/>
                  </a:lnTo>
                  <a:lnTo>
                    <a:pt x="102" y="54"/>
                  </a:lnTo>
                  <a:lnTo>
                    <a:pt x="108" y="42"/>
                  </a:lnTo>
                  <a:lnTo>
                    <a:pt x="120" y="36"/>
                  </a:lnTo>
                  <a:lnTo>
                    <a:pt x="138" y="36"/>
                  </a:lnTo>
                  <a:lnTo>
                    <a:pt x="150" y="48"/>
                  </a:lnTo>
                  <a:lnTo>
                    <a:pt x="162" y="54"/>
                  </a:lnTo>
                  <a:lnTo>
                    <a:pt x="174" y="72"/>
                  </a:lnTo>
                  <a:lnTo>
                    <a:pt x="186" y="84"/>
                  </a:lnTo>
                  <a:lnTo>
                    <a:pt x="192" y="102"/>
                  </a:lnTo>
                  <a:lnTo>
                    <a:pt x="198" y="114"/>
                  </a:lnTo>
                  <a:lnTo>
                    <a:pt x="204" y="126"/>
                  </a:lnTo>
                  <a:lnTo>
                    <a:pt x="216" y="144"/>
                  </a:lnTo>
                  <a:lnTo>
                    <a:pt x="222" y="156"/>
                  </a:lnTo>
                  <a:lnTo>
                    <a:pt x="228" y="168"/>
                  </a:lnTo>
                  <a:lnTo>
                    <a:pt x="240" y="186"/>
                  </a:lnTo>
                  <a:lnTo>
                    <a:pt x="246" y="198"/>
                  </a:lnTo>
                  <a:lnTo>
                    <a:pt x="252" y="210"/>
                  </a:lnTo>
                  <a:lnTo>
                    <a:pt x="258" y="228"/>
                  </a:lnTo>
                  <a:lnTo>
                    <a:pt x="258" y="240"/>
                  </a:lnTo>
                  <a:lnTo>
                    <a:pt x="270" y="252"/>
                  </a:lnTo>
                  <a:lnTo>
                    <a:pt x="276" y="270"/>
                  </a:lnTo>
                  <a:lnTo>
                    <a:pt x="288" y="282"/>
                  </a:lnTo>
                  <a:lnTo>
                    <a:pt x="294" y="294"/>
                  </a:lnTo>
                  <a:lnTo>
                    <a:pt x="300" y="312"/>
                  </a:lnTo>
                  <a:lnTo>
                    <a:pt x="306" y="324"/>
                  </a:lnTo>
                  <a:lnTo>
                    <a:pt x="312" y="342"/>
                  </a:lnTo>
                  <a:lnTo>
                    <a:pt x="318" y="354"/>
                  </a:lnTo>
                  <a:lnTo>
                    <a:pt x="318" y="348"/>
                  </a:lnTo>
                  <a:lnTo>
                    <a:pt x="318" y="336"/>
                  </a:lnTo>
                  <a:lnTo>
                    <a:pt x="318" y="330"/>
                  </a:lnTo>
                  <a:lnTo>
                    <a:pt x="318" y="318"/>
                  </a:lnTo>
                  <a:lnTo>
                    <a:pt x="318" y="312"/>
                  </a:lnTo>
                  <a:lnTo>
                    <a:pt x="318" y="306"/>
                  </a:lnTo>
                  <a:lnTo>
                    <a:pt x="318" y="294"/>
                  </a:lnTo>
                  <a:lnTo>
                    <a:pt x="318" y="288"/>
                  </a:lnTo>
                  <a:lnTo>
                    <a:pt x="318" y="276"/>
                  </a:lnTo>
                  <a:lnTo>
                    <a:pt x="318" y="270"/>
                  </a:lnTo>
                  <a:lnTo>
                    <a:pt x="318" y="258"/>
                  </a:lnTo>
                  <a:lnTo>
                    <a:pt x="318" y="252"/>
                  </a:lnTo>
                  <a:lnTo>
                    <a:pt x="318" y="240"/>
                  </a:lnTo>
                  <a:lnTo>
                    <a:pt x="324" y="234"/>
                  </a:lnTo>
                  <a:lnTo>
                    <a:pt x="324" y="228"/>
                  </a:lnTo>
                  <a:lnTo>
                    <a:pt x="324" y="216"/>
                  </a:lnTo>
                  <a:lnTo>
                    <a:pt x="324" y="210"/>
                  </a:lnTo>
                  <a:lnTo>
                    <a:pt x="318" y="204"/>
                  </a:lnTo>
                  <a:lnTo>
                    <a:pt x="318" y="192"/>
                  </a:lnTo>
                  <a:lnTo>
                    <a:pt x="318" y="186"/>
                  </a:lnTo>
                  <a:lnTo>
                    <a:pt x="318" y="180"/>
                  </a:lnTo>
                  <a:lnTo>
                    <a:pt x="318" y="168"/>
                  </a:lnTo>
                  <a:lnTo>
                    <a:pt x="318" y="162"/>
                  </a:lnTo>
                  <a:lnTo>
                    <a:pt x="318" y="156"/>
                  </a:lnTo>
                  <a:lnTo>
                    <a:pt x="324" y="150"/>
                  </a:lnTo>
                  <a:lnTo>
                    <a:pt x="324" y="138"/>
                  </a:lnTo>
                  <a:lnTo>
                    <a:pt x="324" y="132"/>
                  </a:lnTo>
                  <a:lnTo>
                    <a:pt x="324" y="126"/>
                  </a:lnTo>
                  <a:lnTo>
                    <a:pt x="324" y="120"/>
                  </a:lnTo>
                  <a:lnTo>
                    <a:pt x="324" y="108"/>
                  </a:lnTo>
                  <a:lnTo>
                    <a:pt x="324" y="102"/>
                  </a:lnTo>
                  <a:lnTo>
                    <a:pt x="324" y="96"/>
                  </a:lnTo>
                  <a:lnTo>
                    <a:pt x="324" y="78"/>
                  </a:lnTo>
                  <a:lnTo>
                    <a:pt x="324" y="66"/>
                  </a:lnTo>
                  <a:lnTo>
                    <a:pt x="324" y="48"/>
                  </a:lnTo>
                  <a:lnTo>
                    <a:pt x="324" y="30"/>
                  </a:lnTo>
                  <a:lnTo>
                    <a:pt x="330" y="18"/>
                  </a:lnTo>
                  <a:lnTo>
                    <a:pt x="336" y="6"/>
                  </a:lnTo>
                  <a:lnTo>
                    <a:pt x="354" y="0"/>
                  </a:lnTo>
                  <a:lnTo>
                    <a:pt x="366" y="0"/>
                  </a:lnTo>
                  <a:lnTo>
                    <a:pt x="378" y="6"/>
                  </a:lnTo>
                  <a:lnTo>
                    <a:pt x="390" y="18"/>
                  </a:lnTo>
                  <a:lnTo>
                    <a:pt x="396" y="36"/>
                  </a:lnTo>
                  <a:lnTo>
                    <a:pt x="396" y="48"/>
                  </a:lnTo>
                  <a:lnTo>
                    <a:pt x="402" y="66"/>
                  </a:lnTo>
                  <a:lnTo>
                    <a:pt x="402" y="84"/>
                  </a:lnTo>
                  <a:lnTo>
                    <a:pt x="402" y="96"/>
                  </a:lnTo>
                  <a:lnTo>
                    <a:pt x="408" y="108"/>
                  </a:lnTo>
                  <a:lnTo>
                    <a:pt x="408" y="120"/>
                  </a:lnTo>
                  <a:lnTo>
                    <a:pt x="414" y="132"/>
                  </a:lnTo>
                  <a:lnTo>
                    <a:pt x="414" y="144"/>
                  </a:lnTo>
                  <a:lnTo>
                    <a:pt x="414" y="156"/>
                  </a:lnTo>
                  <a:lnTo>
                    <a:pt x="420" y="168"/>
                  </a:lnTo>
                  <a:lnTo>
                    <a:pt x="420" y="180"/>
                  </a:lnTo>
                  <a:lnTo>
                    <a:pt x="420" y="192"/>
                  </a:lnTo>
                  <a:lnTo>
                    <a:pt x="420" y="204"/>
                  </a:lnTo>
                  <a:lnTo>
                    <a:pt x="420" y="216"/>
                  </a:lnTo>
                  <a:lnTo>
                    <a:pt x="426" y="234"/>
                  </a:lnTo>
                  <a:lnTo>
                    <a:pt x="426" y="252"/>
                  </a:lnTo>
                  <a:lnTo>
                    <a:pt x="432" y="270"/>
                  </a:lnTo>
                  <a:lnTo>
                    <a:pt x="432" y="288"/>
                  </a:lnTo>
                  <a:lnTo>
                    <a:pt x="432" y="306"/>
                  </a:lnTo>
                  <a:lnTo>
                    <a:pt x="438" y="318"/>
                  </a:lnTo>
                  <a:lnTo>
                    <a:pt x="438" y="336"/>
                  </a:lnTo>
                  <a:lnTo>
                    <a:pt x="444" y="354"/>
                  </a:lnTo>
                  <a:lnTo>
                    <a:pt x="444" y="372"/>
                  </a:lnTo>
                  <a:lnTo>
                    <a:pt x="444" y="390"/>
                  </a:lnTo>
                  <a:lnTo>
                    <a:pt x="450" y="402"/>
                  </a:lnTo>
                  <a:lnTo>
                    <a:pt x="450" y="420"/>
                  </a:lnTo>
                  <a:lnTo>
                    <a:pt x="456" y="438"/>
                  </a:lnTo>
                  <a:lnTo>
                    <a:pt x="456" y="456"/>
                  </a:lnTo>
                  <a:lnTo>
                    <a:pt x="456" y="474"/>
                  </a:lnTo>
                  <a:lnTo>
                    <a:pt x="462" y="480"/>
                  </a:lnTo>
                  <a:lnTo>
                    <a:pt x="462" y="492"/>
                  </a:lnTo>
                  <a:lnTo>
                    <a:pt x="462" y="498"/>
                  </a:lnTo>
                  <a:lnTo>
                    <a:pt x="462" y="504"/>
                  </a:lnTo>
                  <a:lnTo>
                    <a:pt x="462" y="516"/>
                  </a:lnTo>
                  <a:lnTo>
                    <a:pt x="462" y="522"/>
                  </a:lnTo>
                  <a:lnTo>
                    <a:pt x="462" y="528"/>
                  </a:lnTo>
                  <a:lnTo>
                    <a:pt x="468" y="540"/>
                  </a:lnTo>
                  <a:lnTo>
                    <a:pt x="468" y="546"/>
                  </a:lnTo>
                  <a:lnTo>
                    <a:pt x="468" y="558"/>
                  </a:lnTo>
                  <a:lnTo>
                    <a:pt x="468" y="564"/>
                  </a:lnTo>
                  <a:lnTo>
                    <a:pt x="468" y="570"/>
                  </a:lnTo>
                  <a:lnTo>
                    <a:pt x="462" y="582"/>
                  </a:lnTo>
                  <a:lnTo>
                    <a:pt x="462" y="588"/>
                  </a:lnTo>
                  <a:lnTo>
                    <a:pt x="462" y="600"/>
                  </a:lnTo>
                  <a:lnTo>
                    <a:pt x="462" y="606"/>
                  </a:lnTo>
                  <a:lnTo>
                    <a:pt x="456" y="618"/>
                  </a:lnTo>
                  <a:lnTo>
                    <a:pt x="456" y="636"/>
                  </a:lnTo>
                  <a:lnTo>
                    <a:pt x="450" y="648"/>
                  </a:lnTo>
                  <a:lnTo>
                    <a:pt x="450" y="660"/>
                  </a:lnTo>
                  <a:lnTo>
                    <a:pt x="444" y="672"/>
                  </a:lnTo>
                  <a:lnTo>
                    <a:pt x="444" y="690"/>
                  </a:lnTo>
                  <a:lnTo>
                    <a:pt x="444" y="702"/>
                  </a:lnTo>
                  <a:lnTo>
                    <a:pt x="444" y="720"/>
                  </a:lnTo>
                  <a:lnTo>
                    <a:pt x="444" y="732"/>
                  </a:lnTo>
                  <a:lnTo>
                    <a:pt x="444" y="744"/>
                  </a:lnTo>
                  <a:lnTo>
                    <a:pt x="444" y="762"/>
                  </a:lnTo>
                  <a:lnTo>
                    <a:pt x="450" y="774"/>
                  </a:lnTo>
                  <a:lnTo>
                    <a:pt x="450" y="786"/>
                  </a:lnTo>
                  <a:lnTo>
                    <a:pt x="450" y="804"/>
                  </a:lnTo>
                  <a:lnTo>
                    <a:pt x="456" y="816"/>
                  </a:lnTo>
                  <a:lnTo>
                    <a:pt x="456" y="834"/>
                  </a:lnTo>
                  <a:lnTo>
                    <a:pt x="462" y="846"/>
                  </a:lnTo>
                  <a:lnTo>
                    <a:pt x="468" y="858"/>
                  </a:lnTo>
                  <a:lnTo>
                    <a:pt x="468" y="870"/>
                  </a:lnTo>
                  <a:lnTo>
                    <a:pt x="474" y="888"/>
                  </a:lnTo>
                  <a:lnTo>
                    <a:pt x="480" y="900"/>
                  </a:lnTo>
                  <a:lnTo>
                    <a:pt x="480" y="912"/>
                  </a:lnTo>
                  <a:lnTo>
                    <a:pt x="486" y="930"/>
                  </a:lnTo>
                  <a:lnTo>
                    <a:pt x="486" y="942"/>
                  </a:lnTo>
                  <a:lnTo>
                    <a:pt x="492" y="960"/>
                  </a:lnTo>
                  <a:lnTo>
                    <a:pt x="480" y="966"/>
                  </a:lnTo>
                  <a:lnTo>
                    <a:pt x="462" y="972"/>
                  </a:lnTo>
                  <a:lnTo>
                    <a:pt x="444" y="978"/>
                  </a:lnTo>
                  <a:lnTo>
                    <a:pt x="432" y="984"/>
                  </a:lnTo>
                  <a:lnTo>
                    <a:pt x="414" y="990"/>
                  </a:lnTo>
                  <a:lnTo>
                    <a:pt x="396" y="996"/>
                  </a:lnTo>
                  <a:lnTo>
                    <a:pt x="384" y="1002"/>
                  </a:lnTo>
                  <a:lnTo>
                    <a:pt x="366" y="1014"/>
                  </a:lnTo>
                  <a:lnTo>
                    <a:pt x="348" y="1020"/>
                  </a:lnTo>
                  <a:lnTo>
                    <a:pt x="336" y="1026"/>
                  </a:lnTo>
                  <a:lnTo>
                    <a:pt x="318" y="1032"/>
                  </a:lnTo>
                  <a:lnTo>
                    <a:pt x="300" y="1038"/>
                  </a:lnTo>
                  <a:lnTo>
                    <a:pt x="288" y="1044"/>
                  </a:lnTo>
                  <a:lnTo>
                    <a:pt x="270" y="1050"/>
                  </a:lnTo>
                  <a:lnTo>
                    <a:pt x="252" y="1056"/>
                  </a:lnTo>
                  <a:lnTo>
                    <a:pt x="240" y="1062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424" y="192"/>
              <a:ext cx="492" cy="1062"/>
            </a:xfrm>
            <a:custGeom>
              <a:avLst/>
              <a:gdLst>
                <a:gd name="T0" fmla="*/ 228 w 492"/>
                <a:gd name="T1" fmla="*/ 1032 h 1062"/>
                <a:gd name="T2" fmla="*/ 216 w 492"/>
                <a:gd name="T3" fmla="*/ 978 h 1062"/>
                <a:gd name="T4" fmla="*/ 192 w 492"/>
                <a:gd name="T5" fmla="*/ 924 h 1062"/>
                <a:gd name="T6" fmla="*/ 168 w 492"/>
                <a:gd name="T7" fmla="*/ 888 h 1062"/>
                <a:gd name="T8" fmla="*/ 114 w 492"/>
                <a:gd name="T9" fmla="*/ 834 h 1062"/>
                <a:gd name="T10" fmla="*/ 84 w 492"/>
                <a:gd name="T11" fmla="*/ 786 h 1062"/>
                <a:gd name="T12" fmla="*/ 60 w 492"/>
                <a:gd name="T13" fmla="*/ 720 h 1062"/>
                <a:gd name="T14" fmla="*/ 42 w 492"/>
                <a:gd name="T15" fmla="*/ 648 h 1062"/>
                <a:gd name="T16" fmla="*/ 36 w 492"/>
                <a:gd name="T17" fmla="*/ 594 h 1062"/>
                <a:gd name="T18" fmla="*/ 12 w 492"/>
                <a:gd name="T19" fmla="*/ 558 h 1062"/>
                <a:gd name="T20" fmla="*/ 0 w 492"/>
                <a:gd name="T21" fmla="*/ 510 h 1062"/>
                <a:gd name="T22" fmla="*/ 18 w 492"/>
                <a:gd name="T23" fmla="*/ 474 h 1062"/>
                <a:gd name="T24" fmla="*/ 42 w 492"/>
                <a:gd name="T25" fmla="*/ 462 h 1062"/>
                <a:gd name="T26" fmla="*/ 30 w 492"/>
                <a:gd name="T27" fmla="*/ 438 h 1062"/>
                <a:gd name="T28" fmla="*/ 24 w 492"/>
                <a:gd name="T29" fmla="*/ 396 h 1062"/>
                <a:gd name="T30" fmla="*/ 42 w 492"/>
                <a:gd name="T31" fmla="*/ 360 h 1062"/>
                <a:gd name="T32" fmla="*/ 66 w 492"/>
                <a:gd name="T33" fmla="*/ 336 h 1062"/>
                <a:gd name="T34" fmla="*/ 108 w 492"/>
                <a:gd name="T35" fmla="*/ 342 h 1062"/>
                <a:gd name="T36" fmla="*/ 150 w 492"/>
                <a:gd name="T37" fmla="*/ 378 h 1062"/>
                <a:gd name="T38" fmla="*/ 186 w 492"/>
                <a:gd name="T39" fmla="*/ 402 h 1062"/>
                <a:gd name="T40" fmla="*/ 180 w 492"/>
                <a:gd name="T41" fmla="*/ 372 h 1062"/>
                <a:gd name="T42" fmla="*/ 168 w 492"/>
                <a:gd name="T43" fmla="*/ 336 h 1062"/>
                <a:gd name="T44" fmla="*/ 162 w 492"/>
                <a:gd name="T45" fmla="*/ 300 h 1062"/>
                <a:gd name="T46" fmla="*/ 150 w 492"/>
                <a:gd name="T47" fmla="*/ 264 h 1062"/>
                <a:gd name="T48" fmla="*/ 138 w 492"/>
                <a:gd name="T49" fmla="*/ 222 h 1062"/>
                <a:gd name="T50" fmla="*/ 120 w 492"/>
                <a:gd name="T51" fmla="*/ 180 h 1062"/>
                <a:gd name="T52" fmla="*/ 108 w 492"/>
                <a:gd name="T53" fmla="*/ 144 h 1062"/>
                <a:gd name="T54" fmla="*/ 96 w 492"/>
                <a:gd name="T55" fmla="*/ 72 h 1062"/>
                <a:gd name="T56" fmla="*/ 138 w 492"/>
                <a:gd name="T57" fmla="*/ 36 h 1062"/>
                <a:gd name="T58" fmla="*/ 192 w 492"/>
                <a:gd name="T59" fmla="*/ 102 h 1062"/>
                <a:gd name="T60" fmla="*/ 222 w 492"/>
                <a:gd name="T61" fmla="*/ 156 h 1062"/>
                <a:gd name="T62" fmla="*/ 258 w 492"/>
                <a:gd name="T63" fmla="*/ 228 h 1062"/>
                <a:gd name="T64" fmla="*/ 288 w 492"/>
                <a:gd name="T65" fmla="*/ 282 h 1062"/>
                <a:gd name="T66" fmla="*/ 318 w 492"/>
                <a:gd name="T67" fmla="*/ 354 h 1062"/>
                <a:gd name="T68" fmla="*/ 318 w 492"/>
                <a:gd name="T69" fmla="*/ 318 h 1062"/>
                <a:gd name="T70" fmla="*/ 318 w 492"/>
                <a:gd name="T71" fmla="*/ 276 h 1062"/>
                <a:gd name="T72" fmla="*/ 324 w 492"/>
                <a:gd name="T73" fmla="*/ 234 h 1062"/>
                <a:gd name="T74" fmla="*/ 318 w 492"/>
                <a:gd name="T75" fmla="*/ 204 h 1062"/>
                <a:gd name="T76" fmla="*/ 318 w 492"/>
                <a:gd name="T77" fmla="*/ 162 h 1062"/>
                <a:gd name="T78" fmla="*/ 324 w 492"/>
                <a:gd name="T79" fmla="*/ 126 h 1062"/>
                <a:gd name="T80" fmla="*/ 324 w 492"/>
                <a:gd name="T81" fmla="*/ 96 h 1062"/>
                <a:gd name="T82" fmla="*/ 330 w 492"/>
                <a:gd name="T83" fmla="*/ 18 h 1062"/>
                <a:gd name="T84" fmla="*/ 378 w 492"/>
                <a:gd name="T85" fmla="*/ 6 h 1062"/>
                <a:gd name="T86" fmla="*/ 402 w 492"/>
                <a:gd name="T87" fmla="*/ 84 h 1062"/>
                <a:gd name="T88" fmla="*/ 414 w 492"/>
                <a:gd name="T89" fmla="*/ 132 h 1062"/>
                <a:gd name="T90" fmla="*/ 420 w 492"/>
                <a:gd name="T91" fmla="*/ 192 h 1062"/>
                <a:gd name="T92" fmla="*/ 426 w 492"/>
                <a:gd name="T93" fmla="*/ 252 h 1062"/>
                <a:gd name="T94" fmla="*/ 438 w 492"/>
                <a:gd name="T95" fmla="*/ 336 h 1062"/>
                <a:gd name="T96" fmla="*/ 450 w 492"/>
                <a:gd name="T97" fmla="*/ 420 h 1062"/>
                <a:gd name="T98" fmla="*/ 462 w 492"/>
                <a:gd name="T99" fmla="*/ 480 h 1062"/>
                <a:gd name="T100" fmla="*/ 462 w 492"/>
                <a:gd name="T101" fmla="*/ 522 h 1062"/>
                <a:gd name="T102" fmla="*/ 468 w 492"/>
                <a:gd name="T103" fmla="*/ 564 h 1062"/>
                <a:gd name="T104" fmla="*/ 462 w 492"/>
                <a:gd name="T105" fmla="*/ 606 h 1062"/>
                <a:gd name="T106" fmla="*/ 450 w 492"/>
                <a:gd name="T107" fmla="*/ 660 h 1062"/>
                <a:gd name="T108" fmla="*/ 444 w 492"/>
                <a:gd name="T109" fmla="*/ 720 h 1062"/>
                <a:gd name="T110" fmla="*/ 450 w 492"/>
                <a:gd name="T111" fmla="*/ 786 h 1062"/>
                <a:gd name="T112" fmla="*/ 468 w 492"/>
                <a:gd name="T113" fmla="*/ 858 h 1062"/>
                <a:gd name="T114" fmla="*/ 486 w 492"/>
                <a:gd name="T115" fmla="*/ 930 h 1062"/>
                <a:gd name="T116" fmla="*/ 462 w 492"/>
                <a:gd name="T117" fmla="*/ 972 h 1062"/>
                <a:gd name="T118" fmla="*/ 384 w 492"/>
                <a:gd name="T119" fmla="*/ 1002 h 1062"/>
                <a:gd name="T120" fmla="*/ 300 w 492"/>
                <a:gd name="T121" fmla="*/ 1038 h 106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w 492"/>
                <a:gd name="T184" fmla="*/ 0 h 1062"/>
                <a:gd name="T185" fmla="*/ 492 w 492"/>
                <a:gd name="T186" fmla="*/ 1062 h 1062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T183" t="T184" r="T185" b="T186"/>
              <a:pathLst>
                <a:path w="492" h="1062">
                  <a:moveTo>
                    <a:pt x="240" y="1062"/>
                  </a:moveTo>
                  <a:lnTo>
                    <a:pt x="240" y="1062"/>
                  </a:lnTo>
                  <a:lnTo>
                    <a:pt x="234" y="1056"/>
                  </a:lnTo>
                  <a:lnTo>
                    <a:pt x="234" y="1044"/>
                  </a:lnTo>
                  <a:lnTo>
                    <a:pt x="228" y="1032"/>
                  </a:lnTo>
                  <a:lnTo>
                    <a:pt x="228" y="1020"/>
                  </a:lnTo>
                  <a:lnTo>
                    <a:pt x="222" y="1008"/>
                  </a:lnTo>
                  <a:lnTo>
                    <a:pt x="222" y="1002"/>
                  </a:lnTo>
                  <a:lnTo>
                    <a:pt x="216" y="990"/>
                  </a:lnTo>
                  <a:lnTo>
                    <a:pt x="216" y="978"/>
                  </a:lnTo>
                  <a:lnTo>
                    <a:pt x="210" y="966"/>
                  </a:lnTo>
                  <a:lnTo>
                    <a:pt x="210" y="960"/>
                  </a:lnTo>
                  <a:lnTo>
                    <a:pt x="204" y="948"/>
                  </a:lnTo>
                  <a:lnTo>
                    <a:pt x="198" y="936"/>
                  </a:lnTo>
                  <a:lnTo>
                    <a:pt x="192" y="924"/>
                  </a:lnTo>
                  <a:lnTo>
                    <a:pt x="192" y="918"/>
                  </a:lnTo>
                  <a:lnTo>
                    <a:pt x="186" y="906"/>
                  </a:lnTo>
                  <a:lnTo>
                    <a:pt x="180" y="900"/>
                  </a:lnTo>
                  <a:lnTo>
                    <a:pt x="168" y="888"/>
                  </a:lnTo>
                  <a:lnTo>
                    <a:pt x="156" y="876"/>
                  </a:lnTo>
                  <a:lnTo>
                    <a:pt x="150" y="864"/>
                  </a:lnTo>
                  <a:lnTo>
                    <a:pt x="138" y="852"/>
                  </a:lnTo>
                  <a:lnTo>
                    <a:pt x="126" y="840"/>
                  </a:lnTo>
                  <a:lnTo>
                    <a:pt x="114" y="834"/>
                  </a:lnTo>
                  <a:lnTo>
                    <a:pt x="108" y="822"/>
                  </a:lnTo>
                  <a:lnTo>
                    <a:pt x="96" y="810"/>
                  </a:lnTo>
                  <a:lnTo>
                    <a:pt x="90" y="798"/>
                  </a:lnTo>
                  <a:lnTo>
                    <a:pt x="84" y="786"/>
                  </a:lnTo>
                  <a:lnTo>
                    <a:pt x="78" y="774"/>
                  </a:lnTo>
                  <a:lnTo>
                    <a:pt x="72" y="762"/>
                  </a:lnTo>
                  <a:lnTo>
                    <a:pt x="66" y="750"/>
                  </a:lnTo>
                  <a:lnTo>
                    <a:pt x="60" y="732"/>
                  </a:lnTo>
                  <a:lnTo>
                    <a:pt x="60" y="720"/>
                  </a:lnTo>
                  <a:lnTo>
                    <a:pt x="54" y="708"/>
                  </a:lnTo>
                  <a:lnTo>
                    <a:pt x="54" y="690"/>
                  </a:lnTo>
                  <a:lnTo>
                    <a:pt x="48" y="678"/>
                  </a:lnTo>
                  <a:lnTo>
                    <a:pt x="48" y="666"/>
                  </a:lnTo>
                  <a:lnTo>
                    <a:pt x="42" y="648"/>
                  </a:lnTo>
                  <a:lnTo>
                    <a:pt x="42" y="636"/>
                  </a:lnTo>
                  <a:lnTo>
                    <a:pt x="42" y="624"/>
                  </a:lnTo>
                  <a:lnTo>
                    <a:pt x="42" y="606"/>
                  </a:lnTo>
                  <a:lnTo>
                    <a:pt x="36" y="594"/>
                  </a:lnTo>
                  <a:lnTo>
                    <a:pt x="36" y="588"/>
                  </a:lnTo>
                  <a:lnTo>
                    <a:pt x="30" y="582"/>
                  </a:lnTo>
                  <a:lnTo>
                    <a:pt x="24" y="570"/>
                  </a:lnTo>
                  <a:lnTo>
                    <a:pt x="18" y="564"/>
                  </a:lnTo>
                  <a:lnTo>
                    <a:pt x="12" y="558"/>
                  </a:lnTo>
                  <a:lnTo>
                    <a:pt x="6" y="546"/>
                  </a:lnTo>
                  <a:lnTo>
                    <a:pt x="6" y="540"/>
                  </a:lnTo>
                  <a:lnTo>
                    <a:pt x="0" y="528"/>
                  </a:lnTo>
                  <a:lnTo>
                    <a:pt x="0" y="522"/>
                  </a:lnTo>
                  <a:lnTo>
                    <a:pt x="0" y="510"/>
                  </a:lnTo>
                  <a:lnTo>
                    <a:pt x="0" y="504"/>
                  </a:lnTo>
                  <a:lnTo>
                    <a:pt x="0" y="492"/>
                  </a:lnTo>
                  <a:lnTo>
                    <a:pt x="6" y="486"/>
                  </a:lnTo>
                  <a:lnTo>
                    <a:pt x="12" y="480"/>
                  </a:lnTo>
                  <a:lnTo>
                    <a:pt x="18" y="474"/>
                  </a:lnTo>
                  <a:lnTo>
                    <a:pt x="30" y="468"/>
                  </a:lnTo>
                  <a:lnTo>
                    <a:pt x="36" y="468"/>
                  </a:lnTo>
                  <a:lnTo>
                    <a:pt x="36" y="462"/>
                  </a:lnTo>
                  <a:lnTo>
                    <a:pt x="42" y="462"/>
                  </a:lnTo>
                  <a:lnTo>
                    <a:pt x="36" y="456"/>
                  </a:lnTo>
                  <a:lnTo>
                    <a:pt x="36" y="444"/>
                  </a:lnTo>
                  <a:lnTo>
                    <a:pt x="30" y="438"/>
                  </a:lnTo>
                  <a:lnTo>
                    <a:pt x="30" y="426"/>
                  </a:lnTo>
                  <a:lnTo>
                    <a:pt x="24" y="420"/>
                  </a:lnTo>
                  <a:lnTo>
                    <a:pt x="24" y="414"/>
                  </a:lnTo>
                  <a:lnTo>
                    <a:pt x="24" y="402"/>
                  </a:lnTo>
                  <a:lnTo>
                    <a:pt x="24" y="396"/>
                  </a:lnTo>
                  <a:lnTo>
                    <a:pt x="24" y="390"/>
                  </a:lnTo>
                  <a:lnTo>
                    <a:pt x="30" y="378"/>
                  </a:lnTo>
                  <a:lnTo>
                    <a:pt x="30" y="372"/>
                  </a:lnTo>
                  <a:lnTo>
                    <a:pt x="36" y="366"/>
                  </a:lnTo>
                  <a:lnTo>
                    <a:pt x="42" y="360"/>
                  </a:lnTo>
                  <a:lnTo>
                    <a:pt x="48" y="348"/>
                  </a:lnTo>
                  <a:lnTo>
                    <a:pt x="54" y="342"/>
                  </a:lnTo>
                  <a:lnTo>
                    <a:pt x="60" y="336"/>
                  </a:lnTo>
                  <a:lnTo>
                    <a:pt x="66" y="336"/>
                  </a:lnTo>
                  <a:lnTo>
                    <a:pt x="72" y="336"/>
                  </a:lnTo>
                  <a:lnTo>
                    <a:pt x="84" y="336"/>
                  </a:lnTo>
                  <a:lnTo>
                    <a:pt x="90" y="336"/>
                  </a:lnTo>
                  <a:lnTo>
                    <a:pt x="96" y="342"/>
                  </a:lnTo>
                  <a:lnTo>
                    <a:pt x="108" y="342"/>
                  </a:lnTo>
                  <a:lnTo>
                    <a:pt x="114" y="348"/>
                  </a:lnTo>
                  <a:lnTo>
                    <a:pt x="126" y="354"/>
                  </a:lnTo>
                  <a:lnTo>
                    <a:pt x="132" y="360"/>
                  </a:lnTo>
                  <a:lnTo>
                    <a:pt x="144" y="366"/>
                  </a:lnTo>
                  <a:lnTo>
                    <a:pt x="150" y="378"/>
                  </a:lnTo>
                  <a:lnTo>
                    <a:pt x="162" y="384"/>
                  </a:lnTo>
                  <a:lnTo>
                    <a:pt x="168" y="390"/>
                  </a:lnTo>
                  <a:lnTo>
                    <a:pt x="174" y="396"/>
                  </a:lnTo>
                  <a:lnTo>
                    <a:pt x="180" y="396"/>
                  </a:lnTo>
                  <a:lnTo>
                    <a:pt x="186" y="402"/>
                  </a:lnTo>
                  <a:lnTo>
                    <a:pt x="186" y="396"/>
                  </a:lnTo>
                  <a:lnTo>
                    <a:pt x="180" y="390"/>
                  </a:lnTo>
                  <a:lnTo>
                    <a:pt x="180" y="378"/>
                  </a:lnTo>
                  <a:lnTo>
                    <a:pt x="180" y="372"/>
                  </a:lnTo>
                  <a:lnTo>
                    <a:pt x="174" y="366"/>
                  </a:lnTo>
                  <a:lnTo>
                    <a:pt x="174" y="360"/>
                  </a:lnTo>
                  <a:lnTo>
                    <a:pt x="174" y="348"/>
                  </a:lnTo>
                  <a:lnTo>
                    <a:pt x="174" y="342"/>
                  </a:lnTo>
                  <a:lnTo>
                    <a:pt x="168" y="336"/>
                  </a:lnTo>
                  <a:lnTo>
                    <a:pt x="168" y="330"/>
                  </a:lnTo>
                  <a:lnTo>
                    <a:pt x="168" y="318"/>
                  </a:lnTo>
                  <a:lnTo>
                    <a:pt x="162" y="312"/>
                  </a:lnTo>
                  <a:lnTo>
                    <a:pt x="162" y="306"/>
                  </a:lnTo>
                  <a:lnTo>
                    <a:pt x="162" y="300"/>
                  </a:lnTo>
                  <a:lnTo>
                    <a:pt x="156" y="288"/>
                  </a:lnTo>
                  <a:lnTo>
                    <a:pt x="156" y="282"/>
                  </a:lnTo>
                  <a:lnTo>
                    <a:pt x="156" y="276"/>
                  </a:lnTo>
                  <a:lnTo>
                    <a:pt x="150" y="264"/>
                  </a:lnTo>
                  <a:lnTo>
                    <a:pt x="150" y="258"/>
                  </a:lnTo>
                  <a:lnTo>
                    <a:pt x="144" y="246"/>
                  </a:lnTo>
                  <a:lnTo>
                    <a:pt x="144" y="240"/>
                  </a:lnTo>
                  <a:lnTo>
                    <a:pt x="138" y="228"/>
                  </a:lnTo>
                  <a:lnTo>
                    <a:pt x="138" y="222"/>
                  </a:lnTo>
                  <a:lnTo>
                    <a:pt x="132" y="216"/>
                  </a:lnTo>
                  <a:lnTo>
                    <a:pt x="132" y="204"/>
                  </a:lnTo>
                  <a:lnTo>
                    <a:pt x="126" y="198"/>
                  </a:lnTo>
                  <a:lnTo>
                    <a:pt x="126" y="186"/>
                  </a:lnTo>
                  <a:lnTo>
                    <a:pt x="120" y="180"/>
                  </a:lnTo>
                  <a:lnTo>
                    <a:pt x="120" y="168"/>
                  </a:lnTo>
                  <a:lnTo>
                    <a:pt x="114" y="162"/>
                  </a:lnTo>
                  <a:lnTo>
                    <a:pt x="114" y="156"/>
                  </a:lnTo>
                  <a:lnTo>
                    <a:pt x="108" y="144"/>
                  </a:lnTo>
                  <a:lnTo>
                    <a:pt x="102" y="132"/>
                  </a:lnTo>
                  <a:lnTo>
                    <a:pt x="102" y="120"/>
                  </a:lnTo>
                  <a:lnTo>
                    <a:pt x="96" y="102"/>
                  </a:lnTo>
                  <a:lnTo>
                    <a:pt x="96" y="84"/>
                  </a:lnTo>
                  <a:lnTo>
                    <a:pt x="96" y="72"/>
                  </a:lnTo>
                  <a:lnTo>
                    <a:pt x="102" y="54"/>
                  </a:lnTo>
                  <a:lnTo>
                    <a:pt x="108" y="42"/>
                  </a:lnTo>
                  <a:lnTo>
                    <a:pt x="120" y="36"/>
                  </a:lnTo>
                  <a:lnTo>
                    <a:pt x="138" y="36"/>
                  </a:lnTo>
                  <a:lnTo>
                    <a:pt x="150" y="48"/>
                  </a:lnTo>
                  <a:lnTo>
                    <a:pt x="162" y="54"/>
                  </a:lnTo>
                  <a:lnTo>
                    <a:pt x="174" y="72"/>
                  </a:lnTo>
                  <a:lnTo>
                    <a:pt x="186" y="84"/>
                  </a:lnTo>
                  <a:lnTo>
                    <a:pt x="192" y="102"/>
                  </a:lnTo>
                  <a:lnTo>
                    <a:pt x="198" y="114"/>
                  </a:lnTo>
                  <a:lnTo>
                    <a:pt x="204" y="126"/>
                  </a:lnTo>
                  <a:lnTo>
                    <a:pt x="216" y="144"/>
                  </a:lnTo>
                  <a:lnTo>
                    <a:pt x="222" y="156"/>
                  </a:lnTo>
                  <a:lnTo>
                    <a:pt x="228" y="168"/>
                  </a:lnTo>
                  <a:lnTo>
                    <a:pt x="240" y="186"/>
                  </a:lnTo>
                  <a:lnTo>
                    <a:pt x="246" y="198"/>
                  </a:lnTo>
                  <a:lnTo>
                    <a:pt x="252" y="210"/>
                  </a:lnTo>
                  <a:lnTo>
                    <a:pt x="258" y="228"/>
                  </a:lnTo>
                  <a:lnTo>
                    <a:pt x="258" y="240"/>
                  </a:lnTo>
                  <a:lnTo>
                    <a:pt x="270" y="252"/>
                  </a:lnTo>
                  <a:lnTo>
                    <a:pt x="276" y="270"/>
                  </a:lnTo>
                  <a:lnTo>
                    <a:pt x="288" y="282"/>
                  </a:lnTo>
                  <a:lnTo>
                    <a:pt x="294" y="294"/>
                  </a:lnTo>
                  <a:lnTo>
                    <a:pt x="300" y="312"/>
                  </a:lnTo>
                  <a:lnTo>
                    <a:pt x="306" y="324"/>
                  </a:lnTo>
                  <a:lnTo>
                    <a:pt x="312" y="342"/>
                  </a:lnTo>
                  <a:lnTo>
                    <a:pt x="318" y="354"/>
                  </a:lnTo>
                  <a:lnTo>
                    <a:pt x="318" y="348"/>
                  </a:lnTo>
                  <a:lnTo>
                    <a:pt x="318" y="336"/>
                  </a:lnTo>
                  <a:lnTo>
                    <a:pt x="318" y="330"/>
                  </a:lnTo>
                  <a:lnTo>
                    <a:pt x="318" y="318"/>
                  </a:lnTo>
                  <a:lnTo>
                    <a:pt x="318" y="312"/>
                  </a:lnTo>
                  <a:lnTo>
                    <a:pt x="318" y="306"/>
                  </a:lnTo>
                  <a:lnTo>
                    <a:pt x="318" y="294"/>
                  </a:lnTo>
                  <a:lnTo>
                    <a:pt x="318" y="288"/>
                  </a:lnTo>
                  <a:lnTo>
                    <a:pt x="318" y="276"/>
                  </a:lnTo>
                  <a:lnTo>
                    <a:pt x="318" y="270"/>
                  </a:lnTo>
                  <a:lnTo>
                    <a:pt x="318" y="258"/>
                  </a:lnTo>
                  <a:lnTo>
                    <a:pt x="318" y="252"/>
                  </a:lnTo>
                  <a:lnTo>
                    <a:pt x="318" y="240"/>
                  </a:lnTo>
                  <a:lnTo>
                    <a:pt x="324" y="234"/>
                  </a:lnTo>
                  <a:lnTo>
                    <a:pt x="324" y="228"/>
                  </a:lnTo>
                  <a:lnTo>
                    <a:pt x="324" y="216"/>
                  </a:lnTo>
                  <a:lnTo>
                    <a:pt x="324" y="210"/>
                  </a:lnTo>
                  <a:lnTo>
                    <a:pt x="318" y="204"/>
                  </a:lnTo>
                  <a:lnTo>
                    <a:pt x="318" y="192"/>
                  </a:lnTo>
                  <a:lnTo>
                    <a:pt x="318" y="186"/>
                  </a:lnTo>
                  <a:lnTo>
                    <a:pt x="318" y="180"/>
                  </a:lnTo>
                  <a:lnTo>
                    <a:pt x="318" y="168"/>
                  </a:lnTo>
                  <a:lnTo>
                    <a:pt x="318" y="162"/>
                  </a:lnTo>
                  <a:lnTo>
                    <a:pt x="318" y="156"/>
                  </a:lnTo>
                  <a:lnTo>
                    <a:pt x="324" y="150"/>
                  </a:lnTo>
                  <a:lnTo>
                    <a:pt x="324" y="138"/>
                  </a:lnTo>
                  <a:lnTo>
                    <a:pt x="324" y="132"/>
                  </a:lnTo>
                  <a:lnTo>
                    <a:pt x="324" y="126"/>
                  </a:lnTo>
                  <a:lnTo>
                    <a:pt x="324" y="120"/>
                  </a:lnTo>
                  <a:lnTo>
                    <a:pt x="324" y="108"/>
                  </a:lnTo>
                  <a:lnTo>
                    <a:pt x="324" y="102"/>
                  </a:lnTo>
                  <a:lnTo>
                    <a:pt x="324" y="96"/>
                  </a:lnTo>
                  <a:lnTo>
                    <a:pt x="324" y="78"/>
                  </a:lnTo>
                  <a:lnTo>
                    <a:pt x="324" y="66"/>
                  </a:lnTo>
                  <a:lnTo>
                    <a:pt x="324" y="48"/>
                  </a:lnTo>
                  <a:lnTo>
                    <a:pt x="324" y="30"/>
                  </a:lnTo>
                  <a:lnTo>
                    <a:pt x="330" y="18"/>
                  </a:lnTo>
                  <a:lnTo>
                    <a:pt x="336" y="6"/>
                  </a:lnTo>
                  <a:lnTo>
                    <a:pt x="354" y="0"/>
                  </a:lnTo>
                  <a:lnTo>
                    <a:pt x="366" y="0"/>
                  </a:lnTo>
                  <a:lnTo>
                    <a:pt x="378" y="6"/>
                  </a:lnTo>
                  <a:lnTo>
                    <a:pt x="390" y="18"/>
                  </a:lnTo>
                  <a:lnTo>
                    <a:pt x="396" y="36"/>
                  </a:lnTo>
                  <a:lnTo>
                    <a:pt x="396" y="48"/>
                  </a:lnTo>
                  <a:lnTo>
                    <a:pt x="402" y="66"/>
                  </a:lnTo>
                  <a:lnTo>
                    <a:pt x="402" y="84"/>
                  </a:lnTo>
                  <a:lnTo>
                    <a:pt x="402" y="96"/>
                  </a:lnTo>
                  <a:lnTo>
                    <a:pt x="408" y="108"/>
                  </a:lnTo>
                  <a:lnTo>
                    <a:pt x="408" y="120"/>
                  </a:lnTo>
                  <a:lnTo>
                    <a:pt x="414" y="132"/>
                  </a:lnTo>
                  <a:lnTo>
                    <a:pt x="414" y="144"/>
                  </a:lnTo>
                  <a:lnTo>
                    <a:pt x="414" y="156"/>
                  </a:lnTo>
                  <a:lnTo>
                    <a:pt x="420" y="168"/>
                  </a:lnTo>
                  <a:lnTo>
                    <a:pt x="420" y="180"/>
                  </a:lnTo>
                  <a:lnTo>
                    <a:pt x="420" y="192"/>
                  </a:lnTo>
                  <a:lnTo>
                    <a:pt x="420" y="204"/>
                  </a:lnTo>
                  <a:lnTo>
                    <a:pt x="420" y="216"/>
                  </a:lnTo>
                  <a:lnTo>
                    <a:pt x="426" y="234"/>
                  </a:lnTo>
                  <a:lnTo>
                    <a:pt x="426" y="252"/>
                  </a:lnTo>
                  <a:lnTo>
                    <a:pt x="432" y="270"/>
                  </a:lnTo>
                  <a:lnTo>
                    <a:pt x="432" y="288"/>
                  </a:lnTo>
                  <a:lnTo>
                    <a:pt x="432" y="306"/>
                  </a:lnTo>
                  <a:lnTo>
                    <a:pt x="438" y="318"/>
                  </a:lnTo>
                  <a:lnTo>
                    <a:pt x="438" y="336"/>
                  </a:lnTo>
                  <a:lnTo>
                    <a:pt x="444" y="354"/>
                  </a:lnTo>
                  <a:lnTo>
                    <a:pt x="444" y="372"/>
                  </a:lnTo>
                  <a:lnTo>
                    <a:pt x="444" y="390"/>
                  </a:lnTo>
                  <a:lnTo>
                    <a:pt x="450" y="402"/>
                  </a:lnTo>
                  <a:lnTo>
                    <a:pt x="450" y="420"/>
                  </a:lnTo>
                  <a:lnTo>
                    <a:pt x="456" y="438"/>
                  </a:lnTo>
                  <a:lnTo>
                    <a:pt x="456" y="456"/>
                  </a:lnTo>
                  <a:lnTo>
                    <a:pt x="456" y="474"/>
                  </a:lnTo>
                  <a:lnTo>
                    <a:pt x="462" y="480"/>
                  </a:lnTo>
                  <a:lnTo>
                    <a:pt x="462" y="492"/>
                  </a:lnTo>
                  <a:lnTo>
                    <a:pt x="462" y="498"/>
                  </a:lnTo>
                  <a:lnTo>
                    <a:pt x="462" y="504"/>
                  </a:lnTo>
                  <a:lnTo>
                    <a:pt x="462" y="516"/>
                  </a:lnTo>
                  <a:lnTo>
                    <a:pt x="462" y="522"/>
                  </a:lnTo>
                  <a:lnTo>
                    <a:pt x="462" y="528"/>
                  </a:lnTo>
                  <a:lnTo>
                    <a:pt x="468" y="540"/>
                  </a:lnTo>
                  <a:lnTo>
                    <a:pt x="468" y="546"/>
                  </a:lnTo>
                  <a:lnTo>
                    <a:pt x="468" y="558"/>
                  </a:lnTo>
                  <a:lnTo>
                    <a:pt x="468" y="564"/>
                  </a:lnTo>
                  <a:lnTo>
                    <a:pt x="468" y="570"/>
                  </a:lnTo>
                  <a:lnTo>
                    <a:pt x="462" y="582"/>
                  </a:lnTo>
                  <a:lnTo>
                    <a:pt x="462" y="588"/>
                  </a:lnTo>
                  <a:lnTo>
                    <a:pt x="462" y="600"/>
                  </a:lnTo>
                  <a:lnTo>
                    <a:pt x="462" y="606"/>
                  </a:lnTo>
                  <a:lnTo>
                    <a:pt x="456" y="618"/>
                  </a:lnTo>
                  <a:lnTo>
                    <a:pt x="456" y="636"/>
                  </a:lnTo>
                  <a:lnTo>
                    <a:pt x="450" y="648"/>
                  </a:lnTo>
                  <a:lnTo>
                    <a:pt x="450" y="660"/>
                  </a:lnTo>
                  <a:lnTo>
                    <a:pt x="444" y="672"/>
                  </a:lnTo>
                  <a:lnTo>
                    <a:pt x="444" y="690"/>
                  </a:lnTo>
                  <a:lnTo>
                    <a:pt x="444" y="702"/>
                  </a:lnTo>
                  <a:lnTo>
                    <a:pt x="444" y="720"/>
                  </a:lnTo>
                  <a:lnTo>
                    <a:pt x="444" y="732"/>
                  </a:lnTo>
                  <a:lnTo>
                    <a:pt x="444" y="744"/>
                  </a:lnTo>
                  <a:lnTo>
                    <a:pt x="444" y="762"/>
                  </a:lnTo>
                  <a:lnTo>
                    <a:pt x="450" y="774"/>
                  </a:lnTo>
                  <a:lnTo>
                    <a:pt x="450" y="786"/>
                  </a:lnTo>
                  <a:lnTo>
                    <a:pt x="450" y="804"/>
                  </a:lnTo>
                  <a:lnTo>
                    <a:pt x="456" y="816"/>
                  </a:lnTo>
                  <a:lnTo>
                    <a:pt x="456" y="834"/>
                  </a:lnTo>
                  <a:lnTo>
                    <a:pt x="462" y="846"/>
                  </a:lnTo>
                  <a:lnTo>
                    <a:pt x="468" y="858"/>
                  </a:lnTo>
                  <a:lnTo>
                    <a:pt x="468" y="870"/>
                  </a:lnTo>
                  <a:lnTo>
                    <a:pt x="474" y="888"/>
                  </a:lnTo>
                  <a:lnTo>
                    <a:pt x="480" y="900"/>
                  </a:lnTo>
                  <a:lnTo>
                    <a:pt x="480" y="912"/>
                  </a:lnTo>
                  <a:lnTo>
                    <a:pt x="486" y="930"/>
                  </a:lnTo>
                  <a:lnTo>
                    <a:pt x="486" y="942"/>
                  </a:lnTo>
                  <a:lnTo>
                    <a:pt x="492" y="960"/>
                  </a:lnTo>
                  <a:lnTo>
                    <a:pt x="480" y="966"/>
                  </a:lnTo>
                  <a:lnTo>
                    <a:pt x="462" y="972"/>
                  </a:lnTo>
                  <a:lnTo>
                    <a:pt x="444" y="978"/>
                  </a:lnTo>
                  <a:lnTo>
                    <a:pt x="432" y="984"/>
                  </a:lnTo>
                  <a:lnTo>
                    <a:pt x="414" y="990"/>
                  </a:lnTo>
                  <a:lnTo>
                    <a:pt x="396" y="996"/>
                  </a:lnTo>
                  <a:lnTo>
                    <a:pt x="384" y="1002"/>
                  </a:lnTo>
                  <a:lnTo>
                    <a:pt x="366" y="1014"/>
                  </a:lnTo>
                  <a:lnTo>
                    <a:pt x="348" y="1020"/>
                  </a:lnTo>
                  <a:lnTo>
                    <a:pt x="336" y="1026"/>
                  </a:lnTo>
                  <a:lnTo>
                    <a:pt x="318" y="1032"/>
                  </a:lnTo>
                  <a:lnTo>
                    <a:pt x="300" y="1038"/>
                  </a:lnTo>
                  <a:lnTo>
                    <a:pt x="288" y="1044"/>
                  </a:lnTo>
                  <a:lnTo>
                    <a:pt x="270" y="1050"/>
                  </a:lnTo>
                  <a:lnTo>
                    <a:pt x="252" y="1056"/>
                  </a:lnTo>
                  <a:lnTo>
                    <a:pt x="240" y="106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5568" y="330"/>
              <a:ext cx="48" cy="18"/>
            </a:xfrm>
            <a:custGeom>
              <a:avLst/>
              <a:gdLst>
                <a:gd name="T0" fmla="*/ 48 w 48"/>
                <a:gd name="T1" fmla="*/ 0 h 18"/>
                <a:gd name="T2" fmla="*/ 48 w 48"/>
                <a:gd name="T3" fmla="*/ 0 h 18"/>
                <a:gd name="T4" fmla="*/ 42 w 48"/>
                <a:gd name="T5" fmla="*/ 0 h 18"/>
                <a:gd name="T6" fmla="*/ 42 w 48"/>
                <a:gd name="T7" fmla="*/ 6 h 18"/>
                <a:gd name="T8" fmla="*/ 36 w 48"/>
                <a:gd name="T9" fmla="*/ 6 h 18"/>
                <a:gd name="T10" fmla="*/ 36 w 48"/>
                <a:gd name="T11" fmla="*/ 6 h 18"/>
                <a:gd name="T12" fmla="*/ 30 w 48"/>
                <a:gd name="T13" fmla="*/ 6 h 18"/>
                <a:gd name="T14" fmla="*/ 30 w 48"/>
                <a:gd name="T15" fmla="*/ 6 h 18"/>
                <a:gd name="T16" fmla="*/ 24 w 48"/>
                <a:gd name="T17" fmla="*/ 6 h 18"/>
                <a:gd name="T18" fmla="*/ 24 w 48"/>
                <a:gd name="T19" fmla="*/ 12 h 18"/>
                <a:gd name="T20" fmla="*/ 18 w 48"/>
                <a:gd name="T21" fmla="*/ 12 h 18"/>
                <a:gd name="T22" fmla="*/ 18 w 48"/>
                <a:gd name="T23" fmla="*/ 12 h 18"/>
                <a:gd name="T24" fmla="*/ 12 w 48"/>
                <a:gd name="T25" fmla="*/ 12 h 18"/>
                <a:gd name="T26" fmla="*/ 12 w 48"/>
                <a:gd name="T27" fmla="*/ 12 h 18"/>
                <a:gd name="T28" fmla="*/ 6 w 48"/>
                <a:gd name="T29" fmla="*/ 12 h 18"/>
                <a:gd name="T30" fmla="*/ 6 w 48"/>
                <a:gd name="T31" fmla="*/ 18 h 18"/>
                <a:gd name="T32" fmla="*/ 0 w 48"/>
                <a:gd name="T33" fmla="*/ 18 h 1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8"/>
                <a:gd name="T52" fmla="*/ 0 h 18"/>
                <a:gd name="T53" fmla="*/ 48 w 48"/>
                <a:gd name="T54" fmla="*/ 18 h 1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8" h="18">
                  <a:moveTo>
                    <a:pt x="48" y="0"/>
                  </a:moveTo>
                  <a:lnTo>
                    <a:pt x="48" y="0"/>
                  </a:lnTo>
                  <a:lnTo>
                    <a:pt x="42" y="0"/>
                  </a:lnTo>
                  <a:lnTo>
                    <a:pt x="42" y="6"/>
                  </a:lnTo>
                  <a:lnTo>
                    <a:pt x="36" y="6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24" y="12"/>
                  </a:lnTo>
                  <a:lnTo>
                    <a:pt x="18" y="12"/>
                  </a:lnTo>
                  <a:lnTo>
                    <a:pt x="12" y="12"/>
                  </a:lnTo>
                  <a:lnTo>
                    <a:pt x="6" y="12"/>
                  </a:lnTo>
                  <a:lnTo>
                    <a:pt x="6" y="18"/>
                  </a:lnTo>
                  <a:lnTo>
                    <a:pt x="0" y="1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610" y="456"/>
              <a:ext cx="42" cy="12"/>
            </a:xfrm>
            <a:custGeom>
              <a:avLst/>
              <a:gdLst>
                <a:gd name="T0" fmla="*/ 42 w 42"/>
                <a:gd name="T1" fmla="*/ 0 h 12"/>
                <a:gd name="T2" fmla="*/ 36 w 42"/>
                <a:gd name="T3" fmla="*/ 0 h 12"/>
                <a:gd name="T4" fmla="*/ 30 w 42"/>
                <a:gd name="T5" fmla="*/ 6 h 12"/>
                <a:gd name="T6" fmla="*/ 24 w 42"/>
                <a:gd name="T7" fmla="*/ 6 h 12"/>
                <a:gd name="T8" fmla="*/ 18 w 42"/>
                <a:gd name="T9" fmla="*/ 6 h 12"/>
                <a:gd name="T10" fmla="*/ 12 w 42"/>
                <a:gd name="T11" fmla="*/ 6 h 12"/>
                <a:gd name="T12" fmla="*/ 12 w 42"/>
                <a:gd name="T13" fmla="*/ 12 h 12"/>
                <a:gd name="T14" fmla="*/ 6 w 42"/>
                <a:gd name="T15" fmla="*/ 12 h 12"/>
                <a:gd name="T16" fmla="*/ 0 w 42"/>
                <a:gd name="T17" fmla="*/ 12 h 1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42"/>
                <a:gd name="T28" fmla="*/ 0 h 12"/>
                <a:gd name="T29" fmla="*/ 42 w 42"/>
                <a:gd name="T30" fmla="*/ 12 h 1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42" h="12">
                  <a:moveTo>
                    <a:pt x="42" y="0"/>
                  </a:moveTo>
                  <a:lnTo>
                    <a:pt x="36" y="0"/>
                  </a:lnTo>
                  <a:lnTo>
                    <a:pt x="30" y="6"/>
                  </a:lnTo>
                  <a:lnTo>
                    <a:pt x="24" y="6"/>
                  </a:lnTo>
                  <a:lnTo>
                    <a:pt x="18" y="6"/>
                  </a:lnTo>
                  <a:lnTo>
                    <a:pt x="12" y="6"/>
                  </a:lnTo>
                  <a:lnTo>
                    <a:pt x="12" y="12"/>
                  </a:lnTo>
                  <a:lnTo>
                    <a:pt x="6" y="12"/>
                  </a:lnTo>
                  <a:lnTo>
                    <a:pt x="0" y="1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5466" y="654"/>
              <a:ext cx="186" cy="150"/>
            </a:xfrm>
            <a:custGeom>
              <a:avLst/>
              <a:gdLst>
                <a:gd name="T0" fmla="*/ 0 w 186"/>
                <a:gd name="T1" fmla="*/ 0 h 150"/>
                <a:gd name="T2" fmla="*/ 12 w 186"/>
                <a:gd name="T3" fmla="*/ 12 h 150"/>
                <a:gd name="T4" fmla="*/ 12 w 186"/>
                <a:gd name="T5" fmla="*/ 18 h 150"/>
                <a:gd name="T6" fmla="*/ 24 w 186"/>
                <a:gd name="T7" fmla="*/ 30 h 150"/>
                <a:gd name="T8" fmla="*/ 30 w 186"/>
                <a:gd name="T9" fmla="*/ 36 h 150"/>
                <a:gd name="T10" fmla="*/ 36 w 186"/>
                <a:gd name="T11" fmla="*/ 48 h 150"/>
                <a:gd name="T12" fmla="*/ 42 w 186"/>
                <a:gd name="T13" fmla="*/ 54 h 150"/>
                <a:gd name="T14" fmla="*/ 48 w 186"/>
                <a:gd name="T15" fmla="*/ 66 h 150"/>
                <a:gd name="T16" fmla="*/ 54 w 186"/>
                <a:gd name="T17" fmla="*/ 72 h 150"/>
                <a:gd name="T18" fmla="*/ 66 w 186"/>
                <a:gd name="T19" fmla="*/ 84 h 150"/>
                <a:gd name="T20" fmla="*/ 72 w 186"/>
                <a:gd name="T21" fmla="*/ 90 h 150"/>
                <a:gd name="T22" fmla="*/ 78 w 186"/>
                <a:gd name="T23" fmla="*/ 102 h 150"/>
                <a:gd name="T24" fmla="*/ 90 w 186"/>
                <a:gd name="T25" fmla="*/ 108 h 150"/>
                <a:gd name="T26" fmla="*/ 96 w 186"/>
                <a:gd name="T27" fmla="*/ 120 h 150"/>
                <a:gd name="T28" fmla="*/ 102 w 186"/>
                <a:gd name="T29" fmla="*/ 126 h 150"/>
                <a:gd name="T30" fmla="*/ 114 w 186"/>
                <a:gd name="T31" fmla="*/ 132 h 150"/>
                <a:gd name="T32" fmla="*/ 120 w 186"/>
                <a:gd name="T33" fmla="*/ 144 h 150"/>
                <a:gd name="T34" fmla="*/ 126 w 186"/>
                <a:gd name="T35" fmla="*/ 144 h 150"/>
                <a:gd name="T36" fmla="*/ 132 w 186"/>
                <a:gd name="T37" fmla="*/ 150 h 150"/>
                <a:gd name="T38" fmla="*/ 138 w 186"/>
                <a:gd name="T39" fmla="*/ 150 h 150"/>
                <a:gd name="T40" fmla="*/ 144 w 186"/>
                <a:gd name="T41" fmla="*/ 150 h 150"/>
                <a:gd name="T42" fmla="*/ 150 w 186"/>
                <a:gd name="T43" fmla="*/ 150 h 150"/>
                <a:gd name="T44" fmla="*/ 156 w 186"/>
                <a:gd name="T45" fmla="*/ 150 h 150"/>
                <a:gd name="T46" fmla="*/ 162 w 186"/>
                <a:gd name="T47" fmla="*/ 144 h 150"/>
                <a:gd name="T48" fmla="*/ 168 w 186"/>
                <a:gd name="T49" fmla="*/ 144 h 150"/>
                <a:gd name="T50" fmla="*/ 168 w 186"/>
                <a:gd name="T51" fmla="*/ 138 h 150"/>
                <a:gd name="T52" fmla="*/ 174 w 186"/>
                <a:gd name="T53" fmla="*/ 132 h 150"/>
                <a:gd name="T54" fmla="*/ 180 w 186"/>
                <a:gd name="T55" fmla="*/ 120 h 150"/>
                <a:gd name="T56" fmla="*/ 180 w 186"/>
                <a:gd name="T57" fmla="*/ 114 h 150"/>
                <a:gd name="T58" fmla="*/ 180 w 186"/>
                <a:gd name="T59" fmla="*/ 102 h 150"/>
                <a:gd name="T60" fmla="*/ 186 w 186"/>
                <a:gd name="T61" fmla="*/ 96 h 150"/>
                <a:gd name="T62" fmla="*/ 180 w 186"/>
                <a:gd name="T63" fmla="*/ 84 h 150"/>
                <a:gd name="T64" fmla="*/ 180 w 186"/>
                <a:gd name="T65" fmla="*/ 78 h 15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86"/>
                <a:gd name="T100" fmla="*/ 0 h 150"/>
                <a:gd name="T101" fmla="*/ 186 w 186"/>
                <a:gd name="T102" fmla="*/ 150 h 15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86" h="150">
                  <a:moveTo>
                    <a:pt x="0" y="0"/>
                  </a:moveTo>
                  <a:lnTo>
                    <a:pt x="12" y="12"/>
                  </a:lnTo>
                  <a:lnTo>
                    <a:pt x="12" y="18"/>
                  </a:lnTo>
                  <a:lnTo>
                    <a:pt x="24" y="30"/>
                  </a:lnTo>
                  <a:lnTo>
                    <a:pt x="30" y="36"/>
                  </a:lnTo>
                  <a:lnTo>
                    <a:pt x="36" y="48"/>
                  </a:lnTo>
                  <a:lnTo>
                    <a:pt x="42" y="54"/>
                  </a:lnTo>
                  <a:lnTo>
                    <a:pt x="48" y="66"/>
                  </a:lnTo>
                  <a:lnTo>
                    <a:pt x="54" y="72"/>
                  </a:lnTo>
                  <a:lnTo>
                    <a:pt x="66" y="84"/>
                  </a:lnTo>
                  <a:lnTo>
                    <a:pt x="72" y="90"/>
                  </a:lnTo>
                  <a:lnTo>
                    <a:pt x="78" y="102"/>
                  </a:lnTo>
                  <a:lnTo>
                    <a:pt x="90" y="108"/>
                  </a:lnTo>
                  <a:lnTo>
                    <a:pt x="96" y="120"/>
                  </a:lnTo>
                  <a:lnTo>
                    <a:pt x="102" y="126"/>
                  </a:lnTo>
                  <a:lnTo>
                    <a:pt x="114" y="132"/>
                  </a:lnTo>
                  <a:lnTo>
                    <a:pt x="120" y="144"/>
                  </a:lnTo>
                  <a:lnTo>
                    <a:pt x="126" y="144"/>
                  </a:lnTo>
                  <a:lnTo>
                    <a:pt x="132" y="150"/>
                  </a:lnTo>
                  <a:lnTo>
                    <a:pt x="138" y="150"/>
                  </a:lnTo>
                  <a:lnTo>
                    <a:pt x="144" y="150"/>
                  </a:lnTo>
                  <a:lnTo>
                    <a:pt x="150" y="150"/>
                  </a:lnTo>
                  <a:lnTo>
                    <a:pt x="156" y="150"/>
                  </a:lnTo>
                  <a:lnTo>
                    <a:pt x="162" y="144"/>
                  </a:lnTo>
                  <a:lnTo>
                    <a:pt x="168" y="144"/>
                  </a:lnTo>
                  <a:lnTo>
                    <a:pt x="168" y="138"/>
                  </a:lnTo>
                  <a:lnTo>
                    <a:pt x="174" y="132"/>
                  </a:lnTo>
                  <a:lnTo>
                    <a:pt x="180" y="120"/>
                  </a:lnTo>
                  <a:lnTo>
                    <a:pt x="180" y="114"/>
                  </a:lnTo>
                  <a:lnTo>
                    <a:pt x="180" y="102"/>
                  </a:lnTo>
                  <a:lnTo>
                    <a:pt x="186" y="96"/>
                  </a:lnTo>
                  <a:lnTo>
                    <a:pt x="180" y="84"/>
                  </a:lnTo>
                  <a:lnTo>
                    <a:pt x="180" y="7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496" y="600"/>
              <a:ext cx="312" cy="150"/>
            </a:xfrm>
            <a:custGeom>
              <a:avLst/>
              <a:gdLst>
                <a:gd name="T0" fmla="*/ 306 w 312"/>
                <a:gd name="T1" fmla="*/ 36 h 150"/>
                <a:gd name="T2" fmla="*/ 294 w 312"/>
                <a:gd name="T3" fmla="*/ 48 h 150"/>
                <a:gd name="T4" fmla="*/ 288 w 312"/>
                <a:gd name="T5" fmla="*/ 48 h 150"/>
                <a:gd name="T6" fmla="*/ 276 w 312"/>
                <a:gd name="T7" fmla="*/ 54 h 150"/>
                <a:gd name="T8" fmla="*/ 264 w 312"/>
                <a:gd name="T9" fmla="*/ 48 h 150"/>
                <a:gd name="T10" fmla="*/ 252 w 312"/>
                <a:gd name="T11" fmla="*/ 42 h 150"/>
                <a:gd name="T12" fmla="*/ 234 w 312"/>
                <a:gd name="T13" fmla="*/ 42 h 150"/>
                <a:gd name="T14" fmla="*/ 222 w 312"/>
                <a:gd name="T15" fmla="*/ 36 h 150"/>
                <a:gd name="T16" fmla="*/ 210 w 312"/>
                <a:gd name="T17" fmla="*/ 30 h 150"/>
                <a:gd name="T18" fmla="*/ 198 w 312"/>
                <a:gd name="T19" fmla="*/ 24 h 150"/>
                <a:gd name="T20" fmla="*/ 180 w 312"/>
                <a:gd name="T21" fmla="*/ 18 h 150"/>
                <a:gd name="T22" fmla="*/ 168 w 312"/>
                <a:gd name="T23" fmla="*/ 18 h 150"/>
                <a:gd name="T24" fmla="*/ 156 w 312"/>
                <a:gd name="T25" fmla="*/ 12 h 150"/>
                <a:gd name="T26" fmla="*/ 144 w 312"/>
                <a:gd name="T27" fmla="*/ 12 h 150"/>
                <a:gd name="T28" fmla="*/ 132 w 312"/>
                <a:gd name="T29" fmla="*/ 6 h 150"/>
                <a:gd name="T30" fmla="*/ 120 w 312"/>
                <a:gd name="T31" fmla="*/ 6 h 150"/>
                <a:gd name="T32" fmla="*/ 102 w 312"/>
                <a:gd name="T33" fmla="*/ 0 h 150"/>
                <a:gd name="T34" fmla="*/ 90 w 312"/>
                <a:gd name="T35" fmla="*/ 0 h 150"/>
                <a:gd name="T36" fmla="*/ 78 w 312"/>
                <a:gd name="T37" fmla="*/ 0 h 150"/>
                <a:gd name="T38" fmla="*/ 66 w 312"/>
                <a:gd name="T39" fmla="*/ 0 h 150"/>
                <a:gd name="T40" fmla="*/ 54 w 312"/>
                <a:gd name="T41" fmla="*/ 6 h 150"/>
                <a:gd name="T42" fmla="*/ 48 w 312"/>
                <a:gd name="T43" fmla="*/ 6 h 150"/>
                <a:gd name="T44" fmla="*/ 36 w 312"/>
                <a:gd name="T45" fmla="*/ 12 h 150"/>
                <a:gd name="T46" fmla="*/ 30 w 312"/>
                <a:gd name="T47" fmla="*/ 18 h 150"/>
                <a:gd name="T48" fmla="*/ 24 w 312"/>
                <a:gd name="T49" fmla="*/ 24 h 150"/>
                <a:gd name="T50" fmla="*/ 18 w 312"/>
                <a:gd name="T51" fmla="*/ 30 h 150"/>
                <a:gd name="T52" fmla="*/ 12 w 312"/>
                <a:gd name="T53" fmla="*/ 36 h 150"/>
                <a:gd name="T54" fmla="*/ 6 w 312"/>
                <a:gd name="T55" fmla="*/ 48 h 150"/>
                <a:gd name="T56" fmla="*/ 0 w 312"/>
                <a:gd name="T57" fmla="*/ 54 h 150"/>
                <a:gd name="T58" fmla="*/ 6 w 312"/>
                <a:gd name="T59" fmla="*/ 66 h 150"/>
                <a:gd name="T60" fmla="*/ 18 w 312"/>
                <a:gd name="T61" fmla="*/ 78 h 150"/>
                <a:gd name="T62" fmla="*/ 24 w 312"/>
                <a:gd name="T63" fmla="*/ 84 h 150"/>
                <a:gd name="T64" fmla="*/ 36 w 312"/>
                <a:gd name="T65" fmla="*/ 90 h 150"/>
                <a:gd name="T66" fmla="*/ 54 w 312"/>
                <a:gd name="T67" fmla="*/ 96 h 150"/>
                <a:gd name="T68" fmla="*/ 66 w 312"/>
                <a:gd name="T69" fmla="*/ 102 h 150"/>
                <a:gd name="T70" fmla="*/ 78 w 312"/>
                <a:gd name="T71" fmla="*/ 102 h 150"/>
                <a:gd name="T72" fmla="*/ 96 w 312"/>
                <a:gd name="T73" fmla="*/ 102 h 150"/>
                <a:gd name="T74" fmla="*/ 108 w 312"/>
                <a:gd name="T75" fmla="*/ 108 h 150"/>
                <a:gd name="T76" fmla="*/ 120 w 312"/>
                <a:gd name="T77" fmla="*/ 108 h 150"/>
                <a:gd name="T78" fmla="*/ 138 w 312"/>
                <a:gd name="T79" fmla="*/ 114 h 150"/>
                <a:gd name="T80" fmla="*/ 144 w 312"/>
                <a:gd name="T81" fmla="*/ 126 h 150"/>
                <a:gd name="T82" fmla="*/ 156 w 312"/>
                <a:gd name="T83" fmla="*/ 132 h 150"/>
                <a:gd name="T84" fmla="*/ 162 w 312"/>
                <a:gd name="T85" fmla="*/ 138 h 150"/>
                <a:gd name="T86" fmla="*/ 174 w 312"/>
                <a:gd name="T87" fmla="*/ 144 h 150"/>
                <a:gd name="T88" fmla="*/ 186 w 312"/>
                <a:gd name="T89" fmla="*/ 144 h 150"/>
                <a:gd name="T90" fmla="*/ 192 w 312"/>
                <a:gd name="T91" fmla="*/ 150 h 150"/>
                <a:gd name="T92" fmla="*/ 204 w 312"/>
                <a:gd name="T93" fmla="*/ 150 h 150"/>
                <a:gd name="T94" fmla="*/ 216 w 312"/>
                <a:gd name="T95" fmla="*/ 150 h 15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12"/>
                <a:gd name="T145" fmla="*/ 0 h 150"/>
                <a:gd name="T146" fmla="*/ 312 w 312"/>
                <a:gd name="T147" fmla="*/ 150 h 150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12" h="150">
                  <a:moveTo>
                    <a:pt x="312" y="36"/>
                  </a:moveTo>
                  <a:lnTo>
                    <a:pt x="306" y="36"/>
                  </a:lnTo>
                  <a:lnTo>
                    <a:pt x="300" y="42"/>
                  </a:lnTo>
                  <a:lnTo>
                    <a:pt x="294" y="48"/>
                  </a:lnTo>
                  <a:lnTo>
                    <a:pt x="288" y="48"/>
                  </a:lnTo>
                  <a:lnTo>
                    <a:pt x="282" y="54"/>
                  </a:lnTo>
                  <a:lnTo>
                    <a:pt x="276" y="54"/>
                  </a:lnTo>
                  <a:lnTo>
                    <a:pt x="270" y="54"/>
                  </a:lnTo>
                  <a:lnTo>
                    <a:pt x="264" y="48"/>
                  </a:lnTo>
                  <a:lnTo>
                    <a:pt x="258" y="48"/>
                  </a:lnTo>
                  <a:lnTo>
                    <a:pt x="252" y="42"/>
                  </a:lnTo>
                  <a:lnTo>
                    <a:pt x="240" y="42"/>
                  </a:lnTo>
                  <a:lnTo>
                    <a:pt x="234" y="42"/>
                  </a:lnTo>
                  <a:lnTo>
                    <a:pt x="228" y="36"/>
                  </a:lnTo>
                  <a:lnTo>
                    <a:pt x="222" y="36"/>
                  </a:lnTo>
                  <a:lnTo>
                    <a:pt x="216" y="30"/>
                  </a:lnTo>
                  <a:lnTo>
                    <a:pt x="210" y="30"/>
                  </a:lnTo>
                  <a:lnTo>
                    <a:pt x="204" y="24"/>
                  </a:lnTo>
                  <a:lnTo>
                    <a:pt x="198" y="24"/>
                  </a:lnTo>
                  <a:lnTo>
                    <a:pt x="192" y="24"/>
                  </a:lnTo>
                  <a:lnTo>
                    <a:pt x="180" y="18"/>
                  </a:lnTo>
                  <a:lnTo>
                    <a:pt x="174" y="18"/>
                  </a:lnTo>
                  <a:lnTo>
                    <a:pt x="168" y="18"/>
                  </a:lnTo>
                  <a:lnTo>
                    <a:pt x="162" y="12"/>
                  </a:lnTo>
                  <a:lnTo>
                    <a:pt x="156" y="12"/>
                  </a:lnTo>
                  <a:lnTo>
                    <a:pt x="150" y="12"/>
                  </a:lnTo>
                  <a:lnTo>
                    <a:pt x="144" y="12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120" y="6"/>
                  </a:lnTo>
                  <a:lnTo>
                    <a:pt x="108" y="0"/>
                  </a:lnTo>
                  <a:lnTo>
                    <a:pt x="102" y="0"/>
                  </a:lnTo>
                  <a:lnTo>
                    <a:pt x="96" y="0"/>
                  </a:lnTo>
                  <a:lnTo>
                    <a:pt x="90" y="0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2" y="0"/>
                  </a:lnTo>
                  <a:lnTo>
                    <a:pt x="66" y="0"/>
                  </a:lnTo>
                  <a:lnTo>
                    <a:pt x="60" y="6"/>
                  </a:lnTo>
                  <a:lnTo>
                    <a:pt x="54" y="6"/>
                  </a:lnTo>
                  <a:lnTo>
                    <a:pt x="48" y="6"/>
                  </a:lnTo>
                  <a:lnTo>
                    <a:pt x="42" y="12"/>
                  </a:lnTo>
                  <a:lnTo>
                    <a:pt x="36" y="12"/>
                  </a:lnTo>
                  <a:lnTo>
                    <a:pt x="30" y="18"/>
                  </a:lnTo>
                  <a:lnTo>
                    <a:pt x="24" y="18"/>
                  </a:lnTo>
                  <a:lnTo>
                    <a:pt x="24" y="24"/>
                  </a:lnTo>
                  <a:lnTo>
                    <a:pt x="18" y="30"/>
                  </a:lnTo>
                  <a:lnTo>
                    <a:pt x="12" y="36"/>
                  </a:lnTo>
                  <a:lnTo>
                    <a:pt x="6" y="42"/>
                  </a:lnTo>
                  <a:lnTo>
                    <a:pt x="6" y="48"/>
                  </a:lnTo>
                  <a:lnTo>
                    <a:pt x="6" y="54"/>
                  </a:lnTo>
                  <a:lnTo>
                    <a:pt x="0" y="54"/>
                  </a:lnTo>
                  <a:lnTo>
                    <a:pt x="6" y="60"/>
                  </a:lnTo>
                  <a:lnTo>
                    <a:pt x="6" y="66"/>
                  </a:lnTo>
                  <a:lnTo>
                    <a:pt x="12" y="72"/>
                  </a:lnTo>
                  <a:lnTo>
                    <a:pt x="18" y="78"/>
                  </a:lnTo>
                  <a:lnTo>
                    <a:pt x="24" y="84"/>
                  </a:lnTo>
                  <a:lnTo>
                    <a:pt x="30" y="90"/>
                  </a:lnTo>
                  <a:lnTo>
                    <a:pt x="36" y="90"/>
                  </a:lnTo>
                  <a:lnTo>
                    <a:pt x="48" y="96"/>
                  </a:lnTo>
                  <a:lnTo>
                    <a:pt x="54" y="96"/>
                  </a:lnTo>
                  <a:lnTo>
                    <a:pt x="60" y="96"/>
                  </a:lnTo>
                  <a:lnTo>
                    <a:pt x="66" y="102"/>
                  </a:lnTo>
                  <a:lnTo>
                    <a:pt x="72" y="102"/>
                  </a:lnTo>
                  <a:lnTo>
                    <a:pt x="78" y="102"/>
                  </a:lnTo>
                  <a:lnTo>
                    <a:pt x="90" y="102"/>
                  </a:lnTo>
                  <a:lnTo>
                    <a:pt x="96" y="102"/>
                  </a:lnTo>
                  <a:lnTo>
                    <a:pt x="102" y="108"/>
                  </a:lnTo>
                  <a:lnTo>
                    <a:pt x="108" y="108"/>
                  </a:lnTo>
                  <a:lnTo>
                    <a:pt x="114" y="108"/>
                  </a:lnTo>
                  <a:lnTo>
                    <a:pt x="120" y="108"/>
                  </a:lnTo>
                  <a:lnTo>
                    <a:pt x="126" y="114"/>
                  </a:lnTo>
                  <a:lnTo>
                    <a:pt x="138" y="114"/>
                  </a:lnTo>
                  <a:lnTo>
                    <a:pt x="144" y="120"/>
                  </a:lnTo>
                  <a:lnTo>
                    <a:pt x="144" y="126"/>
                  </a:lnTo>
                  <a:lnTo>
                    <a:pt x="150" y="126"/>
                  </a:lnTo>
                  <a:lnTo>
                    <a:pt x="156" y="132"/>
                  </a:lnTo>
                  <a:lnTo>
                    <a:pt x="162" y="132"/>
                  </a:lnTo>
                  <a:lnTo>
                    <a:pt x="162" y="138"/>
                  </a:lnTo>
                  <a:lnTo>
                    <a:pt x="168" y="138"/>
                  </a:lnTo>
                  <a:lnTo>
                    <a:pt x="174" y="144"/>
                  </a:lnTo>
                  <a:lnTo>
                    <a:pt x="180" y="144"/>
                  </a:lnTo>
                  <a:lnTo>
                    <a:pt x="186" y="144"/>
                  </a:lnTo>
                  <a:lnTo>
                    <a:pt x="192" y="150"/>
                  </a:lnTo>
                  <a:lnTo>
                    <a:pt x="198" y="150"/>
                  </a:lnTo>
                  <a:lnTo>
                    <a:pt x="204" y="150"/>
                  </a:lnTo>
                  <a:lnTo>
                    <a:pt x="210" y="150"/>
                  </a:lnTo>
                  <a:lnTo>
                    <a:pt x="216" y="150"/>
                  </a:lnTo>
                  <a:lnTo>
                    <a:pt x="222" y="15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460" y="786"/>
              <a:ext cx="138" cy="96"/>
            </a:xfrm>
            <a:custGeom>
              <a:avLst/>
              <a:gdLst>
                <a:gd name="T0" fmla="*/ 0 w 138"/>
                <a:gd name="T1" fmla="*/ 0 h 96"/>
                <a:gd name="T2" fmla="*/ 6 w 138"/>
                <a:gd name="T3" fmla="*/ 6 h 96"/>
                <a:gd name="T4" fmla="*/ 12 w 138"/>
                <a:gd name="T5" fmla="*/ 18 h 96"/>
                <a:gd name="T6" fmla="*/ 12 w 138"/>
                <a:gd name="T7" fmla="*/ 24 h 96"/>
                <a:gd name="T8" fmla="*/ 18 w 138"/>
                <a:gd name="T9" fmla="*/ 30 h 96"/>
                <a:gd name="T10" fmla="*/ 24 w 138"/>
                <a:gd name="T11" fmla="*/ 36 h 96"/>
                <a:gd name="T12" fmla="*/ 24 w 138"/>
                <a:gd name="T13" fmla="*/ 42 h 96"/>
                <a:gd name="T14" fmla="*/ 30 w 138"/>
                <a:gd name="T15" fmla="*/ 48 h 96"/>
                <a:gd name="T16" fmla="*/ 36 w 138"/>
                <a:gd name="T17" fmla="*/ 54 h 96"/>
                <a:gd name="T18" fmla="*/ 42 w 138"/>
                <a:gd name="T19" fmla="*/ 60 h 96"/>
                <a:gd name="T20" fmla="*/ 48 w 138"/>
                <a:gd name="T21" fmla="*/ 66 h 96"/>
                <a:gd name="T22" fmla="*/ 54 w 138"/>
                <a:gd name="T23" fmla="*/ 66 h 96"/>
                <a:gd name="T24" fmla="*/ 60 w 138"/>
                <a:gd name="T25" fmla="*/ 72 h 96"/>
                <a:gd name="T26" fmla="*/ 66 w 138"/>
                <a:gd name="T27" fmla="*/ 78 h 96"/>
                <a:gd name="T28" fmla="*/ 72 w 138"/>
                <a:gd name="T29" fmla="*/ 84 h 96"/>
                <a:gd name="T30" fmla="*/ 78 w 138"/>
                <a:gd name="T31" fmla="*/ 90 h 96"/>
                <a:gd name="T32" fmla="*/ 84 w 138"/>
                <a:gd name="T33" fmla="*/ 96 h 96"/>
                <a:gd name="T34" fmla="*/ 90 w 138"/>
                <a:gd name="T35" fmla="*/ 96 h 96"/>
                <a:gd name="T36" fmla="*/ 102 w 138"/>
                <a:gd name="T37" fmla="*/ 96 h 96"/>
                <a:gd name="T38" fmla="*/ 108 w 138"/>
                <a:gd name="T39" fmla="*/ 96 h 96"/>
                <a:gd name="T40" fmla="*/ 114 w 138"/>
                <a:gd name="T41" fmla="*/ 96 h 96"/>
                <a:gd name="T42" fmla="*/ 120 w 138"/>
                <a:gd name="T43" fmla="*/ 96 h 96"/>
                <a:gd name="T44" fmla="*/ 120 w 138"/>
                <a:gd name="T45" fmla="*/ 96 h 96"/>
                <a:gd name="T46" fmla="*/ 126 w 138"/>
                <a:gd name="T47" fmla="*/ 90 h 96"/>
                <a:gd name="T48" fmla="*/ 132 w 138"/>
                <a:gd name="T49" fmla="*/ 84 h 96"/>
                <a:gd name="T50" fmla="*/ 138 w 138"/>
                <a:gd name="T51" fmla="*/ 78 h 96"/>
                <a:gd name="T52" fmla="*/ 138 w 138"/>
                <a:gd name="T53" fmla="*/ 66 h 96"/>
                <a:gd name="T54" fmla="*/ 138 w 138"/>
                <a:gd name="T55" fmla="*/ 54 h 96"/>
                <a:gd name="T56" fmla="*/ 138 w 138"/>
                <a:gd name="T57" fmla="*/ 48 h 96"/>
                <a:gd name="T58" fmla="*/ 138 w 138"/>
                <a:gd name="T59" fmla="*/ 36 h 96"/>
                <a:gd name="T60" fmla="*/ 138 w 138"/>
                <a:gd name="T61" fmla="*/ 30 h 96"/>
                <a:gd name="T62" fmla="*/ 132 w 138"/>
                <a:gd name="T63" fmla="*/ 18 h 96"/>
                <a:gd name="T64" fmla="*/ 126 w 138"/>
                <a:gd name="T65" fmla="*/ 12 h 9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138"/>
                <a:gd name="T100" fmla="*/ 0 h 96"/>
                <a:gd name="T101" fmla="*/ 138 w 138"/>
                <a:gd name="T102" fmla="*/ 96 h 9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138" h="96">
                  <a:moveTo>
                    <a:pt x="0" y="0"/>
                  </a:moveTo>
                  <a:lnTo>
                    <a:pt x="6" y="6"/>
                  </a:lnTo>
                  <a:lnTo>
                    <a:pt x="12" y="18"/>
                  </a:lnTo>
                  <a:lnTo>
                    <a:pt x="12" y="24"/>
                  </a:lnTo>
                  <a:lnTo>
                    <a:pt x="18" y="30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30" y="48"/>
                  </a:lnTo>
                  <a:lnTo>
                    <a:pt x="36" y="54"/>
                  </a:lnTo>
                  <a:lnTo>
                    <a:pt x="42" y="60"/>
                  </a:lnTo>
                  <a:lnTo>
                    <a:pt x="48" y="66"/>
                  </a:lnTo>
                  <a:lnTo>
                    <a:pt x="54" y="66"/>
                  </a:lnTo>
                  <a:lnTo>
                    <a:pt x="60" y="72"/>
                  </a:lnTo>
                  <a:lnTo>
                    <a:pt x="66" y="78"/>
                  </a:lnTo>
                  <a:lnTo>
                    <a:pt x="72" y="84"/>
                  </a:lnTo>
                  <a:lnTo>
                    <a:pt x="78" y="90"/>
                  </a:lnTo>
                  <a:lnTo>
                    <a:pt x="84" y="96"/>
                  </a:lnTo>
                  <a:lnTo>
                    <a:pt x="90" y="96"/>
                  </a:lnTo>
                  <a:lnTo>
                    <a:pt x="102" y="96"/>
                  </a:lnTo>
                  <a:lnTo>
                    <a:pt x="108" y="96"/>
                  </a:lnTo>
                  <a:lnTo>
                    <a:pt x="114" y="96"/>
                  </a:lnTo>
                  <a:lnTo>
                    <a:pt x="120" y="96"/>
                  </a:lnTo>
                  <a:lnTo>
                    <a:pt x="126" y="90"/>
                  </a:lnTo>
                  <a:lnTo>
                    <a:pt x="132" y="84"/>
                  </a:lnTo>
                  <a:lnTo>
                    <a:pt x="138" y="78"/>
                  </a:lnTo>
                  <a:lnTo>
                    <a:pt x="138" y="66"/>
                  </a:lnTo>
                  <a:lnTo>
                    <a:pt x="138" y="54"/>
                  </a:lnTo>
                  <a:lnTo>
                    <a:pt x="138" y="48"/>
                  </a:lnTo>
                  <a:lnTo>
                    <a:pt x="138" y="36"/>
                  </a:lnTo>
                  <a:lnTo>
                    <a:pt x="138" y="30"/>
                  </a:lnTo>
                  <a:lnTo>
                    <a:pt x="132" y="18"/>
                  </a:lnTo>
                  <a:lnTo>
                    <a:pt x="126" y="1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544" y="708"/>
              <a:ext cx="36" cy="42"/>
            </a:xfrm>
            <a:custGeom>
              <a:avLst/>
              <a:gdLst>
                <a:gd name="T0" fmla="*/ 36 w 36"/>
                <a:gd name="T1" fmla="*/ 0 h 42"/>
                <a:gd name="T2" fmla="*/ 30 w 36"/>
                <a:gd name="T3" fmla="*/ 0 h 42"/>
                <a:gd name="T4" fmla="*/ 30 w 36"/>
                <a:gd name="T5" fmla="*/ 6 h 42"/>
                <a:gd name="T6" fmla="*/ 24 w 36"/>
                <a:gd name="T7" fmla="*/ 12 h 42"/>
                <a:gd name="T8" fmla="*/ 18 w 36"/>
                <a:gd name="T9" fmla="*/ 18 h 42"/>
                <a:gd name="T10" fmla="*/ 12 w 36"/>
                <a:gd name="T11" fmla="*/ 18 h 42"/>
                <a:gd name="T12" fmla="*/ 12 w 36"/>
                <a:gd name="T13" fmla="*/ 30 h 42"/>
                <a:gd name="T14" fmla="*/ 6 w 36"/>
                <a:gd name="T15" fmla="*/ 36 h 42"/>
                <a:gd name="T16" fmla="*/ 0 w 36"/>
                <a:gd name="T17" fmla="*/ 42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"/>
                <a:gd name="T28" fmla="*/ 0 h 42"/>
                <a:gd name="T29" fmla="*/ 36 w 36"/>
                <a:gd name="T30" fmla="*/ 42 h 4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" h="42">
                  <a:moveTo>
                    <a:pt x="36" y="0"/>
                  </a:moveTo>
                  <a:lnTo>
                    <a:pt x="30" y="0"/>
                  </a:lnTo>
                  <a:lnTo>
                    <a:pt x="30" y="6"/>
                  </a:lnTo>
                  <a:lnTo>
                    <a:pt x="24" y="12"/>
                  </a:lnTo>
                  <a:lnTo>
                    <a:pt x="18" y="18"/>
                  </a:lnTo>
                  <a:lnTo>
                    <a:pt x="12" y="18"/>
                  </a:lnTo>
                  <a:lnTo>
                    <a:pt x="12" y="30"/>
                  </a:lnTo>
                  <a:lnTo>
                    <a:pt x="6" y="36"/>
                  </a:lnTo>
                  <a:lnTo>
                    <a:pt x="0" y="4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5514" y="798"/>
              <a:ext cx="30" cy="48"/>
            </a:xfrm>
            <a:custGeom>
              <a:avLst/>
              <a:gdLst>
                <a:gd name="T0" fmla="*/ 30 w 30"/>
                <a:gd name="T1" fmla="*/ 0 h 48"/>
                <a:gd name="T2" fmla="*/ 24 w 30"/>
                <a:gd name="T3" fmla="*/ 6 h 48"/>
                <a:gd name="T4" fmla="*/ 18 w 30"/>
                <a:gd name="T5" fmla="*/ 12 h 48"/>
                <a:gd name="T6" fmla="*/ 18 w 30"/>
                <a:gd name="T7" fmla="*/ 12 h 48"/>
                <a:gd name="T8" fmla="*/ 12 w 30"/>
                <a:gd name="T9" fmla="*/ 18 h 48"/>
                <a:gd name="T10" fmla="*/ 6 w 30"/>
                <a:gd name="T11" fmla="*/ 24 h 48"/>
                <a:gd name="T12" fmla="*/ 6 w 30"/>
                <a:gd name="T13" fmla="*/ 30 h 48"/>
                <a:gd name="T14" fmla="*/ 6 w 30"/>
                <a:gd name="T15" fmla="*/ 42 h 48"/>
                <a:gd name="T16" fmla="*/ 0 w 30"/>
                <a:gd name="T17" fmla="*/ 48 h 4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0"/>
                <a:gd name="T28" fmla="*/ 0 h 48"/>
                <a:gd name="T29" fmla="*/ 30 w 30"/>
                <a:gd name="T30" fmla="*/ 48 h 4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0" h="48">
                  <a:moveTo>
                    <a:pt x="30" y="0"/>
                  </a:moveTo>
                  <a:lnTo>
                    <a:pt x="24" y="6"/>
                  </a:lnTo>
                  <a:lnTo>
                    <a:pt x="18" y="12"/>
                  </a:lnTo>
                  <a:lnTo>
                    <a:pt x="12" y="18"/>
                  </a:lnTo>
                  <a:lnTo>
                    <a:pt x="6" y="24"/>
                  </a:lnTo>
                  <a:lnTo>
                    <a:pt x="6" y="30"/>
                  </a:lnTo>
                  <a:lnTo>
                    <a:pt x="6" y="42"/>
                  </a:lnTo>
                  <a:lnTo>
                    <a:pt x="0" y="4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5634" y="780"/>
              <a:ext cx="36" cy="222"/>
            </a:xfrm>
            <a:custGeom>
              <a:avLst/>
              <a:gdLst>
                <a:gd name="T0" fmla="*/ 12 w 36"/>
                <a:gd name="T1" fmla="*/ 0 h 222"/>
                <a:gd name="T2" fmla="*/ 6 w 36"/>
                <a:gd name="T3" fmla="*/ 24 h 222"/>
                <a:gd name="T4" fmla="*/ 0 w 36"/>
                <a:gd name="T5" fmla="*/ 48 h 222"/>
                <a:gd name="T6" fmla="*/ 0 w 36"/>
                <a:gd name="T7" fmla="*/ 72 h 222"/>
                <a:gd name="T8" fmla="*/ 6 w 36"/>
                <a:gd name="T9" fmla="*/ 102 h 222"/>
                <a:gd name="T10" fmla="*/ 12 w 36"/>
                <a:gd name="T11" fmla="*/ 126 h 222"/>
                <a:gd name="T12" fmla="*/ 18 w 36"/>
                <a:gd name="T13" fmla="*/ 156 h 222"/>
                <a:gd name="T14" fmla="*/ 24 w 36"/>
                <a:gd name="T15" fmla="*/ 186 h 222"/>
                <a:gd name="T16" fmla="*/ 36 w 36"/>
                <a:gd name="T17" fmla="*/ 222 h 2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"/>
                <a:gd name="T28" fmla="*/ 0 h 222"/>
                <a:gd name="T29" fmla="*/ 36 w 36"/>
                <a:gd name="T30" fmla="*/ 222 h 22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" h="222">
                  <a:moveTo>
                    <a:pt x="12" y="0"/>
                  </a:moveTo>
                  <a:lnTo>
                    <a:pt x="6" y="24"/>
                  </a:lnTo>
                  <a:lnTo>
                    <a:pt x="0" y="48"/>
                  </a:lnTo>
                  <a:lnTo>
                    <a:pt x="0" y="72"/>
                  </a:lnTo>
                  <a:lnTo>
                    <a:pt x="6" y="102"/>
                  </a:lnTo>
                  <a:lnTo>
                    <a:pt x="12" y="126"/>
                  </a:lnTo>
                  <a:lnTo>
                    <a:pt x="18" y="156"/>
                  </a:lnTo>
                  <a:lnTo>
                    <a:pt x="24" y="186"/>
                  </a:lnTo>
                  <a:lnTo>
                    <a:pt x="36" y="22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5682" y="750"/>
              <a:ext cx="6" cy="66"/>
            </a:xfrm>
            <a:custGeom>
              <a:avLst/>
              <a:gdLst>
                <a:gd name="T0" fmla="*/ 0 w 6"/>
                <a:gd name="T1" fmla="*/ 0 h 66"/>
                <a:gd name="T2" fmla="*/ 0 w 6"/>
                <a:gd name="T3" fmla="*/ 12 h 66"/>
                <a:gd name="T4" fmla="*/ 0 w 6"/>
                <a:gd name="T5" fmla="*/ 18 h 66"/>
                <a:gd name="T6" fmla="*/ 0 w 6"/>
                <a:gd name="T7" fmla="*/ 24 h 66"/>
                <a:gd name="T8" fmla="*/ 0 w 6"/>
                <a:gd name="T9" fmla="*/ 36 h 66"/>
                <a:gd name="T10" fmla="*/ 0 w 6"/>
                <a:gd name="T11" fmla="*/ 42 h 66"/>
                <a:gd name="T12" fmla="*/ 0 w 6"/>
                <a:gd name="T13" fmla="*/ 54 h 66"/>
                <a:gd name="T14" fmla="*/ 6 w 6"/>
                <a:gd name="T15" fmla="*/ 60 h 66"/>
                <a:gd name="T16" fmla="*/ 6 w 6"/>
                <a:gd name="T17" fmla="*/ 66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"/>
                <a:gd name="T28" fmla="*/ 0 h 66"/>
                <a:gd name="T29" fmla="*/ 6 w 6"/>
                <a:gd name="T30" fmla="*/ 66 h 6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" h="66">
                  <a:moveTo>
                    <a:pt x="0" y="0"/>
                  </a:moveTo>
                  <a:lnTo>
                    <a:pt x="0" y="12"/>
                  </a:lnTo>
                  <a:lnTo>
                    <a:pt x="0" y="18"/>
                  </a:lnTo>
                  <a:lnTo>
                    <a:pt x="0" y="24"/>
                  </a:lnTo>
                  <a:lnTo>
                    <a:pt x="0" y="36"/>
                  </a:lnTo>
                  <a:lnTo>
                    <a:pt x="0" y="42"/>
                  </a:lnTo>
                  <a:lnTo>
                    <a:pt x="0" y="54"/>
                  </a:lnTo>
                  <a:lnTo>
                    <a:pt x="6" y="60"/>
                  </a:lnTo>
                  <a:lnTo>
                    <a:pt x="6" y="66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760" y="300"/>
              <a:ext cx="54" cy="1"/>
            </a:xfrm>
            <a:custGeom>
              <a:avLst/>
              <a:gdLst>
                <a:gd name="T0" fmla="*/ 0 w 54"/>
                <a:gd name="T1" fmla="*/ 0 h 1"/>
                <a:gd name="T2" fmla="*/ 6 w 54"/>
                <a:gd name="T3" fmla="*/ 0 h 1"/>
                <a:gd name="T4" fmla="*/ 6 w 54"/>
                <a:gd name="T5" fmla="*/ 0 h 1"/>
                <a:gd name="T6" fmla="*/ 12 w 54"/>
                <a:gd name="T7" fmla="*/ 0 h 1"/>
                <a:gd name="T8" fmla="*/ 12 w 54"/>
                <a:gd name="T9" fmla="*/ 0 h 1"/>
                <a:gd name="T10" fmla="*/ 18 w 54"/>
                <a:gd name="T11" fmla="*/ 0 h 1"/>
                <a:gd name="T12" fmla="*/ 18 w 54"/>
                <a:gd name="T13" fmla="*/ 0 h 1"/>
                <a:gd name="T14" fmla="*/ 24 w 54"/>
                <a:gd name="T15" fmla="*/ 0 h 1"/>
                <a:gd name="T16" fmla="*/ 30 w 54"/>
                <a:gd name="T17" fmla="*/ 0 h 1"/>
                <a:gd name="T18" fmla="*/ 30 w 54"/>
                <a:gd name="T19" fmla="*/ 0 h 1"/>
                <a:gd name="T20" fmla="*/ 30 w 54"/>
                <a:gd name="T21" fmla="*/ 0 h 1"/>
                <a:gd name="T22" fmla="*/ 36 w 54"/>
                <a:gd name="T23" fmla="*/ 0 h 1"/>
                <a:gd name="T24" fmla="*/ 42 w 54"/>
                <a:gd name="T25" fmla="*/ 0 h 1"/>
                <a:gd name="T26" fmla="*/ 42 w 54"/>
                <a:gd name="T27" fmla="*/ 0 h 1"/>
                <a:gd name="T28" fmla="*/ 48 w 54"/>
                <a:gd name="T29" fmla="*/ 0 h 1"/>
                <a:gd name="T30" fmla="*/ 48 w 54"/>
                <a:gd name="T31" fmla="*/ 0 h 1"/>
                <a:gd name="T32" fmla="*/ 54 w 54"/>
                <a:gd name="T33" fmla="*/ 0 h 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"/>
                <a:gd name="T53" fmla="*/ 54 w 54"/>
                <a:gd name="T54" fmla="*/ 1 h 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">
                  <a:moveTo>
                    <a:pt x="0" y="0"/>
                  </a:move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772" y="420"/>
              <a:ext cx="54" cy="1"/>
            </a:xfrm>
            <a:custGeom>
              <a:avLst/>
              <a:gdLst>
                <a:gd name="T0" fmla="*/ 0 w 54"/>
                <a:gd name="T1" fmla="*/ 0 h 1"/>
                <a:gd name="T2" fmla="*/ 0 w 54"/>
                <a:gd name="T3" fmla="*/ 0 h 1"/>
                <a:gd name="T4" fmla="*/ 6 w 54"/>
                <a:gd name="T5" fmla="*/ 0 h 1"/>
                <a:gd name="T6" fmla="*/ 12 w 54"/>
                <a:gd name="T7" fmla="*/ 0 h 1"/>
                <a:gd name="T8" fmla="*/ 12 w 54"/>
                <a:gd name="T9" fmla="*/ 0 h 1"/>
                <a:gd name="T10" fmla="*/ 18 w 54"/>
                <a:gd name="T11" fmla="*/ 0 h 1"/>
                <a:gd name="T12" fmla="*/ 18 w 54"/>
                <a:gd name="T13" fmla="*/ 0 h 1"/>
                <a:gd name="T14" fmla="*/ 24 w 54"/>
                <a:gd name="T15" fmla="*/ 0 h 1"/>
                <a:gd name="T16" fmla="*/ 24 w 54"/>
                <a:gd name="T17" fmla="*/ 0 h 1"/>
                <a:gd name="T18" fmla="*/ 30 w 54"/>
                <a:gd name="T19" fmla="*/ 0 h 1"/>
                <a:gd name="T20" fmla="*/ 30 w 54"/>
                <a:gd name="T21" fmla="*/ 0 h 1"/>
                <a:gd name="T22" fmla="*/ 36 w 54"/>
                <a:gd name="T23" fmla="*/ 0 h 1"/>
                <a:gd name="T24" fmla="*/ 42 w 54"/>
                <a:gd name="T25" fmla="*/ 0 h 1"/>
                <a:gd name="T26" fmla="*/ 42 w 54"/>
                <a:gd name="T27" fmla="*/ 0 h 1"/>
                <a:gd name="T28" fmla="*/ 48 w 54"/>
                <a:gd name="T29" fmla="*/ 0 h 1"/>
                <a:gd name="T30" fmla="*/ 48 w 54"/>
                <a:gd name="T31" fmla="*/ 0 h 1"/>
                <a:gd name="T32" fmla="*/ 54 w 54"/>
                <a:gd name="T33" fmla="*/ 0 h 1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54"/>
                <a:gd name="T52" fmla="*/ 0 h 1"/>
                <a:gd name="T53" fmla="*/ 54 w 54"/>
                <a:gd name="T54" fmla="*/ 1 h 1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54" h="1">
                  <a:moveTo>
                    <a:pt x="0" y="0"/>
                  </a:moveTo>
                  <a:lnTo>
                    <a:pt x="0" y="0"/>
                  </a:lnTo>
                  <a:lnTo>
                    <a:pt x="6" y="0"/>
                  </a:lnTo>
                  <a:lnTo>
                    <a:pt x="12" y="0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30" y="0"/>
                  </a:lnTo>
                  <a:lnTo>
                    <a:pt x="36" y="0"/>
                  </a:lnTo>
                  <a:lnTo>
                    <a:pt x="42" y="0"/>
                  </a:lnTo>
                  <a:lnTo>
                    <a:pt x="48" y="0"/>
                  </a:lnTo>
                  <a:lnTo>
                    <a:pt x="54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5610" y="1074"/>
              <a:ext cx="390" cy="312"/>
            </a:xfrm>
            <a:custGeom>
              <a:avLst/>
              <a:gdLst>
                <a:gd name="T0" fmla="*/ 288 w 390"/>
                <a:gd name="T1" fmla="*/ 0 h 312"/>
                <a:gd name="T2" fmla="*/ 24 w 390"/>
                <a:gd name="T3" fmla="*/ 102 h 312"/>
                <a:gd name="T4" fmla="*/ 18 w 390"/>
                <a:gd name="T5" fmla="*/ 108 h 312"/>
                <a:gd name="T6" fmla="*/ 12 w 390"/>
                <a:gd name="T7" fmla="*/ 114 h 312"/>
                <a:gd name="T8" fmla="*/ 6 w 390"/>
                <a:gd name="T9" fmla="*/ 114 h 312"/>
                <a:gd name="T10" fmla="*/ 6 w 390"/>
                <a:gd name="T11" fmla="*/ 120 h 312"/>
                <a:gd name="T12" fmla="*/ 6 w 390"/>
                <a:gd name="T13" fmla="*/ 132 h 312"/>
                <a:gd name="T14" fmla="*/ 0 w 390"/>
                <a:gd name="T15" fmla="*/ 138 h 312"/>
                <a:gd name="T16" fmla="*/ 6 w 390"/>
                <a:gd name="T17" fmla="*/ 144 h 312"/>
                <a:gd name="T18" fmla="*/ 6 w 390"/>
                <a:gd name="T19" fmla="*/ 150 h 312"/>
                <a:gd name="T20" fmla="*/ 60 w 390"/>
                <a:gd name="T21" fmla="*/ 288 h 312"/>
                <a:gd name="T22" fmla="*/ 60 w 390"/>
                <a:gd name="T23" fmla="*/ 288 h 312"/>
                <a:gd name="T24" fmla="*/ 60 w 390"/>
                <a:gd name="T25" fmla="*/ 294 h 312"/>
                <a:gd name="T26" fmla="*/ 60 w 390"/>
                <a:gd name="T27" fmla="*/ 294 h 312"/>
                <a:gd name="T28" fmla="*/ 66 w 390"/>
                <a:gd name="T29" fmla="*/ 300 h 312"/>
                <a:gd name="T30" fmla="*/ 66 w 390"/>
                <a:gd name="T31" fmla="*/ 300 h 312"/>
                <a:gd name="T32" fmla="*/ 72 w 390"/>
                <a:gd name="T33" fmla="*/ 300 h 312"/>
                <a:gd name="T34" fmla="*/ 72 w 390"/>
                <a:gd name="T35" fmla="*/ 306 h 312"/>
                <a:gd name="T36" fmla="*/ 78 w 390"/>
                <a:gd name="T37" fmla="*/ 306 h 312"/>
                <a:gd name="T38" fmla="*/ 78 w 390"/>
                <a:gd name="T39" fmla="*/ 306 h 312"/>
                <a:gd name="T40" fmla="*/ 84 w 390"/>
                <a:gd name="T41" fmla="*/ 306 h 312"/>
                <a:gd name="T42" fmla="*/ 90 w 390"/>
                <a:gd name="T43" fmla="*/ 312 h 312"/>
                <a:gd name="T44" fmla="*/ 90 w 390"/>
                <a:gd name="T45" fmla="*/ 312 h 312"/>
                <a:gd name="T46" fmla="*/ 96 w 390"/>
                <a:gd name="T47" fmla="*/ 312 h 312"/>
                <a:gd name="T48" fmla="*/ 96 w 390"/>
                <a:gd name="T49" fmla="*/ 312 h 312"/>
                <a:gd name="T50" fmla="*/ 102 w 390"/>
                <a:gd name="T51" fmla="*/ 306 h 312"/>
                <a:gd name="T52" fmla="*/ 108 w 390"/>
                <a:gd name="T53" fmla="*/ 306 h 312"/>
                <a:gd name="T54" fmla="*/ 366 w 390"/>
                <a:gd name="T55" fmla="*/ 204 h 312"/>
                <a:gd name="T56" fmla="*/ 372 w 390"/>
                <a:gd name="T57" fmla="*/ 204 h 312"/>
                <a:gd name="T58" fmla="*/ 378 w 390"/>
                <a:gd name="T59" fmla="*/ 198 h 312"/>
                <a:gd name="T60" fmla="*/ 384 w 390"/>
                <a:gd name="T61" fmla="*/ 192 h 312"/>
                <a:gd name="T62" fmla="*/ 384 w 390"/>
                <a:gd name="T63" fmla="*/ 186 h 312"/>
                <a:gd name="T64" fmla="*/ 390 w 390"/>
                <a:gd name="T65" fmla="*/ 180 h 312"/>
                <a:gd name="T66" fmla="*/ 390 w 390"/>
                <a:gd name="T67" fmla="*/ 174 h 312"/>
                <a:gd name="T68" fmla="*/ 390 w 390"/>
                <a:gd name="T69" fmla="*/ 162 h 312"/>
                <a:gd name="T70" fmla="*/ 390 w 390"/>
                <a:gd name="T71" fmla="*/ 156 h 312"/>
                <a:gd name="T72" fmla="*/ 336 w 390"/>
                <a:gd name="T73" fmla="*/ 24 h 312"/>
                <a:gd name="T74" fmla="*/ 336 w 390"/>
                <a:gd name="T75" fmla="*/ 18 h 312"/>
                <a:gd name="T76" fmla="*/ 330 w 390"/>
                <a:gd name="T77" fmla="*/ 18 h 312"/>
                <a:gd name="T78" fmla="*/ 330 w 390"/>
                <a:gd name="T79" fmla="*/ 12 h 312"/>
                <a:gd name="T80" fmla="*/ 330 w 390"/>
                <a:gd name="T81" fmla="*/ 12 h 312"/>
                <a:gd name="T82" fmla="*/ 324 w 390"/>
                <a:gd name="T83" fmla="*/ 6 h 312"/>
                <a:gd name="T84" fmla="*/ 324 w 390"/>
                <a:gd name="T85" fmla="*/ 6 h 312"/>
                <a:gd name="T86" fmla="*/ 318 w 390"/>
                <a:gd name="T87" fmla="*/ 6 h 312"/>
                <a:gd name="T88" fmla="*/ 318 w 390"/>
                <a:gd name="T89" fmla="*/ 0 h 312"/>
                <a:gd name="T90" fmla="*/ 312 w 390"/>
                <a:gd name="T91" fmla="*/ 0 h 312"/>
                <a:gd name="T92" fmla="*/ 306 w 390"/>
                <a:gd name="T93" fmla="*/ 0 h 312"/>
                <a:gd name="T94" fmla="*/ 306 w 390"/>
                <a:gd name="T95" fmla="*/ 0 h 312"/>
                <a:gd name="T96" fmla="*/ 300 w 390"/>
                <a:gd name="T97" fmla="*/ 0 h 312"/>
                <a:gd name="T98" fmla="*/ 300 w 390"/>
                <a:gd name="T99" fmla="*/ 0 h 312"/>
                <a:gd name="T100" fmla="*/ 294 w 390"/>
                <a:gd name="T101" fmla="*/ 0 h 312"/>
                <a:gd name="T102" fmla="*/ 288 w 390"/>
                <a:gd name="T103" fmla="*/ 0 h 312"/>
                <a:gd name="T104" fmla="*/ 288 w 390"/>
                <a:gd name="T105" fmla="*/ 0 h 3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90"/>
                <a:gd name="T160" fmla="*/ 0 h 312"/>
                <a:gd name="T161" fmla="*/ 390 w 390"/>
                <a:gd name="T162" fmla="*/ 312 h 3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90" h="312">
                  <a:moveTo>
                    <a:pt x="288" y="0"/>
                  </a:moveTo>
                  <a:lnTo>
                    <a:pt x="24" y="102"/>
                  </a:lnTo>
                  <a:lnTo>
                    <a:pt x="18" y="108"/>
                  </a:lnTo>
                  <a:lnTo>
                    <a:pt x="12" y="114"/>
                  </a:lnTo>
                  <a:lnTo>
                    <a:pt x="6" y="114"/>
                  </a:lnTo>
                  <a:lnTo>
                    <a:pt x="6" y="120"/>
                  </a:lnTo>
                  <a:lnTo>
                    <a:pt x="6" y="132"/>
                  </a:lnTo>
                  <a:lnTo>
                    <a:pt x="0" y="138"/>
                  </a:lnTo>
                  <a:lnTo>
                    <a:pt x="6" y="144"/>
                  </a:lnTo>
                  <a:lnTo>
                    <a:pt x="6" y="150"/>
                  </a:lnTo>
                  <a:lnTo>
                    <a:pt x="60" y="288"/>
                  </a:lnTo>
                  <a:lnTo>
                    <a:pt x="60" y="294"/>
                  </a:lnTo>
                  <a:lnTo>
                    <a:pt x="66" y="300"/>
                  </a:lnTo>
                  <a:lnTo>
                    <a:pt x="72" y="300"/>
                  </a:lnTo>
                  <a:lnTo>
                    <a:pt x="72" y="306"/>
                  </a:lnTo>
                  <a:lnTo>
                    <a:pt x="78" y="306"/>
                  </a:lnTo>
                  <a:lnTo>
                    <a:pt x="84" y="306"/>
                  </a:lnTo>
                  <a:lnTo>
                    <a:pt x="90" y="312"/>
                  </a:lnTo>
                  <a:lnTo>
                    <a:pt x="96" y="312"/>
                  </a:lnTo>
                  <a:lnTo>
                    <a:pt x="102" y="306"/>
                  </a:lnTo>
                  <a:lnTo>
                    <a:pt x="108" y="306"/>
                  </a:lnTo>
                  <a:lnTo>
                    <a:pt x="366" y="204"/>
                  </a:lnTo>
                  <a:lnTo>
                    <a:pt x="372" y="204"/>
                  </a:lnTo>
                  <a:lnTo>
                    <a:pt x="378" y="198"/>
                  </a:lnTo>
                  <a:lnTo>
                    <a:pt x="384" y="192"/>
                  </a:lnTo>
                  <a:lnTo>
                    <a:pt x="384" y="186"/>
                  </a:lnTo>
                  <a:lnTo>
                    <a:pt x="390" y="180"/>
                  </a:lnTo>
                  <a:lnTo>
                    <a:pt x="390" y="174"/>
                  </a:lnTo>
                  <a:lnTo>
                    <a:pt x="390" y="162"/>
                  </a:lnTo>
                  <a:lnTo>
                    <a:pt x="390" y="156"/>
                  </a:lnTo>
                  <a:lnTo>
                    <a:pt x="336" y="24"/>
                  </a:lnTo>
                  <a:lnTo>
                    <a:pt x="336" y="18"/>
                  </a:lnTo>
                  <a:lnTo>
                    <a:pt x="330" y="18"/>
                  </a:lnTo>
                  <a:lnTo>
                    <a:pt x="330" y="12"/>
                  </a:lnTo>
                  <a:lnTo>
                    <a:pt x="324" y="6"/>
                  </a:lnTo>
                  <a:lnTo>
                    <a:pt x="318" y="6"/>
                  </a:lnTo>
                  <a:lnTo>
                    <a:pt x="318" y="0"/>
                  </a:lnTo>
                  <a:lnTo>
                    <a:pt x="312" y="0"/>
                  </a:lnTo>
                  <a:lnTo>
                    <a:pt x="306" y="0"/>
                  </a:lnTo>
                  <a:lnTo>
                    <a:pt x="300" y="0"/>
                  </a:lnTo>
                  <a:lnTo>
                    <a:pt x="294" y="0"/>
                  </a:lnTo>
                  <a:lnTo>
                    <a:pt x="28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610" y="1074"/>
              <a:ext cx="390" cy="312"/>
            </a:xfrm>
            <a:custGeom>
              <a:avLst/>
              <a:gdLst>
                <a:gd name="T0" fmla="*/ 288 w 390"/>
                <a:gd name="T1" fmla="*/ 0 h 312"/>
                <a:gd name="T2" fmla="*/ 24 w 390"/>
                <a:gd name="T3" fmla="*/ 102 h 312"/>
                <a:gd name="T4" fmla="*/ 18 w 390"/>
                <a:gd name="T5" fmla="*/ 108 h 312"/>
                <a:gd name="T6" fmla="*/ 12 w 390"/>
                <a:gd name="T7" fmla="*/ 114 h 312"/>
                <a:gd name="T8" fmla="*/ 6 w 390"/>
                <a:gd name="T9" fmla="*/ 114 h 312"/>
                <a:gd name="T10" fmla="*/ 6 w 390"/>
                <a:gd name="T11" fmla="*/ 120 h 312"/>
                <a:gd name="T12" fmla="*/ 6 w 390"/>
                <a:gd name="T13" fmla="*/ 132 h 312"/>
                <a:gd name="T14" fmla="*/ 0 w 390"/>
                <a:gd name="T15" fmla="*/ 138 h 312"/>
                <a:gd name="T16" fmla="*/ 6 w 390"/>
                <a:gd name="T17" fmla="*/ 144 h 312"/>
                <a:gd name="T18" fmla="*/ 6 w 390"/>
                <a:gd name="T19" fmla="*/ 150 h 312"/>
                <a:gd name="T20" fmla="*/ 60 w 390"/>
                <a:gd name="T21" fmla="*/ 288 h 312"/>
                <a:gd name="T22" fmla="*/ 60 w 390"/>
                <a:gd name="T23" fmla="*/ 288 h 312"/>
                <a:gd name="T24" fmla="*/ 60 w 390"/>
                <a:gd name="T25" fmla="*/ 294 h 312"/>
                <a:gd name="T26" fmla="*/ 60 w 390"/>
                <a:gd name="T27" fmla="*/ 294 h 312"/>
                <a:gd name="T28" fmla="*/ 66 w 390"/>
                <a:gd name="T29" fmla="*/ 300 h 312"/>
                <a:gd name="T30" fmla="*/ 66 w 390"/>
                <a:gd name="T31" fmla="*/ 300 h 312"/>
                <a:gd name="T32" fmla="*/ 72 w 390"/>
                <a:gd name="T33" fmla="*/ 300 h 312"/>
                <a:gd name="T34" fmla="*/ 72 w 390"/>
                <a:gd name="T35" fmla="*/ 306 h 312"/>
                <a:gd name="T36" fmla="*/ 78 w 390"/>
                <a:gd name="T37" fmla="*/ 306 h 312"/>
                <a:gd name="T38" fmla="*/ 78 w 390"/>
                <a:gd name="T39" fmla="*/ 306 h 312"/>
                <a:gd name="T40" fmla="*/ 84 w 390"/>
                <a:gd name="T41" fmla="*/ 306 h 312"/>
                <a:gd name="T42" fmla="*/ 90 w 390"/>
                <a:gd name="T43" fmla="*/ 312 h 312"/>
                <a:gd name="T44" fmla="*/ 90 w 390"/>
                <a:gd name="T45" fmla="*/ 312 h 312"/>
                <a:gd name="T46" fmla="*/ 96 w 390"/>
                <a:gd name="T47" fmla="*/ 312 h 312"/>
                <a:gd name="T48" fmla="*/ 96 w 390"/>
                <a:gd name="T49" fmla="*/ 312 h 312"/>
                <a:gd name="T50" fmla="*/ 102 w 390"/>
                <a:gd name="T51" fmla="*/ 306 h 312"/>
                <a:gd name="T52" fmla="*/ 108 w 390"/>
                <a:gd name="T53" fmla="*/ 306 h 312"/>
                <a:gd name="T54" fmla="*/ 366 w 390"/>
                <a:gd name="T55" fmla="*/ 204 h 312"/>
                <a:gd name="T56" fmla="*/ 372 w 390"/>
                <a:gd name="T57" fmla="*/ 204 h 312"/>
                <a:gd name="T58" fmla="*/ 378 w 390"/>
                <a:gd name="T59" fmla="*/ 198 h 312"/>
                <a:gd name="T60" fmla="*/ 384 w 390"/>
                <a:gd name="T61" fmla="*/ 192 h 312"/>
                <a:gd name="T62" fmla="*/ 384 w 390"/>
                <a:gd name="T63" fmla="*/ 186 h 312"/>
                <a:gd name="T64" fmla="*/ 390 w 390"/>
                <a:gd name="T65" fmla="*/ 180 h 312"/>
                <a:gd name="T66" fmla="*/ 390 w 390"/>
                <a:gd name="T67" fmla="*/ 174 h 312"/>
                <a:gd name="T68" fmla="*/ 390 w 390"/>
                <a:gd name="T69" fmla="*/ 162 h 312"/>
                <a:gd name="T70" fmla="*/ 390 w 390"/>
                <a:gd name="T71" fmla="*/ 156 h 312"/>
                <a:gd name="T72" fmla="*/ 336 w 390"/>
                <a:gd name="T73" fmla="*/ 24 h 312"/>
                <a:gd name="T74" fmla="*/ 336 w 390"/>
                <a:gd name="T75" fmla="*/ 18 h 312"/>
                <a:gd name="T76" fmla="*/ 330 w 390"/>
                <a:gd name="T77" fmla="*/ 18 h 312"/>
                <a:gd name="T78" fmla="*/ 330 w 390"/>
                <a:gd name="T79" fmla="*/ 12 h 312"/>
                <a:gd name="T80" fmla="*/ 330 w 390"/>
                <a:gd name="T81" fmla="*/ 12 h 312"/>
                <a:gd name="T82" fmla="*/ 324 w 390"/>
                <a:gd name="T83" fmla="*/ 6 h 312"/>
                <a:gd name="T84" fmla="*/ 324 w 390"/>
                <a:gd name="T85" fmla="*/ 6 h 312"/>
                <a:gd name="T86" fmla="*/ 318 w 390"/>
                <a:gd name="T87" fmla="*/ 6 h 312"/>
                <a:gd name="T88" fmla="*/ 318 w 390"/>
                <a:gd name="T89" fmla="*/ 0 h 312"/>
                <a:gd name="T90" fmla="*/ 312 w 390"/>
                <a:gd name="T91" fmla="*/ 0 h 312"/>
                <a:gd name="T92" fmla="*/ 306 w 390"/>
                <a:gd name="T93" fmla="*/ 0 h 312"/>
                <a:gd name="T94" fmla="*/ 306 w 390"/>
                <a:gd name="T95" fmla="*/ 0 h 312"/>
                <a:gd name="T96" fmla="*/ 300 w 390"/>
                <a:gd name="T97" fmla="*/ 0 h 312"/>
                <a:gd name="T98" fmla="*/ 300 w 390"/>
                <a:gd name="T99" fmla="*/ 0 h 312"/>
                <a:gd name="T100" fmla="*/ 294 w 390"/>
                <a:gd name="T101" fmla="*/ 0 h 312"/>
                <a:gd name="T102" fmla="*/ 288 w 390"/>
                <a:gd name="T103" fmla="*/ 0 h 312"/>
                <a:gd name="T104" fmla="*/ 288 w 390"/>
                <a:gd name="T105" fmla="*/ 0 h 31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390"/>
                <a:gd name="T160" fmla="*/ 0 h 312"/>
                <a:gd name="T161" fmla="*/ 390 w 390"/>
                <a:gd name="T162" fmla="*/ 312 h 312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390" h="312">
                  <a:moveTo>
                    <a:pt x="288" y="0"/>
                  </a:moveTo>
                  <a:lnTo>
                    <a:pt x="24" y="102"/>
                  </a:lnTo>
                  <a:lnTo>
                    <a:pt x="18" y="108"/>
                  </a:lnTo>
                  <a:lnTo>
                    <a:pt x="12" y="114"/>
                  </a:lnTo>
                  <a:lnTo>
                    <a:pt x="6" y="114"/>
                  </a:lnTo>
                  <a:lnTo>
                    <a:pt x="6" y="120"/>
                  </a:lnTo>
                  <a:lnTo>
                    <a:pt x="6" y="132"/>
                  </a:lnTo>
                  <a:lnTo>
                    <a:pt x="0" y="138"/>
                  </a:lnTo>
                  <a:lnTo>
                    <a:pt x="6" y="144"/>
                  </a:lnTo>
                  <a:lnTo>
                    <a:pt x="6" y="150"/>
                  </a:lnTo>
                  <a:lnTo>
                    <a:pt x="60" y="288"/>
                  </a:lnTo>
                  <a:lnTo>
                    <a:pt x="60" y="294"/>
                  </a:lnTo>
                  <a:lnTo>
                    <a:pt x="66" y="300"/>
                  </a:lnTo>
                  <a:lnTo>
                    <a:pt x="72" y="300"/>
                  </a:lnTo>
                  <a:lnTo>
                    <a:pt x="72" y="306"/>
                  </a:lnTo>
                  <a:lnTo>
                    <a:pt x="78" y="306"/>
                  </a:lnTo>
                  <a:lnTo>
                    <a:pt x="84" y="306"/>
                  </a:lnTo>
                  <a:lnTo>
                    <a:pt x="90" y="312"/>
                  </a:lnTo>
                  <a:lnTo>
                    <a:pt x="96" y="312"/>
                  </a:lnTo>
                  <a:lnTo>
                    <a:pt x="102" y="306"/>
                  </a:lnTo>
                  <a:lnTo>
                    <a:pt x="108" y="306"/>
                  </a:lnTo>
                  <a:lnTo>
                    <a:pt x="366" y="204"/>
                  </a:lnTo>
                  <a:lnTo>
                    <a:pt x="372" y="204"/>
                  </a:lnTo>
                  <a:lnTo>
                    <a:pt x="378" y="198"/>
                  </a:lnTo>
                  <a:lnTo>
                    <a:pt x="384" y="192"/>
                  </a:lnTo>
                  <a:lnTo>
                    <a:pt x="384" y="186"/>
                  </a:lnTo>
                  <a:lnTo>
                    <a:pt x="390" y="180"/>
                  </a:lnTo>
                  <a:lnTo>
                    <a:pt x="390" y="174"/>
                  </a:lnTo>
                  <a:lnTo>
                    <a:pt x="390" y="162"/>
                  </a:lnTo>
                  <a:lnTo>
                    <a:pt x="390" y="156"/>
                  </a:lnTo>
                  <a:lnTo>
                    <a:pt x="336" y="24"/>
                  </a:lnTo>
                  <a:lnTo>
                    <a:pt x="336" y="18"/>
                  </a:lnTo>
                  <a:lnTo>
                    <a:pt x="330" y="18"/>
                  </a:lnTo>
                  <a:lnTo>
                    <a:pt x="330" y="12"/>
                  </a:lnTo>
                  <a:lnTo>
                    <a:pt x="324" y="6"/>
                  </a:lnTo>
                  <a:lnTo>
                    <a:pt x="318" y="6"/>
                  </a:lnTo>
                  <a:lnTo>
                    <a:pt x="318" y="0"/>
                  </a:lnTo>
                  <a:lnTo>
                    <a:pt x="312" y="0"/>
                  </a:lnTo>
                  <a:lnTo>
                    <a:pt x="306" y="0"/>
                  </a:lnTo>
                  <a:lnTo>
                    <a:pt x="300" y="0"/>
                  </a:lnTo>
                  <a:lnTo>
                    <a:pt x="294" y="0"/>
                  </a:lnTo>
                  <a:lnTo>
                    <a:pt x="28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5520" y="624"/>
              <a:ext cx="72" cy="78"/>
            </a:xfrm>
            <a:custGeom>
              <a:avLst/>
              <a:gdLst>
                <a:gd name="T0" fmla="*/ 0 w 72"/>
                <a:gd name="T1" fmla="*/ 0 h 78"/>
                <a:gd name="T2" fmla="*/ 0 w 72"/>
                <a:gd name="T3" fmla="*/ 0 h 78"/>
                <a:gd name="T4" fmla="*/ 6 w 72"/>
                <a:gd name="T5" fmla="*/ 6 h 78"/>
                <a:gd name="T6" fmla="*/ 6 w 72"/>
                <a:gd name="T7" fmla="*/ 6 h 78"/>
                <a:gd name="T8" fmla="*/ 12 w 72"/>
                <a:gd name="T9" fmla="*/ 6 h 78"/>
                <a:gd name="T10" fmla="*/ 18 w 72"/>
                <a:gd name="T11" fmla="*/ 6 h 78"/>
                <a:gd name="T12" fmla="*/ 24 w 72"/>
                <a:gd name="T13" fmla="*/ 12 h 78"/>
                <a:gd name="T14" fmla="*/ 24 w 72"/>
                <a:gd name="T15" fmla="*/ 12 h 78"/>
                <a:gd name="T16" fmla="*/ 30 w 72"/>
                <a:gd name="T17" fmla="*/ 12 h 78"/>
                <a:gd name="T18" fmla="*/ 36 w 72"/>
                <a:gd name="T19" fmla="*/ 12 h 78"/>
                <a:gd name="T20" fmla="*/ 42 w 72"/>
                <a:gd name="T21" fmla="*/ 12 h 78"/>
                <a:gd name="T22" fmla="*/ 48 w 72"/>
                <a:gd name="T23" fmla="*/ 12 h 78"/>
                <a:gd name="T24" fmla="*/ 48 w 72"/>
                <a:gd name="T25" fmla="*/ 12 h 78"/>
                <a:gd name="T26" fmla="*/ 54 w 72"/>
                <a:gd name="T27" fmla="*/ 12 h 78"/>
                <a:gd name="T28" fmla="*/ 60 w 72"/>
                <a:gd name="T29" fmla="*/ 18 h 78"/>
                <a:gd name="T30" fmla="*/ 66 w 72"/>
                <a:gd name="T31" fmla="*/ 18 h 78"/>
                <a:gd name="T32" fmla="*/ 72 w 72"/>
                <a:gd name="T33" fmla="*/ 18 h 78"/>
                <a:gd name="T34" fmla="*/ 66 w 72"/>
                <a:gd name="T35" fmla="*/ 24 h 78"/>
                <a:gd name="T36" fmla="*/ 66 w 72"/>
                <a:gd name="T37" fmla="*/ 30 h 78"/>
                <a:gd name="T38" fmla="*/ 60 w 72"/>
                <a:gd name="T39" fmla="*/ 36 h 78"/>
                <a:gd name="T40" fmla="*/ 60 w 72"/>
                <a:gd name="T41" fmla="*/ 42 h 78"/>
                <a:gd name="T42" fmla="*/ 60 w 72"/>
                <a:gd name="T43" fmla="*/ 54 h 78"/>
                <a:gd name="T44" fmla="*/ 54 w 72"/>
                <a:gd name="T45" fmla="*/ 60 h 78"/>
                <a:gd name="T46" fmla="*/ 54 w 72"/>
                <a:gd name="T47" fmla="*/ 66 h 78"/>
                <a:gd name="T48" fmla="*/ 54 w 72"/>
                <a:gd name="T49" fmla="*/ 78 h 7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72"/>
                <a:gd name="T76" fmla="*/ 0 h 78"/>
                <a:gd name="T77" fmla="*/ 72 w 72"/>
                <a:gd name="T78" fmla="*/ 78 h 78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72" h="78">
                  <a:moveTo>
                    <a:pt x="0" y="0"/>
                  </a:moveTo>
                  <a:lnTo>
                    <a:pt x="0" y="0"/>
                  </a:lnTo>
                  <a:lnTo>
                    <a:pt x="6" y="6"/>
                  </a:lnTo>
                  <a:lnTo>
                    <a:pt x="12" y="6"/>
                  </a:lnTo>
                  <a:lnTo>
                    <a:pt x="18" y="6"/>
                  </a:lnTo>
                  <a:lnTo>
                    <a:pt x="24" y="12"/>
                  </a:lnTo>
                  <a:lnTo>
                    <a:pt x="30" y="12"/>
                  </a:lnTo>
                  <a:lnTo>
                    <a:pt x="36" y="12"/>
                  </a:lnTo>
                  <a:lnTo>
                    <a:pt x="42" y="12"/>
                  </a:lnTo>
                  <a:lnTo>
                    <a:pt x="48" y="12"/>
                  </a:lnTo>
                  <a:lnTo>
                    <a:pt x="54" y="12"/>
                  </a:lnTo>
                  <a:lnTo>
                    <a:pt x="60" y="18"/>
                  </a:lnTo>
                  <a:lnTo>
                    <a:pt x="66" y="18"/>
                  </a:lnTo>
                  <a:lnTo>
                    <a:pt x="72" y="18"/>
                  </a:lnTo>
                  <a:lnTo>
                    <a:pt x="66" y="24"/>
                  </a:lnTo>
                  <a:lnTo>
                    <a:pt x="66" y="30"/>
                  </a:lnTo>
                  <a:lnTo>
                    <a:pt x="60" y="36"/>
                  </a:lnTo>
                  <a:lnTo>
                    <a:pt x="60" y="42"/>
                  </a:lnTo>
                  <a:lnTo>
                    <a:pt x="60" y="54"/>
                  </a:lnTo>
                  <a:lnTo>
                    <a:pt x="54" y="60"/>
                  </a:lnTo>
                  <a:lnTo>
                    <a:pt x="54" y="66"/>
                  </a:lnTo>
                  <a:lnTo>
                    <a:pt x="54" y="7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4" name="Retângulo de cantos arredondados 3">
            <a:extLst>
              <a:ext uri="{FF2B5EF4-FFF2-40B4-BE49-F238E27FC236}">
                <a16:creationId xmlns:a16="http://schemas.microsoft.com/office/drawing/2014/main" id="{E3CC2572-DC88-4AEC-A250-CA0E3D4B106E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5240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9"/>
          <p:cNvGrpSpPr>
            <a:grpSpLocks/>
          </p:cNvGrpSpPr>
          <p:nvPr/>
        </p:nvGrpSpPr>
        <p:grpSpPr bwMode="auto">
          <a:xfrm>
            <a:off x="2146300" y="2628900"/>
            <a:ext cx="6211888" cy="2144713"/>
            <a:chOff x="2501900" y="1998119"/>
            <a:chExt cx="6211902" cy="2145261"/>
          </a:xfrm>
        </p:grpSpPr>
        <p:sp>
          <p:nvSpPr>
            <p:cNvPr id="6" name="Rectangle 8"/>
            <p:cNvSpPr>
              <a:spLocks noChangeArrowheads="1"/>
            </p:cNvSpPr>
            <p:nvPr/>
          </p:nvSpPr>
          <p:spPr bwMode="auto">
            <a:xfrm>
              <a:off x="3259138" y="2952799"/>
              <a:ext cx="1182687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7" name="Freeform 3"/>
            <p:cNvSpPr>
              <a:spLocks/>
            </p:cNvSpPr>
            <p:nvPr/>
          </p:nvSpPr>
          <p:spPr bwMode="auto">
            <a:xfrm>
              <a:off x="2501900" y="2009811"/>
              <a:ext cx="4356116" cy="2133569"/>
            </a:xfrm>
            <a:custGeom>
              <a:avLst/>
              <a:gdLst>
                <a:gd name="T0" fmla="*/ 2147483646 w 5398"/>
                <a:gd name="T1" fmla="*/ 2147483646 h 2602"/>
                <a:gd name="T2" fmla="*/ 2147483646 w 5398"/>
                <a:gd name="T3" fmla="*/ 2147483646 h 2602"/>
                <a:gd name="T4" fmla="*/ 2147483646 w 5398"/>
                <a:gd name="T5" fmla="*/ 2147483646 h 2602"/>
                <a:gd name="T6" fmla="*/ 2147483646 w 5398"/>
                <a:gd name="T7" fmla="*/ 2147483646 h 2602"/>
                <a:gd name="T8" fmla="*/ 2147483646 w 5398"/>
                <a:gd name="T9" fmla="*/ 2147483646 h 2602"/>
                <a:gd name="T10" fmla="*/ 2147483646 w 5398"/>
                <a:gd name="T11" fmla="*/ 2147483646 h 2602"/>
                <a:gd name="T12" fmla="*/ 2147483646 w 5398"/>
                <a:gd name="T13" fmla="*/ 2147483646 h 2602"/>
                <a:gd name="T14" fmla="*/ 2147483646 w 5398"/>
                <a:gd name="T15" fmla="*/ 2147483646 h 2602"/>
                <a:gd name="T16" fmla="*/ 2147483646 w 5398"/>
                <a:gd name="T17" fmla="*/ 2147483646 h 2602"/>
                <a:gd name="T18" fmla="*/ 2147483646 w 5398"/>
                <a:gd name="T19" fmla="*/ 2147483646 h 2602"/>
                <a:gd name="T20" fmla="*/ 2147483646 w 5398"/>
                <a:gd name="T21" fmla="*/ 2147483646 h 2602"/>
                <a:gd name="T22" fmla="*/ 2147483646 w 5398"/>
                <a:gd name="T23" fmla="*/ 2147483646 h 2602"/>
                <a:gd name="T24" fmla="*/ 2147483646 w 5398"/>
                <a:gd name="T25" fmla="*/ 2147483646 h 2602"/>
                <a:gd name="T26" fmla="*/ 2147483646 w 5398"/>
                <a:gd name="T27" fmla="*/ 2147483646 h 2602"/>
                <a:gd name="T28" fmla="*/ 2147483646 w 5398"/>
                <a:gd name="T29" fmla="*/ 2147483646 h 2602"/>
                <a:gd name="T30" fmla="*/ 2147483646 w 5398"/>
                <a:gd name="T31" fmla="*/ 2147483646 h 2602"/>
                <a:gd name="T32" fmla="*/ 2147483646 w 5398"/>
                <a:gd name="T33" fmla="*/ 2147483646 h 2602"/>
                <a:gd name="T34" fmla="*/ 2147483646 w 5398"/>
                <a:gd name="T35" fmla="*/ 2147483646 h 2602"/>
                <a:gd name="T36" fmla="*/ 2147483646 w 5398"/>
                <a:gd name="T37" fmla="*/ 2147483646 h 2602"/>
                <a:gd name="T38" fmla="*/ 2147483646 w 5398"/>
                <a:gd name="T39" fmla="*/ 0 h 2602"/>
                <a:gd name="T40" fmla="*/ 2147483646 w 5398"/>
                <a:gd name="T41" fmla="*/ 2147483646 h 2602"/>
                <a:gd name="T42" fmla="*/ 2147483646 w 5398"/>
                <a:gd name="T43" fmla="*/ 2147483646 h 2602"/>
                <a:gd name="T44" fmla="*/ 2147483646 w 5398"/>
                <a:gd name="T45" fmla="*/ 2147483646 h 2602"/>
                <a:gd name="T46" fmla="*/ 2147483646 w 5398"/>
                <a:gd name="T47" fmla="*/ 2147483646 h 2602"/>
                <a:gd name="T48" fmla="*/ 2147483646 w 5398"/>
                <a:gd name="T49" fmla="*/ 2147483646 h 2602"/>
                <a:gd name="T50" fmla="*/ 2147483646 w 5398"/>
                <a:gd name="T51" fmla="*/ 2147483646 h 2602"/>
                <a:gd name="T52" fmla="*/ 2147483646 w 5398"/>
                <a:gd name="T53" fmla="*/ 2147483646 h 2602"/>
                <a:gd name="T54" fmla="*/ 2147483646 w 5398"/>
                <a:gd name="T55" fmla="*/ 2147483646 h 2602"/>
                <a:gd name="T56" fmla="*/ 2147483646 w 5398"/>
                <a:gd name="T57" fmla="*/ 2147483646 h 2602"/>
                <a:gd name="T58" fmla="*/ 2147483646 w 5398"/>
                <a:gd name="T59" fmla="*/ 2147483646 h 2602"/>
                <a:gd name="T60" fmla="*/ 2147483646 w 5398"/>
                <a:gd name="T61" fmla="*/ 2147483646 h 2602"/>
                <a:gd name="T62" fmla="*/ 2147483646 w 5398"/>
                <a:gd name="T63" fmla="*/ 2147483646 h 2602"/>
                <a:gd name="T64" fmla="*/ 2147483646 w 5398"/>
                <a:gd name="T65" fmla="*/ 2147483646 h 2602"/>
                <a:gd name="T66" fmla="*/ 2147483646 w 5398"/>
                <a:gd name="T67" fmla="*/ 2147483646 h 2602"/>
                <a:gd name="T68" fmla="*/ 2147483646 w 5398"/>
                <a:gd name="T69" fmla="*/ 2147483646 h 2602"/>
                <a:gd name="T70" fmla="*/ 2147483646 w 5398"/>
                <a:gd name="T71" fmla="*/ 2147483646 h 2602"/>
                <a:gd name="T72" fmla="*/ 2147483646 w 5398"/>
                <a:gd name="T73" fmla="*/ 2147483646 h 2602"/>
                <a:gd name="T74" fmla="*/ 2147483646 w 5398"/>
                <a:gd name="T75" fmla="*/ 2147483646 h 2602"/>
                <a:gd name="T76" fmla="*/ 2147483646 w 5398"/>
                <a:gd name="T77" fmla="*/ 2147483646 h 2602"/>
                <a:gd name="T78" fmla="*/ 2147483646 w 5398"/>
                <a:gd name="T79" fmla="*/ 2147483646 h 2602"/>
                <a:gd name="T80" fmla="*/ 2147483646 w 5398"/>
                <a:gd name="T81" fmla="*/ 2147483646 h 2602"/>
                <a:gd name="T82" fmla="*/ 2147483646 w 5398"/>
                <a:gd name="T83" fmla="*/ 2147483646 h 2602"/>
                <a:gd name="T84" fmla="*/ 2147483646 w 5398"/>
                <a:gd name="T85" fmla="*/ 2147483646 h 2602"/>
                <a:gd name="T86" fmla="*/ 2147483646 w 5398"/>
                <a:gd name="T87" fmla="*/ 2147483646 h 2602"/>
                <a:gd name="T88" fmla="*/ 2147483646 w 5398"/>
                <a:gd name="T89" fmla="*/ 2147483646 h 2602"/>
                <a:gd name="T90" fmla="*/ 2147483646 w 5398"/>
                <a:gd name="T91" fmla="*/ 2147483646 h 26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5398"/>
                <a:gd name="T139" fmla="*/ 0 h 2602"/>
                <a:gd name="T140" fmla="*/ 5398 w 5398"/>
                <a:gd name="T141" fmla="*/ 2602 h 26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5398" h="2602">
                  <a:moveTo>
                    <a:pt x="0" y="2600"/>
                  </a:moveTo>
                  <a:lnTo>
                    <a:pt x="5" y="2506"/>
                  </a:lnTo>
                  <a:lnTo>
                    <a:pt x="11" y="2432"/>
                  </a:lnTo>
                  <a:lnTo>
                    <a:pt x="25" y="2306"/>
                  </a:lnTo>
                  <a:lnTo>
                    <a:pt x="40" y="2190"/>
                  </a:lnTo>
                  <a:lnTo>
                    <a:pt x="51" y="2118"/>
                  </a:lnTo>
                  <a:lnTo>
                    <a:pt x="77" y="2011"/>
                  </a:lnTo>
                  <a:lnTo>
                    <a:pt x="95" y="1934"/>
                  </a:lnTo>
                  <a:lnTo>
                    <a:pt x="121" y="1853"/>
                  </a:lnTo>
                  <a:lnTo>
                    <a:pt x="156" y="1739"/>
                  </a:lnTo>
                  <a:lnTo>
                    <a:pt x="198" y="1639"/>
                  </a:lnTo>
                  <a:lnTo>
                    <a:pt x="226" y="1569"/>
                  </a:lnTo>
                  <a:lnTo>
                    <a:pt x="277" y="1464"/>
                  </a:lnTo>
                  <a:lnTo>
                    <a:pt x="340" y="1348"/>
                  </a:lnTo>
                  <a:lnTo>
                    <a:pt x="382" y="1281"/>
                  </a:lnTo>
                  <a:lnTo>
                    <a:pt x="435" y="1202"/>
                  </a:lnTo>
                  <a:lnTo>
                    <a:pt x="505" y="1090"/>
                  </a:lnTo>
                  <a:lnTo>
                    <a:pt x="563" y="1021"/>
                  </a:lnTo>
                  <a:lnTo>
                    <a:pt x="625" y="944"/>
                  </a:lnTo>
                  <a:lnTo>
                    <a:pt x="726" y="837"/>
                  </a:lnTo>
                  <a:lnTo>
                    <a:pt x="789" y="765"/>
                  </a:lnTo>
                  <a:lnTo>
                    <a:pt x="858" y="707"/>
                  </a:lnTo>
                  <a:lnTo>
                    <a:pt x="935" y="637"/>
                  </a:lnTo>
                  <a:lnTo>
                    <a:pt x="1003" y="581"/>
                  </a:lnTo>
                  <a:lnTo>
                    <a:pt x="1077" y="528"/>
                  </a:lnTo>
                  <a:lnTo>
                    <a:pt x="1214" y="434"/>
                  </a:lnTo>
                  <a:lnTo>
                    <a:pt x="1293" y="385"/>
                  </a:lnTo>
                  <a:lnTo>
                    <a:pt x="1358" y="348"/>
                  </a:lnTo>
                  <a:lnTo>
                    <a:pt x="1467" y="290"/>
                  </a:lnTo>
                  <a:lnTo>
                    <a:pt x="1579" y="239"/>
                  </a:lnTo>
                  <a:lnTo>
                    <a:pt x="1672" y="197"/>
                  </a:lnTo>
                  <a:lnTo>
                    <a:pt x="1768" y="160"/>
                  </a:lnTo>
                  <a:lnTo>
                    <a:pt x="1861" y="134"/>
                  </a:lnTo>
                  <a:lnTo>
                    <a:pt x="1919" y="113"/>
                  </a:lnTo>
                  <a:lnTo>
                    <a:pt x="1998" y="90"/>
                  </a:lnTo>
                  <a:lnTo>
                    <a:pt x="2116" y="60"/>
                  </a:lnTo>
                  <a:lnTo>
                    <a:pt x="2258" y="37"/>
                  </a:lnTo>
                  <a:lnTo>
                    <a:pt x="2384" y="21"/>
                  </a:lnTo>
                  <a:lnTo>
                    <a:pt x="2519" y="7"/>
                  </a:lnTo>
                  <a:lnTo>
                    <a:pt x="2658" y="0"/>
                  </a:lnTo>
                  <a:lnTo>
                    <a:pt x="2747" y="2"/>
                  </a:lnTo>
                  <a:lnTo>
                    <a:pt x="2826" y="2"/>
                  </a:lnTo>
                  <a:lnTo>
                    <a:pt x="2893" y="7"/>
                  </a:lnTo>
                  <a:lnTo>
                    <a:pt x="2973" y="13"/>
                  </a:lnTo>
                  <a:lnTo>
                    <a:pt x="3042" y="23"/>
                  </a:lnTo>
                  <a:lnTo>
                    <a:pt x="3087" y="28"/>
                  </a:lnTo>
                  <a:lnTo>
                    <a:pt x="3168" y="42"/>
                  </a:lnTo>
                  <a:lnTo>
                    <a:pt x="3251" y="58"/>
                  </a:lnTo>
                  <a:lnTo>
                    <a:pt x="3337" y="76"/>
                  </a:lnTo>
                  <a:lnTo>
                    <a:pt x="3430" y="97"/>
                  </a:lnTo>
                  <a:lnTo>
                    <a:pt x="3529" y="128"/>
                  </a:lnTo>
                  <a:lnTo>
                    <a:pt x="3608" y="153"/>
                  </a:lnTo>
                  <a:lnTo>
                    <a:pt x="3682" y="176"/>
                  </a:lnTo>
                  <a:lnTo>
                    <a:pt x="3779" y="216"/>
                  </a:lnTo>
                  <a:lnTo>
                    <a:pt x="3866" y="255"/>
                  </a:lnTo>
                  <a:lnTo>
                    <a:pt x="3921" y="281"/>
                  </a:lnTo>
                  <a:lnTo>
                    <a:pt x="3947" y="297"/>
                  </a:lnTo>
                  <a:lnTo>
                    <a:pt x="3998" y="327"/>
                  </a:lnTo>
                  <a:lnTo>
                    <a:pt x="4061" y="360"/>
                  </a:lnTo>
                  <a:lnTo>
                    <a:pt x="4126" y="400"/>
                  </a:lnTo>
                  <a:lnTo>
                    <a:pt x="4198" y="439"/>
                  </a:lnTo>
                  <a:lnTo>
                    <a:pt x="4247" y="474"/>
                  </a:lnTo>
                  <a:lnTo>
                    <a:pt x="4315" y="527"/>
                  </a:lnTo>
                  <a:lnTo>
                    <a:pt x="4384" y="572"/>
                  </a:lnTo>
                  <a:lnTo>
                    <a:pt x="4468" y="644"/>
                  </a:lnTo>
                  <a:lnTo>
                    <a:pt x="4545" y="707"/>
                  </a:lnTo>
                  <a:lnTo>
                    <a:pt x="4603" y="769"/>
                  </a:lnTo>
                  <a:lnTo>
                    <a:pt x="4656" y="813"/>
                  </a:lnTo>
                  <a:lnTo>
                    <a:pt x="4703" y="863"/>
                  </a:lnTo>
                  <a:lnTo>
                    <a:pt x="4752" y="921"/>
                  </a:lnTo>
                  <a:lnTo>
                    <a:pt x="4798" y="971"/>
                  </a:lnTo>
                  <a:lnTo>
                    <a:pt x="4850" y="1044"/>
                  </a:lnTo>
                  <a:lnTo>
                    <a:pt x="4894" y="1102"/>
                  </a:lnTo>
                  <a:lnTo>
                    <a:pt x="4942" y="1165"/>
                  </a:lnTo>
                  <a:lnTo>
                    <a:pt x="4984" y="1232"/>
                  </a:lnTo>
                  <a:lnTo>
                    <a:pt x="5021" y="1297"/>
                  </a:lnTo>
                  <a:lnTo>
                    <a:pt x="5071" y="1376"/>
                  </a:lnTo>
                  <a:lnTo>
                    <a:pt x="5142" y="1499"/>
                  </a:lnTo>
                  <a:lnTo>
                    <a:pt x="5182" y="1602"/>
                  </a:lnTo>
                  <a:lnTo>
                    <a:pt x="5226" y="1711"/>
                  </a:lnTo>
                  <a:lnTo>
                    <a:pt x="5256" y="1795"/>
                  </a:lnTo>
                  <a:lnTo>
                    <a:pt x="5287" y="1885"/>
                  </a:lnTo>
                  <a:lnTo>
                    <a:pt x="5315" y="1981"/>
                  </a:lnTo>
                  <a:lnTo>
                    <a:pt x="5336" y="2086"/>
                  </a:lnTo>
                  <a:lnTo>
                    <a:pt x="5357" y="2195"/>
                  </a:lnTo>
                  <a:lnTo>
                    <a:pt x="5368" y="2276"/>
                  </a:lnTo>
                  <a:lnTo>
                    <a:pt x="5378" y="2323"/>
                  </a:lnTo>
                  <a:lnTo>
                    <a:pt x="5378" y="2348"/>
                  </a:lnTo>
                  <a:lnTo>
                    <a:pt x="5387" y="2418"/>
                  </a:lnTo>
                  <a:lnTo>
                    <a:pt x="5389" y="2495"/>
                  </a:lnTo>
                  <a:lnTo>
                    <a:pt x="5392" y="2548"/>
                  </a:lnTo>
                  <a:lnTo>
                    <a:pt x="5398" y="2602"/>
                  </a:lnTo>
                  <a:lnTo>
                    <a:pt x="0" y="2600"/>
                  </a:lnTo>
                  <a:close/>
                </a:path>
              </a:pathLst>
            </a:custGeom>
            <a:solidFill>
              <a:srgbClr val="33CC33"/>
            </a:solidFill>
            <a:ln w="6350">
              <a:solidFill>
                <a:srgbClr val="33CC33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2786050" y="2857496"/>
              <a:ext cx="1785950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solidFill>
                    <a:srgbClr val="000000"/>
                  </a:solidFill>
                  <a:latin typeface="Arial MT Black"/>
                </a:rPr>
                <a:t>Atividades Internas</a:t>
              </a:r>
              <a:endParaRPr lang="pt-BR" altLang="pt-BR">
                <a:latin typeface="Arial MT Black"/>
              </a:endParaRPr>
            </a:p>
          </p:txBody>
        </p:sp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4357686" y="1998119"/>
              <a:ext cx="4356116" cy="2133569"/>
            </a:xfrm>
            <a:custGeom>
              <a:avLst/>
              <a:gdLst>
                <a:gd name="T0" fmla="*/ 2147483646 w 5398"/>
                <a:gd name="T1" fmla="*/ 2147483646 h 2602"/>
                <a:gd name="T2" fmla="*/ 2147483646 w 5398"/>
                <a:gd name="T3" fmla="*/ 2147483646 h 2602"/>
                <a:gd name="T4" fmla="*/ 2147483646 w 5398"/>
                <a:gd name="T5" fmla="*/ 2147483646 h 2602"/>
                <a:gd name="T6" fmla="*/ 2147483646 w 5398"/>
                <a:gd name="T7" fmla="*/ 2147483646 h 2602"/>
                <a:gd name="T8" fmla="*/ 2147483646 w 5398"/>
                <a:gd name="T9" fmla="*/ 2147483646 h 2602"/>
                <a:gd name="T10" fmla="*/ 2147483646 w 5398"/>
                <a:gd name="T11" fmla="*/ 2147483646 h 2602"/>
                <a:gd name="T12" fmla="*/ 2147483646 w 5398"/>
                <a:gd name="T13" fmla="*/ 2147483646 h 2602"/>
                <a:gd name="T14" fmla="*/ 2147483646 w 5398"/>
                <a:gd name="T15" fmla="*/ 2147483646 h 2602"/>
                <a:gd name="T16" fmla="*/ 2147483646 w 5398"/>
                <a:gd name="T17" fmla="*/ 2147483646 h 2602"/>
                <a:gd name="T18" fmla="*/ 2147483646 w 5398"/>
                <a:gd name="T19" fmla="*/ 2147483646 h 2602"/>
                <a:gd name="T20" fmla="*/ 2147483646 w 5398"/>
                <a:gd name="T21" fmla="*/ 2147483646 h 2602"/>
                <a:gd name="T22" fmla="*/ 2147483646 w 5398"/>
                <a:gd name="T23" fmla="*/ 2147483646 h 2602"/>
                <a:gd name="T24" fmla="*/ 2147483646 w 5398"/>
                <a:gd name="T25" fmla="*/ 2147483646 h 2602"/>
                <a:gd name="T26" fmla="*/ 2147483646 w 5398"/>
                <a:gd name="T27" fmla="*/ 2147483646 h 2602"/>
                <a:gd name="T28" fmla="*/ 2147483646 w 5398"/>
                <a:gd name="T29" fmla="*/ 2147483646 h 2602"/>
                <a:gd name="T30" fmla="*/ 2147483646 w 5398"/>
                <a:gd name="T31" fmla="*/ 2147483646 h 2602"/>
                <a:gd name="T32" fmla="*/ 2147483646 w 5398"/>
                <a:gd name="T33" fmla="*/ 2147483646 h 2602"/>
                <a:gd name="T34" fmla="*/ 2147483646 w 5398"/>
                <a:gd name="T35" fmla="*/ 2147483646 h 2602"/>
                <a:gd name="T36" fmla="*/ 2147483646 w 5398"/>
                <a:gd name="T37" fmla="*/ 2147483646 h 2602"/>
                <a:gd name="T38" fmla="*/ 2147483646 w 5398"/>
                <a:gd name="T39" fmla="*/ 0 h 2602"/>
                <a:gd name="T40" fmla="*/ 2147483646 w 5398"/>
                <a:gd name="T41" fmla="*/ 2147483646 h 2602"/>
                <a:gd name="T42" fmla="*/ 2147483646 w 5398"/>
                <a:gd name="T43" fmla="*/ 2147483646 h 2602"/>
                <a:gd name="T44" fmla="*/ 2147483646 w 5398"/>
                <a:gd name="T45" fmla="*/ 2147483646 h 2602"/>
                <a:gd name="T46" fmla="*/ 2147483646 w 5398"/>
                <a:gd name="T47" fmla="*/ 2147483646 h 2602"/>
                <a:gd name="T48" fmla="*/ 2147483646 w 5398"/>
                <a:gd name="T49" fmla="*/ 2147483646 h 2602"/>
                <a:gd name="T50" fmla="*/ 2147483646 w 5398"/>
                <a:gd name="T51" fmla="*/ 2147483646 h 2602"/>
                <a:gd name="T52" fmla="*/ 2147483646 w 5398"/>
                <a:gd name="T53" fmla="*/ 2147483646 h 2602"/>
                <a:gd name="T54" fmla="*/ 2147483646 w 5398"/>
                <a:gd name="T55" fmla="*/ 2147483646 h 2602"/>
                <a:gd name="T56" fmla="*/ 2147483646 w 5398"/>
                <a:gd name="T57" fmla="*/ 2147483646 h 2602"/>
                <a:gd name="T58" fmla="*/ 2147483646 w 5398"/>
                <a:gd name="T59" fmla="*/ 2147483646 h 2602"/>
                <a:gd name="T60" fmla="*/ 2147483646 w 5398"/>
                <a:gd name="T61" fmla="*/ 2147483646 h 2602"/>
                <a:gd name="T62" fmla="*/ 2147483646 w 5398"/>
                <a:gd name="T63" fmla="*/ 2147483646 h 2602"/>
                <a:gd name="T64" fmla="*/ 2147483646 w 5398"/>
                <a:gd name="T65" fmla="*/ 2147483646 h 2602"/>
                <a:gd name="T66" fmla="*/ 2147483646 w 5398"/>
                <a:gd name="T67" fmla="*/ 2147483646 h 2602"/>
                <a:gd name="T68" fmla="*/ 2147483646 w 5398"/>
                <a:gd name="T69" fmla="*/ 2147483646 h 2602"/>
                <a:gd name="T70" fmla="*/ 2147483646 w 5398"/>
                <a:gd name="T71" fmla="*/ 2147483646 h 2602"/>
                <a:gd name="T72" fmla="*/ 2147483646 w 5398"/>
                <a:gd name="T73" fmla="*/ 2147483646 h 2602"/>
                <a:gd name="T74" fmla="*/ 2147483646 w 5398"/>
                <a:gd name="T75" fmla="*/ 2147483646 h 2602"/>
                <a:gd name="T76" fmla="*/ 2147483646 w 5398"/>
                <a:gd name="T77" fmla="*/ 2147483646 h 2602"/>
                <a:gd name="T78" fmla="*/ 2147483646 w 5398"/>
                <a:gd name="T79" fmla="*/ 2147483646 h 2602"/>
                <a:gd name="T80" fmla="*/ 2147483646 w 5398"/>
                <a:gd name="T81" fmla="*/ 2147483646 h 2602"/>
                <a:gd name="T82" fmla="*/ 2147483646 w 5398"/>
                <a:gd name="T83" fmla="*/ 2147483646 h 2602"/>
                <a:gd name="T84" fmla="*/ 2147483646 w 5398"/>
                <a:gd name="T85" fmla="*/ 2147483646 h 2602"/>
                <a:gd name="T86" fmla="*/ 2147483646 w 5398"/>
                <a:gd name="T87" fmla="*/ 2147483646 h 2602"/>
                <a:gd name="T88" fmla="*/ 2147483646 w 5398"/>
                <a:gd name="T89" fmla="*/ 2147483646 h 2602"/>
                <a:gd name="T90" fmla="*/ 2147483646 w 5398"/>
                <a:gd name="T91" fmla="*/ 2147483646 h 26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5398"/>
                <a:gd name="T139" fmla="*/ 0 h 2602"/>
                <a:gd name="T140" fmla="*/ 5398 w 5398"/>
                <a:gd name="T141" fmla="*/ 2602 h 26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5398" h="2602">
                  <a:moveTo>
                    <a:pt x="0" y="2600"/>
                  </a:moveTo>
                  <a:lnTo>
                    <a:pt x="5" y="2506"/>
                  </a:lnTo>
                  <a:lnTo>
                    <a:pt x="11" y="2432"/>
                  </a:lnTo>
                  <a:lnTo>
                    <a:pt x="25" y="2306"/>
                  </a:lnTo>
                  <a:lnTo>
                    <a:pt x="40" y="2190"/>
                  </a:lnTo>
                  <a:lnTo>
                    <a:pt x="51" y="2118"/>
                  </a:lnTo>
                  <a:lnTo>
                    <a:pt x="77" y="2011"/>
                  </a:lnTo>
                  <a:lnTo>
                    <a:pt x="95" y="1934"/>
                  </a:lnTo>
                  <a:lnTo>
                    <a:pt x="121" y="1853"/>
                  </a:lnTo>
                  <a:lnTo>
                    <a:pt x="156" y="1739"/>
                  </a:lnTo>
                  <a:lnTo>
                    <a:pt x="198" y="1639"/>
                  </a:lnTo>
                  <a:lnTo>
                    <a:pt x="226" y="1569"/>
                  </a:lnTo>
                  <a:lnTo>
                    <a:pt x="277" y="1464"/>
                  </a:lnTo>
                  <a:lnTo>
                    <a:pt x="340" y="1348"/>
                  </a:lnTo>
                  <a:lnTo>
                    <a:pt x="382" y="1281"/>
                  </a:lnTo>
                  <a:lnTo>
                    <a:pt x="435" y="1202"/>
                  </a:lnTo>
                  <a:lnTo>
                    <a:pt x="505" y="1090"/>
                  </a:lnTo>
                  <a:lnTo>
                    <a:pt x="563" y="1021"/>
                  </a:lnTo>
                  <a:lnTo>
                    <a:pt x="625" y="944"/>
                  </a:lnTo>
                  <a:lnTo>
                    <a:pt x="726" y="837"/>
                  </a:lnTo>
                  <a:lnTo>
                    <a:pt x="789" y="765"/>
                  </a:lnTo>
                  <a:lnTo>
                    <a:pt x="858" y="707"/>
                  </a:lnTo>
                  <a:lnTo>
                    <a:pt x="935" y="637"/>
                  </a:lnTo>
                  <a:lnTo>
                    <a:pt x="1003" y="581"/>
                  </a:lnTo>
                  <a:lnTo>
                    <a:pt x="1077" y="528"/>
                  </a:lnTo>
                  <a:lnTo>
                    <a:pt x="1214" y="434"/>
                  </a:lnTo>
                  <a:lnTo>
                    <a:pt x="1293" y="385"/>
                  </a:lnTo>
                  <a:lnTo>
                    <a:pt x="1358" y="348"/>
                  </a:lnTo>
                  <a:lnTo>
                    <a:pt x="1467" y="290"/>
                  </a:lnTo>
                  <a:lnTo>
                    <a:pt x="1579" y="239"/>
                  </a:lnTo>
                  <a:lnTo>
                    <a:pt x="1672" y="197"/>
                  </a:lnTo>
                  <a:lnTo>
                    <a:pt x="1768" y="160"/>
                  </a:lnTo>
                  <a:lnTo>
                    <a:pt x="1861" y="134"/>
                  </a:lnTo>
                  <a:lnTo>
                    <a:pt x="1919" y="113"/>
                  </a:lnTo>
                  <a:lnTo>
                    <a:pt x="1998" y="90"/>
                  </a:lnTo>
                  <a:lnTo>
                    <a:pt x="2116" y="60"/>
                  </a:lnTo>
                  <a:lnTo>
                    <a:pt x="2258" y="37"/>
                  </a:lnTo>
                  <a:lnTo>
                    <a:pt x="2384" y="21"/>
                  </a:lnTo>
                  <a:lnTo>
                    <a:pt x="2519" y="7"/>
                  </a:lnTo>
                  <a:lnTo>
                    <a:pt x="2658" y="0"/>
                  </a:lnTo>
                  <a:lnTo>
                    <a:pt x="2747" y="2"/>
                  </a:lnTo>
                  <a:lnTo>
                    <a:pt x="2826" y="2"/>
                  </a:lnTo>
                  <a:lnTo>
                    <a:pt x="2893" y="7"/>
                  </a:lnTo>
                  <a:lnTo>
                    <a:pt x="2973" y="13"/>
                  </a:lnTo>
                  <a:lnTo>
                    <a:pt x="3042" y="23"/>
                  </a:lnTo>
                  <a:lnTo>
                    <a:pt x="3087" y="28"/>
                  </a:lnTo>
                  <a:lnTo>
                    <a:pt x="3168" y="42"/>
                  </a:lnTo>
                  <a:lnTo>
                    <a:pt x="3251" y="58"/>
                  </a:lnTo>
                  <a:lnTo>
                    <a:pt x="3337" y="76"/>
                  </a:lnTo>
                  <a:lnTo>
                    <a:pt x="3430" y="97"/>
                  </a:lnTo>
                  <a:lnTo>
                    <a:pt x="3529" y="128"/>
                  </a:lnTo>
                  <a:lnTo>
                    <a:pt x="3608" y="153"/>
                  </a:lnTo>
                  <a:lnTo>
                    <a:pt x="3682" y="176"/>
                  </a:lnTo>
                  <a:lnTo>
                    <a:pt x="3779" y="216"/>
                  </a:lnTo>
                  <a:lnTo>
                    <a:pt x="3866" y="255"/>
                  </a:lnTo>
                  <a:lnTo>
                    <a:pt x="3921" y="281"/>
                  </a:lnTo>
                  <a:lnTo>
                    <a:pt x="3947" y="297"/>
                  </a:lnTo>
                  <a:lnTo>
                    <a:pt x="3998" y="327"/>
                  </a:lnTo>
                  <a:lnTo>
                    <a:pt x="4061" y="360"/>
                  </a:lnTo>
                  <a:lnTo>
                    <a:pt x="4126" y="400"/>
                  </a:lnTo>
                  <a:lnTo>
                    <a:pt x="4198" y="439"/>
                  </a:lnTo>
                  <a:lnTo>
                    <a:pt x="4247" y="474"/>
                  </a:lnTo>
                  <a:lnTo>
                    <a:pt x="4315" y="527"/>
                  </a:lnTo>
                  <a:lnTo>
                    <a:pt x="4384" y="572"/>
                  </a:lnTo>
                  <a:lnTo>
                    <a:pt x="4468" y="644"/>
                  </a:lnTo>
                  <a:lnTo>
                    <a:pt x="4545" y="707"/>
                  </a:lnTo>
                  <a:lnTo>
                    <a:pt x="4603" y="769"/>
                  </a:lnTo>
                  <a:lnTo>
                    <a:pt x="4656" y="813"/>
                  </a:lnTo>
                  <a:lnTo>
                    <a:pt x="4703" y="863"/>
                  </a:lnTo>
                  <a:lnTo>
                    <a:pt x="4752" y="921"/>
                  </a:lnTo>
                  <a:lnTo>
                    <a:pt x="4798" y="971"/>
                  </a:lnTo>
                  <a:lnTo>
                    <a:pt x="4850" y="1044"/>
                  </a:lnTo>
                  <a:lnTo>
                    <a:pt x="4894" y="1102"/>
                  </a:lnTo>
                  <a:lnTo>
                    <a:pt x="4942" y="1165"/>
                  </a:lnTo>
                  <a:lnTo>
                    <a:pt x="4984" y="1232"/>
                  </a:lnTo>
                  <a:lnTo>
                    <a:pt x="5021" y="1297"/>
                  </a:lnTo>
                  <a:lnTo>
                    <a:pt x="5071" y="1376"/>
                  </a:lnTo>
                  <a:lnTo>
                    <a:pt x="5142" y="1499"/>
                  </a:lnTo>
                  <a:lnTo>
                    <a:pt x="5182" y="1602"/>
                  </a:lnTo>
                  <a:lnTo>
                    <a:pt x="5226" y="1711"/>
                  </a:lnTo>
                  <a:lnTo>
                    <a:pt x="5256" y="1795"/>
                  </a:lnTo>
                  <a:lnTo>
                    <a:pt x="5287" y="1885"/>
                  </a:lnTo>
                  <a:lnTo>
                    <a:pt x="5315" y="1981"/>
                  </a:lnTo>
                  <a:lnTo>
                    <a:pt x="5336" y="2086"/>
                  </a:lnTo>
                  <a:lnTo>
                    <a:pt x="5357" y="2195"/>
                  </a:lnTo>
                  <a:lnTo>
                    <a:pt x="5368" y="2276"/>
                  </a:lnTo>
                  <a:lnTo>
                    <a:pt x="5378" y="2323"/>
                  </a:lnTo>
                  <a:lnTo>
                    <a:pt x="5378" y="2348"/>
                  </a:lnTo>
                  <a:lnTo>
                    <a:pt x="5387" y="2418"/>
                  </a:lnTo>
                  <a:lnTo>
                    <a:pt x="5389" y="2495"/>
                  </a:lnTo>
                  <a:lnTo>
                    <a:pt x="5392" y="2548"/>
                  </a:lnTo>
                  <a:lnTo>
                    <a:pt x="5398" y="2602"/>
                  </a:lnTo>
                  <a:lnTo>
                    <a:pt x="0" y="260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3"/>
            <p:cNvSpPr>
              <a:spLocks/>
            </p:cNvSpPr>
            <p:nvPr/>
          </p:nvSpPr>
          <p:spPr bwMode="auto">
            <a:xfrm>
              <a:off x="2533936" y="2009811"/>
              <a:ext cx="4356116" cy="2133569"/>
            </a:xfrm>
            <a:custGeom>
              <a:avLst/>
              <a:gdLst>
                <a:gd name="T0" fmla="*/ 2147483646 w 5398"/>
                <a:gd name="T1" fmla="*/ 2147483646 h 2602"/>
                <a:gd name="T2" fmla="*/ 2147483646 w 5398"/>
                <a:gd name="T3" fmla="*/ 2147483646 h 2602"/>
                <a:gd name="T4" fmla="*/ 2147483646 w 5398"/>
                <a:gd name="T5" fmla="*/ 2147483646 h 2602"/>
                <a:gd name="T6" fmla="*/ 2147483646 w 5398"/>
                <a:gd name="T7" fmla="*/ 2147483646 h 2602"/>
                <a:gd name="T8" fmla="*/ 2147483646 w 5398"/>
                <a:gd name="T9" fmla="*/ 2147483646 h 2602"/>
                <a:gd name="T10" fmla="*/ 2147483646 w 5398"/>
                <a:gd name="T11" fmla="*/ 2147483646 h 2602"/>
                <a:gd name="T12" fmla="*/ 2147483646 w 5398"/>
                <a:gd name="T13" fmla="*/ 2147483646 h 2602"/>
                <a:gd name="T14" fmla="*/ 2147483646 w 5398"/>
                <a:gd name="T15" fmla="*/ 2147483646 h 2602"/>
                <a:gd name="T16" fmla="*/ 2147483646 w 5398"/>
                <a:gd name="T17" fmla="*/ 2147483646 h 2602"/>
                <a:gd name="T18" fmla="*/ 2147483646 w 5398"/>
                <a:gd name="T19" fmla="*/ 2147483646 h 2602"/>
                <a:gd name="T20" fmla="*/ 2147483646 w 5398"/>
                <a:gd name="T21" fmla="*/ 2147483646 h 2602"/>
                <a:gd name="T22" fmla="*/ 2147483646 w 5398"/>
                <a:gd name="T23" fmla="*/ 2147483646 h 2602"/>
                <a:gd name="T24" fmla="*/ 2147483646 w 5398"/>
                <a:gd name="T25" fmla="*/ 2147483646 h 2602"/>
                <a:gd name="T26" fmla="*/ 2147483646 w 5398"/>
                <a:gd name="T27" fmla="*/ 2147483646 h 2602"/>
                <a:gd name="T28" fmla="*/ 2147483646 w 5398"/>
                <a:gd name="T29" fmla="*/ 2147483646 h 2602"/>
                <a:gd name="T30" fmla="*/ 2147483646 w 5398"/>
                <a:gd name="T31" fmla="*/ 2147483646 h 2602"/>
                <a:gd name="T32" fmla="*/ 2147483646 w 5398"/>
                <a:gd name="T33" fmla="*/ 2147483646 h 2602"/>
                <a:gd name="T34" fmla="*/ 2147483646 w 5398"/>
                <a:gd name="T35" fmla="*/ 2147483646 h 2602"/>
                <a:gd name="T36" fmla="*/ 2147483646 w 5398"/>
                <a:gd name="T37" fmla="*/ 2147483646 h 2602"/>
                <a:gd name="T38" fmla="*/ 2147483646 w 5398"/>
                <a:gd name="T39" fmla="*/ 0 h 2602"/>
                <a:gd name="T40" fmla="*/ 2147483646 w 5398"/>
                <a:gd name="T41" fmla="*/ 2147483646 h 2602"/>
                <a:gd name="T42" fmla="*/ 2147483646 w 5398"/>
                <a:gd name="T43" fmla="*/ 2147483646 h 2602"/>
                <a:gd name="T44" fmla="*/ 2147483646 w 5398"/>
                <a:gd name="T45" fmla="*/ 2147483646 h 2602"/>
                <a:gd name="T46" fmla="*/ 2147483646 w 5398"/>
                <a:gd name="T47" fmla="*/ 2147483646 h 2602"/>
                <a:gd name="T48" fmla="*/ 2147483646 w 5398"/>
                <a:gd name="T49" fmla="*/ 2147483646 h 2602"/>
                <a:gd name="T50" fmla="*/ 2147483646 w 5398"/>
                <a:gd name="T51" fmla="*/ 2147483646 h 2602"/>
                <a:gd name="T52" fmla="*/ 2147483646 w 5398"/>
                <a:gd name="T53" fmla="*/ 2147483646 h 2602"/>
                <a:gd name="T54" fmla="*/ 2147483646 w 5398"/>
                <a:gd name="T55" fmla="*/ 2147483646 h 2602"/>
                <a:gd name="T56" fmla="*/ 2147483646 w 5398"/>
                <a:gd name="T57" fmla="*/ 2147483646 h 2602"/>
                <a:gd name="T58" fmla="*/ 2147483646 w 5398"/>
                <a:gd name="T59" fmla="*/ 2147483646 h 2602"/>
                <a:gd name="T60" fmla="*/ 2147483646 w 5398"/>
                <a:gd name="T61" fmla="*/ 2147483646 h 2602"/>
                <a:gd name="T62" fmla="*/ 2147483646 w 5398"/>
                <a:gd name="T63" fmla="*/ 2147483646 h 2602"/>
                <a:gd name="T64" fmla="*/ 2147483646 w 5398"/>
                <a:gd name="T65" fmla="*/ 2147483646 h 2602"/>
                <a:gd name="T66" fmla="*/ 2147483646 w 5398"/>
                <a:gd name="T67" fmla="*/ 2147483646 h 2602"/>
                <a:gd name="T68" fmla="*/ 2147483646 w 5398"/>
                <a:gd name="T69" fmla="*/ 2147483646 h 2602"/>
                <a:gd name="T70" fmla="*/ 2147483646 w 5398"/>
                <a:gd name="T71" fmla="*/ 2147483646 h 2602"/>
                <a:gd name="T72" fmla="*/ 2147483646 w 5398"/>
                <a:gd name="T73" fmla="*/ 2147483646 h 2602"/>
                <a:gd name="T74" fmla="*/ 2147483646 w 5398"/>
                <a:gd name="T75" fmla="*/ 2147483646 h 2602"/>
                <a:gd name="T76" fmla="*/ 2147483646 w 5398"/>
                <a:gd name="T77" fmla="*/ 2147483646 h 2602"/>
                <a:gd name="T78" fmla="*/ 2147483646 w 5398"/>
                <a:gd name="T79" fmla="*/ 2147483646 h 2602"/>
                <a:gd name="T80" fmla="*/ 2147483646 w 5398"/>
                <a:gd name="T81" fmla="*/ 2147483646 h 2602"/>
                <a:gd name="T82" fmla="*/ 2147483646 w 5398"/>
                <a:gd name="T83" fmla="*/ 2147483646 h 2602"/>
                <a:gd name="T84" fmla="*/ 2147483646 w 5398"/>
                <a:gd name="T85" fmla="*/ 2147483646 h 2602"/>
                <a:gd name="T86" fmla="*/ 2147483646 w 5398"/>
                <a:gd name="T87" fmla="*/ 2147483646 h 2602"/>
                <a:gd name="T88" fmla="*/ 2147483646 w 5398"/>
                <a:gd name="T89" fmla="*/ 2147483646 h 2602"/>
                <a:gd name="T90" fmla="*/ 2147483646 w 5398"/>
                <a:gd name="T91" fmla="*/ 2147483646 h 26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5398"/>
                <a:gd name="T139" fmla="*/ 0 h 2602"/>
                <a:gd name="T140" fmla="*/ 5398 w 5398"/>
                <a:gd name="T141" fmla="*/ 2602 h 26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5398" h="2602">
                  <a:moveTo>
                    <a:pt x="0" y="2600"/>
                  </a:moveTo>
                  <a:lnTo>
                    <a:pt x="5" y="2506"/>
                  </a:lnTo>
                  <a:lnTo>
                    <a:pt x="11" y="2432"/>
                  </a:lnTo>
                  <a:lnTo>
                    <a:pt x="25" y="2306"/>
                  </a:lnTo>
                  <a:lnTo>
                    <a:pt x="40" y="2190"/>
                  </a:lnTo>
                  <a:lnTo>
                    <a:pt x="51" y="2118"/>
                  </a:lnTo>
                  <a:lnTo>
                    <a:pt x="77" y="2011"/>
                  </a:lnTo>
                  <a:lnTo>
                    <a:pt x="95" y="1934"/>
                  </a:lnTo>
                  <a:lnTo>
                    <a:pt x="121" y="1853"/>
                  </a:lnTo>
                  <a:lnTo>
                    <a:pt x="156" y="1739"/>
                  </a:lnTo>
                  <a:lnTo>
                    <a:pt x="198" y="1639"/>
                  </a:lnTo>
                  <a:lnTo>
                    <a:pt x="226" y="1569"/>
                  </a:lnTo>
                  <a:lnTo>
                    <a:pt x="277" y="1464"/>
                  </a:lnTo>
                  <a:lnTo>
                    <a:pt x="340" y="1348"/>
                  </a:lnTo>
                  <a:lnTo>
                    <a:pt x="382" y="1281"/>
                  </a:lnTo>
                  <a:lnTo>
                    <a:pt x="435" y="1202"/>
                  </a:lnTo>
                  <a:lnTo>
                    <a:pt x="505" y="1090"/>
                  </a:lnTo>
                  <a:lnTo>
                    <a:pt x="563" y="1021"/>
                  </a:lnTo>
                  <a:lnTo>
                    <a:pt x="625" y="944"/>
                  </a:lnTo>
                  <a:lnTo>
                    <a:pt x="726" y="837"/>
                  </a:lnTo>
                  <a:lnTo>
                    <a:pt x="789" y="765"/>
                  </a:lnTo>
                  <a:lnTo>
                    <a:pt x="858" y="707"/>
                  </a:lnTo>
                  <a:lnTo>
                    <a:pt x="935" y="637"/>
                  </a:lnTo>
                  <a:lnTo>
                    <a:pt x="1003" y="581"/>
                  </a:lnTo>
                  <a:lnTo>
                    <a:pt x="1077" y="528"/>
                  </a:lnTo>
                  <a:lnTo>
                    <a:pt x="1214" y="434"/>
                  </a:lnTo>
                  <a:lnTo>
                    <a:pt x="1293" y="385"/>
                  </a:lnTo>
                  <a:lnTo>
                    <a:pt x="1358" y="348"/>
                  </a:lnTo>
                  <a:lnTo>
                    <a:pt x="1467" y="290"/>
                  </a:lnTo>
                  <a:lnTo>
                    <a:pt x="1579" y="239"/>
                  </a:lnTo>
                  <a:lnTo>
                    <a:pt x="1672" y="197"/>
                  </a:lnTo>
                  <a:lnTo>
                    <a:pt x="1768" y="160"/>
                  </a:lnTo>
                  <a:lnTo>
                    <a:pt x="1861" y="134"/>
                  </a:lnTo>
                  <a:lnTo>
                    <a:pt x="1919" y="113"/>
                  </a:lnTo>
                  <a:lnTo>
                    <a:pt x="1998" y="90"/>
                  </a:lnTo>
                  <a:lnTo>
                    <a:pt x="2116" y="60"/>
                  </a:lnTo>
                  <a:lnTo>
                    <a:pt x="2258" y="37"/>
                  </a:lnTo>
                  <a:lnTo>
                    <a:pt x="2384" y="21"/>
                  </a:lnTo>
                  <a:lnTo>
                    <a:pt x="2519" y="7"/>
                  </a:lnTo>
                  <a:lnTo>
                    <a:pt x="2658" y="0"/>
                  </a:lnTo>
                  <a:lnTo>
                    <a:pt x="2747" y="2"/>
                  </a:lnTo>
                  <a:lnTo>
                    <a:pt x="2826" y="2"/>
                  </a:lnTo>
                  <a:lnTo>
                    <a:pt x="2893" y="7"/>
                  </a:lnTo>
                  <a:lnTo>
                    <a:pt x="2973" y="13"/>
                  </a:lnTo>
                  <a:lnTo>
                    <a:pt x="3042" y="23"/>
                  </a:lnTo>
                  <a:lnTo>
                    <a:pt x="3087" y="28"/>
                  </a:lnTo>
                  <a:lnTo>
                    <a:pt x="3168" y="42"/>
                  </a:lnTo>
                  <a:lnTo>
                    <a:pt x="3251" y="58"/>
                  </a:lnTo>
                  <a:lnTo>
                    <a:pt x="3337" y="76"/>
                  </a:lnTo>
                  <a:lnTo>
                    <a:pt x="3430" y="97"/>
                  </a:lnTo>
                  <a:lnTo>
                    <a:pt x="3529" y="128"/>
                  </a:lnTo>
                  <a:lnTo>
                    <a:pt x="3608" y="153"/>
                  </a:lnTo>
                  <a:lnTo>
                    <a:pt x="3682" y="176"/>
                  </a:lnTo>
                  <a:lnTo>
                    <a:pt x="3779" y="216"/>
                  </a:lnTo>
                  <a:lnTo>
                    <a:pt x="3866" y="255"/>
                  </a:lnTo>
                  <a:lnTo>
                    <a:pt x="3921" y="281"/>
                  </a:lnTo>
                  <a:lnTo>
                    <a:pt x="3947" y="297"/>
                  </a:lnTo>
                  <a:lnTo>
                    <a:pt x="3998" y="327"/>
                  </a:lnTo>
                  <a:lnTo>
                    <a:pt x="4061" y="360"/>
                  </a:lnTo>
                  <a:lnTo>
                    <a:pt x="4126" y="400"/>
                  </a:lnTo>
                  <a:lnTo>
                    <a:pt x="4198" y="439"/>
                  </a:lnTo>
                  <a:lnTo>
                    <a:pt x="4247" y="474"/>
                  </a:lnTo>
                  <a:lnTo>
                    <a:pt x="4315" y="527"/>
                  </a:lnTo>
                  <a:lnTo>
                    <a:pt x="4384" y="572"/>
                  </a:lnTo>
                  <a:lnTo>
                    <a:pt x="4468" y="644"/>
                  </a:lnTo>
                  <a:lnTo>
                    <a:pt x="4545" y="707"/>
                  </a:lnTo>
                  <a:lnTo>
                    <a:pt x="4603" y="769"/>
                  </a:lnTo>
                  <a:lnTo>
                    <a:pt x="4656" y="813"/>
                  </a:lnTo>
                  <a:lnTo>
                    <a:pt x="4703" y="863"/>
                  </a:lnTo>
                  <a:lnTo>
                    <a:pt x="4752" y="921"/>
                  </a:lnTo>
                  <a:lnTo>
                    <a:pt x="4798" y="971"/>
                  </a:lnTo>
                  <a:lnTo>
                    <a:pt x="4850" y="1044"/>
                  </a:lnTo>
                  <a:lnTo>
                    <a:pt x="4894" y="1102"/>
                  </a:lnTo>
                  <a:lnTo>
                    <a:pt x="4942" y="1165"/>
                  </a:lnTo>
                  <a:lnTo>
                    <a:pt x="4984" y="1232"/>
                  </a:lnTo>
                  <a:lnTo>
                    <a:pt x="5021" y="1297"/>
                  </a:lnTo>
                  <a:lnTo>
                    <a:pt x="5071" y="1376"/>
                  </a:lnTo>
                  <a:lnTo>
                    <a:pt x="5142" y="1499"/>
                  </a:lnTo>
                  <a:lnTo>
                    <a:pt x="5182" y="1602"/>
                  </a:lnTo>
                  <a:lnTo>
                    <a:pt x="5226" y="1711"/>
                  </a:lnTo>
                  <a:lnTo>
                    <a:pt x="5256" y="1795"/>
                  </a:lnTo>
                  <a:lnTo>
                    <a:pt x="5287" y="1885"/>
                  </a:lnTo>
                  <a:lnTo>
                    <a:pt x="5315" y="1981"/>
                  </a:lnTo>
                  <a:lnTo>
                    <a:pt x="5336" y="2086"/>
                  </a:lnTo>
                  <a:lnTo>
                    <a:pt x="5357" y="2195"/>
                  </a:lnTo>
                  <a:lnTo>
                    <a:pt x="5368" y="2276"/>
                  </a:lnTo>
                  <a:lnTo>
                    <a:pt x="5378" y="2323"/>
                  </a:lnTo>
                  <a:lnTo>
                    <a:pt x="5378" y="2348"/>
                  </a:lnTo>
                  <a:lnTo>
                    <a:pt x="5387" y="2418"/>
                  </a:lnTo>
                  <a:lnTo>
                    <a:pt x="5389" y="2495"/>
                  </a:lnTo>
                  <a:lnTo>
                    <a:pt x="5392" y="2548"/>
                  </a:lnTo>
                  <a:lnTo>
                    <a:pt x="5398" y="2602"/>
                  </a:lnTo>
                  <a:lnTo>
                    <a:pt x="0" y="2600"/>
                  </a:lnTo>
                  <a:close/>
                </a:path>
              </a:pathLst>
            </a:custGeom>
            <a:noFill/>
            <a:ln w="6350">
              <a:solidFill>
                <a:srgbClr val="33CC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39750" y="1592263"/>
            <a:ext cx="818197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3000" b="1">
                <a:latin typeface="Incised901 BT"/>
              </a:rPr>
              <a:t>Quando se Transfere as Ações de Preparação Interna para a Externa</a:t>
            </a:r>
            <a:endParaRPr lang="pt-BR" altLang="pt-BR" sz="3000" b="1">
              <a:latin typeface="Incised901 BT"/>
            </a:endParaRPr>
          </a:p>
        </p:txBody>
      </p:sp>
      <p:sp>
        <p:nvSpPr>
          <p:cNvPr id="12" name="Text Box 9"/>
          <p:cNvSpPr txBox="1">
            <a:spLocks noChangeArrowheads="1"/>
          </p:cNvSpPr>
          <p:nvPr/>
        </p:nvSpPr>
        <p:spPr bwMode="auto">
          <a:xfrm>
            <a:off x="1066799" y="4884161"/>
            <a:ext cx="7127875" cy="1493359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1400" b="1" dirty="0">
                <a:latin typeface="Incised901 BT"/>
              </a:rPr>
              <a:t>Exemplos: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pt-BR" altLang="pt-BR" sz="1400" b="1" dirty="0">
                <a:latin typeface="Incised901 BT"/>
              </a:rPr>
              <a:t> Troque módulos não partes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pt-BR" altLang="pt-BR" sz="1400" b="1" dirty="0">
                <a:latin typeface="Incised901 BT"/>
              </a:rPr>
              <a:t> Pré-aquecimento de matrizes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pt-BR" altLang="pt-BR" sz="1400" b="1" dirty="0">
                <a:latin typeface="Incised901 BT"/>
              </a:rPr>
              <a:t> Ferramentas reservas em máquinas gargalo</a:t>
            </a:r>
          </a:p>
          <a:p>
            <a:pPr algn="just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</a:pPr>
            <a:r>
              <a:rPr lang="pt-BR" altLang="pt-BR" sz="1400" b="1" dirty="0">
                <a:latin typeface="Incised901 BT"/>
              </a:rPr>
              <a:t> Máquinas reservas em paralelo no posto operativo gargalo</a:t>
            </a: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4500563" y="3557588"/>
            <a:ext cx="407193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0000"/>
                </a:solidFill>
                <a:latin typeface="Arial MT Black"/>
              </a:rPr>
              <a:t>Tempo que passou para as atividades externas</a:t>
            </a:r>
            <a:endParaRPr lang="pt-BR" altLang="pt-BR">
              <a:latin typeface="Arial MT Black"/>
            </a:endParaRPr>
          </a:p>
        </p:txBody>
      </p:sp>
      <p:sp>
        <p:nvSpPr>
          <p:cNvPr id="14" name="Retângulo de cantos arredondados 3">
            <a:extLst>
              <a:ext uri="{FF2B5EF4-FFF2-40B4-BE49-F238E27FC236}">
                <a16:creationId xmlns:a16="http://schemas.microsoft.com/office/drawing/2014/main" id="{9A9E62C9-9870-4692-8A82-833728FB1CE1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697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996950" y="2782888"/>
            <a:ext cx="7112000" cy="1206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3400" b="1">
                <a:latin typeface="Incised901 BT"/>
              </a:rPr>
              <a:t>Racionalize todos os aspectos do setup</a:t>
            </a:r>
            <a:endParaRPr lang="pt-BR" altLang="pt-BR" sz="3400" b="1">
              <a:latin typeface="Incised901 BT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062038" y="1855788"/>
            <a:ext cx="6964362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3000" b="1">
                <a:latin typeface="Incised901 BT"/>
              </a:rPr>
              <a:t>Passo 3:</a:t>
            </a:r>
            <a:endParaRPr lang="pt-BR" altLang="pt-BR" sz="3000" b="1">
              <a:latin typeface="Incised901 BT"/>
            </a:endParaRPr>
          </a:p>
        </p:txBody>
      </p:sp>
      <p:grpSp>
        <p:nvGrpSpPr>
          <p:cNvPr id="7" name="Group 4"/>
          <p:cNvGrpSpPr>
            <a:grpSpLocks/>
          </p:cNvGrpSpPr>
          <p:nvPr/>
        </p:nvGrpSpPr>
        <p:grpSpPr bwMode="auto">
          <a:xfrm>
            <a:off x="8026400" y="2108200"/>
            <a:ext cx="992188" cy="2219325"/>
            <a:chOff x="5514" y="66"/>
            <a:chExt cx="678" cy="1398"/>
          </a:xfrm>
        </p:grpSpPr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5514" y="66"/>
              <a:ext cx="552" cy="1224"/>
            </a:xfrm>
            <a:custGeom>
              <a:avLst/>
              <a:gdLst>
                <a:gd name="T0" fmla="*/ 258 w 552"/>
                <a:gd name="T1" fmla="*/ 1170 h 1224"/>
                <a:gd name="T2" fmla="*/ 228 w 552"/>
                <a:gd name="T3" fmla="*/ 1110 h 1224"/>
                <a:gd name="T4" fmla="*/ 192 w 552"/>
                <a:gd name="T5" fmla="*/ 1056 h 1224"/>
                <a:gd name="T6" fmla="*/ 162 w 552"/>
                <a:gd name="T7" fmla="*/ 1026 h 1224"/>
                <a:gd name="T8" fmla="*/ 126 w 552"/>
                <a:gd name="T9" fmla="*/ 996 h 1224"/>
                <a:gd name="T10" fmla="*/ 96 w 552"/>
                <a:gd name="T11" fmla="*/ 936 h 1224"/>
                <a:gd name="T12" fmla="*/ 60 w 552"/>
                <a:gd name="T13" fmla="*/ 840 h 1224"/>
                <a:gd name="T14" fmla="*/ 36 w 552"/>
                <a:gd name="T15" fmla="*/ 744 h 1224"/>
                <a:gd name="T16" fmla="*/ 6 w 552"/>
                <a:gd name="T17" fmla="*/ 606 h 1224"/>
                <a:gd name="T18" fmla="*/ 6 w 552"/>
                <a:gd name="T19" fmla="*/ 498 h 1224"/>
                <a:gd name="T20" fmla="*/ 42 w 552"/>
                <a:gd name="T21" fmla="*/ 456 h 1224"/>
                <a:gd name="T22" fmla="*/ 60 w 552"/>
                <a:gd name="T23" fmla="*/ 456 h 1224"/>
                <a:gd name="T24" fmla="*/ 84 w 552"/>
                <a:gd name="T25" fmla="*/ 456 h 1224"/>
                <a:gd name="T26" fmla="*/ 78 w 552"/>
                <a:gd name="T27" fmla="*/ 432 h 1224"/>
                <a:gd name="T28" fmla="*/ 48 w 552"/>
                <a:gd name="T29" fmla="*/ 372 h 1224"/>
                <a:gd name="T30" fmla="*/ 30 w 552"/>
                <a:gd name="T31" fmla="*/ 318 h 1224"/>
                <a:gd name="T32" fmla="*/ 0 w 552"/>
                <a:gd name="T33" fmla="*/ 228 h 1224"/>
                <a:gd name="T34" fmla="*/ 6 w 552"/>
                <a:gd name="T35" fmla="*/ 156 h 1224"/>
                <a:gd name="T36" fmla="*/ 36 w 552"/>
                <a:gd name="T37" fmla="*/ 120 h 1224"/>
                <a:gd name="T38" fmla="*/ 60 w 552"/>
                <a:gd name="T39" fmla="*/ 120 h 1224"/>
                <a:gd name="T40" fmla="*/ 84 w 552"/>
                <a:gd name="T41" fmla="*/ 138 h 1224"/>
                <a:gd name="T42" fmla="*/ 114 w 552"/>
                <a:gd name="T43" fmla="*/ 180 h 1224"/>
                <a:gd name="T44" fmla="*/ 132 w 552"/>
                <a:gd name="T45" fmla="*/ 270 h 1224"/>
                <a:gd name="T46" fmla="*/ 174 w 552"/>
                <a:gd name="T47" fmla="*/ 348 h 1224"/>
                <a:gd name="T48" fmla="*/ 216 w 552"/>
                <a:gd name="T49" fmla="*/ 432 h 1224"/>
                <a:gd name="T50" fmla="*/ 222 w 552"/>
                <a:gd name="T51" fmla="*/ 402 h 1224"/>
                <a:gd name="T52" fmla="*/ 192 w 552"/>
                <a:gd name="T53" fmla="*/ 270 h 1224"/>
                <a:gd name="T54" fmla="*/ 180 w 552"/>
                <a:gd name="T55" fmla="*/ 174 h 1224"/>
                <a:gd name="T56" fmla="*/ 162 w 552"/>
                <a:gd name="T57" fmla="*/ 108 h 1224"/>
                <a:gd name="T58" fmla="*/ 162 w 552"/>
                <a:gd name="T59" fmla="*/ 48 h 1224"/>
                <a:gd name="T60" fmla="*/ 192 w 552"/>
                <a:gd name="T61" fmla="*/ 6 h 1224"/>
                <a:gd name="T62" fmla="*/ 216 w 552"/>
                <a:gd name="T63" fmla="*/ 12 h 1224"/>
                <a:gd name="T64" fmla="*/ 240 w 552"/>
                <a:gd name="T65" fmla="*/ 24 h 1224"/>
                <a:gd name="T66" fmla="*/ 264 w 552"/>
                <a:gd name="T67" fmla="*/ 72 h 1224"/>
                <a:gd name="T68" fmla="*/ 282 w 552"/>
                <a:gd name="T69" fmla="*/ 168 h 1224"/>
                <a:gd name="T70" fmla="*/ 318 w 552"/>
                <a:gd name="T71" fmla="*/ 270 h 1224"/>
                <a:gd name="T72" fmla="*/ 336 w 552"/>
                <a:gd name="T73" fmla="*/ 330 h 1224"/>
                <a:gd name="T74" fmla="*/ 360 w 552"/>
                <a:gd name="T75" fmla="*/ 378 h 1224"/>
                <a:gd name="T76" fmla="*/ 378 w 552"/>
                <a:gd name="T77" fmla="*/ 390 h 1224"/>
                <a:gd name="T78" fmla="*/ 378 w 552"/>
                <a:gd name="T79" fmla="*/ 180 h 1224"/>
                <a:gd name="T80" fmla="*/ 384 w 552"/>
                <a:gd name="T81" fmla="*/ 84 h 1224"/>
                <a:gd name="T82" fmla="*/ 408 w 552"/>
                <a:gd name="T83" fmla="*/ 24 h 1224"/>
                <a:gd name="T84" fmla="*/ 444 w 552"/>
                <a:gd name="T85" fmla="*/ 0 h 1224"/>
                <a:gd name="T86" fmla="*/ 480 w 552"/>
                <a:gd name="T87" fmla="*/ 24 h 1224"/>
                <a:gd name="T88" fmla="*/ 492 w 552"/>
                <a:gd name="T89" fmla="*/ 108 h 1224"/>
                <a:gd name="T90" fmla="*/ 492 w 552"/>
                <a:gd name="T91" fmla="*/ 210 h 1224"/>
                <a:gd name="T92" fmla="*/ 486 w 552"/>
                <a:gd name="T93" fmla="*/ 324 h 1224"/>
                <a:gd name="T94" fmla="*/ 510 w 552"/>
                <a:gd name="T95" fmla="*/ 426 h 1224"/>
                <a:gd name="T96" fmla="*/ 546 w 552"/>
                <a:gd name="T97" fmla="*/ 540 h 1224"/>
                <a:gd name="T98" fmla="*/ 546 w 552"/>
                <a:gd name="T99" fmla="*/ 648 h 1224"/>
                <a:gd name="T100" fmla="*/ 522 w 552"/>
                <a:gd name="T101" fmla="*/ 744 h 1224"/>
                <a:gd name="T102" fmla="*/ 498 w 552"/>
                <a:gd name="T103" fmla="*/ 834 h 1224"/>
                <a:gd name="T104" fmla="*/ 522 w 552"/>
                <a:gd name="T105" fmla="*/ 978 h 1224"/>
                <a:gd name="T106" fmla="*/ 522 w 552"/>
                <a:gd name="T107" fmla="*/ 1074 h 1224"/>
                <a:gd name="T108" fmla="*/ 474 w 552"/>
                <a:gd name="T109" fmla="*/ 1104 h 1224"/>
                <a:gd name="T110" fmla="*/ 426 w 552"/>
                <a:gd name="T111" fmla="*/ 1134 h 1224"/>
                <a:gd name="T112" fmla="*/ 372 w 552"/>
                <a:gd name="T113" fmla="*/ 1164 h 1224"/>
                <a:gd name="T114" fmla="*/ 324 w 552"/>
                <a:gd name="T115" fmla="*/ 1200 h 122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52"/>
                <a:gd name="T175" fmla="*/ 0 h 1224"/>
                <a:gd name="T176" fmla="*/ 552 w 552"/>
                <a:gd name="T177" fmla="*/ 1224 h 122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52" h="1224">
                  <a:moveTo>
                    <a:pt x="282" y="1224"/>
                  </a:moveTo>
                  <a:lnTo>
                    <a:pt x="276" y="1212"/>
                  </a:lnTo>
                  <a:lnTo>
                    <a:pt x="276" y="1200"/>
                  </a:lnTo>
                  <a:lnTo>
                    <a:pt x="270" y="1194"/>
                  </a:lnTo>
                  <a:lnTo>
                    <a:pt x="264" y="1182"/>
                  </a:lnTo>
                  <a:lnTo>
                    <a:pt x="258" y="1170"/>
                  </a:lnTo>
                  <a:lnTo>
                    <a:pt x="252" y="1158"/>
                  </a:lnTo>
                  <a:lnTo>
                    <a:pt x="252" y="1152"/>
                  </a:lnTo>
                  <a:lnTo>
                    <a:pt x="246" y="1140"/>
                  </a:lnTo>
                  <a:lnTo>
                    <a:pt x="240" y="1128"/>
                  </a:lnTo>
                  <a:lnTo>
                    <a:pt x="234" y="1122"/>
                  </a:lnTo>
                  <a:lnTo>
                    <a:pt x="228" y="1110"/>
                  </a:lnTo>
                  <a:lnTo>
                    <a:pt x="222" y="1098"/>
                  </a:lnTo>
                  <a:lnTo>
                    <a:pt x="216" y="1092"/>
                  </a:lnTo>
                  <a:lnTo>
                    <a:pt x="210" y="1080"/>
                  </a:lnTo>
                  <a:lnTo>
                    <a:pt x="204" y="1068"/>
                  </a:lnTo>
                  <a:lnTo>
                    <a:pt x="198" y="1062"/>
                  </a:lnTo>
                  <a:lnTo>
                    <a:pt x="192" y="1056"/>
                  </a:lnTo>
                  <a:lnTo>
                    <a:pt x="186" y="1050"/>
                  </a:lnTo>
                  <a:lnTo>
                    <a:pt x="186" y="1044"/>
                  </a:lnTo>
                  <a:lnTo>
                    <a:pt x="180" y="1038"/>
                  </a:lnTo>
                  <a:lnTo>
                    <a:pt x="174" y="1038"/>
                  </a:lnTo>
                  <a:lnTo>
                    <a:pt x="168" y="1032"/>
                  </a:lnTo>
                  <a:lnTo>
                    <a:pt x="162" y="1026"/>
                  </a:lnTo>
                  <a:lnTo>
                    <a:pt x="156" y="1020"/>
                  </a:lnTo>
                  <a:lnTo>
                    <a:pt x="150" y="1020"/>
                  </a:lnTo>
                  <a:lnTo>
                    <a:pt x="144" y="1014"/>
                  </a:lnTo>
                  <a:lnTo>
                    <a:pt x="138" y="1008"/>
                  </a:lnTo>
                  <a:lnTo>
                    <a:pt x="132" y="1002"/>
                  </a:lnTo>
                  <a:lnTo>
                    <a:pt x="126" y="996"/>
                  </a:lnTo>
                  <a:lnTo>
                    <a:pt x="120" y="996"/>
                  </a:lnTo>
                  <a:lnTo>
                    <a:pt x="120" y="990"/>
                  </a:lnTo>
                  <a:lnTo>
                    <a:pt x="114" y="984"/>
                  </a:lnTo>
                  <a:lnTo>
                    <a:pt x="108" y="966"/>
                  </a:lnTo>
                  <a:lnTo>
                    <a:pt x="102" y="954"/>
                  </a:lnTo>
                  <a:lnTo>
                    <a:pt x="96" y="936"/>
                  </a:lnTo>
                  <a:lnTo>
                    <a:pt x="84" y="924"/>
                  </a:lnTo>
                  <a:lnTo>
                    <a:pt x="78" y="906"/>
                  </a:lnTo>
                  <a:lnTo>
                    <a:pt x="72" y="888"/>
                  </a:lnTo>
                  <a:lnTo>
                    <a:pt x="66" y="876"/>
                  </a:lnTo>
                  <a:lnTo>
                    <a:pt x="66" y="858"/>
                  </a:lnTo>
                  <a:lnTo>
                    <a:pt x="60" y="840"/>
                  </a:lnTo>
                  <a:lnTo>
                    <a:pt x="54" y="828"/>
                  </a:lnTo>
                  <a:lnTo>
                    <a:pt x="48" y="810"/>
                  </a:lnTo>
                  <a:lnTo>
                    <a:pt x="48" y="792"/>
                  </a:lnTo>
                  <a:lnTo>
                    <a:pt x="42" y="774"/>
                  </a:lnTo>
                  <a:lnTo>
                    <a:pt x="36" y="762"/>
                  </a:lnTo>
                  <a:lnTo>
                    <a:pt x="36" y="744"/>
                  </a:lnTo>
                  <a:lnTo>
                    <a:pt x="30" y="726"/>
                  </a:lnTo>
                  <a:lnTo>
                    <a:pt x="24" y="702"/>
                  </a:lnTo>
                  <a:lnTo>
                    <a:pt x="18" y="678"/>
                  </a:lnTo>
                  <a:lnTo>
                    <a:pt x="12" y="654"/>
                  </a:lnTo>
                  <a:lnTo>
                    <a:pt x="6" y="630"/>
                  </a:lnTo>
                  <a:lnTo>
                    <a:pt x="6" y="606"/>
                  </a:lnTo>
                  <a:lnTo>
                    <a:pt x="0" y="576"/>
                  </a:lnTo>
                  <a:lnTo>
                    <a:pt x="0" y="552"/>
                  </a:lnTo>
                  <a:lnTo>
                    <a:pt x="0" y="528"/>
                  </a:lnTo>
                  <a:lnTo>
                    <a:pt x="0" y="516"/>
                  </a:lnTo>
                  <a:lnTo>
                    <a:pt x="6" y="510"/>
                  </a:lnTo>
                  <a:lnTo>
                    <a:pt x="6" y="498"/>
                  </a:lnTo>
                  <a:lnTo>
                    <a:pt x="12" y="492"/>
                  </a:lnTo>
                  <a:lnTo>
                    <a:pt x="18" y="480"/>
                  </a:lnTo>
                  <a:lnTo>
                    <a:pt x="24" y="474"/>
                  </a:lnTo>
                  <a:lnTo>
                    <a:pt x="30" y="468"/>
                  </a:lnTo>
                  <a:lnTo>
                    <a:pt x="36" y="462"/>
                  </a:lnTo>
                  <a:lnTo>
                    <a:pt x="42" y="456"/>
                  </a:lnTo>
                  <a:lnTo>
                    <a:pt x="48" y="456"/>
                  </a:lnTo>
                  <a:lnTo>
                    <a:pt x="54" y="456"/>
                  </a:lnTo>
                  <a:lnTo>
                    <a:pt x="60" y="456"/>
                  </a:lnTo>
                  <a:lnTo>
                    <a:pt x="66" y="456"/>
                  </a:lnTo>
                  <a:lnTo>
                    <a:pt x="72" y="456"/>
                  </a:lnTo>
                  <a:lnTo>
                    <a:pt x="78" y="456"/>
                  </a:lnTo>
                  <a:lnTo>
                    <a:pt x="84" y="456"/>
                  </a:lnTo>
                  <a:lnTo>
                    <a:pt x="84" y="462"/>
                  </a:lnTo>
                  <a:lnTo>
                    <a:pt x="90" y="462"/>
                  </a:lnTo>
                  <a:lnTo>
                    <a:pt x="96" y="462"/>
                  </a:lnTo>
                  <a:lnTo>
                    <a:pt x="90" y="456"/>
                  </a:lnTo>
                  <a:lnTo>
                    <a:pt x="84" y="444"/>
                  </a:lnTo>
                  <a:lnTo>
                    <a:pt x="78" y="432"/>
                  </a:lnTo>
                  <a:lnTo>
                    <a:pt x="72" y="420"/>
                  </a:lnTo>
                  <a:lnTo>
                    <a:pt x="66" y="414"/>
                  </a:lnTo>
                  <a:lnTo>
                    <a:pt x="66" y="402"/>
                  </a:lnTo>
                  <a:lnTo>
                    <a:pt x="60" y="390"/>
                  </a:lnTo>
                  <a:lnTo>
                    <a:pt x="54" y="384"/>
                  </a:lnTo>
                  <a:lnTo>
                    <a:pt x="48" y="372"/>
                  </a:lnTo>
                  <a:lnTo>
                    <a:pt x="48" y="366"/>
                  </a:lnTo>
                  <a:lnTo>
                    <a:pt x="42" y="354"/>
                  </a:lnTo>
                  <a:lnTo>
                    <a:pt x="42" y="348"/>
                  </a:lnTo>
                  <a:lnTo>
                    <a:pt x="36" y="336"/>
                  </a:lnTo>
                  <a:lnTo>
                    <a:pt x="36" y="330"/>
                  </a:lnTo>
                  <a:lnTo>
                    <a:pt x="30" y="318"/>
                  </a:lnTo>
                  <a:lnTo>
                    <a:pt x="30" y="312"/>
                  </a:lnTo>
                  <a:lnTo>
                    <a:pt x="18" y="294"/>
                  </a:lnTo>
                  <a:lnTo>
                    <a:pt x="12" y="282"/>
                  </a:lnTo>
                  <a:lnTo>
                    <a:pt x="6" y="264"/>
                  </a:lnTo>
                  <a:lnTo>
                    <a:pt x="6" y="246"/>
                  </a:lnTo>
                  <a:lnTo>
                    <a:pt x="0" y="228"/>
                  </a:lnTo>
                  <a:lnTo>
                    <a:pt x="0" y="210"/>
                  </a:lnTo>
                  <a:lnTo>
                    <a:pt x="0" y="198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6" y="156"/>
                  </a:lnTo>
                  <a:lnTo>
                    <a:pt x="6" y="144"/>
                  </a:lnTo>
                  <a:lnTo>
                    <a:pt x="12" y="138"/>
                  </a:lnTo>
                  <a:lnTo>
                    <a:pt x="18" y="132"/>
                  </a:lnTo>
                  <a:lnTo>
                    <a:pt x="24" y="126"/>
                  </a:lnTo>
                  <a:lnTo>
                    <a:pt x="30" y="120"/>
                  </a:lnTo>
                  <a:lnTo>
                    <a:pt x="36" y="120"/>
                  </a:lnTo>
                  <a:lnTo>
                    <a:pt x="42" y="120"/>
                  </a:lnTo>
                  <a:lnTo>
                    <a:pt x="48" y="120"/>
                  </a:lnTo>
                  <a:lnTo>
                    <a:pt x="54" y="120"/>
                  </a:lnTo>
                  <a:lnTo>
                    <a:pt x="60" y="120"/>
                  </a:lnTo>
                  <a:lnTo>
                    <a:pt x="66" y="126"/>
                  </a:lnTo>
                  <a:lnTo>
                    <a:pt x="72" y="126"/>
                  </a:lnTo>
                  <a:lnTo>
                    <a:pt x="78" y="132"/>
                  </a:lnTo>
                  <a:lnTo>
                    <a:pt x="84" y="138"/>
                  </a:lnTo>
                  <a:lnTo>
                    <a:pt x="90" y="144"/>
                  </a:lnTo>
                  <a:lnTo>
                    <a:pt x="102" y="156"/>
                  </a:lnTo>
                  <a:lnTo>
                    <a:pt x="108" y="168"/>
                  </a:lnTo>
                  <a:lnTo>
                    <a:pt x="114" y="180"/>
                  </a:lnTo>
                  <a:lnTo>
                    <a:pt x="114" y="198"/>
                  </a:lnTo>
                  <a:lnTo>
                    <a:pt x="120" y="210"/>
                  </a:lnTo>
                  <a:lnTo>
                    <a:pt x="120" y="228"/>
                  </a:lnTo>
                  <a:lnTo>
                    <a:pt x="126" y="240"/>
                  </a:lnTo>
                  <a:lnTo>
                    <a:pt x="126" y="258"/>
                  </a:lnTo>
                  <a:lnTo>
                    <a:pt x="132" y="270"/>
                  </a:lnTo>
                  <a:lnTo>
                    <a:pt x="138" y="282"/>
                  </a:lnTo>
                  <a:lnTo>
                    <a:pt x="144" y="294"/>
                  </a:lnTo>
                  <a:lnTo>
                    <a:pt x="150" y="306"/>
                  </a:lnTo>
                  <a:lnTo>
                    <a:pt x="156" y="318"/>
                  </a:lnTo>
                  <a:lnTo>
                    <a:pt x="162" y="330"/>
                  </a:lnTo>
                  <a:lnTo>
                    <a:pt x="174" y="348"/>
                  </a:lnTo>
                  <a:lnTo>
                    <a:pt x="180" y="360"/>
                  </a:lnTo>
                  <a:lnTo>
                    <a:pt x="186" y="372"/>
                  </a:lnTo>
                  <a:lnTo>
                    <a:pt x="192" y="390"/>
                  </a:lnTo>
                  <a:lnTo>
                    <a:pt x="198" y="402"/>
                  </a:lnTo>
                  <a:lnTo>
                    <a:pt x="204" y="420"/>
                  </a:lnTo>
                  <a:lnTo>
                    <a:pt x="216" y="432"/>
                  </a:lnTo>
                  <a:lnTo>
                    <a:pt x="222" y="444"/>
                  </a:lnTo>
                  <a:lnTo>
                    <a:pt x="228" y="462"/>
                  </a:lnTo>
                  <a:lnTo>
                    <a:pt x="234" y="474"/>
                  </a:lnTo>
                  <a:lnTo>
                    <a:pt x="228" y="450"/>
                  </a:lnTo>
                  <a:lnTo>
                    <a:pt x="222" y="426"/>
                  </a:lnTo>
                  <a:lnTo>
                    <a:pt x="222" y="402"/>
                  </a:lnTo>
                  <a:lnTo>
                    <a:pt x="216" y="378"/>
                  </a:lnTo>
                  <a:lnTo>
                    <a:pt x="210" y="354"/>
                  </a:lnTo>
                  <a:lnTo>
                    <a:pt x="204" y="330"/>
                  </a:lnTo>
                  <a:lnTo>
                    <a:pt x="198" y="312"/>
                  </a:lnTo>
                  <a:lnTo>
                    <a:pt x="198" y="288"/>
                  </a:lnTo>
                  <a:lnTo>
                    <a:pt x="192" y="270"/>
                  </a:lnTo>
                  <a:lnTo>
                    <a:pt x="186" y="252"/>
                  </a:lnTo>
                  <a:lnTo>
                    <a:pt x="186" y="234"/>
                  </a:lnTo>
                  <a:lnTo>
                    <a:pt x="186" y="216"/>
                  </a:lnTo>
                  <a:lnTo>
                    <a:pt x="180" y="204"/>
                  </a:lnTo>
                  <a:lnTo>
                    <a:pt x="180" y="186"/>
                  </a:lnTo>
                  <a:lnTo>
                    <a:pt x="180" y="174"/>
                  </a:lnTo>
                  <a:lnTo>
                    <a:pt x="180" y="162"/>
                  </a:lnTo>
                  <a:lnTo>
                    <a:pt x="174" y="150"/>
                  </a:lnTo>
                  <a:lnTo>
                    <a:pt x="168" y="138"/>
                  </a:lnTo>
                  <a:lnTo>
                    <a:pt x="162" y="126"/>
                  </a:lnTo>
                  <a:lnTo>
                    <a:pt x="162" y="120"/>
                  </a:lnTo>
                  <a:lnTo>
                    <a:pt x="162" y="108"/>
                  </a:lnTo>
                  <a:lnTo>
                    <a:pt x="156" y="96"/>
                  </a:lnTo>
                  <a:lnTo>
                    <a:pt x="156" y="90"/>
                  </a:lnTo>
                  <a:lnTo>
                    <a:pt x="156" y="78"/>
                  </a:lnTo>
                  <a:lnTo>
                    <a:pt x="162" y="66"/>
                  </a:lnTo>
                  <a:lnTo>
                    <a:pt x="162" y="60"/>
                  </a:lnTo>
                  <a:lnTo>
                    <a:pt x="162" y="48"/>
                  </a:lnTo>
                  <a:lnTo>
                    <a:pt x="168" y="36"/>
                  </a:lnTo>
                  <a:lnTo>
                    <a:pt x="168" y="30"/>
                  </a:lnTo>
                  <a:lnTo>
                    <a:pt x="174" y="24"/>
                  </a:lnTo>
                  <a:lnTo>
                    <a:pt x="180" y="18"/>
                  </a:lnTo>
                  <a:lnTo>
                    <a:pt x="186" y="12"/>
                  </a:lnTo>
                  <a:lnTo>
                    <a:pt x="192" y="6"/>
                  </a:lnTo>
                  <a:lnTo>
                    <a:pt x="198" y="6"/>
                  </a:lnTo>
                  <a:lnTo>
                    <a:pt x="204" y="6"/>
                  </a:lnTo>
                  <a:lnTo>
                    <a:pt x="210" y="6"/>
                  </a:lnTo>
                  <a:lnTo>
                    <a:pt x="216" y="12"/>
                  </a:lnTo>
                  <a:lnTo>
                    <a:pt x="222" y="12"/>
                  </a:lnTo>
                  <a:lnTo>
                    <a:pt x="228" y="18"/>
                  </a:lnTo>
                  <a:lnTo>
                    <a:pt x="234" y="24"/>
                  </a:lnTo>
                  <a:lnTo>
                    <a:pt x="240" y="24"/>
                  </a:lnTo>
                  <a:lnTo>
                    <a:pt x="240" y="30"/>
                  </a:lnTo>
                  <a:lnTo>
                    <a:pt x="246" y="36"/>
                  </a:lnTo>
                  <a:lnTo>
                    <a:pt x="252" y="48"/>
                  </a:lnTo>
                  <a:lnTo>
                    <a:pt x="258" y="60"/>
                  </a:lnTo>
                  <a:lnTo>
                    <a:pt x="264" y="72"/>
                  </a:lnTo>
                  <a:lnTo>
                    <a:pt x="264" y="84"/>
                  </a:lnTo>
                  <a:lnTo>
                    <a:pt x="270" y="102"/>
                  </a:lnTo>
                  <a:lnTo>
                    <a:pt x="270" y="114"/>
                  </a:lnTo>
                  <a:lnTo>
                    <a:pt x="270" y="132"/>
                  </a:lnTo>
                  <a:lnTo>
                    <a:pt x="276" y="156"/>
                  </a:lnTo>
                  <a:lnTo>
                    <a:pt x="282" y="168"/>
                  </a:lnTo>
                  <a:lnTo>
                    <a:pt x="288" y="186"/>
                  </a:lnTo>
                  <a:lnTo>
                    <a:pt x="294" y="204"/>
                  </a:lnTo>
                  <a:lnTo>
                    <a:pt x="300" y="222"/>
                  </a:lnTo>
                  <a:lnTo>
                    <a:pt x="306" y="234"/>
                  </a:lnTo>
                  <a:lnTo>
                    <a:pt x="312" y="252"/>
                  </a:lnTo>
                  <a:lnTo>
                    <a:pt x="318" y="270"/>
                  </a:lnTo>
                  <a:lnTo>
                    <a:pt x="324" y="288"/>
                  </a:lnTo>
                  <a:lnTo>
                    <a:pt x="324" y="300"/>
                  </a:lnTo>
                  <a:lnTo>
                    <a:pt x="330" y="306"/>
                  </a:lnTo>
                  <a:lnTo>
                    <a:pt x="330" y="312"/>
                  </a:lnTo>
                  <a:lnTo>
                    <a:pt x="336" y="324"/>
                  </a:lnTo>
                  <a:lnTo>
                    <a:pt x="336" y="330"/>
                  </a:lnTo>
                  <a:lnTo>
                    <a:pt x="342" y="342"/>
                  </a:lnTo>
                  <a:lnTo>
                    <a:pt x="342" y="348"/>
                  </a:lnTo>
                  <a:lnTo>
                    <a:pt x="348" y="354"/>
                  </a:lnTo>
                  <a:lnTo>
                    <a:pt x="348" y="366"/>
                  </a:lnTo>
                  <a:lnTo>
                    <a:pt x="354" y="372"/>
                  </a:lnTo>
                  <a:lnTo>
                    <a:pt x="360" y="378"/>
                  </a:lnTo>
                  <a:lnTo>
                    <a:pt x="360" y="390"/>
                  </a:lnTo>
                  <a:lnTo>
                    <a:pt x="366" y="396"/>
                  </a:lnTo>
                  <a:lnTo>
                    <a:pt x="366" y="408"/>
                  </a:lnTo>
                  <a:lnTo>
                    <a:pt x="372" y="414"/>
                  </a:lnTo>
                  <a:lnTo>
                    <a:pt x="372" y="420"/>
                  </a:lnTo>
                  <a:lnTo>
                    <a:pt x="378" y="390"/>
                  </a:lnTo>
                  <a:lnTo>
                    <a:pt x="378" y="360"/>
                  </a:lnTo>
                  <a:lnTo>
                    <a:pt x="378" y="324"/>
                  </a:lnTo>
                  <a:lnTo>
                    <a:pt x="378" y="294"/>
                  </a:lnTo>
                  <a:lnTo>
                    <a:pt x="378" y="252"/>
                  </a:lnTo>
                  <a:lnTo>
                    <a:pt x="378" y="216"/>
                  </a:lnTo>
                  <a:lnTo>
                    <a:pt x="378" y="180"/>
                  </a:lnTo>
                  <a:lnTo>
                    <a:pt x="378" y="150"/>
                  </a:lnTo>
                  <a:lnTo>
                    <a:pt x="378" y="138"/>
                  </a:lnTo>
                  <a:lnTo>
                    <a:pt x="378" y="126"/>
                  </a:lnTo>
                  <a:lnTo>
                    <a:pt x="378" y="108"/>
                  </a:lnTo>
                  <a:lnTo>
                    <a:pt x="378" y="96"/>
                  </a:lnTo>
                  <a:lnTo>
                    <a:pt x="384" y="84"/>
                  </a:lnTo>
                  <a:lnTo>
                    <a:pt x="384" y="72"/>
                  </a:lnTo>
                  <a:lnTo>
                    <a:pt x="390" y="54"/>
                  </a:lnTo>
                  <a:lnTo>
                    <a:pt x="390" y="42"/>
                  </a:lnTo>
                  <a:lnTo>
                    <a:pt x="396" y="36"/>
                  </a:lnTo>
                  <a:lnTo>
                    <a:pt x="402" y="30"/>
                  </a:lnTo>
                  <a:lnTo>
                    <a:pt x="408" y="24"/>
                  </a:lnTo>
                  <a:lnTo>
                    <a:pt x="408" y="18"/>
                  </a:lnTo>
                  <a:lnTo>
                    <a:pt x="414" y="12"/>
                  </a:lnTo>
                  <a:lnTo>
                    <a:pt x="420" y="6"/>
                  </a:lnTo>
                  <a:lnTo>
                    <a:pt x="426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68" y="6"/>
                  </a:lnTo>
                  <a:lnTo>
                    <a:pt x="474" y="12"/>
                  </a:lnTo>
                  <a:lnTo>
                    <a:pt x="474" y="18"/>
                  </a:lnTo>
                  <a:lnTo>
                    <a:pt x="480" y="24"/>
                  </a:lnTo>
                  <a:lnTo>
                    <a:pt x="486" y="30"/>
                  </a:lnTo>
                  <a:lnTo>
                    <a:pt x="492" y="42"/>
                  </a:lnTo>
                  <a:lnTo>
                    <a:pt x="492" y="60"/>
                  </a:lnTo>
                  <a:lnTo>
                    <a:pt x="492" y="78"/>
                  </a:lnTo>
                  <a:lnTo>
                    <a:pt x="492" y="90"/>
                  </a:lnTo>
                  <a:lnTo>
                    <a:pt x="492" y="108"/>
                  </a:lnTo>
                  <a:lnTo>
                    <a:pt x="492" y="126"/>
                  </a:lnTo>
                  <a:lnTo>
                    <a:pt x="492" y="138"/>
                  </a:lnTo>
                  <a:lnTo>
                    <a:pt x="492" y="156"/>
                  </a:lnTo>
                  <a:lnTo>
                    <a:pt x="492" y="174"/>
                  </a:lnTo>
                  <a:lnTo>
                    <a:pt x="492" y="192"/>
                  </a:lnTo>
                  <a:lnTo>
                    <a:pt x="492" y="210"/>
                  </a:lnTo>
                  <a:lnTo>
                    <a:pt x="492" y="234"/>
                  </a:lnTo>
                  <a:lnTo>
                    <a:pt x="492" y="252"/>
                  </a:lnTo>
                  <a:lnTo>
                    <a:pt x="492" y="270"/>
                  </a:lnTo>
                  <a:lnTo>
                    <a:pt x="486" y="294"/>
                  </a:lnTo>
                  <a:lnTo>
                    <a:pt x="486" y="312"/>
                  </a:lnTo>
                  <a:lnTo>
                    <a:pt x="486" y="324"/>
                  </a:lnTo>
                  <a:lnTo>
                    <a:pt x="492" y="342"/>
                  </a:lnTo>
                  <a:lnTo>
                    <a:pt x="498" y="360"/>
                  </a:lnTo>
                  <a:lnTo>
                    <a:pt x="498" y="378"/>
                  </a:lnTo>
                  <a:lnTo>
                    <a:pt x="504" y="390"/>
                  </a:lnTo>
                  <a:lnTo>
                    <a:pt x="504" y="408"/>
                  </a:lnTo>
                  <a:lnTo>
                    <a:pt x="510" y="426"/>
                  </a:lnTo>
                  <a:lnTo>
                    <a:pt x="516" y="444"/>
                  </a:lnTo>
                  <a:lnTo>
                    <a:pt x="516" y="462"/>
                  </a:lnTo>
                  <a:lnTo>
                    <a:pt x="522" y="480"/>
                  </a:lnTo>
                  <a:lnTo>
                    <a:pt x="534" y="498"/>
                  </a:lnTo>
                  <a:lnTo>
                    <a:pt x="540" y="522"/>
                  </a:lnTo>
                  <a:lnTo>
                    <a:pt x="546" y="540"/>
                  </a:lnTo>
                  <a:lnTo>
                    <a:pt x="546" y="558"/>
                  </a:lnTo>
                  <a:lnTo>
                    <a:pt x="552" y="582"/>
                  </a:lnTo>
                  <a:lnTo>
                    <a:pt x="552" y="600"/>
                  </a:lnTo>
                  <a:lnTo>
                    <a:pt x="552" y="618"/>
                  </a:lnTo>
                  <a:lnTo>
                    <a:pt x="546" y="630"/>
                  </a:lnTo>
                  <a:lnTo>
                    <a:pt x="546" y="648"/>
                  </a:lnTo>
                  <a:lnTo>
                    <a:pt x="540" y="666"/>
                  </a:lnTo>
                  <a:lnTo>
                    <a:pt x="540" y="678"/>
                  </a:lnTo>
                  <a:lnTo>
                    <a:pt x="534" y="696"/>
                  </a:lnTo>
                  <a:lnTo>
                    <a:pt x="528" y="708"/>
                  </a:lnTo>
                  <a:lnTo>
                    <a:pt x="522" y="726"/>
                  </a:lnTo>
                  <a:lnTo>
                    <a:pt x="522" y="744"/>
                  </a:lnTo>
                  <a:lnTo>
                    <a:pt x="516" y="756"/>
                  </a:lnTo>
                  <a:lnTo>
                    <a:pt x="510" y="774"/>
                  </a:lnTo>
                  <a:lnTo>
                    <a:pt x="510" y="792"/>
                  </a:lnTo>
                  <a:lnTo>
                    <a:pt x="504" y="804"/>
                  </a:lnTo>
                  <a:lnTo>
                    <a:pt x="504" y="822"/>
                  </a:lnTo>
                  <a:lnTo>
                    <a:pt x="498" y="834"/>
                  </a:lnTo>
                  <a:lnTo>
                    <a:pt x="498" y="852"/>
                  </a:lnTo>
                  <a:lnTo>
                    <a:pt x="498" y="876"/>
                  </a:lnTo>
                  <a:lnTo>
                    <a:pt x="504" y="906"/>
                  </a:lnTo>
                  <a:lnTo>
                    <a:pt x="510" y="930"/>
                  </a:lnTo>
                  <a:lnTo>
                    <a:pt x="516" y="954"/>
                  </a:lnTo>
                  <a:lnTo>
                    <a:pt x="522" y="978"/>
                  </a:lnTo>
                  <a:lnTo>
                    <a:pt x="534" y="1002"/>
                  </a:lnTo>
                  <a:lnTo>
                    <a:pt x="540" y="1032"/>
                  </a:lnTo>
                  <a:lnTo>
                    <a:pt x="546" y="1056"/>
                  </a:lnTo>
                  <a:lnTo>
                    <a:pt x="540" y="1062"/>
                  </a:lnTo>
                  <a:lnTo>
                    <a:pt x="528" y="1068"/>
                  </a:lnTo>
                  <a:lnTo>
                    <a:pt x="522" y="1074"/>
                  </a:lnTo>
                  <a:lnTo>
                    <a:pt x="516" y="1074"/>
                  </a:lnTo>
                  <a:lnTo>
                    <a:pt x="504" y="1080"/>
                  </a:lnTo>
                  <a:lnTo>
                    <a:pt x="498" y="1086"/>
                  </a:lnTo>
                  <a:lnTo>
                    <a:pt x="492" y="1092"/>
                  </a:lnTo>
                  <a:lnTo>
                    <a:pt x="480" y="1098"/>
                  </a:lnTo>
                  <a:lnTo>
                    <a:pt x="474" y="1104"/>
                  </a:lnTo>
                  <a:lnTo>
                    <a:pt x="462" y="1110"/>
                  </a:lnTo>
                  <a:lnTo>
                    <a:pt x="456" y="1116"/>
                  </a:lnTo>
                  <a:lnTo>
                    <a:pt x="450" y="1122"/>
                  </a:lnTo>
                  <a:lnTo>
                    <a:pt x="438" y="1122"/>
                  </a:lnTo>
                  <a:lnTo>
                    <a:pt x="432" y="1128"/>
                  </a:lnTo>
                  <a:lnTo>
                    <a:pt x="426" y="1134"/>
                  </a:lnTo>
                  <a:lnTo>
                    <a:pt x="414" y="1140"/>
                  </a:lnTo>
                  <a:lnTo>
                    <a:pt x="408" y="1146"/>
                  </a:lnTo>
                  <a:lnTo>
                    <a:pt x="396" y="1152"/>
                  </a:lnTo>
                  <a:lnTo>
                    <a:pt x="390" y="1158"/>
                  </a:lnTo>
                  <a:lnTo>
                    <a:pt x="384" y="1164"/>
                  </a:lnTo>
                  <a:lnTo>
                    <a:pt x="372" y="1164"/>
                  </a:lnTo>
                  <a:lnTo>
                    <a:pt x="366" y="1170"/>
                  </a:lnTo>
                  <a:lnTo>
                    <a:pt x="360" y="1176"/>
                  </a:lnTo>
                  <a:lnTo>
                    <a:pt x="348" y="1182"/>
                  </a:lnTo>
                  <a:lnTo>
                    <a:pt x="342" y="1188"/>
                  </a:lnTo>
                  <a:lnTo>
                    <a:pt x="330" y="1194"/>
                  </a:lnTo>
                  <a:lnTo>
                    <a:pt x="324" y="1200"/>
                  </a:lnTo>
                  <a:lnTo>
                    <a:pt x="318" y="1206"/>
                  </a:lnTo>
                  <a:lnTo>
                    <a:pt x="306" y="1206"/>
                  </a:lnTo>
                  <a:lnTo>
                    <a:pt x="300" y="1212"/>
                  </a:lnTo>
                  <a:lnTo>
                    <a:pt x="294" y="1218"/>
                  </a:lnTo>
                  <a:lnTo>
                    <a:pt x="282" y="1224"/>
                  </a:lnTo>
                  <a:close/>
                </a:path>
              </a:pathLst>
            </a:custGeom>
            <a:solidFill>
              <a:srgbClr val="FFCC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5514" y="66"/>
              <a:ext cx="552" cy="1224"/>
            </a:xfrm>
            <a:custGeom>
              <a:avLst/>
              <a:gdLst>
                <a:gd name="T0" fmla="*/ 258 w 552"/>
                <a:gd name="T1" fmla="*/ 1170 h 1224"/>
                <a:gd name="T2" fmla="*/ 228 w 552"/>
                <a:gd name="T3" fmla="*/ 1110 h 1224"/>
                <a:gd name="T4" fmla="*/ 192 w 552"/>
                <a:gd name="T5" fmla="*/ 1056 h 1224"/>
                <a:gd name="T6" fmla="*/ 162 w 552"/>
                <a:gd name="T7" fmla="*/ 1026 h 1224"/>
                <a:gd name="T8" fmla="*/ 126 w 552"/>
                <a:gd name="T9" fmla="*/ 996 h 1224"/>
                <a:gd name="T10" fmla="*/ 96 w 552"/>
                <a:gd name="T11" fmla="*/ 936 h 1224"/>
                <a:gd name="T12" fmla="*/ 60 w 552"/>
                <a:gd name="T13" fmla="*/ 840 h 1224"/>
                <a:gd name="T14" fmla="*/ 36 w 552"/>
                <a:gd name="T15" fmla="*/ 744 h 1224"/>
                <a:gd name="T16" fmla="*/ 6 w 552"/>
                <a:gd name="T17" fmla="*/ 606 h 1224"/>
                <a:gd name="T18" fmla="*/ 6 w 552"/>
                <a:gd name="T19" fmla="*/ 498 h 1224"/>
                <a:gd name="T20" fmla="*/ 42 w 552"/>
                <a:gd name="T21" fmla="*/ 456 h 1224"/>
                <a:gd name="T22" fmla="*/ 60 w 552"/>
                <a:gd name="T23" fmla="*/ 456 h 1224"/>
                <a:gd name="T24" fmla="*/ 84 w 552"/>
                <a:gd name="T25" fmla="*/ 456 h 1224"/>
                <a:gd name="T26" fmla="*/ 78 w 552"/>
                <a:gd name="T27" fmla="*/ 432 h 1224"/>
                <a:gd name="T28" fmla="*/ 48 w 552"/>
                <a:gd name="T29" fmla="*/ 372 h 1224"/>
                <a:gd name="T30" fmla="*/ 30 w 552"/>
                <a:gd name="T31" fmla="*/ 318 h 1224"/>
                <a:gd name="T32" fmla="*/ 0 w 552"/>
                <a:gd name="T33" fmla="*/ 228 h 1224"/>
                <a:gd name="T34" fmla="*/ 6 w 552"/>
                <a:gd name="T35" fmla="*/ 156 h 1224"/>
                <a:gd name="T36" fmla="*/ 36 w 552"/>
                <a:gd name="T37" fmla="*/ 120 h 1224"/>
                <a:gd name="T38" fmla="*/ 60 w 552"/>
                <a:gd name="T39" fmla="*/ 120 h 1224"/>
                <a:gd name="T40" fmla="*/ 84 w 552"/>
                <a:gd name="T41" fmla="*/ 138 h 1224"/>
                <a:gd name="T42" fmla="*/ 114 w 552"/>
                <a:gd name="T43" fmla="*/ 180 h 1224"/>
                <a:gd name="T44" fmla="*/ 132 w 552"/>
                <a:gd name="T45" fmla="*/ 270 h 1224"/>
                <a:gd name="T46" fmla="*/ 174 w 552"/>
                <a:gd name="T47" fmla="*/ 348 h 1224"/>
                <a:gd name="T48" fmla="*/ 216 w 552"/>
                <a:gd name="T49" fmla="*/ 432 h 1224"/>
                <a:gd name="T50" fmla="*/ 222 w 552"/>
                <a:gd name="T51" fmla="*/ 402 h 1224"/>
                <a:gd name="T52" fmla="*/ 192 w 552"/>
                <a:gd name="T53" fmla="*/ 270 h 1224"/>
                <a:gd name="T54" fmla="*/ 180 w 552"/>
                <a:gd name="T55" fmla="*/ 174 h 1224"/>
                <a:gd name="T56" fmla="*/ 162 w 552"/>
                <a:gd name="T57" fmla="*/ 108 h 1224"/>
                <a:gd name="T58" fmla="*/ 162 w 552"/>
                <a:gd name="T59" fmla="*/ 48 h 1224"/>
                <a:gd name="T60" fmla="*/ 192 w 552"/>
                <a:gd name="T61" fmla="*/ 6 h 1224"/>
                <a:gd name="T62" fmla="*/ 216 w 552"/>
                <a:gd name="T63" fmla="*/ 12 h 1224"/>
                <a:gd name="T64" fmla="*/ 240 w 552"/>
                <a:gd name="T65" fmla="*/ 24 h 1224"/>
                <a:gd name="T66" fmla="*/ 264 w 552"/>
                <a:gd name="T67" fmla="*/ 72 h 1224"/>
                <a:gd name="T68" fmla="*/ 282 w 552"/>
                <a:gd name="T69" fmla="*/ 168 h 1224"/>
                <a:gd name="T70" fmla="*/ 318 w 552"/>
                <a:gd name="T71" fmla="*/ 270 h 1224"/>
                <a:gd name="T72" fmla="*/ 336 w 552"/>
                <a:gd name="T73" fmla="*/ 330 h 1224"/>
                <a:gd name="T74" fmla="*/ 360 w 552"/>
                <a:gd name="T75" fmla="*/ 378 h 1224"/>
                <a:gd name="T76" fmla="*/ 378 w 552"/>
                <a:gd name="T77" fmla="*/ 390 h 1224"/>
                <a:gd name="T78" fmla="*/ 378 w 552"/>
                <a:gd name="T79" fmla="*/ 180 h 1224"/>
                <a:gd name="T80" fmla="*/ 384 w 552"/>
                <a:gd name="T81" fmla="*/ 84 h 1224"/>
                <a:gd name="T82" fmla="*/ 408 w 552"/>
                <a:gd name="T83" fmla="*/ 24 h 1224"/>
                <a:gd name="T84" fmla="*/ 444 w 552"/>
                <a:gd name="T85" fmla="*/ 0 h 1224"/>
                <a:gd name="T86" fmla="*/ 480 w 552"/>
                <a:gd name="T87" fmla="*/ 24 h 1224"/>
                <a:gd name="T88" fmla="*/ 492 w 552"/>
                <a:gd name="T89" fmla="*/ 108 h 1224"/>
                <a:gd name="T90" fmla="*/ 492 w 552"/>
                <a:gd name="T91" fmla="*/ 210 h 1224"/>
                <a:gd name="T92" fmla="*/ 486 w 552"/>
                <a:gd name="T93" fmla="*/ 324 h 1224"/>
                <a:gd name="T94" fmla="*/ 510 w 552"/>
                <a:gd name="T95" fmla="*/ 426 h 1224"/>
                <a:gd name="T96" fmla="*/ 546 w 552"/>
                <a:gd name="T97" fmla="*/ 540 h 1224"/>
                <a:gd name="T98" fmla="*/ 546 w 552"/>
                <a:gd name="T99" fmla="*/ 648 h 1224"/>
                <a:gd name="T100" fmla="*/ 522 w 552"/>
                <a:gd name="T101" fmla="*/ 744 h 1224"/>
                <a:gd name="T102" fmla="*/ 498 w 552"/>
                <a:gd name="T103" fmla="*/ 834 h 1224"/>
                <a:gd name="T104" fmla="*/ 522 w 552"/>
                <a:gd name="T105" fmla="*/ 978 h 1224"/>
                <a:gd name="T106" fmla="*/ 522 w 552"/>
                <a:gd name="T107" fmla="*/ 1074 h 1224"/>
                <a:gd name="T108" fmla="*/ 474 w 552"/>
                <a:gd name="T109" fmla="*/ 1104 h 1224"/>
                <a:gd name="T110" fmla="*/ 426 w 552"/>
                <a:gd name="T111" fmla="*/ 1134 h 1224"/>
                <a:gd name="T112" fmla="*/ 372 w 552"/>
                <a:gd name="T113" fmla="*/ 1164 h 1224"/>
                <a:gd name="T114" fmla="*/ 324 w 552"/>
                <a:gd name="T115" fmla="*/ 1200 h 122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552"/>
                <a:gd name="T175" fmla="*/ 0 h 1224"/>
                <a:gd name="T176" fmla="*/ 552 w 552"/>
                <a:gd name="T177" fmla="*/ 1224 h 1224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552" h="1224">
                  <a:moveTo>
                    <a:pt x="282" y="1224"/>
                  </a:moveTo>
                  <a:lnTo>
                    <a:pt x="276" y="1212"/>
                  </a:lnTo>
                  <a:lnTo>
                    <a:pt x="276" y="1200"/>
                  </a:lnTo>
                  <a:lnTo>
                    <a:pt x="270" y="1194"/>
                  </a:lnTo>
                  <a:lnTo>
                    <a:pt x="264" y="1182"/>
                  </a:lnTo>
                  <a:lnTo>
                    <a:pt x="258" y="1170"/>
                  </a:lnTo>
                  <a:lnTo>
                    <a:pt x="252" y="1158"/>
                  </a:lnTo>
                  <a:lnTo>
                    <a:pt x="252" y="1152"/>
                  </a:lnTo>
                  <a:lnTo>
                    <a:pt x="246" y="1140"/>
                  </a:lnTo>
                  <a:lnTo>
                    <a:pt x="240" y="1128"/>
                  </a:lnTo>
                  <a:lnTo>
                    <a:pt x="234" y="1122"/>
                  </a:lnTo>
                  <a:lnTo>
                    <a:pt x="228" y="1110"/>
                  </a:lnTo>
                  <a:lnTo>
                    <a:pt x="222" y="1098"/>
                  </a:lnTo>
                  <a:lnTo>
                    <a:pt x="216" y="1092"/>
                  </a:lnTo>
                  <a:lnTo>
                    <a:pt x="210" y="1080"/>
                  </a:lnTo>
                  <a:lnTo>
                    <a:pt x="204" y="1068"/>
                  </a:lnTo>
                  <a:lnTo>
                    <a:pt x="198" y="1062"/>
                  </a:lnTo>
                  <a:lnTo>
                    <a:pt x="192" y="1056"/>
                  </a:lnTo>
                  <a:lnTo>
                    <a:pt x="186" y="1050"/>
                  </a:lnTo>
                  <a:lnTo>
                    <a:pt x="186" y="1044"/>
                  </a:lnTo>
                  <a:lnTo>
                    <a:pt x="180" y="1038"/>
                  </a:lnTo>
                  <a:lnTo>
                    <a:pt x="174" y="1038"/>
                  </a:lnTo>
                  <a:lnTo>
                    <a:pt x="168" y="1032"/>
                  </a:lnTo>
                  <a:lnTo>
                    <a:pt x="162" y="1026"/>
                  </a:lnTo>
                  <a:lnTo>
                    <a:pt x="156" y="1020"/>
                  </a:lnTo>
                  <a:lnTo>
                    <a:pt x="150" y="1020"/>
                  </a:lnTo>
                  <a:lnTo>
                    <a:pt x="144" y="1014"/>
                  </a:lnTo>
                  <a:lnTo>
                    <a:pt x="138" y="1008"/>
                  </a:lnTo>
                  <a:lnTo>
                    <a:pt x="132" y="1002"/>
                  </a:lnTo>
                  <a:lnTo>
                    <a:pt x="126" y="996"/>
                  </a:lnTo>
                  <a:lnTo>
                    <a:pt x="120" y="996"/>
                  </a:lnTo>
                  <a:lnTo>
                    <a:pt x="120" y="990"/>
                  </a:lnTo>
                  <a:lnTo>
                    <a:pt x="114" y="984"/>
                  </a:lnTo>
                  <a:lnTo>
                    <a:pt x="108" y="966"/>
                  </a:lnTo>
                  <a:lnTo>
                    <a:pt x="102" y="954"/>
                  </a:lnTo>
                  <a:lnTo>
                    <a:pt x="96" y="936"/>
                  </a:lnTo>
                  <a:lnTo>
                    <a:pt x="84" y="924"/>
                  </a:lnTo>
                  <a:lnTo>
                    <a:pt x="78" y="906"/>
                  </a:lnTo>
                  <a:lnTo>
                    <a:pt x="72" y="888"/>
                  </a:lnTo>
                  <a:lnTo>
                    <a:pt x="66" y="876"/>
                  </a:lnTo>
                  <a:lnTo>
                    <a:pt x="66" y="858"/>
                  </a:lnTo>
                  <a:lnTo>
                    <a:pt x="60" y="840"/>
                  </a:lnTo>
                  <a:lnTo>
                    <a:pt x="54" y="828"/>
                  </a:lnTo>
                  <a:lnTo>
                    <a:pt x="48" y="810"/>
                  </a:lnTo>
                  <a:lnTo>
                    <a:pt x="48" y="792"/>
                  </a:lnTo>
                  <a:lnTo>
                    <a:pt x="42" y="774"/>
                  </a:lnTo>
                  <a:lnTo>
                    <a:pt x="36" y="762"/>
                  </a:lnTo>
                  <a:lnTo>
                    <a:pt x="36" y="744"/>
                  </a:lnTo>
                  <a:lnTo>
                    <a:pt x="30" y="726"/>
                  </a:lnTo>
                  <a:lnTo>
                    <a:pt x="24" y="702"/>
                  </a:lnTo>
                  <a:lnTo>
                    <a:pt x="18" y="678"/>
                  </a:lnTo>
                  <a:lnTo>
                    <a:pt x="12" y="654"/>
                  </a:lnTo>
                  <a:lnTo>
                    <a:pt x="6" y="630"/>
                  </a:lnTo>
                  <a:lnTo>
                    <a:pt x="6" y="606"/>
                  </a:lnTo>
                  <a:lnTo>
                    <a:pt x="0" y="576"/>
                  </a:lnTo>
                  <a:lnTo>
                    <a:pt x="0" y="552"/>
                  </a:lnTo>
                  <a:lnTo>
                    <a:pt x="0" y="528"/>
                  </a:lnTo>
                  <a:lnTo>
                    <a:pt x="0" y="516"/>
                  </a:lnTo>
                  <a:lnTo>
                    <a:pt x="6" y="510"/>
                  </a:lnTo>
                  <a:lnTo>
                    <a:pt x="6" y="498"/>
                  </a:lnTo>
                  <a:lnTo>
                    <a:pt x="12" y="492"/>
                  </a:lnTo>
                  <a:lnTo>
                    <a:pt x="18" y="480"/>
                  </a:lnTo>
                  <a:lnTo>
                    <a:pt x="24" y="474"/>
                  </a:lnTo>
                  <a:lnTo>
                    <a:pt x="30" y="468"/>
                  </a:lnTo>
                  <a:lnTo>
                    <a:pt x="36" y="462"/>
                  </a:lnTo>
                  <a:lnTo>
                    <a:pt x="42" y="456"/>
                  </a:lnTo>
                  <a:lnTo>
                    <a:pt x="48" y="456"/>
                  </a:lnTo>
                  <a:lnTo>
                    <a:pt x="54" y="456"/>
                  </a:lnTo>
                  <a:lnTo>
                    <a:pt x="60" y="456"/>
                  </a:lnTo>
                  <a:lnTo>
                    <a:pt x="66" y="456"/>
                  </a:lnTo>
                  <a:lnTo>
                    <a:pt x="72" y="456"/>
                  </a:lnTo>
                  <a:lnTo>
                    <a:pt x="78" y="456"/>
                  </a:lnTo>
                  <a:lnTo>
                    <a:pt x="84" y="456"/>
                  </a:lnTo>
                  <a:lnTo>
                    <a:pt x="84" y="462"/>
                  </a:lnTo>
                  <a:lnTo>
                    <a:pt x="90" y="462"/>
                  </a:lnTo>
                  <a:lnTo>
                    <a:pt x="96" y="462"/>
                  </a:lnTo>
                  <a:lnTo>
                    <a:pt x="90" y="456"/>
                  </a:lnTo>
                  <a:lnTo>
                    <a:pt x="84" y="444"/>
                  </a:lnTo>
                  <a:lnTo>
                    <a:pt x="78" y="432"/>
                  </a:lnTo>
                  <a:lnTo>
                    <a:pt x="72" y="420"/>
                  </a:lnTo>
                  <a:lnTo>
                    <a:pt x="66" y="414"/>
                  </a:lnTo>
                  <a:lnTo>
                    <a:pt x="66" y="402"/>
                  </a:lnTo>
                  <a:lnTo>
                    <a:pt x="60" y="390"/>
                  </a:lnTo>
                  <a:lnTo>
                    <a:pt x="54" y="384"/>
                  </a:lnTo>
                  <a:lnTo>
                    <a:pt x="48" y="372"/>
                  </a:lnTo>
                  <a:lnTo>
                    <a:pt x="48" y="366"/>
                  </a:lnTo>
                  <a:lnTo>
                    <a:pt x="42" y="354"/>
                  </a:lnTo>
                  <a:lnTo>
                    <a:pt x="42" y="348"/>
                  </a:lnTo>
                  <a:lnTo>
                    <a:pt x="36" y="336"/>
                  </a:lnTo>
                  <a:lnTo>
                    <a:pt x="36" y="330"/>
                  </a:lnTo>
                  <a:lnTo>
                    <a:pt x="30" y="318"/>
                  </a:lnTo>
                  <a:lnTo>
                    <a:pt x="30" y="312"/>
                  </a:lnTo>
                  <a:lnTo>
                    <a:pt x="18" y="294"/>
                  </a:lnTo>
                  <a:lnTo>
                    <a:pt x="12" y="282"/>
                  </a:lnTo>
                  <a:lnTo>
                    <a:pt x="6" y="264"/>
                  </a:lnTo>
                  <a:lnTo>
                    <a:pt x="6" y="246"/>
                  </a:lnTo>
                  <a:lnTo>
                    <a:pt x="0" y="228"/>
                  </a:lnTo>
                  <a:lnTo>
                    <a:pt x="0" y="210"/>
                  </a:lnTo>
                  <a:lnTo>
                    <a:pt x="0" y="198"/>
                  </a:lnTo>
                  <a:lnTo>
                    <a:pt x="0" y="180"/>
                  </a:lnTo>
                  <a:lnTo>
                    <a:pt x="0" y="168"/>
                  </a:lnTo>
                  <a:lnTo>
                    <a:pt x="0" y="162"/>
                  </a:lnTo>
                  <a:lnTo>
                    <a:pt x="6" y="156"/>
                  </a:lnTo>
                  <a:lnTo>
                    <a:pt x="6" y="144"/>
                  </a:lnTo>
                  <a:lnTo>
                    <a:pt x="12" y="138"/>
                  </a:lnTo>
                  <a:lnTo>
                    <a:pt x="18" y="132"/>
                  </a:lnTo>
                  <a:lnTo>
                    <a:pt x="24" y="126"/>
                  </a:lnTo>
                  <a:lnTo>
                    <a:pt x="30" y="120"/>
                  </a:lnTo>
                  <a:lnTo>
                    <a:pt x="36" y="120"/>
                  </a:lnTo>
                  <a:lnTo>
                    <a:pt x="42" y="120"/>
                  </a:lnTo>
                  <a:lnTo>
                    <a:pt x="48" y="120"/>
                  </a:lnTo>
                  <a:lnTo>
                    <a:pt x="54" y="120"/>
                  </a:lnTo>
                  <a:lnTo>
                    <a:pt x="60" y="120"/>
                  </a:lnTo>
                  <a:lnTo>
                    <a:pt x="66" y="126"/>
                  </a:lnTo>
                  <a:lnTo>
                    <a:pt x="72" y="126"/>
                  </a:lnTo>
                  <a:lnTo>
                    <a:pt x="78" y="132"/>
                  </a:lnTo>
                  <a:lnTo>
                    <a:pt x="84" y="138"/>
                  </a:lnTo>
                  <a:lnTo>
                    <a:pt x="90" y="144"/>
                  </a:lnTo>
                  <a:lnTo>
                    <a:pt x="102" y="156"/>
                  </a:lnTo>
                  <a:lnTo>
                    <a:pt x="108" y="168"/>
                  </a:lnTo>
                  <a:lnTo>
                    <a:pt x="114" y="180"/>
                  </a:lnTo>
                  <a:lnTo>
                    <a:pt x="114" y="198"/>
                  </a:lnTo>
                  <a:lnTo>
                    <a:pt x="120" y="210"/>
                  </a:lnTo>
                  <a:lnTo>
                    <a:pt x="120" y="228"/>
                  </a:lnTo>
                  <a:lnTo>
                    <a:pt x="126" y="240"/>
                  </a:lnTo>
                  <a:lnTo>
                    <a:pt x="126" y="258"/>
                  </a:lnTo>
                  <a:lnTo>
                    <a:pt x="132" y="270"/>
                  </a:lnTo>
                  <a:lnTo>
                    <a:pt x="138" y="282"/>
                  </a:lnTo>
                  <a:lnTo>
                    <a:pt x="144" y="294"/>
                  </a:lnTo>
                  <a:lnTo>
                    <a:pt x="150" y="306"/>
                  </a:lnTo>
                  <a:lnTo>
                    <a:pt x="156" y="318"/>
                  </a:lnTo>
                  <a:lnTo>
                    <a:pt x="162" y="330"/>
                  </a:lnTo>
                  <a:lnTo>
                    <a:pt x="174" y="348"/>
                  </a:lnTo>
                  <a:lnTo>
                    <a:pt x="180" y="360"/>
                  </a:lnTo>
                  <a:lnTo>
                    <a:pt x="186" y="372"/>
                  </a:lnTo>
                  <a:lnTo>
                    <a:pt x="192" y="390"/>
                  </a:lnTo>
                  <a:lnTo>
                    <a:pt x="198" y="402"/>
                  </a:lnTo>
                  <a:lnTo>
                    <a:pt x="204" y="420"/>
                  </a:lnTo>
                  <a:lnTo>
                    <a:pt x="216" y="432"/>
                  </a:lnTo>
                  <a:lnTo>
                    <a:pt x="222" y="444"/>
                  </a:lnTo>
                  <a:lnTo>
                    <a:pt x="228" y="462"/>
                  </a:lnTo>
                  <a:lnTo>
                    <a:pt x="234" y="474"/>
                  </a:lnTo>
                  <a:lnTo>
                    <a:pt x="228" y="450"/>
                  </a:lnTo>
                  <a:lnTo>
                    <a:pt x="222" y="426"/>
                  </a:lnTo>
                  <a:lnTo>
                    <a:pt x="222" y="402"/>
                  </a:lnTo>
                  <a:lnTo>
                    <a:pt x="216" y="378"/>
                  </a:lnTo>
                  <a:lnTo>
                    <a:pt x="210" y="354"/>
                  </a:lnTo>
                  <a:lnTo>
                    <a:pt x="204" y="330"/>
                  </a:lnTo>
                  <a:lnTo>
                    <a:pt x="198" y="312"/>
                  </a:lnTo>
                  <a:lnTo>
                    <a:pt x="198" y="288"/>
                  </a:lnTo>
                  <a:lnTo>
                    <a:pt x="192" y="270"/>
                  </a:lnTo>
                  <a:lnTo>
                    <a:pt x="186" y="252"/>
                  </a:lnTo>
                  <a:lnTo>
                    <a:pt x="186" y="234"/>
                  </a:lnTo>
                  <a:lnTo>
                    <a:pt x="186" y="216"/>
                  </a:lnTo>
                  <a:lnTo>
                    <a:pt x="180" y="204"/>
                  </a:lnTo>
                  <a:lnTo>
                    <a:pt x="180" y="186"/>
                  </a:lnTo>
                  <a:lnTo>
                    <a:pt x="180" y="174"/>
                  </a:lnTo>
                  <a:lnTo>
                    <a:pt x="180" y="162"/>
                  </a:lnTo>
                  <a:lnTo>
                    <a:pt x="174" y="150"/>
                  </a:lnTo>
                  <a:lnTo>
                    <a:pt x="168" y="138"/>
                  </a:lnTo>
                  <a:lnTo>
                    <a:pt x="162" y="126"/>
                  </a:lnTo>
                  <a:lnTo>
                    <a:pt x="162" y="120"/>
                  </a:lnTo>
                  <a:lnTo>
                    <a:pt x="162" y="108"/>
                  </a:lnTo>
                  <a:lnTo>
                    <a:pt x="156" y="96"/>
                  </a:lnTo>
                  <a:lnTo>
                    <a:pt x="156" y="90"/>
                  </a:lnTo>
                  <a:lnTo>
                    <a:pt x="156" y="78"/>
                  </a:lnTo>
                  <a:lnTo>
                    <a:pt x="162" y="66"/>
                  </a:lnTo>
                  <a:lnTo>
                    <a:pt x="162" y="60"/>
                  </a:lnTo>
                  <a:lnTo>
                    <a:pt x="162" y="48"/>
                  </a:lnTo>
                  <a:lnTo>
                    <a:pt x="168" y="36"/>
                  </a:lnTo>
                  <a:lnTo>
                    <a:pt x="168" y="30"/>
                  </a:lnTo>
                  <a:lnTo>
                    <a:pt x="174" y="24"/>
                  </a:lnTo>
                  <a:lnTo>
                    <a:pt x="180" y="18"/>
                  </a:lnTo>
                  <a:lnTo>
                    <a:pt x="186" y="12"/>
                  </a:lnTo>
                  <a:lnTo>
                    <a:pt x="192" y="6"/>
                  </a:lnTo>
                  <a:lnTo>
                    <a:pt x="198" y="6"/>
                  </a:lnTo>
                  <a:lnTo>
                    <a:pt x="204" y="6"/>
                  </a:lnTo>
                  <a:lnTo>
                    <a:pt x="210" y="6"/>
                  </a:lnTo>
                  <a:lnTo>
                    <a:pt x="216" y="12"/>
                  </a:lnTo>
                  <a:lnTo>
                    <a:pt x="222" y="12"/>
                  </a:lnTo>
                  <a:lnTo>
                    <a:pt x="228" y="18"/>
                  </a:lnTo>
                  <a:lnTo>
                    <a:pt x="234" y="24"/>
                  </a:lnTo>
                  <a:lnTo>
                    <a:pt x="240" y="24"/>
                  </a:lnTo>
                  <a:lnTo>
                    <a:pt x="240" y="30"/>
                  </a:lnTo>
                  <a:lnTo>
                    <a:pt x="246" y="36"/>
                  </a:lnTo>
                  <a:lnTo>
                    <a:pt x="252" y="48"/>
                  </a:lnTo>
                  <a:lnTo>
                    <a:pt x="258" y="60"/>
                  </a:lnTo>
                  <a:lnTo>
                    <a:pt x="264" y="72"/>
                  </a:lnTo>
                  <a:lnTo>
                    <a:pt x="264" y="84"/>
                  </a:lnTo>
                  <a:lnTo>
                    <a:pt x="270" y="102"/>
                  </a:lnTo>
                  <a:lnTo>
                    <a:pt x="270" y="114"/>
                  </a:lnTo>
                  <a:lnTo>
                    <a:pt x="270" y="132"/>
                  </a:lnTo>
                  <a:lnTo>
                    <a:pt x="276" y="156"/>
                  </a:lnTo>
                  <a:lnTo>
                    <a:pt x="282" y="168"/>
                  </a:lnTo>
                  <a:lnTo>
                    <a:pt x="288" y="186"/>
                  </a:lnTo>
                  <a:lnTo>
                    <a:pt x="294" y="204"/>
                  </a:lnTo>
                  <a:lnTo>
                    <a:pt x="300" y="222"/>
                  </a:lnTo>
                  <a:lnTo>
                    <a:pt x="306" y="234"/>
                  </a:lnTo>
                  <a:lnTo>
                    <a:pt x="312" y="252"/>
                  </a:lnTo>
                  <a:lnTo>
                    <a:pt x="318" y="270"/>
                  </a:lnTo>
                  <a:lnTo>
                    <a:pt x="324" y="288"/>
                  </a:lnTo>
                  <a:lnTo>
                    <a:pt x="324" y="300"/>
                  </a:lnTo>
                  <a:lnTo>
                    <a:pt x="330" y="306"/>
                  </a:lnTo>
                  <a:lnTo>
                    <a:pt x="330" y="312"/>
                  </a:lnTo>
                  <a:lnTo>
                    <a:pt x="336" y="324"/>
                  </a:lnTo>
                  <a:lnTo>
                    <a:pt x="336" y="330"/>
                  </a:lnTo>
                  <a:lnTo>
                    <a:pt x="342" y="342"/>
                  </a:lnTo>
                  <a:lnTo>
                    <a:pt x="342" y="348"/>
                  </a:lnTo>
                  <a:lnTo>
                    <a:pt x="348" y="354"/>
                  </a:lnTo>
                  <a:lnTo>
                    <a:pt x="348" y="366"/>
                  </a:lnTo>
                  <a:lnTo>
                    <a:pt x="354" y="372"/>
                  </a:lnTo>
                  <a:lnTo>
                    <a:pt x="360" y="378"/>
                  </a:lnTo>
                  <a:lnTo>
                    <a:pt x="360" y="390"/>
                  </a:lnTo>
                  <a:lnTo>
                    <a:pt x="366" y="396"/>
                  </a:lnTo>
                  <a:lnTo>
                    <a:pt x="366" y="408"/>
                  </a:lnTo>
                  <a:lnTo>
                    <a:pt x="372" y="414"/>
                  </a:lnTo>
                  <a:lnTo>
                    <a:pt x="372" y="420"/>
                  </a:lnTo>
                  <a:lnTo>
                    <a:pt x="378" y="390"/>
                  </a:lnTo>
                  <a:lnTo>
                    <a:pt x="378" y="360"/>
                  </a:lnTo>
                  <a:lnTo>
                    <a:pt x="378" y="324"/>
                  </a:lnTo>
                  <a:lnTo>
                    <a:pt x="378" y="294"/>
                  </a:lnTo>
                  <a:lnTo>
                    <a:pt x="378" y="252"/>
                  </a:lnTo>
                  <a:lnTo>
                    <a:pt x="378" y="216"/>
                  </a:lnTo>
                  <a:lnTo>
                    <a:pt x="378" y="180"/>
                  </a:lnTo>
                  <a:lnTo>
                    <a:pt x="378" y="150"/>
                  </a:lnTo>
                  <a:lnTo>
                    <a:pt x="378" y="138"/>
                  </a:lnTo>
                  <a:lnTo>
                    <a:pt x="378" y="126"/>
                  </a:lnTo>
                  <a:lnTo>
                    <a:pt x="378" y="108"/>
                  </a:lnTo>
                  <a:lnTo>
                    <a:pt x="378" y="96"/>
                  </a:lnTo>
                  <a:lnTo>
                    <a:pt x="384" y="84"/>
                  </a:lnTo>
                  <a:lnTo>
                    <a:pt x="384" y="72"/>
                  </a:lnTo>
                  <a:lnTo>
                    <a:pt x="390" y="54"/>
                  </a:lnTo>
                  <a:lnTo>
                    <a:pt x="390" y="42"/>
                  </a:lnTo>
                  <a:lnTo>
                    <a:pt x="396" y="36"/>
                  </a:lnTo>
                  <a:lnTo>
                    <a:pt x="402" y="30"/>
                  </a:lnTo>
                  <a:lnTo>
                    <a:pt x="408" y="24"/>
                  </a:lnTo>
                  <a:lnTo>
                    <a:pt x="408" y="18"/>
                  </a:lnTo>
                  <a:lnTo>
                    <a:pt x="414" y="12"/>
                  </a:lnTo>
                  <a:lnTo>
                    <a:pt x="420" y="6"/>
                  </a:lnTo>
                  <a:lnTo>
                    <a:pt x="426" y="0"/>
                  </a:lnTo>
                  <a:lnTo>
                    <a:pt x="438" y="0"/>
                  </a:lnTo>
                  <a:lnTo>
                    <a:pt x="444" y="0"/>
                  </a:lnTo>
                  <a:lnTo>
                    <a:pt x="450" y="0"/>
                  </a:lnTo>
                  <a:lnTo>
                    <a:pt x="456" y="0"/>
                  </a:lnTo>
                  <a:lnTo>
                    <a:pt x="468" y="6"/>
                  </a:lnTo>
                  <a:lnTo>
                    <a:pt x="474" y="12"/>
                  </a:lnTo>
                  <a:lnTo>
                    <a:pt x="474" y="18"/>
                  </a:lnTo>
                  <a:lnTo>
                    <a:pt x="480" y="24"/>
                  </a:lnTo>
                  <a:lnTo>
                    <a:pt x="486" y="30"/>
                  </a:lnTo>
                  <a:lnTo>
                    <a:pt x="492" y="42"/>
                  </a:lnTo>
                  <a:lnTo>
                    <a:pt x="492" y="60"/>
                  </a:lnTo>
                  <a:lnTo>
                    <a:pt x="492" y="78"/>
                  </a:lnTo>
                  <a:lnTo>
                    <a:pt x="492" y="90"/>
                  </a:lnTo>
                  <a:lnTo>
                    <a:pt x="492" y="108"/>
                  </a:lnTo>
                  <a:lnTo>
                    <a:pt x="492" y="126"/>
                  </a:lnTo>
                  <a:lnTo>
                    <a:pt x="492" y="138"/>
                  </a:lnTo>
                  <a:lnTo>
                    <a:pt x="492" y="156"/>
                  </a:lnTo>
                  <a:lnTo>
                    <a:pt x="492" y="174"/>
                  </a:lnTo>
                  <a:lnTo>
                    <a:pt x="492" y="192"/>
                  </a:lnTo>
                  <a:lnTo>
                    <a:pt x="492" y="210"/>
                  </a:lnTo>
                  <a:lnTo>
                    <a:pt x="492" y="234"/>
                  </a:lnTo>
                  <a:lnTo>
                    <a:pt x="492" y="252"/>
                  </a:lnTo>
                  <a:lnTo>
                    <a:pt x="492" y="270"/>
                  </a:lnTo>
                  <a:lnTo>
                    <a:pt x="486" y="294"/>
                  </a:lnTo>
                  <a:lnTo>
                    <a:pt x="486" y="312"/>
                  </a:lnTo>
                  <a:lnTo>
                    <a:pt x="486" y="324"/>
                  </a:lnTo>
                  <a:lnTo>
                    <a:pt x="492" y="342"/>
                  </a:lnTo>
                  <a:lnTo>
                    <a:pt x="498" y="360"/>
                  </a:lnTo>
                  <a:lnTo>
                    <a:pt x="498" y="378"/>
                  </a:lnTo>
                  <a:lnTo>
                    <a:pt x="504" y="390"/>
                  </a:lnTo>
                  <a:lnTo>
                    <a:pt x="504" y="408"/>
                  </a:lnTo>
                  <a:lnTo>
                    <a:pt x="510" y="426"/>
                  </a:lnTo>
                  <a:lnTo>
                    <a:pt x="516" y="444"/>
                  </a:lnTo>
                  <a:lnTo>
                    <a:pt x="516" y="462"/>
                  </a:lnTo>
                  <a:lnTo>
                    <a:pt x="522" y="480"/>
                  </a:lnTo>
                  <a:lnTo>
                    <a:pt x="534" y="498"/>
                  </a:lnTo>
                  <a:lnTo>
                    <a:pt x="540" y="522"/>
                  </a:lnTo>
                  <a:lnTo>
                    <a:pt x="546" y="540"/>
                  </a:lnTo>
                  <a:lnTo>
                    <a:pt x="546" y="558"/>
                  </a:lnTo>
                  <a:lnTo>
                    <a:pt x="552" y="582"/>
                  </a:lnTo>
                  <a:lnTo>
                    <a:pt x="552" y="600"/>
                  </a:lnTo>
                  <a:lnTo>
                    <a:pt x="552" y="618"/>
                  </a:lnTo>
                  <a:lnTo>
                    <a:pt x="546" y="630"/>
                  </a:lnTo>
                  <a:lnTo>
                    <a:pt x="546" y="648"/>
                  </a:lnTo>
                  <a:lnTo>
                    <a:pt x="540" y="666"/>
                  </a:lnTo>
                  <a:lnTo>
                    <a:pt x="540" y="678"/>
                  </a:lnTo>
                  <a:lnTo>
                    <a:pt x="534" y="696"/>
                  </a:lnTo>
                  <a:lnTo>
                    <a:pt x="528" y="708"/>
                  </a:lnTo>
                  <a:lnTo>
                    <a:pt x="522" y="726"/>
                  </a:lnTo>
                  <a:lnTo>
                    <a:pt x="522" y="744"/>
                  </a:lnTo>
                  <a:lnTo>
                    <a:pt x="516" y="756"/>
                  </a:lnTo>
                  <a:lnTo>
                    <a:pt x="510" y="774"/>
                  </a:lnTo>
                  <a:lnTo>
                    <a:pt x="510" y="792"/>
                  </a:lnTo>
                  <a:lnTo>
                    <a:pt x="504" y="804"/>
                  </a:lnTo>
                  <a:lnTo>
                    <a:pt x="504" y="822"/>
                  </a:lnTo>
                  <a:lnTo>
                    <a:pt x="498" y="834"/>
                  </a:lnTo>
                  <a:lnTo>
                    <a:pt x="498" y="852"/>
                  </a:lnTo>
                  <a:lnTo>
                    <a:pt x="498" y="876"/>
                  </a:lnTo>
                  <a:lnTo>
                    <a:pt x="504" y="906"/>
                  </a:lnTo>
                  <a:lnTo>
                    <a:pt x="510" y="930"/>
                  </a:lnTo>
                  <a:lnTo>
                    <a:pt x="516" y="954"/>
                  </a:lnTo>
                  <a:lnTo>
                    <a:pt x="522" y="978"/>
                  </a:lnTo>
                  <a:lnTo>
                    <a:pt x="534" y="1002"/>
                  </a:lnTo>
                  <a:lnTo>
                    <a:pt x="540" y="1032"/>
                  </a:lnTo>
                  <a:lnTo>
                    <a:pt x="546" y="1056"/>
                  </a:lnTo>
                  <a:lnTo>
                    <a:pt x="540" y="1062"/>
                  </a:lnTo>
                  <a:lnTo>
                    <a:pt x="528" y="1068"/>
                  </a:lnTo>
                  <a:lnTo>
                    <a:pt x="522" y="1074"/>
                  </a:lnTo>
                  <a:lnTo>
                    <a:pt x="516" y="1074"/>
                  </a:lnTo>
                  <a:lnTo>
                    <a:pt x="504" y="1080"/>
                  </a:lnTo>
                  <a:lnTo>
                    <a:pt x="498" y="1086"/>
                  </a:lnTo>
                  <a:lnTo>
                    <a:pt x="492" y="1092"/>
                  </a:lnTo>
                  <a:lnTo>
                    <a:pt x="480" y="1098"/>
                  </a:lnTo>
                  <a:lnTo>
                    <a:pt x="474" y="1104"/>
                  </a:lnTo>
                  <a:lnTo>
                    <a:pt x="462" y="1110"/>
                  </a:lnTo>
                  <a:lnTo>
                    <a:pt x="456" y="1116"/>
                  </a:lnTo>
                  <a:lnTo>
                    <a:pt x="450" y="1122"/>
                  </a:lnTo>
                  <a:lnTo>
                    <a:pt x="438" y="1122"/>
                  </a:lnTo>
                  <a:lnTo>
                    <a:pt x="432" y="1128"/>
                  </a:lnTo>
                  <a:lnTo>
                    <a:pt x="426" y="1134"/>
                  </a:lnTo>
                  <a:lnTo>
                    <a:pt x="414" y="1140"/>
                  </a:lnTo>
                  <a:lnTo>
                    <a:pt x="408" y="1146"/>
                  </a:lnTo>
                  <a:lnTo>
                    <a:pt x="396" y="1152"/>
                  </a:lnTo>
                  <a:lnTo>
                    <a:pt x="390" y="1158"/>
                  </a:lnTo>
                  <a:lnTo>
                    <a:pt x="384" y="1164"/>
                  </a:lnTo>
                  <a:lnTo>
                    <a:pt x="372" y="1164"/>
                  </a:lnTo>
                  <a:lnTo>
                    <a:pt x="366" y="1170"/>
                  </a:lnTo>
                  <a:lnTo>
                    <a:pt x="360" y="1176"/>
                  </a:lnTo>
                  <a:lnTo>
                    <a:pt x="348" y="1182"/>
                  </a:lnTo>
                  <a:lnTo>
                    <a:pt x="342" y="1188"/>
                  </a:lnTo>
                  <a:lnTo>
                    <a:pt x="330" y="1194"/>
                  </a:lnTo>
                  <a:lnTo>
                    <a:pt x="324" y="1200"/>
                  </a:lnTo>
                  <a:lnTo>
                    <a:pt x="318" y="1206"/>
                  </a:lnTo>
                  <a:lnTo>
                    <a:pt x="306" y="1206"/>
                  </a:lnTo>
                  <a:lnTo>
                    <a:pt x="300" y="1212"/>
                  </a:lnTo>
                  <a:lnTo>
                    <a:pt x="294" y="1218"/>
                  </a:lnTo>
                  <a:lnTo>
                    <a:pt x="282" y="1224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5682" y="600"/>
              <a:ext cx="300" cy="174"/>
            </a:xfrm>
            <a:custGeom>
              <a:avLst/>
              <a:gdLst>
                <a:gd name="T0" fmla="*/ 294 w 300"/>
                <a:gd name="T1" fmla="*/ 36 h 174"/>
                <a:gd name="T2" fmla="*/ 276 w 300"/>
                <a:gd name="T3" fmla="*/ 36 h 174"/>
                <a:gd name="T4" fmla="*/ 264 w 300"/>
                <a:gd name="T5" fmla="*/ 30 h 174"/>
                <a:gd name="T6" fmla="*/ 240 w 300"/>
                <a:gd name="T7" fmla="*/ 24 h 174"/>
                <a:gd name="T8" fmla="*/ 222 w 300"/>
                <a:gd name="T9" fmla="*/ 24 h 174"/>
                <a:gd name="T10" fmla="*/ 204 w 300"/>
                <a:gd name="T11" fmla="*/ 18 h 174"/>
                <a:gd name="T12" fmla="*/ 186 w 300"/>
                <a:gd name="T13" fmla="*/ 12 h 174"/>
                <a:gd name="T14" fmla="*/ 168 w 300"/>
                <a:gd name="T15" fmla="*/ 6 h 174"/>
                <a:gd name="T16" fmla="*/ 150 w 300"/>
                <a:gd name="T17" fmla="*/ 0 h 174"/>
                <a:gd name="T18" fmla="*/ 144 w 300"/>
                <a:gd name="T19" fmla="*/ 0 h 174"/>
                <a:gd name="T20" fmla="*/ 138 w 300"/>
                <a:gd name="T21" fmla="*/ 0 h 174"/>
                <a:gd name="T22" fmla="*/ 126 w 300"/>
                <a:gd name="T23" fmla="*/ 0 h 174"/>
                <a:gd name="T24" fmla="*/ 120 w 300"/>
                <a:gd name="T25" fmla="*/ 0 h 174"/>
                <a:gd name="T26" fmla="*/ 108 w 300"/>
                <a:gd name="T27" fmla="*/ 0 h 174"/>
                <a:gd name="T28" fmla="*/ 102 w 300"/>
                <a:gd name="T29" fmla="*/ 0 h 174"/>
                <a:gd name="T30" fmla="*/ 96 w 300"/>
                <a:gd name="T31" fmla="*/ 6 h 174"/>
                <a:gd name="T32" fmla="*/ 84 w 300"/>
                <a:gd name="T33" fmla="*/ 6 h 174"/>
                <a:gd name="T34" fmla="*/ 72 w 300"/>
                <a:gd name="T35" fmla="*/ 12 h 174"/>
                <a:gd name="T36" fmla="*/ 66 w 300"/>
                <a:gd name="T37" fmla="*/ 18 h 174"/>
                <a:gd name="T38" fmla="*/ 54 w 300"/>
                <a:gd name="T39" fmla="*/ 18 h 174"/>
                <a:gd name="T40" fmla="*/ 48 w 300"/>
                <a:gd name="T41" fmla="*/ 24 h 174"/>
                <a:gd name="T42" fmla="*/ 36 w 300"/>
                <a:gd name="T43" fmla="*/ 30 h 174"/>
                <a:gd name="T44" fmla="*/ 30 w 300"/>
                <a:gd name="T45" fmla="*/ 36 h 174"/>
                <a:gd name="T46" fmla="*/ 18 w 300"/>
                <a:gd name="T47" fmla="*/ 42 h 174"/>
                <a:gd name="T48" fmla="*/ 12 w 300"/>
                <a:gd name="T49" fmla="*/ 54 h 174"/>
                <a:gd name="T50" fmla="*/ 0 w 300"/>
                <a:gd name="T51" fmla="*/ 66 h 174"/>
                <a:gd name="T52" fmla="*/ 0 w 300"/>
                <a:gd name="T53" fmla="*/ 78 h 174"/>
                <a:gd name="T54" fmla="*/ 0 w 300"/>
                <a:gd name="T55" fmla="*/ 96 h 174"/>
                <a:gd name="T56" fmla="*/ 6 w 300"/>
                <a:gd name="T57" fmla="*/ 108 h 174"/>
                <a:gd name="T58" fmla="*/ 12 w 300"/>
                <a:gd name="T59" fmla="*/ 114 h 174"/>
                <a:gd name="T60" fmla="*/ 18 w 300"/>
                <a:gd name="T61" fmla="*/ 120 h 174"/>
                <a:gd name="T62" fmla="*/ 30 w 300"/>
                <a:gd name="T63" fmla="*/ 120 h 174"/>
                <a:gd name="T64" fmla="*/ 42 w 300"/>
                <a:gd name="T65" fmla="*/ 126 h 174"/>
                <a:gd name="T66" fmla="*/ 54 w 300"/>
                <a:gd name="T67" fmla="*/ 126 h 174"/>
                <a:gd name="T68" fmla="*/ 66 w 300"/>
                <a:gd name="T69" fmla="*/ 126 h 174"/>
                <a:gd name="T70" fmla="*/ 78 w 300"/>
                <a:gd name="T71" fmla="*/ 126 h 174"/>
                <a:gd name="T72" fmla="*/ 96 w 300"/>
                <a:gd name="T73" fmla="*/ 126 h 174"/>
                <a:gd name="T74" fmla="*/ 108 w 300"/>
                <a:gd name="T75" fmla="*/ 120 h 174"/>
                <a:gd name="T76" fmla="*/ 120 w 300"/>
                <a:gd name="T77" fmla="*/ 120 h 174"/>
                <a:gd name="T78" fmla="*/ 132 w 300"/>
                <a:gd name="T79" fmla="*/ 120 h 174"/>
                <a:gd name="T80" fmla="*/ 150 w 300"/>
                <a:gd name="T81" fmla="*/ 126 h 174"/>
                <a:gd name="T82" fmla="*/ 162 w 300"/>
                <a:gd name="T83" fmla="*/ 132 h 174"/>
                <a:gd name="T84" fmla="*/ 174 w 300"/>
                <a:gd name="T85" fmla="*/ 138 h 174"/>
                <a:gd name="T86" fmla="*/ 186 w 300"/>
                <a:gd name="T87" fmla="*/ 144 h 174"/>
                <a:gd name="T88" fmla="*/ 198 w 300"/>
                <a:gd name="T89" fmla="*/ 150 h 174"/>
                <a:gd name="T90" fmla="*/ 216 w 300"/>
                <a:gd name="T91" fmla="*/ 156 h 174"/>
                <a:gd name="T92" fmla="*/ 228 w 300"/>
                <a:gd name="T93" fmla="*/ 162 h 174"/>
                <a:gd name="T94" fmla="*/ 240 w 300"/>
                <a:gd name="T95" fmla="*/ 168 h 174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300"/>
                <a:gd name="T145" fmla="*/ 0 h 174"/>
                <a:gd name="T146" fmla="*/ 300 w 300"/>
                <a:gd name="T147" fmla="*/ 174 h 174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300" h="174">
                  <a:moveTo>
                    <a:pt x="300" y="36"/>
                  </a:moveTo>
                  <a:lnTo>
                    <a:pt x="294" y="36"/>
                  </a:lnTo>
                  <a:lnTo>
                    <a:pt x="288" y="36"/>
                  </a:lnTo>
                  <a:lnTo>
                    <a:pt x="276" y="36"/>
                  </a:lnTo>
                  <a:lnTo>
                    <a:pt x="270" y="30"/>
                  </a:lnTo>
                  <a:lnTo>
                    <a:pt x="264" y="30"/>
                  </a:lnTo>
                  <a:lnTo>
                    <a:pt x="252" y="30"/>
                  </a:lnTo>
                  <a:lnTo>
                    <a:pt x="240" y="24"/>
                  </a:lnTo>
                  <a:lnTo>
                    <a:pt x="234" y="24"/>
                  </a:lnTo>
                  <a:lnTo>
                    <a:pt x="222" y="24"/>
                  </a:lnTo>
                  <a:lnTo>
                    <a:pt x="216" y="18"/>
                  </a:lnTo>
                  <a:lnTo>
                    <a:pt x="204" y="18"/>
                  </a:lnTo>
                  <a:lnTo>
                    <a:pt x="192" y="12"/>
                  </a:lnTo>
                  <a:lnTo>
                    <a:pt x="186" y="12"/>
                  </a:lnTo>
                  <a:lnTo>
                    <a:pt x="174" y="6"/>
                  </a:lnTo>
                  <a:lnTo>
                    <a:pt x="168" y="6"/>
                  </a:lnTo>
                  <a:lnTo>
                    <a:pt x="156" y="6"/>
                  </a:lnTo>
                  <a:lnTo>
                    <a:pt x="150" y="0"/>
                  </a:lnTo>
                  <a:lnTo>
                    <a:pt x="144" y="0"/>
                  </a:lnTo>
                  <a:lnTo>
                    <a:pt x="138" y="0"/>
                  </a:lnTo>
                  <a:lnTo>
                    <a:pt x="132" y="0"/>
                  </a:lnTo>
                  <a:lnTo>
                    <a:pt x="126" y="0"/>
                  </a:lnTo>
                  <a:lnTo>
                    <a:pt x="120" y="0"/>
                  </a:lnTo>
                  <a:lnTo>
                    <a:pt x="114" y="0"/>
                  </a:lnTo>
                  <a:lnTo>
                    <a:pt x="108" y="0"/>
                  </a:lnTo>
                  <a:lnTo>
                    <a:pt x="102" y="0"/>
                  </a:lnTo>
                  <a:lnTo>
                    <a:pt x="96" y="0"/>
                  </a:lnTo>
                  <a:lnTo>
                    <a:pt x="96" y="6"/>
                  </a:lnTo>
                  <a:lnTo>
                    <a:pt x="90" y="6"/>
                  </a:lnTo>
                  <a:lnTo>
                    <a:pt x="84" y="6"/>
                  </a:lnTo>
                  <a:lnTo>
                    <a:pt x="78" y="12"/>
                  </a:lnTo>
                  <a:lnTo>
                    <a:pt x="72" y="12"/>
                  </a:lnTo>
                  <a:lnTo>
                    <a:pt x="66" y="18"/>
                  </a:lnTo>
                  <a:lnTo>
                    <a:pt x="60" y="18"/>
                  </a:lnTo>
                  <a:lnTo>
                    <a:pt x="54" y="18"/>
                  </a:lnTo>
                  <a:lnTo>
                    <a:pt x="48" y="24"/>
                  </a:lnTo>
                  <a:lnTo>
                    <a:pt x="42" y="30"/>
                  </a:lnTo>
                  <a:lnTo>
                    <a:pt x="36" y="30"/>
                  </a:lnTo>
                  <a:lnTo>
                    <a:pt x="30" y="36"/>
                  </a:lnTo>
                  <a:lnTo>
                    <a:pt x="24" y="36"/>
                  </a:lnTo>
                  <a:lnTo>
                    <a:pt x="18" y="42"/>
                  </a:lnTo>
                  <a:lnTo>
                    <a:pt x="12" y="48"/>
                  </a:lnTo>
                  <a:lnTo>
                    <a:pt x="12" y="54"/>
                  </a:lnTo>
                  <a:lnTo>
                    <a:pt x="6" y="60"/>
                  </a:lnTo>
                  <a:lnTo>
                    <a:pt x="0" y="66"/>
                  </a:lnTo>
                  <a:lnTo>
                    <a:pt x="0" y="72"/>
                  </a:lnTo>
                  <a:lnTo>
                    <a:pt x="0" y="78"/>
                  </a:lnTo>
                  <a:lnTo>
                    <a:pt x="0" y="90"/>
                  </a:lnTo>
                  <a:lnTo>
                    <a:pt x="0" y="96"/>
                  </a:lnTo>
                  <a:lnTo>
                    <a:pt x="0" y="102"/>
                  </a:lnTo>
                  <a:lnTo>
                    <a:pt x="6" y="108"/>
                  </a:lnTo>
                  <a:lnTo>
                    <a:pt x="6" y="114"/>
                  </a:lnTo>
                  <a:lnTo>
                    <a:pt x="12" y="114"/>
                  </a:lnTo>
                  <a:lnTo>
                    <a:pt x="12" y="120"/>
                  </a:lnTo>
                  <a:lnTo>
                    <a:pt x="18" y="120"/>
                  </a:lnTo>
                  <a:lnTo>
                    <a:pt x="24" y="120"/>
                  </a:lnTo>
                  <a:lnTo>
                    <a:pt x="30" y="120"/>
                  </a:lnTo>
                  <a:lnTo>
                    <a:pt x="36" y="126"/>
                  </a:lnTo>
                  <a:lnTo>
                    <a:pt x="42" y="126"/>
                  </a:lnTo>
                  <a:lnTo>
                    <a:pt x="48" y="126"/>
                  </a:lnTo>
                  <a:lnTo>
                    <a:pt x="54" y="126"/>
                  </a:lnTo>
                  <a:lnTo>
                    <a:pt x="60" y="126"/>
                  </a:lnTo>
                  <a:lnTo>
                    <a:pt x="66" y="126"/>
                  </a:lnTo>
                  <a:lnTo>
                    <a:pt x="72" y="126"/>
                  </a:lnTo>
                  <a:lnTo>
                    <a:pt x="78" y="126"/>
                  </a:lnTo>
                  <a:lnTo>
                    <a:pt x="84" y="126"/>
                  </a:lnTo>
                  <a:lnTo>
                    <a:pt x="96" y="126"/>
                  </a:lnTo>
                  <a:lnTo>
                    <a:pt x="102" y="126"/>
                  </a:lnTo>
                  <a:lnTo>
                    <a:pt x="108" y="120"/>
                  </a:lnTo>
                  <a:lnTo>
                    <a:pt x="114" y="120"/>
                  </a:lnTo>
                  <a:lnTo>
                    <a:pt x="120" y="120"/>
                  </a:lnTo>
                  <a:lnTo>
                    <a:pt x="126" y="120"/>
                  </a:lnTo>
                  <a:lnTo>
                    <a:pt x="132" y="120"/>
                  </a:lnTo>
                  <a:lnTo>
                    <a:pt x="138" y="120"/>
                  </a:lnTo>
                  <a:lnTo>
                    <a:pt x="150" y="126"/>
                  </a:lnTo>
                  <a:lnTo>
                    <a:pt x="156" y="126"/>
                  </a:lnTo>
                  <a:lnTo>
                    <a:pt x="162" y="132"/>
                  </a:lnTo>
                  <a:lnTo>
                    <a:pt x="168" y="132"/>
                  </a:lnTo>
                  <a:lnTo>
                    <a:pt x="174" y="138"/>
                  </a:lnTo>
                  <a:lnTo>
                    <a:pt x="180" y="138"/>
                  </a:lnTo>
                  <a:lnTo>
                    <a:pt x="186" y="144"/>
                  </a:lnTo>
                  <a:lnTo>
                    <a:pt x="192" y="150"/>
                  </a:lnTo>
                  <a:lnTo>
                    <a:pt x="198" y="150"/>
                  </a:lnTo>
                  <a:lnTo>
                    <a:pt x="210" y="156"/>
                  </a:lnTo>
                  <a:lnTo>
                    <a:pt x="216" y="156"/>
                  </a:lnTo>
                  <a:lnTo>
                    <a:pt x="222" y="162"/>
                  </a:lnTo>
                  <a:lnTo>
                    <a:pt x="228" y="162"/>
                  </a:lnTo>
                  <a:lnTo>
                    <a:pt x="234" y="168"/>
                  </a:lnTo>
                  <a:lnTo>
                    <a:pt x="240" y="168"/>
                  </a:lnTo>
                  <a:lnTo>
                    <a:pt x="246" y="174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5562" y="528"/>
              <a:ext cx="120" cy="174"/>
            </a:xfrm>
            <a:custGeom>
              <a:avLst/>
              <a:gdLst>
                <a:gd name="T0" fmla="*/ 48 w 120"/>
                <a:gd name="T1" fmla="*/ 0 h 174"/>
                <a:gd name="T2" fmla="*/ 54 w 120"/>
                <a:gd name="T3" fmla="*/ 6 h 174"/>
                <a:gd name="T4" fmla="*/ 60 w 120"/>
                <a:gd name="T5" fmla="*/ 12 h 174"/>
                <a:gd name="T6" fmla="*/ 60 w 120"/>
                <a:gd name="T7" fmla="*/ 18 h 174"/>
                <a:gd name="T8" fmla="*/ 66 w 120"/>
                <a:gd name="T9" fmla="*/ 24 h 174"/>
                <a:gd name="T10" fmla="*/ 72 w 120"/>
                <a:gd name="T11" fmla="*/ 24 h 174"/>
                <a:gd name="T12" fmla="*/ 72 w 120"/>
                <a:gd name="T13" fmla="*/ 30 h 174"/>
                <a:gd name="T14" fmla="*/ 78 w 120"/>
                <a:gd name="T15" fmla="*/ 36 h 174"/>
                <a:gd name="T16" fmla="*/ 84 w 120"/>
                <a:gd name="T17" fmla="*/ 42 h 174"/>
                <a:gd name="T18" fmla="*/ 84 w 120"/>
                <a:gd name="T19" fmla="*/ 48 h 174"/>
                <a:gd name="T20" fmla="*/ 90 w 120"/>
                <a:gd name="T21" fmla="*/ 54 h 174"/>
                <a:gd name="T22" fmla="*/ 90 w 120"/>
                <a:gd name="T23" fmla="*/ 54 h 174"/>
                <a:gd name="T24" fmla="*/ 96 w 120"/>
                <a:gd name="T25" fmla="*/ 60 h 174"/>
                <a:gd name="T26" fmla="*/ 102 w 120"/>
                <a:gd name="T27" fmla="*/ 66 h 174"/>
                <a:gd name="T28" fmla="*/ 102 w 120"/>
                <a:gd name="T29" fmla="*/ 72 h 174"/>
                <a:gd name="T30" fmla="*/ 102 w 120"/>
                <a:gd name="T31" fmla="*/ 78 h 174"/>
                <a:gd name="T32" fmla="*/ 108 w 120"/>
                <a:gd name="T33" fmla="*/ 84 h 174"/>
                <a:gd name="T34" fmla="*/ 114 w 120"/>
                <a:gd name="T35" fmla="*/ 90 h 174"/>
                <a:gd name="T36" fmla="*/ 114 w 120"/>
                <a:gd name="T37" fmla="*/ 102 h 174"/>
                <a:gd name="T38" fmla="*/ 120 w 120"/>
                <a:gd name="T39" fmla="*/ 108 h 174"/>
                <a:gd name="T40" fmla="*/ 120 w 120"/>
                <a:gd name="T41" fmla="*/ 120 h 174"/>
                <a:gd name="T42" fmla="*/ 120 w 120"/>
                <a:gd name="T43" fmla="*/ 132 h 174"/>
                <a:gd name="T44" fmla="*/ 120 w 120"/>
                <a:gd name="T45" fmla="*/ 138 h 174"/>
                <a:gd name="T46" fmla="*/ 114 w 120"/>
                <a:gd name="T47" fmla="*/ 150 h 174"/>
                <a:gd name="T48" fmla="*/ 114 w 120"/>
                <a:gd name="T49" fmla="*/ 156 h 174"/>
                <a:gd name="T50" fmla="*/ 108 w 120"/>
                <a:gd name="T51" fmla="*/ 162 h 174"/>
                <a:gd name="T52" fmla="*/ 108 w 120"/>
                <a:gd name="T53" fmla="*/ 162 h 174"/>
                <a:gd name="T54" fmla="*/ 108 w 120"/>
                <a:gd name="T55" fmla="*/ 168 h 174"/>
                <a:gd name="T56" fmla="*/ 102 w 120"/>
                <a:gd name="T57" fmla="*/ 168 h 174"/>
                <a:gd name="T58" fmla="*/ 96 w 120"/>
                <a:gd name="T59" fmla="*/ 168 h 174"/>
                <a:gd name="T60" fmla="*/ 96 w 120"/>
                <a:gd name="T61" fmla="*/ 168 h 174"/>
                <a:gd name="T62" fmla="*/ 90 w 120"/>
                <a:gd name="T63" fmla="*/ 174 h 174"/>
                <a:gd name="T64" fmla="*/ 90 w 120"/>
                <a:gd name="T65" fmla="*/ 174 h 174"/>
                <a:gd name="T66" fmla="*/ 84 w 120"/>
                <a:gd name="T67" fmla="*/ 174 h 174"/>
                <a:gd name="T68" fmla="*/ 78 w 120"/>
                <a:gd name="T69" fmla="*/ 174 h 174"/>
                <a:gd name="T70" fmla="*/ 72 w 120"/>
                <a:gd name="T71" fmla="*/ 174 h 174"/>
                <a:gd name="T72" fmla="*/ 72 w 120"/>
                <a:gd name="T73" fmla="*/ 174 h 174"/>
                <a:gd name="T74" fmla="*/ 66 w 120"/>
                <a:gd name="T75" fmla="*/ 174 h 174"/>
                <a:gd name="T76" fmla="*/ 60 w 120"/>
                <a:gd name="T77" fmla="*/ 174 h 174"/>
                <a:gd name="T78" fmla="*/ 60 w 120"/>
                <a:gd name="T79" fmla="*/ 168 h 174"/>
                <a:gd name="T80" fmla="*/ 54 w 120"/>
                <a:gd name="T81" fmla="*/ 168 h 174"/>
                <a:gd name="T82" fmla="*/ 54 w 120"/>
                <a:gd name="T83" fmla="*/ 168 h 174"/>
                <a:gd name="T84" fmla="*/ 48 w 120"/>
                <a:gd name="T85" fmla="*/ 162 h 174"/>
                <a:gd name="T86" fmla="*/ 42 w 120"/>
                <a:gd name="T87" fmla="*/ 162 h 174"/>
                <a:gd name="T88" fmla="*/ 36 w 120"/>
                <a:gd name="T89" fmla="*/ 156 h 174"/>
                <a:gd name="T90" fmla="*/ 36 w 120"/>
                <a:gd name="T91" fmla="*/ 156 h 174"/>
                <a:gd name="T92" fmla="*/ 30 w 120"/>
                <a:gd name="T93" fmla="*/ 150 h 174"/>
                <a:gd name="T94" fmla="*/ 24 w 120"/>
                <a:gd name="T95" fmla="*/ 150 h 174"/>
                <a:gd name="T96" fmla="*/ 24 w 120"/>
                <a:gd name="T97" fmla="*/ 144 h 174"/>
                <a:gd name="T98" fmla="*/ 18 w 120"/>
                <a:gd name="T99" fmla="*/ 138 h 174"/>
                <a:gd name="T100" fmla="*/ 18 w 120"/>
                <a:gd name="T101" fmla="*/ 132 h 174"/>
                <a:gd name="T102" fmla="*/ 12 w 120"/>
                <a:gd name="T103" fmla="*/ 132 h 174"/>
                <a:gd name="T104" fmla="*/ 6 w 120"/>
                <a:gd name="T105" fmla="*/ 126 h 174"/>
                <a:gd name="T106" fmla="*/ 6 w 120"/>
                <a:gd name="T107" fmla="*/ 120 h 174"/>
                <a:gd name="T108" fmla="*/ 6 w 120"/>
                <a:gd name="T109" fmla="*/ 114 h 174"/>
                <a:gd name="T110" fmla="*/ 0 w 120"/>
                <a:gd name="T111" fmla="*/ 108 h 174"/>
                <a:gd name="T112" fmla="*/ 0 w 120"/>
                <a:gd name="T113" fmla="*/ 102 h 174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20"/>
                <a:gd name="T172" fmla="*/ 0 h 174"/>
                <a:gd name="T173" fmla="*/ 120 w 120"/>
                <a:gd name="T174" fmla="*/ 174 h 174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20" h="174">
                  <a:moveTo>
                    <a:pt x="48" y="0"/>
                  </a:moveTo>
                  <a:lnTo>
                    <a:pt x="54" y="6"/>
                  </a:lnTo>
                  <a:lnTo>
                    <a:pt x="60" y="12"/>
                  </a:lnTo>
                  <a:lnTo>
                    <a:pt x="60" y="18"/>
                  </a:lnTo>
                  <a:lnTo>
                    <a:pt x="66" y="24"/>
                  </a:lnTo>
                  <a:lnTo>
                    <a:pt x="72" y="24"/>
                  </a:lnTo>
                  <a:lnTo>
                    <a:pt x="72" y="30"/>
                  </a:lnTo>
                  <a:lnTo>
                    <a:pt x="78" y="36"/>
                  </a:lnTo>
                  <a:lnTo>
                    <a:pt x="84" y="42"/>
                  </a:lnTo>
                  <a:lnTo>
                    <a:pt x="84" y="48"/>
                  </a:lnTo>
                  <a:lnTo>
                    <a:pt x="90" y="54"/>
                  </a:lnTo>
                  <a:lnTo>
                    <a:pt x="96" y="60"/>
                  </a:lnTo>
                  <a:lnTo>
                    <a:pt x="102" y="66"/>
                  </a:lnTo>
                  <a:lnTo>
                    <a:pt x="102" y="72"/>
                  </a:lnTo>
                  <a:lnTo>
                    <a:pt x="102" y="78"/>
                  </a:lnTo>
                  <a:lnTo>
                    <a:pt x="108" y="84"/>
                  </a:lnTo>
                  <a:lnTo>
                    <a:pt x="114" y="90"/>
                  </a:lnTo>
                  <a:lnTo>
                    <a:pt x="114" y="102"/>
                  </a:lnTo>
                  <a:lnTo>
                    <a:pt x="120" y="108"/>
                  </a:lnTo>
                  <a:lnTo>
                    <a:pt x="120" y="120"/>
                  </a:lnTo>
                  <a:lnTo>
                    <a:pt x="120" y="132"/>
                  </a:lnTo>
                  <a:lnTo>
                    <a:pt x="120" y="138"/>
                  </a:lnTo>
                  <a:lnTo>
                    <a:pt x="114" y="150"/>
                  </a:lnTo>
                  <a:lnTo>
                    <a:pt x="114" y="156"/>
                  </a:lnTo>
                  <a:lnTo>
                    <a:pt x="108" y="162"/>
                  </a:lnTo>
                  <a:lnTo>
                    <a:pt x="108" y="168"/>
                  </a:lnTo>
                  <a:lnTo>
                    <a:pt x="102" y="168"/>
                  </a:lnTo>
                  <a:lnTo>
                    <a:pt x="96" y="168"/>
                  </a:lnTo>
                  <a:lnTo>
                    <a:pt x="90" y="174"/>
                  </a:lnTo>
                  <a:lnTo>
                    <a:pt x="84" y="174"/>
                  </a:lnTo>
                  <a:lnTo>
                    <a:pt x="78" y="174"/>
                  </a:lnTo>
                  <a:lnTo>
                    <a:pt x="72" y="174"/>
                  </a:lnTo>
                  <a:lnTo>
                    <a:pt x="66" y="174"/>
                  </a:lnTo>
                  <a:lnTo>
                    <a:pt x="60" y="174"/>
                  </a:lnTo>
                  <a:lnTo>
                    <a:pt x="60" y="168"/>
                  </a:lnTo>
                  <a:lnTo>
                    <a:pt x="54" y="168"/>
                  </a:lnTo>
                  <a:lnTo>
                    <a:pt x="48" y="162"/>
                  </a:lnTo>
                  <a:lnTo>
                    <a:pt x="42" y="162"/>
                  </a:lnTo>
                  <a:lnTo>
                    <a:pt x="36" y="156"/>
                  </a:lnTo>
                  <a:lnTo>
                    <a:pt x="30" y="150"/>
                  </a:lnTo>
                  <a:lnTo>
                    <a:pt x="24" y="150"/>
                  </a:lnTo>
                  <a:lnTo>
                    <a:pt x="24" y="144"/>
                  </a:lnTo>
                  <a:lnTo>
                    <a:pt x="18" y="138"/>
                  </a:lnTo>
                  <a:lnTo>
                    <a:pt x="18" y="132"/>
                  </a:lnTo>
                  <a:lnTo>
                    <a:pt x="12" y="132"/>
                  </a:lnTo>
                  <a:lnTo>
                    <a:pt x="6" y="126"/>
                  </a:lnTo>
                  <a:lnTo>
                    <a:pt x="6" y="120"/>
                  </a:lnTo>
                  <a:lnTo>
                    <a:pt x="6" y="114"/>
                  </a:lnTo>
                  <a:lnTo>
                    <a:pt x="0" y="108"/>
                  </a:lnTo>
                  <a:lnTo>
                    <a:pt x="0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5610" y="750"/>
              <a:ext cx="60" cy="66"/>
            </a:xfrm>
            <a:custGeom>
              <a:avLst/>
              <a:gdLst>
                <a:gd name="T0" fmla="*/ 60 w 60"/>
                <a:gd name="T1" fmla="*/ 0 h 66"/>
                <a:gd name="T2" fmla="*/ 60 w 60"/>
                <a:gd name="T3" fmla="*/ 6 h 66"/>
                <a:gd name="T4" fmla="*/ 54 w 60"/>
                <a:gd name="T5" fmla="*/ 12 h 66"/>
                <a:gd name="T6" fmla="*/ 54 w 60"/>
                <a:gd name="T7" fmla="*/ 18 h 66"/>
                <a:gd name="T8" fmla="*/ 48 w 60"/>
                <a:gd name="T9" fmla="*/ 24 h 66"/>
                <a:gd name="T10" fmla="*/ 48 w 60"/>
                <a:gd name="T11" fmla="*/ 24 h 66"/>
                <a:gd name="T12" fmla="*/ 42 w 60"/>
                <a:gd name="T13" fmla="*/ 30 h 66"/>
                <a:gd name="T14" fmla="*/ 42 w 60"/>
                <a:gd name="T15" fmla="*/ 36 h 66"/>
                <a:gd name="T16" fmla="*/ 36 w 60"/>
                <a:gd name="T17" fmla="*/ 42 h 66"/>
                <a:gd name="T18" fmla="*/ 30 w 60"/>
                <a:gd name="T19" fmla="*/ 42 h 66"/>
                <a:gd name="T20" fmla="*/ 30 w 60"/>
                <a:gd name="T21" fmla="*/ 48 h 66"/>
                <a:gd name="T22" fmla="*/ 24 w 60"/>
                <a:gd name="T23" fmla="*/ 54 h 66"/>
                <a:gd name="T24" fmla="*/ 18 w 60"/>
                <a:gd name="T25" fmla="*/ 54 h 66"/>
                <a:gd name="T26" fmla="*/ 12 w 60"/>
                <a:gd name="T27" fmla="*/ 60 h 66"/>
                <a:gd name="T28" fmla="*/ 12 w 60"/>
                <a:gd name="T29" fmla="*/ 60 h 66"/>
                <a:gd name="T30" fmla="*/ 6 w 60"/>
                <a:gd name="T31" fmla="*/ 60 h 66"/>
                <a:gd name="T32" fmla="*/ 0 w 60"/>
                <a:gd name="T33" fmla="*/ 66 h 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60"/>
                <a:gd name="T52" fmla="*/ 0 h 66"/>
                <a:gd name="T53" fmla="*/ 60 w 60"/>
                <a:gd name="T54" fmla="*/ 66 h 6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60" h="66">
                  <a:moveTo>
                    <a:pt x="60" y="0"/>
                  </a:moveTo>
                  <a:lnTo>
                    <a:pt x="60" y="6"/>
                  </a:lnTo>
                  <a:lnTo>
                    <a:pt x="54" y="12"/>
                  </a:lnTo>
                  <a:lnTo>
                    <a:pt x="54" y="18"/>
                  </a:lnTo>
                  <a:lnTo>
                    <a:pt x="48" y="24"/>
                  </a:lnTo>
                  <a:lnTo>
                    <a:pt x="42" y="30"/>
                  </a:lnTo>
                  <a:lnTo>
                    <a:pt x="42" y="36"/>
                  </a:lnTo>
                  <a:lnTo>
                    <a:pt x="36" y="42"/>
                  </a:lnTo>
                  <a:lnTo>
                    <a:pt x="30" y="42"/>
                  </a:lnTo>
                  <a:lnTo>
                    <a:pt x="30" y="48"/>
                  </a:lnTo>
                  <a:lnTo>
                    <a:pt x="24" y="54"/>
                  </a:lnTo>
                  <a:lnTo>
                    <a:pt x="18" y="54"/>
                  </a:lnTo>
                  <a:lnTo>
                    <a:pt x="12" y="60"/>
                  </a:lnTo>
                  <a:lnTo>
                    <a:pt x="6" y="60"/>
                  </a:lnTo>
                  <a:lnTo>
                    <a:pt x="0" y="66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700" y="828"/>
              <a:ext cx="36" cy="60"/>
            </a:xfrm>
            <a:custGeom>
              <a:avLst/>
              <a:gdLst>
                <a:gd name="T0" fmla="*/ 36 w 36"/>
                <a:gd name="T1" fmla="*/ 0 h 60"/>
                <a:gd name="T2" fmla="*/ 30 w 36"/>
                <a:gd name="T3" fmla="*/ 6 h 60"/>
                <a:gd name="T4" fmla="*/ 30 w 36"/>
                <a:gd name="T5" fmla="*/ 18 h 60"/>
                <a:gd name="T6" fmla="*/ 24 w 36"/>
                <a:gd name="T7" fmla="*/ 30 h 60"/>
                <a:gd name="T8" fmla="*/ 18 w 36"/>
                <a:gd name="T9" fmla="*/ 36 h 60"/>
                <a:gd name="T10" fmla="*/ 12 w 36"/>
                <a:gd name="T11" fmla="*/ 42 h 60"/>
                <a:gd name="T12" fmla="*/ 12 w 36"/>
                <a:gd name="T13" fmla="*/ 48 h 60"/>
                <a:gd name="T14" fmla="*/ 6 w 36"/>
                <a:gd name="T15" fmla="*/ 54 h 60"/>
                <a:gd name="T16" fmla="*/ 0 w 36"/>
                <a:gd name="T17" fmla="*/ 60 h 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6"/>
                <a:gd name="T28" fmla="*/ 0 h 60"/>
                <a:gd name="T29" fmla="*/ 36 w 36"/>
                <a:gd name="T30" fmla="*/ 60 h 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6" h="60">
                  <a:moveTo>
                    <a:pt x="36" y="0"/>
                  </a:moveTo>
                  <a:lnTo>
                    <a:pt x="30" y="6"/>
                  </a:lnTo>
                  <a:lnTo>
                    <a:pt x="30" y="18"/>
                  </a:lnTo>
                  <a:lnTo>
                    <a:pt x="24" y="30"/>
                  </a:lnTo>
                  <a:lnTo>
                    <a:pt x="18" y="36"/>
                  </a:lnTo>
                  <a:lnTo>
                    <a:pt x="12" y="42"/>
                  </a:lnTo>
                  <a:lnTo>
                    <a:pt x="12" y="48"/>
                  </a:lnTo>
                  <a:lnTo>
                    <a:pt x="6" y="54"/>
                  </a:lnTo>
                  <a:lnTo>
                    <a:pt x="0" y="6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14" y="744"/>
              <a:ext cx="42" cy="228"/>
            </a:xfrm>
            <a:custGeom>
              <a:avLst/>
              <a:gdLst>
                <a:gd name="T0" fmla="*/ 42 w 42"/>
                <a:gd name="T1" fmla="*/ 0 h 228"/>
                <a:gd name="T2" fmla="*/ 36 w 42"/>
                <a:gd name="T3" fmla="*/ 6 h 228"/>
                <a:gd name="T4" fmla="*/ 36 w 42"/>
                <a:gd name="T5" fmla="*/ 18 h 228"/>
                <a:gd name="T6" fmla="*/ 30 w 42"/>
                <a:gd name="T7" fmla="*/ 30 h 228"/>
                <a:gd name="T8" fmla="*/ 24 w 42"/>
                <a:gd name="T9" fmla="*/ 42 h 228"/>
                <a:gd name="T10" fmla="*/ 18 w 42"/>
                <a:gd name="T11" fmla="*/ 48 h 228"/>
                <a:gd name="T12" fmla="*/ 18 w 42"/>
                <a:gd name="T13" fmla="*/ 60 h 228"/>
                <a:gd name="T14" fmla="*/ 12 w 42"/>
                <a:gd name="T15" fmla="*/ 78 h 228"/>
                <a:gd name="T16" fmla="*/ 6 w 42"/>
                <a:gd name="T17" fmla="*/ 90 h 228"/>
                <a:gd name="T18" fmla="*/ 6 w 42"/>
                <a:gd name="T19" fmla="*/ 102 h 228"/>
                <a:gd name="T20" fmla="*/ 6 w 42"/>
                <a:gd name="T21" fmla="*/ 120 h 228"/>
                <a:gd name="T22" fmla="*/ 0 w 42"/>
                <a:gd name="T23" fmla="*/ 132 h 228"/>
                <a:gd name="T24" fmla="*/ 0 w 42"/>
                <a:gd name="T25" fmla="*/ 150 h 228"/>
                <a:gd name="T26" fmla="*/ 0 w 42"/>
                <a:gd name="T27" fmla="*/ 168 h 228"/>
                <a:gd name="T28" fmla="*/ 0 w 42"/>
                <a:gd name="T29" fmla="*/ 186 h 228"/>
                <a:gd name="T30" fmla="*/ 0 w 42"/>
                <a:gd name="T31" fmla="*/ 204 h 228"/>
                <a:gd name="T32" fmla="*/ 0 w 42"/>
                <a:gd name="T33" fmla="*/ 228 h 22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42"/>
                <a:gd name="T52" fmla="*/ 0 h 228"/>
                <a:gd name="T53" fmla="*/ 42 w 42"/>
                <a:gd name="T54" fmla="*/ 228 h 228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42" h="228">
                  <a:moveTo>
                    <a:pt x="42" y="0"/>
                  </a:moveTo>
                  <a:lnTo>
                    <a:pt x="36" y="6"/>
                  </a:lnTo>
                  <a:lnTo>
                    <a:pt x="36" y="18"/>
                  </a:lnTo>
                  <a:lnTo>
                    <a:pt x="30" y="30"/>
                  </a:lnTo>
                  <a:lnTo>
                    <a:pt x="24" y="42"/>
                  </a:lnTo>
                  <a:lnTo>
                    <a:pt x="18" y="48"/>
                  </a:lnTo>
                  <a:lnTo>
                    <a:pt x="18" y="60"/>
                  </a:lnTo>
                  <a:lnTo>
                    <a:pt x="12" y="78"/>
                  </a:lnTo>
                  <a:lnTo>
                    <a:pt x="6" y="90"/>
                  </a:lnTo>
                  <a:lnTo>
                    <a:pt x="6" y="102"/>
                  </a:lnTo>
                  <a:lnTo>
                    <a:pt x="6" y="120"/>
                  </a:lnTo>
                  <a:lnTo>
                    <a:pt x="0" y="132"/>
                  </a:lnTo>
                  <a:lnTo>
                    <a:pt x="0" y="150"/>
                  </a:lnTo>
                  <a:lnTo>
                    <a:pt x="0" y="168"/>
                  </a:lnTo>
                  <a:lnTo>
                    <a:pt x="0" y="186"/>
                  </a:lnTo>
                  <a:lnTo>
                    <a:pt x="0" y="204"/>
                  </a:lnTo>
                  <a:lnTo>
                    <a:pt x="0" y="228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5880" y="756"/>
              <a:ext cx="12" cy="72"/>
            </a:xfrm>
            <a:custGeom>
              <a:avLst/>
              <a:gdLst>
                <a:gd name="T0" fmla="*/ 12 w 12"/>
                <a:gd name="T1" fmla="*/ 0 h 72"/>
                <a:gd name="T2" fmla="*/ 6 w 12"/>
                <a:gd name="T3" fmla="*/ 12 h 72"/>
                <a:gd name="T4" fmla="*/ 6 w 12"/>
                <a:gd name="T5" fmla="*/ 18 h 72"/>
                <a:gd name="T6" fmla="*/ 0 w 12"/>
                <a:gd name="T7" fmla="*/ 30 h 72"/>
                <a:gd name="T8" fmla="*/ 0 w 12"/>
                <a:gd name="T9" fmla="*/ 36 h 72"/>
                <a:gd name="T10" fmla="*/ 0 w 12"/>
                <a:gd name="T11" fmla="*/ 48 h 72"/>
                <a:gd name="T12" fmla="*/ 0 w 12"/>
                <a:gd name="T13" fmla="*/ 60 h 72"/>
                <a:gd name="T14" fmla="*/ 0 w 12"/>
                <a:gd name="T15" fmla="*/ 66 h 72"/>
                <a:gd name="T16" fmla="*/ 0 w 12"/>
                <a:gd name="T17" fmla="*/ 72 h 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2"/>
                <a:gd name="T28" fmla="*/ 0 h 72"/>
                <a:gd name="T29" fmla="*/ 12 w 12"/>
                <a:gd name="T30" fmla="*/ 72 h 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2" h="72">
                  <a:moveTo>
                    <a:pt x="12" y="0"/>
                  </a:moveTo>
                  <a:lnTo>
                    <a:pt x="6" y="12"/>
                  </a:lnTo>
                  <a:lnTo>
                    <a:pt x="6" y="18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48"/>
                  </a:lnTo>
                  <a:lnTo>
                    <a:pt x="0" y="60"/>
                  </a:lnTo>
                  <a:lnTo>
                    <a:pt x="0" y="66"/>
                  </a:lnTo>
                  <a:lnTo>
                    <a:pt x="0" y="7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Line 13"/>
            <p:cNvSpPr>
              <a:spLocks noChangeShapeType="1"/>
            </p:cNvSpPr>
            <p:nvPr/>
          </p:nvSpPr>
          <p:spPr bwMode="auto">
            <a:xfrm flipH="1">
              <a:off x="5562" y="342"/>
              <a:ext cx="48" cy="18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5604" y="456"/>
              <a:ext cx="60" cy="24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Line 15"/>
            <p:cNvSpPr>
              <a:spLocks noChangeShapeType="1"/>
            </p:cNvSpPr>
            <p:nvPr/>
          </p:nvSpPr>
          <p:spPr bwMode="auto">
            <a:xfrm flipH="1">
              <a:off x="5700" y="222"/>
              <a:ext cx="54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Line 16"/>
            <p:cNvSpPr>
              <a:spLocks noChangeShapeType="1"/>
            </p:cNvSpPr>
            <p:nvPr/>
          </p:nvSpPr>
          <p:spPr bwMode="auto">
            <a:xfrm flipH="1">
              <a:off x="5736" y="378"/>
              <a:ext cx="60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5910" y="210"/>
              <a:ext cx="54" cy="12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5910" y="384"/>
              <a:ext cx="54" cy="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5712" y="1050"/>
              <a:ext cx="480" cy="414"/>
            </a:xfrm>
            <a:custGeom>
              <a:avLst/>
              <a:gdLst>
                <a:gd name="T0" fmla="*/ 336 w 480"/>
                <a:gd name="T1" fmla="*/ 0 h 414"/>
                <a:gd name="T2" fmla="*/ 24 w 480"/>
                <a:gd name="T3" fmla="*/ 168 h 414"/>
                <a:gd name="T4" fmla="*/ 18 w 480"/>
                <a:gd name="T5" fmla="*/ 168 h 414"/>
                <a:gd name="T6" fmla="*/ 12 w 480"/>
                <a:gd name="T7" fmla="*/ 174 h 414"/>
                <a:gd name="T8" fmla="*/ 6 w 480"/>
                <a:gd name="T9" fmla="*/ 180 h 414"/>
                <a:gd name="T10" fmla="*/ 6 w 480"/>
                <a:gd name="T11" fmla="*/ 186 h 414"/>
                <a:gd name="T12" fmla="*/ 0 w 480"/>
                <a:gd name="T13" fmla="*/ 192 h 414"/>
                <a:gd name="T14" fmla="*/ 0 w 480"/>
                <a:gd name="T15" fmla="*/ 204 h 414"/>
                <a:gd name="T16" fmla="*/ 6 w 480"/>
                <a:gd name="T17" fmla="*/ 210 h 414"/>
                <a:gd name="T18" fmla="*/ 6 w 480"/>
                <a:gd name="T19" fmla="*/ 216 h 414"/>
                <a:gd name="T20" fmla="*/ 96 w 480"/>
                <a:gd name="T21" fmla="*/ 396 h 414"/>
                <a:gd name="T22" fmla="*/ 96 w 480"/>
                <a:gd name="T23" fmla="*/ 396 h 414"/>
                <a:gd name="T24" fmla="*/ 102 w 480"/>
                <a:gd name="T25" fmla="*/ 402 h 414"/>
                <a:gd name="T26" fmla="*/ 102 w 480"/>
                <a:gd name="T27" fmla="*/ 402 h 414"/>
                <a:gd name="T28" fmla="*/ 108 w 480"/>
                <a:gd name="T29" fmla="*/ 402 h 414"/>
                <a:gd name="T30" fmla="*/ 108 w 480"/>
                <a:gd name="T31" fmla="*/ 408 h 414"/>
                <a:gd name="T32" fmla="*/ 114 w 480"/>
                <a:gd name="T33" fmla="*/ 408 h 414"/>
                <a:gd name="T34" fmla="*/ 114 w 480"/>
                <a:gd name="T35" fmla="*/ 408 h 414"/>
                <a:gd name="T36" fmla="*/ 120 w 480"/>
                <a:gd name="T37" fmla="*/ 414 h 414"/>
                <a:gd name="T38" fmla="*/ 120 w 480"/>
                <a:gd name="T39" fmla="*/ 414 h 414"/>
                <a:gd name="T40" fmla="*/ 126 w 480"/>
                <a:gd name="T41" fmla="*/ 414 h 414"/>
                <a:gd name="T42" fmla="*/ 132 w 480"/>
                <a:gd name="T43" fmla="*/ 414 h 414"/>
                <a:gd name="T44" fmla="*/ 132 w 480"/>
                <a:gd name="T45" fmla="*/ 414 h 414"/>
                <a:gd name="T46" fmla="*/ 138 w 480"/>
                <a:gd name="T47" fmla="*/ 414 h 414"/>
                <a:gd name="T48" fmla="*/ 138 w 480"/>
                <a:gd name="T49" fmla="*/ 414 h 414"/>
                <a:gd name="T50" fmla="*/ 144 w 480"/>
                <a:gd name="T51" fmla="*/ 408 h 414"/>
                <a:gd name="T52" fmla="*/ 150 w 480"/>
                <a:gd name="T53" fmla="*/ 408 h 414"/>
                <a:gd name="T54" fmla="*/ 462 w 480"/>
                <a:gd name="T55" fmla="*/ 246 h 414"/>
                <a:gd name="T56" fmla="*/ 468 w 480"/>
                <a:gd name="T57" fmla="*/ 240 h 414"/>
                <a:gd name="T58" fmla="*/ 474 w 480"/>
                <a:gd name="T59" fmla="*/ 234 h 414"/>
                <a:gd name="T60" fmla="*/ 474 w 480"/>
                <a:gd name="T61" fmla="*/ 228 h 414"/>
                <a:gd name="T62" fmla="*/ 480 w 480"/>
                <a:gd name="T63" fmla="*/ 222 h 414"/>
                <a:gd name="T64" fmla="*/ 480 w 480"/>
                <a:gd name="T65" fmla="*/ 216 h 414"/>
                <a:gd name="T66" fmla="*/ 480 w 480"/>
                <a:gd name="T67" fmla="*/ 210 h 414"/>
                <a:gd name="T68" fmla="*/ 480 w 480"/>
                <a:gd name="T69" fmla="*/ 204 h 414"/>
                <a:gd name="T70" fmla="*/ 474 w 480"/>
                <a:gd name="T71" fmla="*/ 198 h 414"/>
                <a:gd name="T72" fmla="*/ 384 w 480"/>
                <a:gd name="T73" fmla="*/ 18 h 414"/>
                <a:gd name="T74" fmla="*/ 384 w 480"/>
                <a:gd name="T75" fmla="*/ 12 h 414"/>
                <a:gd name="T76" fmla="*/ 378 w 480"/>
                <a:gd name="T77" fmla="*/ 12 h 414"/>
                <a:gd name="T78" fmla="*/ 378 w 480"/>
                <a:gd name="T79" fmla="*/ 12 h 414"/>
                <a:gd name="T80" fmla="*/ 372 w 480"/>
                <a:gd name="T81" fmla="*/ 6 h 414"/>
                <a:gd name="T82" fmla="*/ 372 w 480"/>
                <a:gd name="T83" fmla="*/ 6 h 414"/>
                <a:gd name="T84" fmla="*/ 372 w 480"/>
                <a:gd name="T85" fmla="*/ 0 h 414"/>
                <a:gd name="T86" fmla="*/ 366 w 480"/>
                <a:gd name="T87" fmla="*/ 0 h 414"/>
                <a:gd name="T88" fmla="*/ 360 w 480"/>
                <a:gd name="T89" fmla="*/ 0 h 414"/>
                <a:gd name="T90" fmla="*/ 360 w 480"/>
                <a:gd name="T91" fmla="*/ 0 h 414"/>
                <a:gd name="T92" fmla="*/ 354 w 480"/>
                <a:gd name="T93" fmla="*/ 0 h 414"/>
                <a:gd name="T94" fmla="*/ 354 w 480"/>
                <a:gd name="T95" fmla="*/ 0 h 414"/>
                <a:gd name="T96" fmla="*/ 348 w 480"/>
                <a:gd name="T97" fmla="*/ 0 h 414"/>
                <a:gd name="T98" fmla="*/ 342 w 480"/>
                <a:gd name="T99" fmla="*/ 0 h 414"/>
                <a:gd name="T100" fmla="*/ 342 w 480"/>
                <a:gd name="T101" fmla="*/ 0 h 414"/>
                <a:gd name="T102" fmla="*/ 336 w 480"/>
                <a:gd name="T103" fmla="*/ 0 h 414"/>
                <a:gd name="T104" fmla="*/ 336 w 480"/>
                <a:gd name="T105" fmla="*/ 0 h 41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0"/>
                <a:gd name="T160" fmla="*/ 0 h 414"/>
                <a:gd name="T161" fmla="*/ 480 w 480"/>
                <a:gd name="T162" fmla="*/ 414 h 41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0" h="414">
                  <a:moveTo>
                    <a:pt x="336" y="0"/>
                  </a:moveTo>
                  <a:lnTo>
                    <a:pt x="24" y="168"/>
                  </a:lnTo>
                  <a:lnTo>
                    <a:pt x="18" y="168"/>
                  </a:lnTo>
                  <a:lnTo>
                    <a:pt x="12" y="174"/>
                  </a:lnTo>
                  <a:lnTo>
                    <a:pt x="6" y="180"/>
                  </a:lnTo>
                  <a:lnTo>
                    <a:pt x="6" y="186"/>
                  </a:lnTo>
                  <a:lnTo>
                    <a:pt x="0" y="192"/>
                  </a:lnTo>
                  <a:lnTo>
                    <a:pt x="0" y="204"/>
                  </a:lnTo>
                  <a:lnTo>
                    <a:pt x="6" y="210"/>
                  </a:lnTo>
                  <a:lnTo>
                    <a:pt x="6" y="216"/>
                  </a:lnTo>
                  <a:lnTo>
                    <a:pt x="96" y="396"/>
                  </a:lnTo>
                  <a:lnTo>
                    <a:pt x="102" y="402"/>
                  </a:lnTo>
                  <a:lnTo>
                    <a:pt x="108" y="402"/>
                  </a:lnTo>
                  <a:lnTo>
                    <a:pt x="108" y="408"/>
                  </a:lnTo>
                  <a:lnTo>
                    <a:pt x="114" y="408"/>
                  </a:lnTo>
                  <a:lnTo>
                    <a:pt x="120" y="414"/>
                  </a:lnTo>
                  <a:lnTo>
                    <a:pt x="126" y="414"/>
                  </a:lnTo>
                  <a:lnTo>
                    <a:pt x="132" y="414"/>
                  </a:lnTo>
                  <a:lnTo>
                    <a:pt x="138" y="414"/>
                  </a:lnTo>
                  <a:lnTo>
                    <a:pt x="144" y="408"/>
                  </a:lnTo>
                  <a:lnTo>
                    <a:pt x="150" y="408"/>
                  </a:lnTo>
                  <a:lnTo>
                    <a:pt x="462" y="246"/>
                  </a:lnTo>
                  <a:lnTo>
                    <a:pt x="468" y="240"/>
                  </a:lnTo>
                  <a:lnTo>
                    <a:pt x="474" y="234"/>
                  </a:lnTo>
                  <a:lnTo>
                    <a:pt x="474" y="228"/>
                  </a:lnTo>
                  <a:lnTo>
                    <a:pt x="480" y="222"/>
                  </a:lnTo>
                  <a:lnTo>
                    <a:pt x="480" y="216"/>
                  </a:lnTo>
                  <a:lnTo>
                    <a:pt x="480" y="210"/>
                  </a:lnTo>
                  <a:lnTo>
                    <a:pt x="480" y="204"/>
                  </a:lnTo>
                  <a:lnTo>
                    <a:pt x="474" y="19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78" y="12"/>
                  </a:lnTo>
                  <a:lnTo>
                    <a:pt x="372" y="6"/>
                  </a:lnTo>
                  <a:lnTo>
                    <a:pt x="372" y="0"/>
                  </a:lnTo>
                  <a:lnTo>
                    <a:pt x="366" y="0"/>
                  </a:lnTo>
                  <a:lnTo>
                    <a:pt x="360" y="0"/>
                  </a:lnTo>
                  <a:lnTo>
                    <a:pt x="354" y="0"/>
                  </a:lnTo>
                  <a:lnTo>
                    <a:pt x="348" y="0"/>
                  </a:lnTo>
                  <a:lnTo>
                    <a:pt x="342" y="0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5712" y="1050"/>
              <a:ext cx="480" cy="414"/>
            </a:xfrm>
            <a:custGeom>
              <a:avLst/>
              <a:gdLst>
                <a:gd name="T0" fmla="*/ 336 w 480"/>
                <a:gd name="T1" fmla="*/ 0 h 414"/>
                <a:gd name="T2" fmla="*/ 24 w 480"/>
                <a:gd name="T3" fmla="*/ 168 h 414"/>
                <a:gd name="T4" fmla="*/ 18 w 480"/>
                <a:gd name="T5" fmla="*/ 168 h 414"/>
                <a:gd name="T6" fmla="*/ 12 w 480"/>
                <a:gd name="T7" fmla="*/ 174 h 414"/>
                <a:gd name="T8" fmla="*/ 6 w 480"/>
                <a:gd name="T9" fmla="*/ 180 h 414"/>
                <a:gd name="T10" fmla="*/ 6 w 480"/>
                <a:gd name="T11" fmla="*/ 186 h 414"/>
                <a:gd name="T12" fmla="*/ 0 w 480"/>
                <a:gd name="T13" fmla="*/ 192 h 414"/>
                <a:gd name="T14" fmla="*/ 0 w 480"/>
                <a:gd name="T15" fmla="*/ 204 h 414"/>
                <a:gd name="T16" fmla="*/ 6 w 480"/>
                <a:gd name="T17" fmla="*/ 210 h 414"/>
                <a:gd name="T18" fmla="*/ 6 w 480"/>
                <a:gd name="T19" fmla="*/ 216 h 414"/>
                <a:gd name="T20" fmla="*/ 96 w 480"/>
                <a:gd name="T21" fmla="*/ 396 h 414"/>
                <a:gd name="T22" fmla="*/ 96 w 480"/>
                <a:gd name="T23" fmla="*/ 396 h 414"/>
                <a:gd name="T24" fmla="*/ 102 w 480"/>
                <a:gd name="T25" fmla="*/ 402 h 414"/>
                <a:gd name="T26" fmla="*/ 102 w 480"/>
                <a:gd name="T27" fmla="*/ 402 h 414"/>
                <a:gd name="T28" fmla="*/ 108 w 480"/>
                <a:gd name="T29" fmla="*/ 402 h 414"/>
                <a:gd name="T30" fmla="*/ 108 w 480"/>
                <a:gd name="T31" fmla="*/ 408 h 414"/>
                <a:gd name="T32" fmla="*/ 114 w 480"/>
                <a:gd name="T33" fmla="*/ 408 h 414"/>
                <a:gd name="T34" fmla="*/ 114 w 480"/>
                <a:gd name="T35" fmla="*/ 408 h 414"/>
                <a:gd name="T36" fmla="*/ 120 w 480"/>
                <a:gd name="T37" fmla="*/ 414 h 414"/>
                <a:gd name="T38" fmla="*/ 120 w 480"/>
                <a:gd name="T39" fmla="*/ 414 h 414"/>
                <a:gd name="T40" fmla="*/ 126 w 480"/>
                <a:gd name="T41" fmla="*/ 414 h 414"/>
                <a:gd name="T42" fmla="*/ 132 w 480"/>
                <a:gd name="T43" fmla="*/ 414 h 414"/>
                <a:gd name="T44" fmla="*/ 132 w 480"/>
                <a:gd name="T45" fmla="*/ 414 h 414"/>
                <a:gd name="T46" fmla="*/ 138 w 480"/>
                <a:gd name="T47" fmla="*/ 414 h 414"/>
                <a:gd name="T48" fmla="*/ 138 w 480"/>
                <a:gd name="T49" fmla="*/ 414 h 414"/>
                <a:gd name="T50" fmla="*/ 144 w 480"/>
                <a:gd name="T51" fmla="*/ 408 h 414"/>
                <a:gd name="T52" fmla="*/ 150 w 480"/>
                <a:gd name="T53" fmla="*/ 408 h 414"/>
                <a:gd name="T54" fmla="*/ 462 w 480"/>
                <a:gd name="T55" fmla="*/ 246 h 414"/>
                <a:gd name="T56" fmla="*/ 468 w 480"/>
                <a:gd name="T57" fmla="*/ 240 h 414"/>
                <a:gd name="T58" fmla="*/ 474 w 480"/>
                <a:gd name="T59" fmla="*/ 234 h 414"/>
                <a:gd name="T60" fmla="*/ 474 w 480"/>
                <a:gd name="T61" fmla="*/ 228 h 414"/>
                <a:gd name="T62" fmla="*/ 480 w 480"/>
                <a:gd name="T63" fmla="*/ 222 h 414"/>
                <a:gd name="T64" fmla="*/ 480 w 480"/>
                <a:gd name="T65" fmla="*/ 216 h 414"/>
                <a:gd name="T66" fmla="*/ 480 w 480"/>
                <a:gd name="T67" fmla="*/ 210 h 414"/>
                <a:gd name="T68" fmla="*/ 480 w 480"/>
                <a:gd name="T69" fmla="*/ 204 h 414"/>
                <a:gd name="T70" fmla="*/ 474 w 480"/>
                <a:gd name="T71" fmla="*/ 198 h 414"/>
                <a:gd name="T72" fmla="*/ 384 w 480"/>
                <a:gd name="T73" fmla="*/ 18 h 414"/>
                <a:gd name="T74" fmla="*/ 384 w 480"/>
                <a:gd name="T75" fmla="*/ 12 h 414"/>
                <a:gd name="T76" fmla="*/ 378 w 480"/>
                <a:gd name="T77" fmla="*/ 12 h 414"/>
                <a:gd name="T78" fmla="*/ 378 w 480"/>
                <a:gd name="T79" fmla="*/ 12 h 414"/>
                <a:gd name="T80" fmla="*/ 372 w 480"/>
                <a:gd name="T81" fmla="*/ 6 h 414"/>
                <a:gd name="T82" fmla="*/ 372 w 480"/>
                <a:gd name="T83" fmla="*/ 6 h 414"/>
                <a:gd name="T84" fmla="*/ 372 w 480"/>
                <a:gd name="T85" fmla="*/ 0 h 414"/>
                <a:gd name="T86" fmla="*/ 366 w 480"/>
                <a:gd name="T87" fmla="*/ 0 h 414"/>
                <a:gd name="T88" fmla="*/ 360 w 480"/>
                <a:gd name="T89" fmla="*/ 0 h 414"/>
                <a:gd name="T90" fmla="*/ 360 w 480"/>
                <a:gd name="T91" fmla="*/ 0 h 414"/>
                <a:gd name="T92" fmla="*/ 354 w 480"/>
                <a:gd name="T93" fmla="*/ 0 h 414"/>
                <a:gd name="T94" fmla="*/ 354 w 480"/>
                <a:gd name="T95" fmla="*/ 0 h 414"/>
                <a:gd name="T96" fmla="*/ 348 w 480"/>
                <a:gd name="T97" fmla="*/ 0 h 414"/>
                <a:gd name="T98" fmla="*/ 342 w 480"/>
                <a:gd name="T99" fmla="*/ 0 h 414"/>
                <a:gd name="T100" fmla="*/ 342 w 480"/>
                <a:gd name="T101" fmla="*/ 0 h 414"/>
                <a:gd name="T102" fmla="*/ 336 w 480"/>
                <a:gd name="T103" fmla="*/ 0 h 414"/>
                <a:gd name="T104" fmla="*/ 336 w 480"/>
                <a:gd name="T105" fmla="*/ 0 h 414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w 480"/>
                <a:gd name="T160" fmla="*/ 0 h 414"/>
                <a:gd name="T161" fmla="*/ 480 w 480"/>
                <a:gd name="T162" fmla="*/ 414 h 414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T159" t="T160" r="T161" b="T162"/>
              <a:pathLst>
                <a:path w="480" h="414">
                  <a:moveTo>
                    <a:pt x="336" y="0"/>
                  </a:moveTo>
                  <a:lnTo>
                    <a:pt x="24" y="168"/>
                  </a:lnTo>
                  <a:lnTo>
                    <a:pt x="18" y="168"/>
                  </a:lnTo>
                  <a:lnTo>
                    <a:pt x="12" y="174"/>
                  </a:lnTo>
                  <a:lnTo>
                    <a:pt x="6" y="180"/>
                  </a:lnTo>
                  <a:lnTo>
                    <a:pt x="6" y="186"/>
                  </a:lnTo>
                  <a:lnTo>
                    <a:pt x="0" y="192"/>
                  </a:lnTo>
                  <a:lnTo>
                    <a:pt x="0" y="204"/>
                  </a:lnTo>
                  <a:lnTo>
                    <a:pt x="6" y="210"/>
                  </a:lnTo>
                  <a:lnTo>
                    <a:pt x="6" y="216"/>
                  </a:lnTo>
                  <a:lnTo>
                    <a:pt x="96" y="396"/>
                  </a:lnTo>
                  <a:lnTo>
                    <a:pt x="102" y="402"/>
                  </a:lnTo>
                  <a:lnTo>
                    <a:pt x="108" y="402"/>
                  </a:lnTo>
                  <a:lnTo>
                    <a:pt x="108" y="408"/>
                  </a:lnTo>
                  <a:lnTo>
                    <a:pt x="114" y="408"/>
                  </a:lnTo>
                  <a:lnTo>
                    <a:pt x="120" y="414"/>
                  </a:lnTo>
                  <a:lnTo>
                    <a:pt x="126" y="414"/>
                  </a:lnTo>
                  <a:lnTo>
                    <a:pt x="132" y="414"/>
                  </a:lnTo>
                  <a:lnTo>
                    <a:pt x="138" y="414"/>
                  </a:lnTo>
                  <a:lnTo>
                    <a:pt x="144" y="408"/>
                  </a:lnTo>
                  <a:lnTo>
                    <a:pt x="150" y="408"/>
                  </a:lnTo>
                  <a:lnTo>
                    <a:pt x="462" y="246"/>
                  </a:lnTo>
                  <a:lnTo>
                    <a:pt x="468" y="240"/>
                  </a:lnTo>
                  <a:lnTo>
                    <a:pt x="474" y="234"/>
                  </a:lnTo>
                  <a:lnTo>
                    <a:pt x="474" y="228"/>
                  </a:lnTo>
                  <a:lnTo>
                    <a:pt x="480" y="222"/>
                  </a:lnTo>
                  <a:lnTo>
                    <a:pt x="480" y="216"/>
                  </a:lnTo>
                  <a:lnTo>
                    <a:pt x="480" y="210"/>
                  </a:lnTo>
                  <a:lnTo>
                    <a:pt x="480" y="204"/>
                  </a:lnTo>
                  <a:lnTo>
                    <a:pt x="474" y="198"/>
                  </a:lnTo>
                  <a:lnTo>
                    <a:pt x="384" y="18"/>
                  </a:lnTo>
                  <a:lnTo>
                    <a:pt x="384" y="12"/>
                  </a:lnTo>
                  <a:lnTo>
                    <a:pt x="378" y="12"/>
                  </a:lnTo>
                  <a:lnTo>
                    <a:pt x="372" y="6"/>
                  </a:lnTo>
                  <a:lnTo>
                    <a:pt x="372" y="0"/>
                  </a:lnTo>
                  <a:lnTo>
                    <a:pt x="366" y="0"/>
                  </a:lnTo>
                  <a:lnTo>
                    <a:pt x="360" y="0"/>
                  </a:lnTo>
                  <a:lnTo>
                    <a:pt x="354" y="0"/>
                  </a:lnTo>
                  <a:lnTo>
                    <a:pt x="348" y="0"/>
                  </a:lnTo>
                  <a:lnTo>
                    <a:pt x="342" y="0"/>
                  </a:lnTo>
                  <a:lnTo>
                    <a:pt x="336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5598" y="600"/>
              <a:ext cx="60" cy="102"/>
            </a:xfrm>
            <a:custGeom>
              <a:avLst/>
              <a:gdLst>
                <a:gd name="T0" fmla="*/ 60 w 60"/>
                <a:gd name="T1" fmla="*/ 0 h 102"/>
                <a:gd name="T2" fmla="*/ 0 w 60"/>
                <a:gd name="T3" fmla="*/ 48 h 102"/>
                <a:gd name="T4" fmla="*/ 36 w 60"/>
                <a:gd name="T5" fmla="*/ 102 h 102"/>
                <a:gd name="T6" fmla="*/ 0 60000 65536"/>
                <a:gd name="T7" fmla="*/ 0 60000 65536"/>
                <a:gd name="T8" fmla="*/ 0 60000 65536"/>
                <a:gd name="T9" fmla="*/ 0 w 60"/>
                <a:gd name="T10" fmla="*/ 0 h 102"/>
                <a:gd name="T11" fmla="*/ 60 w 60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02">
                  <a:moveTo>
                    <a:pt x="60" y="0"/>
                  </a:moveTo>
                  <a:lnTo>
                    <a:pt x="0" y="48"/>
                  </a:lnTo>
                  <a:lnTo>
                    <a:pt x="36" y="102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5694" y="630"/>
              <a:ext cx="60" cy="84"/>
            </a:xfrm>
            <a:custGeom>
              <a:avLst/>
              <a:gdLst>
                <a:gd name="T0" fmla="*/ 48 w 60"/>
                <a:gd name="T1" fmla="*/ 0 h 84"/>
                <a:gd name="T2" fmla="*/ 60 w 60"/>
                <a:gd name="T3" fmla="*/ 66 h 84"/>
                <a:gd name="T4" fmla="*/ 0 w 60"/>
                <a:gd name="T5" fmla="*/ 84 h 84"/>
                <a:gd name="T6" fmla="*/ 0 60000 65536"/>
                <a:gd name="T7" fmla="*/ 0 60000 65536"/>
                <a:gd name="T8" fmla="*/ 0 60000 65536"/>
                <a:gd name="T9" fmla="*/ 0 w 60"/>
                <a:gd name="T10" fmla="*/ 0 h 84"/>
                <a:gd name="T11" fmla="*/ 60 w 60"/>
                <a:gd name="T12" fmla="*/ 84 h 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84">
                  <a:moveTo>
                    <a:pt x="48" y="0"/>
                  </a:moveTo>
                  <a:lnTo>
                    <a:pt x="60" y="66"/>
                  </a:lnTo>
                  <a:lnTo>
                    <a:pt x="0" y="84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" name="Rectangle 2"/>
          <p:cNvSpPr txBox="1">
            <a:spLocks noChangeArrowheads="1"/>
          </p:cNvSpPr>
          <p:nvPr/>
        </p:nvSpPr>
        <p:spPr bwMode="auto">
          <a:xfrm>
            <a:off x="1585913" y="4365625"/>
            <a:ext cx="6083300" cy="197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defRPr/>
            </a:pPr>
            <a:r>
              <a:rPr lang="en-US" sz="3200" kern="0" dirty="0" err="1">
                <a:latin typeface="Incised901 BT" pitchFamily="34" charset="0"/>
              </a:rPr>
              <a:t>Analise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todas</a:t>
            </a:r>
            <a:r>
              <a:rPr lang="en-US" sz="3200" kern="0" dirty="0">
                <a:latin typeface="Incised901 BT" pitchFamily="34" charset="0"/>
              </a:rPr>
              <a:t> as </a:t>
            </a:r>
            <a:r>
              <a:rPr lang="en-US" sz="3200" kern="0" dirty="0" err="1">
                <a:latin typeface="Incised901 BT" pitchFamily="34" charset="0"/>
              </a:rPr>
              <a:t>atividades</a:t>
            </a:r>
            <a:r>
              <a:rPr lang="en-US" sz="3200" kern="0" dirty="0">
                <a:latin typeface="Incised901 BT" pitchFamily="34" charset="0"/>
              </a:rPr>
              <a:t> e </a:t>
            </a:r>
            <a:r>
              <a:rPr lang="en-US" sz="3200" kern="0" dirty="0" err="1">
                <a:latin typeface="Incised901 BT" pitchFamily="34" charset="0"/>
              </a:rPr>
              <a:t>promova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melhorias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em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todos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os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aspectos</a:t>
            </a:r>
            <a:r>
              <a:rPr lang="en-US" sz="3200" kern="0" dirty="0">
                <a:latin typeface="Incised901 BT" pitchFamily="34" charset="0"/>
              </a:rPr>
              <a:t> do setup, </a:t>
            </a:r>
            <a:r>
              <a:rPr lang="en-US" sz="3200" kern="0" dirty="0" err="1">
                <a:latin typeface="Incised901 BT" pitchFamily="34" charset="0"/>
              </a:rPr>
              <a:t>tanto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externos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quanto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internos</a:t>
            </a:r>
            <a:r>
              <a:rPr lang="en-US" sz="3200" kern="0" dirty="0">
                <a:latin typeface="Incised901 BT" pitchFamily="34" charset="0"/>
              </a:rPr>
              <a:t>.</a:t>
            </a:r>
            <a:endParaRPr lang="pt-BR" sz="3200" kern="0" dirty="0">
              <a:latin typeface="Incised901 BT" pitchFamily="34" charset="0"/>
            </a:endParaRPr>
          </a:p>
        </p:txBody>
      </p:sp>
      <p:sp>
        <p:nvSpPr>
          <p:cNvPr id="27" name="Retângulo de cantos arredondados 3">
            <a:extLst>
              <a:ext uri="{FF2B5EF4-FFF2-40B4-BE49-F238E27FC236}">
                <a16:creationId xmlns:a16="http://schemas.microsoft.com/office/drawing/2014/main" id="{CBFCE95C-340F-4DD7-946C-8D7246A91B77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46274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539750" y="1528763"/>
            <a:ext cx="818197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3000" b="1">
                <a:latin typeface="Incised901 BT"/>
              </a:rPr>
              <a:t>Racionalizando todos os aspectos do setup</a:t>
            </a:r>
            <a:endParaRPr lang="pt-BR" altLang="pt-BR" sz="3000" b="1">
              <a:latin typeface="Incised901 BT"/>
            </a:endParaRPr>
          </a:p>
        </p:txBody>
      </p:sp>
      <p:grpSp>
        <p:nvGrpSpPr>
          <p:cNvPr id="6" name="Grupo 21"/>
          <p:cNvGrpSpPr>
            <a:grpSpLocks/>
          </p:cNvGrpSpPr>
          <p:nvPr/>
        </p:nvGrpSpPr>
        <p:grpSpPr bwMode="auto">
          <a:xfrm>
            <a:off x="1500188" y="2428875"/>
            <a:ext cx="6284912" cy="2144713"/>
            <a:chOff x="1500166" y="2428868"/>
            <a:chExt cx="6284942" cy="2145261"/>
          </a:xfrm>
        </p:grpSpPr>
        <p:grpSp>
          <p:nvGrpSpPr>
            <p:cNvPr id="7" name="Grupo 13"/>
            <p:cNvGrpSpPr>
              <a:grpSpLocks/>
            </p:cNvGrpSpPr>
            <p:nvPr/>
          </p:nvGrpSpPr>
          <p:grpSpPr bwMode="auto">
            <a:xfrm>
              <a:off x="1500166" y="2428868"/>
              <a:ext cx="6284942" cy="2145261"/>
              <a:chOff x="1500166" y="2428868"/>
              <a:chExt cx="6284942" cy="2145261"/>
            </a:xfrm>
          </p:grpSpPr>
          <p:sp>
            <p:nvSpPr>
              <p:cNvPr id="10" name="Rectangle 8"/>
              <p:cNvSpPr>
                <a:spLocks noChangeArrowheads="1"/>
              </p:cNvSpPr>
              <p:nvPr/>
            </p:nvSpPr>
            <p:spPr bwMode="auto">
              <a:xfrm>
                <a:off x="2903550" y="3545162"/>
                <a:ext cx="1182687" cy="4543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>
                  <a:latin typeface="Arial MT Black"/>
                </a:endParaRPr>
              </a:p>
            </p:txBody>
          </p:sp>
          <p:sp>
            <p:nvSpPr>
              <p:cNvPr id="11" name="Freeform 3"/>
              <p:cNvSpPr>
                <a:spLocks/>
              </p:cNvSpPr>
              <p:nvPr/>
            </p:nvSpPr>
            <p:spPr bwMode="auto">
              <a:xfrm>
                <a:off x="1928794" y="3284003"/>
                <a:ext cx="3786214" cy="1288005"/>
              </a:xfrm>
              <a:custGeom>
                <a:avLst/>
                <a:gdLst>
                  <a:gd name="T0" fmla="*/ 2147483646 w 5398"/>
                  <a:gd name="T1" fmla="*/ 2147483646 h 2602"/>
                  <a:gd name="T2" fmla="*/ 2147483646 w 5398"/>
                  <a:gd name="T3" fmla="*/ 2147483646 h 2602"/>
                  <a:gd name="T4" fmla="*/ 2147483646 w 5398"/>
                  <a:gd name="T5" fmla="*/ 2147483646 h 2602"/>
                  <a:gd name="T6" fmla="*/ 2147483646 w 5398"/>
                  <a:gd name="T7" fmla="*/ 2147483646 h 2602"/>
                  <a:gd name="T8" fmla="*/ 2147483646 w 5398"/>
                  <a:gd name="T9" fmla="*/ 2147483646 h 2602"/>
                  <a:gd name="T10" fmla="*/ 2147483646 w 5398"/>
                  <a:gd name="T11" fmla="*/ 2147483646 h 2602"/>
                  <a:gd name="T12" fmla="*/ 2147483646 w 5398"/>
                  <a:gd name="T13" fmla="*/ 2147483646 h 2602"/>
                  <a:gd name="T14" fmla="*/ 2147483646 w 5398"/>
                  <a:gd name="T15" fmla="*/ 2147483646 h 2602"/>
                  <a:gd name="T16" fmla="*/ 2147483646 w 5398"/>
                  <a:gd name="T17" fmla="*/ 2147483646 h 2602"/>
                  <a:gd name="T18" fmla="*/ 2147483646 w 5398"/>
                  <a:gd name="T19" fmla="*/ 2147483646 h 2602"/>
                  <a:gd name="T20" fmla="*/ 2147483646 w 5398"/>
                  <a:gd name="T21" fmla="*/ 2147483646 h 2602"/>
                  <a:gd name="T22" fmla="*/ 2147483646 w 5398"/>
                  <a:gd name="T23" fmla="*/ 2147483646 h 2602"/>
                  <a:gd name="T24" fmla="*/ 2147483646 w 5398"/>
                  <a:gd name="T25" fmla="*/ 2147483646 h 2602"/>
                  <a:gd name="T26" fmla="*/ 2147483646 w 5398"/>
                  <a:gd name="T27" fmla="*/ 2147483646 h 2602"/>
                  <a:gd name="T28" fmla="*/ 2147483646 w 5398"/>
                  <a:gd name="T29" fmla="*/ 2147483646 h 2602"/>
                  <a:gd name="T30" fmla="*/ 2147483646 w 5398"/>
                  <a:gd name="T31" fmla="*/ 2147483646 h 2602"/>
                  <a:gd name="T32" fmla="*/ 2147483646 w 5398"/>
                  <a:gd name="T33" fmla="*/ 2147483646 h 2602"/>
                  <a:gd name="T34" fmla="*/ 2147483646 w 5398"/>
                  <a:gd name="T35" fmla="*/ 2147483646 h 2602"/>
                  <a:gd name="T36" fmla="*/ 2147483646 w 5398"/>
                  <a:gd name="T37" fmla="*/ 2147483646 h 2602"/>
                  <a:gd name="T38" fmla="*/ 2147483646 w 5398"/>
                  <a:gd name="T39" fmla="*/ 0 h 2602"/>
                  <a:gd name="T40" fmla="*/ 2147483646 w 5398"/>
                  <a:gd name="T41" fmla="*/ 2147483646 h 2602"/>
                  <a:gd name="T42" fmla="*/ 2147483646 w 5398"/>
                  <a:gd name="T43" fmla="*/ 2147483646 h 2602"/>
                  <a:gd name="T44" fmla="*/ 2147483646 w 5398"/>
                  <a:gd name="T45" fmla="*/ 2147483646 h 2602"/>
                  <a:gd name="T46" fmla="*/ 2147483646 w 5398"/>
                  <a:gd name="T47" fmla="*/ 2147483646 h 2602"/>
                  <a:gd name="T48" fmla="*/ 2147483646 w 5398"/>
                  <a:gd name="T49" fmla="*/ 2147483646 h 2602"/>
                  <a:gd name="T50" fmla="*/ 2147483646 w 5398"/>
                  <a:gd name="T51" fmla="*/ 2147483646 h 2602"/>
                  <a:gd name="T52" fmla="*/ 2147483646 w 5398"/>
                  <a:gd name="T53" fmla="*/ 2147483646 h 2602"/>
                  <a:gd name="T54" fmla="*/ 2147483646 w 5398"/>
                  <a:gd name="T55" fmla="*/ 2147483646 h 2602"/>
                  <a:gd name="T56" fmla="*/ 2147483646 w 5398"/>
                  <a:gd name="T57" fmla="*/ 2147483646 h 2602"/>
                  <a:gd name="T58" fmla="*/ 2147483646 w 5398"/>
                  <a:gd name="T59" fmla="*/ 2147483646 h 2602"/>
                  <a:gd name="T60" fmla="*/ 2147483646 w 5398"/>
                  <a:gd name="T61" fmla="*/ 2147483646 h 2602"/>
                  <a:gd name="T62" fmla="*/ 2147483646 w 5398"/>
                  <a:gd name="T63" fmla="*/ 2147483646 h 2602"/>
                  <a:gd name="T64" fmla="*/ 2147483646 w 5398"/>
                  <a:gd name="T65" fmla="*/ 2147483646 h 2602"/>
                  <a:gd name="T66" fmla="*/ 2147483646 w 5398"/>
                  <a:gd name="T67" fmla="*/ 2147483646 h 2602"/>
                  <a:gd name="T68" fmla="*/ 2147483646 w 5398"/>
                  <a:gd name="T69" fmla="*/ 2147483646 h 2602"/>
                  <a:gd name="T70" fmla="*/ 2147483646 w 5398"/>
                  <a:gd name="T71" fmla="*/ 2147483646 h 2602"/>
                  <a:gd name="T72" fmla="*/ 2147483646 w 5398"/>
                  <a:gd name="T73" fmla="*/ 2147483646 h 2602"/>
                  <a:gd name="T74" fmla="*/ 2147483646 w 5398"/>
                  <a:gd name="T75" fmla="*/ 2147483646 h 2602"/>
                  <a:gd name="T76" fmla="*/ 2147483646 w 5398"/>
                  <a:gd name="T77" fmla="*/ 2147483646 h 2602"/>
                  <a:gd name="T78" fmla="*/ 2147483646 w 5398"/>
                  <a:gd name="T79" fmla="*/ 2147483646 h 2602"/>
                  <a:gd name="T80" fmla="*/ 2147483646 w 5398"/>
                  <a:gd name="T81" fmla="*/ 2147483646 h 2602"/>
                  <a:gd name="T82" fmla="*/ 2147483646 w 5398"/>
                  <a:gd name="T83" fmla="*/ 2147483646 h 2602"/>
                  <a:gd name="T84" fmla="*/ 2147483646 w 5398"/>
                  <a:gd name="T85" fmla="*/ 2147483646 h 2602"/>
                  <a:gd name="T86" fmla="*/ 2147483646 w 5398"/>
                  <a:gd name="T87" fmla="*/ 2147483646 h 2602"/>
                  <a:gd name="T88" fmla="*/ 2147483646 w 5398"/>
                  <a:gd name="T89" fmla="*/ 2147483646 h 2602"/>
                  <a:gd name="T90" fmla="*/ 2147483646 w 5398"/>
                  <a:gd name="T91" fmla="*/ 2147483646 h 260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398"/>
                  <a:gd name="T139" fmla="*/ 0 h 2602"/>
                  <a:gd name="T140" fmla="*/ 5398 w 5398"/>
                  <a:gd name="T141" fmla="*/ 2602 h 260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398" h="2602">
                    <a:moveTo>
                      <a:pt x="0" y="2600"/>
                    </a:moveTo>
                    <a:lnTo>
                      <a:pt x="5" y="2506"/>
                    </a:lnTo>
                    <a:lnTo>
                      <a:pt x="11" y="2432"/>
                    </a:lnTo>
                    <a:lnTo>
                      <a:pt x="25" y="2306"/>
                    </a:lnTo>
                    <a:lnTo>
                      <a:pt x="40" y="2190"/>
                    </a:lnTo>
                    <a:lnTo>
                      <a:pt x="51" y="2118"/>
                    </a:lnTo>
                    <a:lnTo>
                      <a:pt x="77" y="2011"/>
                    </a:lnTo>
                    <a:lnTo>
                      <a:pt x="95" y="1934"/>
                    </a:lnTo>
                    <a:lnTo>
                      <a:pt x="121" y="1853"/>
                    </a:lnTo>
                    <a:lnTo>
                      <a:pt x="156" y="1739"/>
                    </a:lnTo>
                    <a:lnTo>
                      <a:pt x="198" y="1639"/>
                    </a:lnTo>
                    <a:lnTo>
                      <a:pt x="226" y="1569"/>
                    </a:lnTo>
                    <a:lnTo>
                      <a:pt x="277" y="1464"/>
                    </a:lnTo>
                    <a:lnTo>
                      <a:pt x="340" y="1348"/>
                    </a:lnTo>
                    <a:lnTo>
                      <a:pt x="382" y="1281"/>
                    </a:lnTo>
                    <a:lnTo>
                      <a:pt x="435" y="1202"/>
                    </a:lnTo>
                    <a:lnTo>
                      <a:pt x="505" y="1090"/>
                    </a:lnTo>
                    <a:lnTo>
                      <a:pt x="563" y="1021"/>
                    </a:lnTo>
                    <a:lnTo>
                      <a:pt x="625" y="944"/>
                    </a:lnTo>
                    <a:lnTo>
                      <a:pt x="726" y="837"/>
                    </a:lnTo>
                    <a:lnTo>
                      <a:pt x="789" y="765"/>
                    </a:lnTo>
                    <a:lnTo>
                      <a:pt x="858" y="707"/>
                    </a:lnTo>
                    <a:lnTo>
                      <a:pt x="935" y="637"/>
                    </a:lnTo>
                    <a:lnTo>
                      <a:pt x="1003" y="581"/>
                    </a:lnTo>
                    <a:lnTo>
                      <a:pt x="1077" y="528"/>
                    </a:lnTo>
                    <a:lnTo>
                      <a:pt x="1214" y="434"/>
                    </a:lnTo>
                    <a:lnTo>
                      <a:pt x="1293" y="385"/>
                    </a:lnTo>
                    <a:lnTo>
                      <a:pt x="1358" y="348"/>
                    </a:lnTo>
                    <a:lnTo>
                      <a:pt x="1467" y="290"/>
                    </a:lnTo>
                    <a:lnTo>
                      <a:pt x="1579" y="239"/>
                    </a:lnTo>
                    <a:lnTo>
                      <a:pt x="1672" y="197"/>
                    </a:lnTo>
                    <a:lnTo>
                      <a:pt x="1768" y="160"/>
                    </a:lnTo>
                    <a:lnTo>
                      <a:pt x="1861" y="134"/>
                    </a:lnTo>
                    <a:lnTo>
                      <a:pt x="1919" y="113"/>
                    </a:lnTo>
                    <a:lnTo>
                      <a:pt x="1998" y="90"/>
                    </a:lnTo>
                    <a:lnTo>
                      <a:pt x="2116" y="60"/>
                    </a:lnTo>
                    <a:lnTo>
                      <a:pt x="2258" y="37"/>
                    </a:lnTo>
                    <a:lnTo>
                      <a:pt x="2384" y="21"/>
                    </a:lnTo>
                    <a:lnTo>
                      <a:pt x="2519" y="7"/>
                    </a:lnTo>
                    <a:lnTo>
                      <a:pt x="2658" y="0"/>
                    </a:lnTo>
                    <a:lnTo>
                      <a:pt x="2747" y="2"/>
                    </a:lnTo>
                    <a:lnTo>
                      <a:pt x="2826" y="2"/>
                    </a:lnTo>
                    <a:lnTo>
                      <a:pt x="2893" y="7"/>
                    </a:lnTo>
                    <a:lnTo>
                      <a:pt x="2973" y="13"/>
                    </a:lnTo>
                    <a:lnTo>
                      <a:pt x="3042" y="23"/>
                    </a:lnTo>
                    <a:lnTo>
                      <a:pt x="3087" y="28"/>
                    </a:lnTo>
                    <a:lnTo>
                      <a:pt x="3168" y="42"/>
                    </a:lnTo>
                    <a:lnTo>
                      <a:pt x="3251" y="58"/>
                    </a:lnTo>
                    <a:lnTo>
                      <a:pt x="3337" y="76"/>
                    </a:lnTo>
                    <a:lnTo>
                      <a:pt x="3430" y="97"/>
                    </a:lnTo>
                    <a:lnTo>
                      <a:pt x="3529" y="128"/>
                    </a:lnTo>
                    <a:lnTo>
                      <a:pt x="3608" y="153"/>
                    </a:lnTo>
                    <a:lnTo>
                      <a:pt x="3682" y="176"/>
                    </a:lnTo>
                    <a:lnTo>
                      <a:pt x="3779" y="216"/>
                    </a:lnTo>
                    <a:lnTo>
                      <a:pt x="3866" y="255"/>
                    </a:lnTo>
                    <a:lnTo>
                      <a:pt x="3921" y="281"/>
                    </a:lnTo>
                    <a:lnTo>
                      <a:pt x="3947" y="297"/>
                    </a:lnTo>
                    <a:lnTo>
                      <a:pt x="3998" y="327"/>
                    </a:lnTo>
                    <a:lnTo>
                      <a:pt x="4061" y="360"/>
                    </a:lnTo>
                    <a:lnTo>
                      <a:pt x="4126" y="400"/>
                    </a:lnTo>
                    <a:lnTo>
                      <a:pt x="4198" y="439"/>
                    </a:lnTo>
                    <a:lnTo>
                      <a:pt x="4247" y="474"/>
                    </a:lnTo>
                    <a:lnTo>
                      <a:pt x="4315" y="527"/>
                    </a:lnTo>
                    <a:lnTo>
                      <a:pt x="4384" y="572"/>
                    </a:lnTo>
                    <a:lnTo>
                      <a:pt x="4468" y="644"/>
                    </a:lnTo>
                    <a:lnTo>
                      <a:pt x="4545" y="707"/>
                    </a:lnTo>
                    <a:lnTo>
                      <a:pt x="4603" y="769"/>
                    </a:lnTo>
                    <a:lnTo>
                      <a:pt x="4656" y="813"/>
                    </a:lnTo>
                    <a:lnTo>
                      <a:pt x="4703" y="863"/>
                    </a:lnTo>
                    <a:lnTo>
                      <a:pt x="4752" y="921"/>
                    </a:lnTo>
                    <a:lnTo>
                      <a:pt x="4798" y="971"/>
                    </a:lnTo>
                    <a:lnTo>
                      <a:pt x="4850" y="1044"/>
                    </a:lnTo>
                    <a:lnTo>
                      <a:pt x="4894" y="1102"/>
                    </a:lnTo>
                    <a:lnTo>
                      <a:pt x="4942" y="1165"/>
                    </a:lnTo>
                    <a:lnTo>
                      <a:pt x="4984" y="1232"/>
                    </a:lnTo>
                    <a:lnTo>
                      <a:pt x="5021" y="1297"/>
                    </a:lnTo>
                    <a:lnTo>
                      <a:pt x="5071" y="1376"/>
                    </a:lnTo>
                    <a:lnTo>
                      <a:pt x="5142" y="1499"/>
                    </a:lnTo>
                    <a:lnTo>
                      <a:pt x="5182" y="1602"/>
                    </a:lnTo>
                    <a:lnTo>
                      <a:pt x="5226" y="1711"/>
                    </a:lnTo>
                    <a:lnTo>
                      <a:pt x="5256" y="1795"/>
                    </a:lnTo>
                    <a:lnTo>
                      <a:pt x="5287" y="1885"/>
                    </a:lnTo>
                    <a:lnTo>
                      <a:pt x="5315" y="1981"/>
                    </a:lnTo>
                    <a:lnTo>
                      <a:pt x="5336" y="2086"/>
                    </a:lnTo>
                    <a:lnTo>
                      <a:pt x="5357" y="2195"/>
                    </a:lnTo>
                    <a:lnTo>
                      <a:pt x="5368" y="2276"/>
                    </a:lnTo>
                    <a:lnTo>
                      <a:pt x="5378" y="2323"/>
                    </a:lnTo>
                    <a:lnTo>
                      <a:pt x="5378" y="2348"/>
                    </a:lnTo>
                    <a:lnTo>
                      <a:pt x="5387" y="2418"/>
                    </a:lnTo>
                    <a:lnTo>
                      <a:pt x="5389" y="2495"/>
                    </a:lnTo>
                    <a:lnTo>
                      <a:pt x="5392" y="2548"/>
                    </a:lnTo>
                    <a:lnTo>
                      <a:pt x="5398" y="2602"/>
                    </a:lnTo>
                    <a:lnTo>
                      <a:pt x="0" y="2600"/>
                    </a:lnTo>
                    <a:close/>
                  </a:path>
                </a:pathLst>
              </a:custGeom>
              <a:solidFill>
                <a:srgbClr val="33CC33"/>
              </a:solidFill>
              <a:ln w="6350">
                <a:solidFill>
                  <a:srgbClr val="33CC33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2" name="Rectangle 6"/>
              <p:cNvSpPr>
                <a:spLocks noChangeArrowheads="1"/>
              </p:cNvSpPr>
              <p:nvPr/>
            </p:nvSpPr>
            <p:spPr bwMode="auto">
              <a:xfrm>
                <a:off x="1500166" y="3714752"/>
                <a:ext cx="1785950" cy="615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solidFill>
                      <a:srgbClr val="000000"/>
                    </a:solidFill>
                    <a:latin typeface="Arial MT Black"/>
                  </a:rPr>
                  <a:t>Atividades Internas</a:t>
                </a:r>
                <a:endParaRPr lang="pt-BR" altLang="pt-BR" sz="2000">
                  <a:latin typeface="Arial MT Black"/>
                </a:endParaRPr>
              </a:p>
            </p:txBody>
          </p:sp>
          <p:sp>
            <p:nvSpPr>
              <p:cNvPr id="13" name="Freeform 3"/>
              <p:cNvSpPr>
                <a:spLocks/>
              </p:cNvSpPr>
              <p:nvPr/>
            </p:nvSpPr>
            <p:spPr bwMode="auto">
              <a:xfrm>
                <a:off x="3428992" y="2428868"/>
                <a:ext cx="4356116" cy="2133569"/>
              </a:xfrm>
              <a:custGeom>
                <a:avLst/>
                <a:gdLst>
                  <a:gd name="T0" fmla="*/ 2147483646 w 5398"/>
                  <a:gd name="T1" fmla="*/ 2147483646 h 2602"/>
                  <a:gd name="T2" fmla="*/ 2147483646 w 5398"/>
                  <a:gd name="T3" fmla="*/ 2147483646 h 2602"/>
                  <a:gd name="T4" fmla="*/ 2147483646 w 5398"/>
                  <a:gd name="T5" fmla="*/ 2147483646 h 2602"/>
                  <a:gd name="T6" fmla="*/ 2147483646 w 5398"/>
                  <a:gd name="T7" fmla="*/ 2147483646 h 2602"/>
                  <a:gd name="T8" fmla="*/ 2147483646 w 5398"/>
                  <a:gd name="T9" fmla="*/ 2147483646 h 2602"/>
                  <a:gd name="T10" fmla="*/ 2147483646 w 5398"/>
                  <a:gd name="T11" fmla="*/ 2147483646 h 2602"/>
                  <a:gd name="T12" fmla="*/ 2147483646 w 5398"/>
                  <a:gd name="T13" fmla="*/ 2147483646 h 2602"/>
                  <a:gd name="T14" fmla="*/ 2147483646 w 5398"/>
                  <a:gd name="T15" fmla="*/ 2147483646 h 2602"/>
                  <a:gd name="T16" fmla="*/ 2147483646 w 5398"/>
                  <a:gd name="T17" fmla="*/ 2147483646 h 2602"/>
                  <a:gd name="T18" fmla="*/ 2147483646 w 5398"/>
                  <a:gd name="T19" fmla="*/ 2147483646 h 2602"/>
                  <a:gd name="T20" fmla="*/ 2147483646 w 5398"/>
                  <a:gd name="T21" fmla="*/ 2147483646 h 2602"/>
                  <a:gd name="T22" fmla="*/ 2147483646 w 5398"/>
                  <a:gd name="T23" fmla="*/ 2147483646 h 2602"/>
                  <a:gd name="T24" fmla="*/ 2147483646 w 5398"/>
                  <a:gd name="T25" fmla="*/ 2147483646 h 2602"/>
                  <a:gd name="T26" fmla="*/ 2147483646 w 5398"/>
                  <a:gd name="T27" fmla="*/ 2147483646 h 2602"/>
                  <a:gd name="T28" fmla="*/ 2147483646 w 5398"/>
                  <a:gd name="T29" fmla="*/ 2147483646 h 2602"/>
                  <a:gd name="T30" fmla="*/ 2147483646 w 5398"/>
                  <a:gd name="T31" fmla="*/ 2147483646 h 2602"/>
                  <a:gd name="T32" fmla="*/ 2147483646 w 5398"/>
                  <a:gd name="T33" fmla="*/ 2147483646 h 2602"/>
                  <a:gd name="T34" fmla="*/ 2147483646 w 5398"/>
                  <a:gd name="T35" fmla="*/ 2147483646 h 2602"/>
                  <a:gd name="T36" fmla="*/ 2147483646 w 5398"/>
                  <a:gd name="T37" fmla="*/ 2147483646 h 2602"/>
                  <a:gd name="T38" fmla="*/ 2147483646 w 5398"/>
                  <a:gd name="T39" fmla="*/ 0 h 2602"/>
                  <a:gd name="T40" fmla="*/ 2147483646 w 5398"/>
                  <a:gd name="T41" fmla="*/ 2147483646 h 2602"/>
                  <a:gd name="T42" fmla="*/ 2147483646 w 5398"/>
                  <a:gd name="T43" fmla="*/ 2147483646 h 2602"/>
                  <a:gd name="T44" fmla="*/ 2147483646 w 5398"/>
                  <a:gd name="T45" fmla="*/ 2147483646 h 2602"/>
                  <a:gd name="T46" fmla="*/ 2147483646 w 5398"/>
                  <a:gd name="T47" fmla="*/ 2147483646 h 2602"/>
                  <a:gd name="T48" fmla="*/ 2147483646 w 5398"/>
                  <a:gd name="T49" fmla="*/ 2147483646 h 2602"/>
                  <a:gd name="T50" fmla="*/ 2147483646 w 5398"/>
                  <a:gd name="T51" fmla="*/ 2147483646 h 2602"/>
                  <a:gd name="T52" fmla="*/ 2147483646 w 5398"/>
                  <a:gd name="T53" fmla="*/ 2147483646 h 2602"/>
                  <a:gd name="T54" fmla="*/ 2147483646 w 5398"/>
                  <a:gd name="T55" fmla="*/ 2147483646 h 2602"/>
                  <a:gd name="T56" fmla="*/ 2147483646 w 5398"/>
                  <a:gd name="T57" fmla="*/ 2147483646 h 2602"/>
                  <a:gd name="T58" fmla="*/ 2147483646 w 5398"/>
                  <a:gd name="T59" fmla="*/ 2147483646 h 2602"/>
                  <a:gd name="T60" fmla="*/ 2147483646 w 5398"/>
                  <a:gd name="T61" fmla="*/ 2147483646 h 2602"/>
                  <a:gd name="T62" fmla="*/ 2147483646 w 5398"/>
                  <a:gd name="T63" fmla="*/ 2147483646 h 2602"/>
                  <a:gd name="T64" fmla="*/ 2147483646 w 5398"/>
                  <a:gd name="T65" fmla="*/ 2147483646 h 2602"/>
                  <a:gd name="T66" fmla="*/ 2147483646 w 5398"/>
                  <a:gd name="T67" fmla="*/ 2147483646 h 2602"/>
                  <a:gd name="T68" fmla="*/ 2147483646 w 5398"/>
                  <a:gd name="T69" fmla="*/ 2147483646 h 2602"/>
                  <a:gd name="T70" fmla="*/ 2147483646 w 5398"/>
                  <a:gd name="T71" fmla="*/ 2147483646 h 2602"/>
                  <a:gd name="T72" fmla="*/ 2147483646 w 5398"/>
                  <a:gd name="T73" fmla="*/ 2147483646 h 2602"/>
                  <a:gd name="T74" fmla="*/ 2147483646 w 5398"/>
                  <a:gd name="T75" fmla="*/ 2147483646 h 2602"/>
                  <a:gd name="T76" fmla="*/ 2147483646 w 5398"/>
                  <a:gd name="T77" fmla="*/ 2147483646 h 2602"/>
                  <a:gd name="T78" fmla="*/ 2147483646 w 5398"/>
                  <a:gd name="T79" fmla="*/ 2147483646 h 2602"/>
                  <a:gd name="T80" fmla="*/ 2147483646 w 5398"/>
                  <a:gd name="T81" fmla="*/ 2147483646 h 2602"/>
                  <a:gd name="T82" fmla="*/ 2147483646 w 5398"/>
                  <a:gd name="T83" fmla="*/ 2147483646 h 2602"/>
                  <a:gd name="T84" fmla="*/ 2147483646 w 5398"/>
                  <a:gd name="T85" fmla="*/ 2147483646 h 2602"/>
                  <a:gd name="T86" fmla="*/ 2147483646 w 5398"/>
                  <a:gd name="T87" fmla="*/ 2147483646 h 2602"/>
                  <a:gd name="T88" fmla="*/ 2147483646 w 5398"/>
                  <a:gd name="T89" fmla="*/ 2147483646 h 2602"/>
                  <a:gd name="T90" fmla="*/ 2147483646 w 5398"/>
                  <a:gd name="T91" fmla="*/ 2147483646 h 260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398"/>
                  <a:gd name="T139" fmla="*/ 0 h 2602"/>
                  <a:gd name="T140" fmla="*/ 5398 w 5398"/>
                  <a:gd name="T141" fmla="*/ 2602 h 260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398" h="2602">
                    <a:moveTo>
                      <a:pt x="0" y="2600"/>
                    </a:moveTo>
                    <a:lnTo>
                      <a:pt x="5" y="2506"/>
                    </a:lnTo>
                    <a:lnTo>
                      <a:pt x="11" y="2432"/>
                    </a:lnTo>
                    <a:lnTo>
                      <a:pt x="25" y="2306"/>
                    </a:lnTo>
                    <a:lnTo>
                      <a:pt x="40" y="2190"/>
                    </a:lnTo>
                    <a:lnTo>
                      <a:pt x="51" y="2118"/>
                    </a:lnTo>
                    <a:lnTo>
                      <a:pt x="77" y="2011"/>
                    </a:lnTo>
                    <a:lnTo>
                      <a:pt x="95" y="1934"/>
                    </a:lnTo>
                    <a:lnTo>
                      <a:pt x="121" y="1853"/>
                    </a:lnTo>
                    <a:lnTo>
                      <a:pt x="156" y="1739"/>
                    </a:lnTo>
                    <a:lnTo>
                      <a:pt x="198" y="1639"/>
                    </a:lnTo>
                    <a:lnTo>
                      <a:pt x="226" y="1569"/>
                    </a:lnTo>
                    <a:lnTo>
                      <a:pt x="277" y="1464"/>
                    </a:lnTo>
                    <a:lnTo>
                      <a:pt x="340" y="1348"/>
                    </a:lnTo>
                    <a:lnTo>
                      <a:pt x="382" y="1281"/>
                    </a:lnTo>
                    <a:lnTo>
                      <a:pt x="435" y="1202"/>
                    </a:lnTo>
                    <a:lnTo>
                      <a:pt x="505" y="1090"/>
                    </a:lnTo>
                    <a:lnTo>
                      <a:pt x="563" y="1021"/>
                    </a:lnTo>
                    <a:lnTo>
                      <a:pt x="625" y="944"/>
                    </a:lnTo>
                    <a:lnTo>
                      <a:pt x="726" y="837"/>
                    </a:lnTo>
                    <a:lnTo>
                      <a:pt x="789" y="765"/>
                    </a:lnTo>
                    <a:lnTo>
                      <a:pt x="858" y="707"/>
                    </a:lnTo>
                    <a:lnTo>
                      <a:pt x="935" y="637"/>
                    </a:lnTo>
                    <a:lnTo>
                      <a:pt x="1003" y="581"/>
                    </a:lnTo>
                    <a:lnTo>
                      <a:pt x="1077" y="528"/>
                    </a:lnTo>
                    <a:lnTo>
                      <a:pt x="1214" y="434"/>
                    </a:lnTo>
                    <a:lnTo>
                      <a:pt x="1293" y="385"/>
                    </a:lnTo>
                    <a:lnTo>
                      <a:pt x="1358" y="348"/>
                    </a:lnTo>
                    <a:lnTo>
                      <a:pt x="1467" y="290"/>
                    </a:lnTo>
                    <a:lnTo>
                      <a:pt x="1579" y="239"/>
                    </a:lnTo>
                    <a:lnTo>
                      <a:pt x="1672" y="197"/>
                    </a:lnTo>
                    <a:lnTo>
                      <a:pt x="1768" y="160"/>
                    </a:lnTo>
                    <a:lnTo>
                      <a:pt x="1861" y="134"/>
                    </a:lnTo>
                    <a:lnTo>
                      <a:pt x="1919" y="113"/>
                    </a:lnTo>
                    <a:lnTo>
                      <a:pt x="1998" y="90"/>
                    </a:lnTo>
                    <a:lnTo>
                      <a:pt x="2116" y="60"/>
                    </a:lnTo>
                    <a:lnTo>
                      <a:pt x="2258" y="37"/>
                    </a:lnTo>
                    <a:lnTo>
                      <a:pt x="2384" y="21"/>
                    </a:lnTo>
                    <a:lnTo>
                      <a:pt x="2519" y="7"/>
                    </a:lnTo>
                    <a:lnTo>
                      <a:pt x="2658" y="0"/>
                    </a:lnTo>
                    <a:lnTo>
                      <a:pt x="2747" y="2"/>
                    </a:lnTo>
                    <a:lnTo>
                      <a:pt x="2826" y="2"/>
                    </a:lnTo>
                    <a:lnTo>
                      <a:pt x="2893" y="7"/>
                    </a:lnTo>
                    <a:lnTo>
                      <a:pt x="2973" y="13"/>
                    </a:lnTo>
                    <a:lnTo>
                      <a:pt x="3042" y="23"/>
                    </a:lnTo>
                    <a:lnTo>
                      <a:pt x="3087" y="28"/>
                    </a:lnTo>
                    <a:lnTo>
                      <a:pt x="3168" y="42"/>
                    </a:lnTo>
                    <a:lnTo>
                      <a:pt x="3251" y="58"/>
                    </a:lnTo>
                    <a:lnTo>
                      <a:pt x="3337" y="76"/>
                    </a:lnTo>
                    <a:lnTo>
                      <a:pt x="3430" y="97"/>
                    </a:lnTo>
                    <a:lnTo>
                      <a:pt x="3529" y="128"/>
                    </a:lnTo>
                    <a:lnTo>
                      <a:pt x="3608" y="153"/>
                    </a:lnTo>
                    <a:lnTo>
                      <a:pt x="3682" y="176"/>
                    </a:lnTo>
                    <a:lnTo>
                      <a:pt x="3779" y="216"/>
                    </a:lnTo>
                    <a:lnTo>
                      <a:pt x="3866" y="255"/>
                    </a:lnTo>
                    <a:lnTo>
                      <a:pt x="3921" y="281"/>
                    </a:lnTo>
                    <a:lnTo>
                      <a:pt x="3947" y="297"/>
                    </a:lnTo>
                    <a:lnTo>
                      <a:pt x="3998" y="327"/>
                    </a:lnTo>
                    <a:lnTo>
                      <a:pt x="4061" y="360"/>
                    </a:lnTo>
                    <a:lnTo>
                      <a:pt x="4126" y="400"/>
                    </a:lnTo>
                    <a:lnTo>
                      <a:pt x="4198" y="439"/>
                    </a:lnTo>
                    <a:lnTo>
                      <a:pt x="4247" y="474"/>
                    </a:lnTo>
                    <a:lnTo>
                      <a:pt x="4315" y="527"/>
                    </a:lnTo>
                    <a:lnTo>
                      <a:pt x="4384" y="572"/>
                    </a:lnTo>
                    <a:lnTo>
                      <a:pt x="4468" y="644"/>
                    </a:lnTo>
                    <a:lnTo>
                      <a:pt x="4545" y="707"/>
                    </a:lnTo>
                    <a:lnTo>
                      <a:pt x="4603" y="769"/>
                    </a:lnTo>
                    <a:lnTo>
                      <a:pt x="4656" y="813"/>
                    </a:lnTo>
                    <a:lnTo>
                      <a:pt x="4703" y="863"/>
                    </a:lnTo>
                    <a:lnTo>
                      <a:pt x="4752" y="921"/>
                    </a:lnTo>
                    <a:lnTo>
                      <a:pt x="4798" y="971"/>
                    </a:lnTo>
                    <a:lnTo>
                      <a:pt x="4850" y="1044"/>
                    </a:lnTo>
                    <a:lnTo>
                      <a:pt x="4894" y="1102"/>
                    </a:lnTo>
                    <a:lnTo>
                      <a:pt x="4942" y="1165"/>
                    </a:lnTo>
                    <a:lnTo>
                      <a:pt x="4984" y="1232"/>
                    </a:lnTo>
                    <a:lnTo>
                      <a:pt x="5021" y="1297"/>
                    </a:lnTo>
                    <a:lnTo>
                      <a:pt x="5071" y="1376"/>
                    </a:lnTo>
                    <a:lnTo>
                      <a:pt x="5142" y="1499"/>
                    </a:lnTo>
                    <a:lnTo>
                      <a:pt x="5182" y="1602"/>
                    </a:lnTo>
                    <a:lnTo>
                      <a:pt x="5226" y="1711"/>
                    </a:lnTo>
                    <a:lnTo>
                      <a:pt x="5256" y="1795"/>
                    </a:lnTo>
                    <a:lnTo>
                      <a:pt x="5287" y="1885"/>
                    </a:lnTo>
                    <a:lnTo>
                      <a:pt x="5315" y="1981"/>
                    </a:lnTo>
                    <a:lnTo>
                      <a:pt x="5336" y="2086"/>
                    </a:lnTo>
                    <a:lnTo>
                      <a:pt x="5357" y="2195"/>
                    </a:lnTo>
                    <a:lnTo>
                      <a:pt x="5368" y="2276"/>
                    </a:lnTo>
                    <a:lnTo>
                      <a:pt x="5378" y="2323"/>
                    </a:lnTo>
                    <a:lnTo>
                      <a:pt x="5378" y="2348"/>
                    </a:lnTo>
                    <a:lnTo>
                      <a:pt x="5387" y="2418"/>
                    </a:lnTo>
                    <a:lnTo>
                      <a:pt x="5389" y="2495"/>
                    </a:lnTo>
                    <a:lnTo>
                      <a:pt x="5392" y="2548"/>
                    </a:lnTo>
                    <a:lnTo>
                      <a:pt x="5398" y="2602"/>
                    </a:lnTo>
                    <a:lnTo>
                      <a:pt x="0" y="2600"/>
                    </a:lnTo>
                    <a:close/>
                  </a:path>
                </a:pathLst>
              </a:custGeom>
              <a:solidFill>
                <a:schemeClr val="bg1"/>
              </a:solidFill>
              <a:ln w="6350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4" name="Freeform 3"/>
              <p:cNvSpPr>
                <a:spLocks/>
              </p:cNvSpPr>
              <p:nvPr/>
            </p:nvSpPr>
            <p:spPr bwMode="auto">
              <a:xfrm>
                <a:off x="2249786" y="3286124"/>
                <a:ext cx="3465222" cy="1288005"/>
              </a:xfrm>
              <a:custGeom>
                <a:avLst/>
                <a:gdLst>
                  <a:gd name="T0" fmla="*/ 2147483646 w 5398"/>
                  <a:gd name="T1" fmla="*/ 2147483646 h 2602"/>
                  <a:gd name="T2" fmla="*/ 2147483646 w 5398"/>
                  <a:gd name="T3" fmla="*/ 2147483646 h 2602"/>
                  <a:gd name="T4" fmla="*/ 2147483646 w 5398"/>
                  <a:gd name="T5" fmla="*/ 2147483646 h 2602"/>
                  <a:gd name="T6" fmla="*/ 2147483646 w 5398"/>
                  <a:gd name="T7" fmla="*/ 2147483646 h 2602"/>
                  <a:gd name="T8" fmla="*/ 2147483646 w 5398"/>
                  <a:gd name="T9" fmla="*/ 2147483646 h 2602"/>
                  <a:gd name="T10" fmla="*/ 2147483646 w 5398"/>
                  <a:gd name="T11" fmla="*/ 2147483646 h 2602"/>
                  <a:gd name="T12" fmla="*/ 2147483646 w 5398"/>
                  <a:gd name="T13" fmla="*/ 2147483646 h 2602"/>
                  <a:gd name="T14" fmla="*/ 2147483646 w 5398"/>
                  <a:gd name="T15" fmla="*/ 2147483646 h 2602"/>
                  <a:gd name="T16" fmla="*/ 2147483646 w 5398"/>
                  <a:gd name="T17" fmla="*/ 2147483646 h 2602"/>
                  <a:gd name="T18" fmla="*/ 2147483646 w 5398"/>
                  <a:gd name="T19" fmla="*/ 2147483646 h 2602"/>
                  <a:gd name="T20" fmla="*/ 2147483646 w 5398"/>
                  <a:gd name="T21" fmla="*/ 2147483646 h 2602"/>
                  <a:gd name="T22" fmla="*/ 2147483646 w 5398"/>
                  <a:gd name="T23" fmla="*/ 2147483646 h 2602"/>
                  <a:gd name="T24" fmla="*/ 2147483646 w 5398"/>
                  <a:gd name="T25" fmla="*/ 2147483646 h 2602"/>
                  <a:gd name="T26" fmla="*/ 2147483646 w 5398"/>
                  <a:gd name="T27" fmla="*/ 2147483646 h 2602"/>
                  <a:gd name="T28" fmla="*/ 2147483646 w 5398"/>
                  <a:gd name="T29" fmla="*/ 2147483646 h 2602"/>
                  <a:gd name="T30" fmla="*/ 2147483646 w 5398"/>
                  <a:gd name="T31" fmla="*/ 2147483646 h 2602"/>
                  <a:gd name="T32" fmla="*/ 2147483646 w 5398"/>
                  <a:gd name="T33" fmla="*/ 2147483646 h 2602"/>
                  <a:gd name="T34" fmla="*/ 2147483646 w 5398"/>
                  <a:gd name="T35" fmla="*/ 2147483646 h 2602"/>
                  <a:gd name="T36" fmla="*/ 2147483646 w 5398"/>
                  <a:gd name="T37" fmla="*/ 2147483646 h 2602"/>
                  <a:gd name="T38" fmla="*/ 2147483646 w 5398"/>
                  <a:gd name="T39" fmla="*/ 0 h 2602"/>
                  <a:gd name="T40" fmla="*/ 2147483646 w 5398"/>
                  <a:gd name="T41" fmla="*/ 2147483646 h 2602"/>
                  <a:gd name="T42" fmla="*/ 2147483646 w 5398"/>
                  <a:gd name="T43" fmla="*/ 2147483646 h 2602"/>
                  <a:gd name="T44" fmla="*/ 2147483646 w 5398"/>
                  <a:gd name="T45" fmla="*/ 2147483646 h 2602"/>
                  <a:gd name="T46" fmla="*/ 2147483646 w 5398"/>
                  <a:gd name="T47" fmla="*/ 2147483646 h 2602"/>
                  <a:gd name="T48" fmla="*/ 2147483646 w 5398"/>
                  <a:gd name="T49" fmla="*/ 2147483646 h 2602"/>
                  <a:gd name="T50" fmla="*/ 2147483646 w 5398"/>
                  <a:gd name="T51" fmla="*/ 2147483646 h 2602"/>
                  <a:gd name="T52" fmla="*/ 2147483646 w 5398"/>
                  <a:gd name="T53" fmla="*/ 2147483646 h 2602"/>
                  <a:gd name="T54" fmla="*/ 2147483646 w 5398"/>
                  <a:gd name="T55" fmla="*/ 2147483646 h 2602"/>
                  <a:gd name="T56" fmla="*/ 2147483646 w 5398"/>
                  <a:gd name="T57" fmla="*/ 2147483646 h 2602"/>
                  <a:gd name="T58" fmla="*/ 2147483646 w 5398"/>
                  <a:gd name="T59" fmla="*/ 2147483646 h 2602"/>
                  <a:gd name="T60" fmla="*/ 2147483646 w 5398"/>
                  <a:gd name="T61" fmla="*/ 2147483646 h 2602"/>
                  <a:gd name="T62" fmla="*/ 2147483646 w 5398"/>
                  <a:gd name="T63" fmla="*/ 2147483646 h 2602"/>
                  <a:gd name="T64" fmla="*/ 2147483646 w 5398"/>
                  <a:gd name="T65" fmla="*/ 2147483646 h 2602"/>
                  <a:gd name="T66" fmla="*/ 2147483646 w 5398"/>
                  <a:gd name="T67" fmla="*/ 2147483646 h 2602"/>
                  <a:gd name="T68" fmla="*/ 2147483646 w 5398"/>
                  <a:gd name="T69" fmla="*/ 2147483646 h 2602"/>
                  <a:gd name="T70" fmla="*/ 2147483646 w 5398"/>
                  <a:gd name="T71" fmla="*/ 2147483646 h 2602"/>
                  <a:gd name="T72" fmla="*/ 2147483646 w 5398"/>
                  <a:gd name="T73" fmla="*/ 2147483646 h 2602"/>
                  <a:gd name="T74" fmla="*/ 2147483646 w 5398"/>
                  <a:gd name="T75" fmla="*/ 2147483646 h 2602"/>
                  <a:gd name="T76" fmla="*/ 2147483646 w 5398"/>
                  <a:gd name="T77" fmla="*/ 2147483646 h 2602"/>
                  <a:gd name="T78" fmla="*/ 2147483646 w 5398"/>
                  <a:gd name="T79" fmla="*/ 2147483646 h 2602"/>
                  <a:gd name="T80" fmla="*/ 2147483646 w 5398"/>
                  <a:gd name="T81" fmla="*/ 2147483646 h 2602"/>
                  <a:gd name="T82" fmla="*/ 2147483646 w 5398"/>
                  <a:gd name="T83" fmla="*/ 2147483646 h 2602"/>
                  <a:gd name="T84" fmla="*/ 2147483646 w 5398"/>
                  <a:gd name="T85" fmla="*/ 2147483646 h 2602"/>
                  <a:gd name="T86" fmla="*/ 2147483646 w 5398"/>
                  <a:gd name="T87" fmla="*/ 2147483646 h 2602"/>
                  <a:gd name="T88" fmla="*/ 2147483646 w 5398"/>
                  <a:gd name="T89" fmla="*/ 2147483646 h 2602"/>
                  <a:gd name="T90" fmla="*/ 2147483646 w 5398"/>
                  <a:gd name="T91" fmla="*/ 2147483646 h 2602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5398"/>
                  <a:gd name="T139" fmla="*/ 0 h 2602"/>
                  <a:gd name="T140" fmla="*/ 5398 w 5398"/>
                  <a:gd name="T141" fmla="*/ 2602 h 2602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5398" h="2602">
                    <a:moveTo>
                      <a:pt x="0" y="2600"/>
                    </a:moveTo>
                    <a:lnTo>
                      <a:pt x="5" y="2506"/>
                    </a:lnTo>
                    <a:lnTo>
                      <a:pt x="11" y="2432"/>
                    </a:lnTo>
                    <a:lnTo>
                      <a:pt x="25" y="2306"/>
                    </a:lnTo>
                    <a:lnTo>
                      <a:pt x="40" y="2190"/>
                    </a:lnTo>
                    <a:lnTo>
                      <a:pt x="51" y="2118"/>
                    </a:lnTo>
                    <a:lnTo>
                      <a:pt x="77" y="2011"/>
                    </a:lnTo>
                    <a:lnTo>
                      <a:pt x="95" y="1934"/>
                    </a:lnTo>
                    <a:lnTo>
                      <a:pt x="121" y="1853"/>
                    </a:lnTo>
                    <a:lnTo>
                      <a:pt x="156" y="1739"/>
                    </a:lnTo>
                    <a:lnTo>
                      <a:pt x="198" y="1639"/>
                    </a:lnTo>
                    <a:lnTo>
                      <a:pt x="226" y="1569"/>
                    </a:lnTo>
                    <a:lnTo>
                      <a:pt x="277" y="1464"/>
                    </a:lnTo>
                    <a:lnTo>
                      <a:pt x="340" y="1348"/>
                    </a:lnTo>
                    <a:lnTo>
                      <a:pt x="382" y="1281"/>
                    </a:lnTo>
                    <a:lnTo>
                      <a:pt x="435" y="1202"/>
                    </a:lnTo>
                    <a:lnTo>
                      <a:pt x="505" y="1090"/>
                    </a:lnTo>
                    <a:lnTo>
                      <a:pt x="563" y="1021"/>
                    </a:lnTo>
                    <a:lnTo>
                      <a:pt x="625" y="944"/>
                    </a:lnTo>
                    <a:lnTo>
                      <a:pt x="726" y="837"/>
                    </a:lnTo>
                    <a:lnTo>
                      <a:pt x="789" y="765"/>
                    </a:lnTo>
                    <a:lnTo>
                      <a:pt x="858" y="707"/>
                    </a:lnTo>
                    <a:lnTo>
                      <a:pt x="935" y="637"/>
                    </a:lnTo>
                    <a:lnTo>
                      <a:pt x="1003" y="581"/>
                    </a:lnTo>
                    <a:lnTo>
                      <a:pt x="1077" y="528"/>
                    </a:lnTo>
                    <a:lnTo>
                      <a:pt x="1214" y="434"/>
                    </a:lnTo>
                    <a:lnTo>
                      <a:pt x="1293" y="385"/>
                    </a:lnTo>
                    <a:lnTo>
                      <a:pt x="1358" y="348"/>
                    </a:lnTo>
                    <a:lnTo>
                      <a:pt x="1467" y="290"/>
                    </a:lnTo>
                    <a:lnTo>
                      <a:pt x="1579" y="239"/>
                    </a:lnTo>
                    <a:lnTo>
                      <a:pt x="1672" y="197"/>
                    </a:lnTo>
                    <a:lnTo>
                      <a:pt x="1768" y="160"/>
                    </a:lnTo>
                    <a:lnTo>
                      <a:pt x="1861" y="134"/>
                    </a:lnTo>
                    <a:lnTo>
                      <a:pt x="1919" y="113"/>
                    </a:lnTo>
                    <a:lnTo>
                      <a:pt x="1998" y="90"/>
                    </a:lnTo>
                    <a:lnTo>
                      <a:pt x="2116" y="60"/>
                    </a:lnTo>
                    <a:lnTo>
                      <a:pt x="2258" y="37"/>
                    </a:lnTo>
                    <a:lnTo>
                      <a:pt x="2384" y="21"/>
                    </a:lnTo>
                    <a:lnTo>
                      <a:pt x="2519" y="7"/>
                    </a:lnTo>
                    <a:lnTo>
                      <a:pt x="2658" y="0"/>
                    </a:lnTo>
                    <a:lnTo>
                      <a:pt x="2747" y="2"/>
                    </a:lnTo>
                    <a:lnTo>
                      <a:pt x="2826" y="2"/>
                    </a:lnTo>
                    <a:lnTo>
                      <a:pt x="2893" y="7"/>
                    </a:lnTo>
                    <a:lnTo>
                      <a:pt x="2973" y="13"/>
                    </a:lnTo>
                    <a:lnTo>
                      <a:pt x="3042" y="23"/>
                    </a:lnTo>
                    <a:lnTo>
                      <a:pt x="3087" y="28"/>
                    </a:lnTo>
                    <a:lnTo>
                      <a:pt x="3168" y="42"/>
                    </a:lnTo>
                    <a:lnTo>
                      <a:pt x="3251" y="58"/>
                    </a:lnTo>
                    <a:lnTo>
                      <a:pt x="3337" y="76"/>
                    </a:lnTo>
                    <a:lnTo>
                      <a:pt x="3430" y="97"/>
                    </a:lnTo>
                    <a:lnTo>
                      <a:pt x="3529" y="128"/>
                    </a:lnTo>
                    <a:lnTo>
                      <a:pt x="3608" y="153"/>
                    </a:lnTo>
                    <a:lnTo>
                      <a:pt x="3682" y="176"/>
                    </a:lnTo>
                    <a:lnTo>
                      <a:pt x="3779" y="216"/>
                    </a:lnTo>
                    <a:lnTo>
                      <a:pt x="3866" y="255"/>
                    </a:lnTo>
                    <a:lnTo>
                      <a:pt x="3921" y="281"/>
                    </a:lnTo>
                    <a:lnTo>
                      <a:pt x="3947" y="297"/>
                    </a:lnTo>
                    <a:lnTo>
                      <a:pt x="3998" y="327"/>
                    </a:lnTo>
                    <a:lnTo>
                      <a:pt x="4061" y="360"/>
                    </a:lnTo>
                    <a:lnTo>
                      <a:pt x="4126" y="400"/>
                    </a:lnTo>
                    <a:lnTo>
                      <a:pt x="4198" y="439"/>
                    </a:lnTo>
                    <a:lnTo>
                      <a:pt x="4247" y="474"/>
                    </a:lnTo>
                    <a:lnTo>
                      <a:pt x="4315" y="527"/>
                    </a:lnTo>
                    <a:lnTo>
                      <a:pt x="4384" y="572"/>
                    </a:lnTo>
                    <a:lnTo>
                      <a:pt x="4468" y="644"/>
                    </a:lnTo>
                    <a:lnTo>
                      <a:pt x="4545" y="707"/>
                    </a:lnTo>
                    <a:lnTo>
                      <a:pt x="4603" y="769"/>
                    </a:lnTo>
                    <a:lnTo>
                      <a:pt x="4656" y="813"/>
                    </a:lnTo>
                    <a:lnTo>
                      <a:pt x="4703" y="863"/>
                    </a:lnTo>
                    <a:lnTo>
                      <a:pt x="4752" y="921"/>
                    </a:lnTo>
                    <a:lnTo>
                      <a:pt x="4798" y="971"/>
                    </a:lnTo>
                    <a:lnTo>
                      <a:pt x="4850" y="1044"/>
                    </a:lnTo>
                    <a:lnTo>
                      <a:pt x="4894" y="1102"/>
                    </a:lnTo>
                    <a:lnTo>
                      <a:pt x="4942" y="1165"/>
                    </a:lnTo>
                    <a:lnTo>
                      <a:pt x="4984" y="1232"/>
                    </a:lnTo>
                    <a:lnTo>
                      <a:pt x="5021" y="1297"/>
                    </a:lnTo>
                    <a:lnTo>
                      <a:pt x="5071" y="1376"/>
                    </a:lnTo>
                    <a:lnTo>
                      <a:pt x="5142" y="1499"/>
                    </a:lnTo>
                    <a:lnTo>
                      <a:pt x="5182" y="1602"/>
                    </a:lnTo>
                    <a:lnTo>
                      <a:pt x="5226" y="1711"/>
                    </a:lnTo>
                    <a:lnTo>
                      <a:pt x="5256" y="1795"/>
                    </a:lnTo>
                    <a:lnTo>
                      <a:pt x="5287" y="1885"/>
                    </a:lnTo>
                    <a:lnTo>
                      <a:pt x="5315" y="1981"/>
                    </a:lnTo>
                    <a:lnTo>
                      <a:pt x="5336" y="2086"/>
                    </a:lnTo>
                    <a:lnTo>
                      <a:pt x="5357" y="2195"/>
                    </a:lnTo>
                    <a:lnTo>
                      <a:pt x="5368" y="2276"/>
                    </a:lnTo>
                    <a:lnTo>
                      <a:pt x="5378" y="2323"/>
                    </a:lnTo>
                    <a:lnTo>
                      <a:pt x="5378" y="2348"/>
                    </a:lnTo>
                    <a:lnTo>
                      <a:pt x="5387" y="2418"/>
                    </a:lnTo>
                    <a:lnTo>
                      <a:pt x="5389" y="2495"/>
                    </a:lnTo>
                    <a:lnTo>
                      <a:pt x="5392" y="2548"/>
                    </a:lnTo>
                    <a:lnTo>
                      <a:pt x="5398" y="2602"/>
                    </a:lnTo>
                    <a:lnTo>
                      <a:pt x="0" y="2600"/>
                    </a:lnTo>
                    <a:close/>
                  </a:path>
                </a:pathLst>
              </a:custGeom>
              <a:noFill/>
              <a:ln w="6350">
                <a:solidFill>
                  <a:srgbClr val="33CC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5" name="Rectangle 6"/>
              <p:cNvSpPr>
                <a:spLocks noChangeArrowheads="1"/>
              </p:cNvSpPr>
              <p:nvPr/>
            </p:nvSpPr>
            <p:spPr bwMode="auto">
              <a:xfrm>
                <a:off x="3714744" y="3690468"/>
                <a:ext cx="2143140" cy="61555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itchFamily="34" charset="0"/>
                    <a:ea typeface="MS PGothic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2000">
                    <a:solidFill>
                      <a:srgbClr val="000000"/>
                    </a:solidFill>
                    <a:latin typeface="Arial MT Black"/>
                  </a:rPr>
                  <a:t>Atividades externas</a:t>
                </a:r>
                <a:endParaRPr lang="pt-BR" altLang="pt-BR" sz="2000">
                  <a:latin typeface="Arial MT Black"/>
                </a:endParaRPr>
              </a:p>
            </p:txBody>
          </p:sp>
        </p:grpSp>
        <p:sp>
          <p:nvSpPr>
            <p:cNvPr id="8" name="Rectangle 8"/>
            <p:cNvSpPr>
              <a:spLocks noChangeArrowheads="1"/>
            </p:cNvSpPr>
            <p:nvPr/>
          </p:nvSpPr>
          <p:spPr bwMode="auto">
            <a:xfrm>
              <a:off x="2903550" y="3371856"/>
              <a:ext cx="1182687" cy="615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>
                <a:latin typeface="Arial MT Black"/>
              </a:endParaRPr>
            </a:p>
          </p:txBody>
        </p:sp>
        <p:sp>
          <p:nvSpPr>
            <p:cNvPr id="9" name="Freeform 3"/>
            <p:cNvSpPr>
              <a:spLocks/>
            </p:cNvSpPr>
            <p:nvPr/>
          </p:nvSpPr>
          <p:spPr bwMode="auto">
            <a:xfrm>
              <a:off x="1928794" y="2428868"/>
              <a:ext cx="4356116" cy="2133569"/>
            </a:xfrm>
            <a:custGeom>
              <a:avLst/>
              <a:gdLst>
                <a:gd name="T0" fmla="*/ 2147483646 w 5398"/>
                <a:gd name="T1" fmla="*/ 2147483646 h 2602"/>
                <a:gd name="T2" fmla="*/ 2147483646 w 5398"/>
                <a:gd name="T3" fmla="*/ 2147483646 h 2602"/>
                <a:gd name="T4" fmla="*/ 2147483646 w 5398"/>
                <a:gd name="T5" fmla="*/ 2147483646 h 2602"/>
                <a:gd name="T6" fmla="*/ 2147483646 w 5398"/>
                <a:gd name="T7" fmla="*/ 2147483646 h 2602"/>
                <a:gd name="T8" fmla="*/ 2147483646 w 5398"/>
                <a:gd name="T9" fmla="*/ 2147483646 h 2602"/>
                <a:gd name="T10" fmla="*/ 2147483646 w 5398"/>
                <a:gd name="T11" fmla="*/ 2147483646 h 2602"/>
                <a:gd name="T12" fmla="*/ 2147483646 w 5398"/>
                <a:gd name="T13" fmla="*/ 2147483646 h 2602"/>
                <a:gd name="T14" fmla="*/ 2147483646 w 5398"/>
                <a:gd name="T15" fmla="*/ 2147483646 h 2602"/>
                <a:gd name="T16" fmla="*/ 2147483646 w 5398"/>
                <a:gd name="T17" fmla="*/ 2147483646 h 2602"/>
                <a:gd name="T18" fmla="*/ 2147483646 w 5398"/>
                <a:gd name="T19" fmla="*/ 2147483646 h 2602"/>
                <a:gd name="T20" fmla="*/ 2147483646 w 5398"/>
                <a:gd name="T21" fmla="*/ 2147483646 h 2602"/>
                <a:gd name="T22" fmla="*/ 2147483646 w 5398"/>
                <a:gd name="T23" fmla="*/ 2147483646 h 2602"/>
                <a:gd name="T24" fmla="*/ 2147483646 w 5398"/>
                <a:gd name="T25" fmla="*/ 2147483646 h 2602"/>
                <a:gd name="T26" fmla="*/ 2147483646 w 5398"/>
                <a:gd name="T27" fmla="*/ 2147483646 h 2602"/>
                <a:gd name="T28" fmla="*/ 2147483646 w 5398"/>
                <a:gd name="T29" fmla="*/ 2147483646 h 2602"/>
                <a:gd name="T30" fmla="*/ 2147483646 w 5398"/>
                <a:gd name="T31" fmla="*/ 2147483646 h 2602"/>
                <a:gd name="T32" fmla="*/ 2147483646 w 5398"/>
                <a:gd name="T33" fmla="*/ 2147483646 h 2602"/>
                <a:gd name="T34" fmla="*/ 2147483646 w 5398"/>
                <a:gd name="T35" fmla="*/ 2147483646 h 2602"/>
                <a:gd name="T36" fmla="*/ 2147483646 w 5398"/>
                <a:gd name="T37" fmla="*/ 2147483646 h 2602"/>
                <a:gd name="T38" fmla="*/ 2147483646 w 5398"/>
                <a:gd name="T39" fmla="*/ 0 h 2602"/>
                <a:gd name="T40" fmla="*/ 2147483646 w 5398"/>
                <a:gd name="T41" fmla="*/ 2147483646 h 2602"/>
                <a:gd name="T42" fmla="*/ 2147483646 w 5398"/>
                <a:gd name="T43" fmla="*/ 2147483646 h 2602"/>
                <a:gd name="T44" fmla="*/ 2147483646 w 5398"/>
                <a:gd name="T45" fmla="*/ 2147483646 h 2602"/>
                <a:gd name="T46" fmla="*/ 2147483646 w 5398"/>
                <a:gd name="T47" fmla="*/ 2147483646 h 2602"/>
                <a:gd name="T48" fmla="*/ 2147483646 w 5398"/>
                <a:gd name="T49" fmla="*/ 2147483646 h 2602"/>
                <a:gd name="T50" fmla="*/ 2147483646 w 5398"/>
                <a:gd name="T51" fmla="*/ 2147483646 h 2602"/>
                <a:gd name="T52" fmla="*/ 2147483646 w 5398"/>
                <a:gd name="T53" fmla="*/ 2147483646 h 2602"/>
                <a:gd name="T54" fmla="*/ 2147483646 w 5398"/>
                <a:gd name="T55" fmla="*/ 2147483646 h 2602"/>
                <a:gd name="T56" fmla="*/ 2147483646 w 5398"/>
                <a:gd name="T57" fmla="*/ 2147483646 h 2602"/>
                <a:gd name="T58" fmla="*/ 2147483646 w 5398"/>
                <a:gd name="T59" fmla="*/ 2147483646 h 2602"/>
                <a:gd name="T60" fmla="*/ 2147483646 w 5398"/>
                <a:gd name="T61" fmla="*/ 2147483646 h 2602"/>
                <a:gd name="T62" fmla="*/ 2147483646 w 5398"/>
                <a:gd name="T63" fmla="*/ 2147483646 h 2602"/>
                <a:gd name="T64" fmla="*/ 2147483646 w 5398"/>
                <a:gd name="T65" fmla="*/ 2147483646 h 2602"/>
                <a:gd name="T66" fmla="*/ 2147483646 w 5398"/>
                <a:gd name="T67" fmla="*/ 2147483646 h 2602"/>
                <a:gd name="T68" fmla="*/ 2147483646 w 5398"/>
                <a:gd name="T69" fmla="*/ 2147483646 h 2602"/>
                <a:gd name="T70" fmla="*/ 2147483646 w 5398"/>
                <a:gd name="T71" fmla="*/ 2147483646 h 2602"/>
                <a:gd name="T72" fmla="*/ 2147483646 w 5398"/>
                <a:gd name="T73" fmla="*/ 2147483646 h 2602"/>
                <a:gd name="T74" fmla="*/ 2147483646 w 5398"/>
                <a:gd name="T75" fmla="*/ 2147483646 h 2602"/>
                <a:gd name="T76" fmla="*/ 2147483646 w 5398"/>
                <a:gd name="T77" fmla="*/ 2147483646 h 2602"/>
                <a:gd name="T78" fmla="*/ 2147483646 w 5398"/>
                <a:gd name="T79" fmla="*/ 2147483646 h 2602"/>
                <a:gd name="T80" fmla="*/ 2147483646 w 5398"/>
                <a:gd name="T81" fmla="*/ 2147483646 h 2602"/>
                <a:gd name="T82" fmla="*/ 2147483646 w 5398"/>
                <a:gd name="T83" fmla="*/ 2147483646 h 2602"/>
                <a:gd name="T84" fmla="*/ 2147483646 w 5398"/>
                <a:gd name="T85" fmla="*/ 2147483646 h 2602"/>
                <a:gd name="T86" fmla="*/ 2147483646 w 5398"/>
                <a:gd name="T87" fmla="*/ 2147483646 h 2602"/>
                <a:gd name="T88" fmla="*/ 2147483646 w 5398"/>
                <a:gd name="T89" fmla="*/ 2147483646 h 2602"/>
                <a:gd name="T90" fmla="*/ 2147483646 w 5398"/>
                <a:gd name="T91" fmla="*/ 2147483646 h 2602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w 5398"/>
                <a:gd name="T139" fmla="*/ 0 h 2602"/>
                <a:gd name="T140" fmla="*/ 5398 w 5398"/>
                <a:gd name="T141" fmla="*/ 2602 h 2602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T138" t="T139" r="T140" b="T141"/>
              <a:pathLst>
                <a:path w="5398" h="2602">
                  <a:moveTo>
                    <a:pt x="0" y="2600"/>
                  </a:moveTo>
                  <a:lnTo>
                    <a:pt x="5" y="2506"/>
                  </a:lnTo>
                  <a:lnTo>
                    <a:pt x="11" y="2432"/>
                  </a:lnTo>
                  <a:lnTo>
                    <a:pt x="25" y="2306"/>
                  </a:lnTo>
                  <a:lnTo>
                    <a:pt x="40" y="2190"/>
                  </a:lnTo>
                  <a:lnTo>
                    <a:pt x="51" y="2118"/>
                  </a:lnTo>
                  <a:lnTo>
                    <a:pt x="77" y="2011"/>
                  </a:lnTo>
                  <a:lnTo>
                    <a:pt x="95" y="1934"/>
                  </a:lnTo>
                  <a:lnTo>
                    <a:pt x="121" y="1853"/>
                  </a:lnTo>
                  <a:lnTo>
                    <a:pt x="156" y="1739"/>
                  </a:lnTo>
                  <a:lnTo>
                    <a:pt x="198" y="1639"/>
                  </a:lnTo>
                  <a:lnTo>
                    <a:pt x="226" y="1569"/>
                  </a:lnTo>
                  <a:lnTo>
                    <a:pt x="277" y="1464"/>
                  </a:lnTo>
                  <a:lnTo>
                    <a:pt x="340" y="1348"/>
                  </a:lnTo>
                  <a:lnTo>
                    <a:pt x="382" y="1281"/>
                  </a:lnTo>
                  <a:lnTo>
                    <a:pt x="435" y="1202"/>
                  </a:lnTo>
                  <a:lnTo>
                    <a:pt x="505" y="1090"/>
                  </a:lnTo>
                  <a:lnTo>
                    <a:pt x="563" y="1021"/>
                  </a:lnTo>
                  <a:lnTo>
                    <a:pt x="625" y="944"/>
                  </a:lnTo>
                  <a:lnTo>
                    <a:pt x="726" y="837"/>
                  </a:lnTo>
                  <a:lnTo>
                    <a:pt x="789" y="765"/>
                  </a:lnTo>
                  <a:lnTo>
                    <a:pt x="858" y="707"/>
                  </a:lnTo>
                  <a:lnTo>
                    <a:pt x="935" y="637"/>
                  </a:lnTo>
                  <a:lnTo>
                    <a:pt x="1003" y="581"/>
                  </a:lnTo>
                  <a:lnTo>
                    <a:pt x="1077" y="528"/>
                  </a:lnTo>
                  <a:lnTo>
                    <a:pt x="1214" y="434"/>
                  </a:lnTo>
                  <a:lnTo>
                    <a:pt x="1293" y="385"/>
                  </a:lnTo>
                  <a:lnTo>
                    <a:pt x="1358" y="348"/>
                  </a:lnTo>
                  <a:lnTo>
                    <a:pt x="1467" y="290"/>
                  </a:lnTo>
                  <a:lnTo>
                    <a:pt x="1579" y="239"/>
                  </a:lnTo>
                  <a:lnTo>
                    <a:pt x="1672" y="197"/>
                  </a:lnTo>
                  <a:lnTo>
                    <a:pt x="1768" y="160"/>
                  </a:lnTo>
                  <a:lnTo>
                    <a:pt x="1861" y="134"/>
                  </a:lnTo>
                  <a:lnTo>
                    <a:pt x="1919" y="113"/>
                  </a:lnTo>
                  <a:lnTo>
                    <a:pt x="1998" y="90"/>
                  </a:lnTo>
                  <a:lnTo>
                    <a:pt x="2116" y="60"/>
                  </a:lnTo>
                  <a:lnTo>
                    <a:pt x="2258" y="37"/>
                  </a:lnTo>
                  <a:lnTo>
                    <a:pt x="2384" y="21"/>
                  </a:lnTo>
                  <a:lnTo>
                    <a:pt x="2519" y="7"/>
                  </a:lnTo>
                  <a:lnTo>
                    <a:pt x="2658" y="0"/>
                  </a:lnTo>
                  <a:lnTo>
                    <a:pt x="2747" y="2"/>
                  </a:lnTo>
                  <a:lnTo>
                    <a:pt x="2826" y="2"/>
                  </a:lnTo>
                  <a:lnTo>
                    <a:pt x="2893" y="7"/>
                  </a:lnTo>
                  <a:lnTo>
                    <a:pt x="2973" y="13"/>
                  </a:lnTo>
                  <a:lnTo>
                    <a:pt x="3042" y="23"/>
                  </a:lnTo>
                  <a:lnTo>
                    <a:pt x="3087" y="28"/>
                  </a:lnTo>
                  <a:lnTo>
                    <a:pt x="3168" y="42"/>
                  </a:lnTo>
                  <a:lnTo>
                    <a:pt x="3251" y="58"/>
                  </a:lnTo>
                  <a:lnTo>
                    <a:pt x="3337" y="76"/>
                  </a:lnTo>
                  <a:lnTo>
                    <a:pt x="3430" y="97"/>
                  </a:lnTo>
                  <a:lnTo>
                    <a:pt x="3529" y="128"/>
                  </a:lnTo>
                  <a:lnTo>
                    <a:pt x="3608" y="153"/>
                  </a:lnTo>
                  <a:lnTo>
                    <a:pt x="3682" y="176"/>
                  </a:lnTo>
                  <a:lnTo>
                    <a:pt x="3779" y="216"/>
                  </a:lnTo>
                  <a:lnTo>
                    <a:pt x="3866" y="255"/>
                  </a:lnTo>
                  <a:lnTo>
                    <a:pt x="3921" y="281"/>
                  </a:lnTo>
                  <a:lnTo>
                    <a:pt x="3947" y="297"/>
                  </a:lnTo>
                  <a:lnTo>
                    <a:pt x="3998" y="327"/>
                  </a:lnTo>
                  <a:lnTo>
                    <a:pt x="4061" y="360"/>
                  </a:lnTo>
                  <a:lnTo>
                    <a:pt x="4126" y="400"/>
                  </a:lnTo>
                  <a:lnTo>
                    <a:pt x="4198" y="439"/>
                  </a:lnTo>
                  <a:lnTo>
                    <a:pt x="4247" y="474"/>
                  </a:lnTo>
                  <a:lnTo>
                    <a:pt x="4315" y="527"/>
                  </a:lnTo>
                  <a:lnTo>
                    <a:pt x="4384" y="572"/>
                  </a:lnTo>
                  <a:lnTo>
                    <a:pt x="4468" y="644"/>
                  </a:lnTo>
                  <a:lnTo>
                    <a:pt x="4545" y="707"/>
                  </a:lnTo>
                  <a:lnTo>
                    <a:pt x="4603" y="769"/>
                  </a:lnTo>
                  <a:lnTo>
                    <a:pt x="4656" y="813"/>
                  </a:lnTo>
                  <a:lnTo>
                    <a:pt x="4703" y="863"/>
                  </a:lnTo>
                  <a:lnTo>
                    <a:pt x="4752" y="921"/>
                  </a:lnTo>
                  <a:lnTo>
                    <a:pt x="4798" y="971"/>
                  </a:lnTo>
                  <a:lnTo>
                    <a:pt x="4850" y="1044"/>
                  </a:lnTo>
                  <a:lnTo>
                    <a:pt x="4894" y="1102"/>
                  </a:lnTo>
                  <a:lnTo>
                    <a:pt x="4942" y="1165"/>
                  </a:lnTo>
                  <a:lnTo>
                    <a:pt x="4984" y="1232"/>
                  </a:lnTo>
                  <a:lnTo>
                    <a:pt x="5021" y="1297"/>
                  </a:lnTo>
                  <a:lnTo>
                    <a:pt x="5071" y="1376"/>
                  </a:lnTo>
                  <a:lnTo>
                    <a:pt x="5142" y="1499"/>
                  </a:lnTo>
                  <a:lnTo>
                    <a:pt x="5182" y="1602"/>
                  </a:lnTo>
                  <a:lnTo>
                    <a:pt x="5226" y="1711"/>
                  </a:lnTo>
                  <a:lnTo>
                    <a:pt x="5256" y="1795"/>
                  </a:lnTo>
                  <a:lnTo>
                    <a:pt x="5287" y="1885"/>
                  </a:lnTo>
                  <a:lnTo>
                    <a:pt x="5315" y="1981"/>
                  </a:lnTo>
                  <a:lnTo>
                    <a:pt x="5336" y="2086"/>
                  </a:lnTo>
                  <a:lnTo>
                    <a:pt x="5357" y="2195"/>
                  </a:lnTo>
                  <a:lnTo>
                    <a:pt x="5368" y="2276"/>
                  </a:lnTo>
                  <a:lnTo>
                    <a:pt x="5378" y="2323"/>
                  </a:lnTo>
                  <a:lnTo>
                    <a:pt x="5378" y="2348"/>
                  </a:lnTo>
                  <a:lnTo>
                    <a:pt x="5387" y="2418"/>
                  </a:lnTo>
                  <a:lnTo>
                    <a:pt x="5389" y="2495"/>
                  </a:lnTo>
                  <a:lnTo>
                    <a:pt x="5392" y="2548"/>
                  </a:lnTo>
                  <a:lnTo>
                    <a:pt x="5398" y="2602"/>
                  </a:lnTo>
                  <a:lnTo>
                    <a:pt x="0" y="2600"/>
                  </a:lnTo>
                  <a:close/>
                </a:path>
              </a:pathLst>
            </a:custGeom>
            <a:noFill/>
            <a:ln w="6350">
              <a:solidFill>
                <a:schemeClr val="accent2"/>
              </a:solidFill>
              <a:prstDash val="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cxnSp>
        <p:nvCxnSpPr>
          <p:cNvPr id="16" name="Conector de seta reta 23"/>
          <p:cNvCxnSpPr>
            <a:cxnSpLocks noChangeShapeType="1"/>
          </p:cNvCxnSpPr>
          <p:nvPr/>
        </p:nvCxnSpPr>
        <p:spPr bwMode="auto">
          <a:xfrm flipV="1">
            <a:off x="5286375" y="2286000"/>
            <a:ext cx="1500188" cy="500063"/>
          </a:xfrm>
          <a:prstGeom prst="straightConnector1">
            <a:avLst/>
          </a:prstGeom>
          <a:noFill/>
          <a:ln w="28575" algn="ctr">
            <a:solidFill>
              <a:schemeClr val="accent2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Conector de seta reta 25"/>
          <p:cNvCxnSpPr>
            <a:cxnSpLocks noChangeShapeType="1"/>
          </p:cNvCxnSpPr>
          <p:nvPr/>
        </p:nvCxnSpPr>
        <p:spPr bwMode="auto">
          <a:xfrm>
            <a:off x="3286125" y="4572000"/>
            <a:ext cx="1785938" cy="873125"/>
          </a:xfrm>
          <a:prstGeom prst="straightConnector1">
            <a:avLst/>
          </a:prstGeom>
          <a:noFill/>
          <a:ln w="28575" algn="ctr">
            <a:solidFill>
              <a:srgbClr val="92D050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CaixaDeTexto 27"/>
          <p:cNvSpPr txBox="1">
            <a:spLocks noChangeArrowheads="1"/>
          </p:cNvSpPr>
          <p:nvPr/>
        </p:nvSpPr>
        <p:spPr bwMode="auto">
          <a:xfrm>
            <a:off x="6429375" y="2038350"/>
            <a:ext cx="1785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MT Black"/>
              </a:rPr>
              <a:t>antes</a:t>
            </a:r>
          </a:p>
        </p:txBody>
      </p:sp>
      <p:sp>
        <p:nvSpPr>
          <p:cNvPr id="19" name="CaixaDeTexto 28"/>
          <p:cNvSpPr txBox="1">
            <a:spLocks noChangeArrowheads="1"/>
          </p:cNvSpPr>
          <p:nvPr/>
        </p:nvSpPr>
        <p:spPr bwMode="auto">
          <a:xfrm>
            <a:off x="4857750" y="5214938"/>
            <a:ext cx="1785938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MT Black"/>
              </a:rPr>
              <a:t>depois</a:t>
            </a:r>
          </a:p>
        </p:txBody>
      </p: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714375" y="5733256"/>
            <a:ext cx="8143875" cy="620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defRPr/>
            </a:pPr>
            <a:r>
              <a:rPr lang="en-US" sz="3200" kern="0" dirty="0" err="1">
                <a:latin typeface="Incised901 BT" pitchFamily="34" charset="0"/>
              </a:rPr>
              <a:t>Nunca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desistir</a:t>
            </a:r>
            <a:r>
              <a:rPr lang="en-US" sz="3200" kern="0" dirty="0">
                <a:latin typeface="Incised901 BT" pitchFamily="34" charset="0"/>
              </a:rPr>
              <a:t> de </a:t>
            </a:r>
            <a:r>
              <a:rPr lang="en-US" sz="3200" kern="0" dirty="0" err="1">
                <a:latin typeface="Incised901 BT" pitchFamily="34" charset="0"/>
              </a:rPr>
              <a:t>promover</a:t>
            </a:r>
            <a:r>
              <a:rPr lang="en-US" sz="3200" kern="0" dirty="0">
                <a:latin typeface="Incised901 BT" pitchFamily="34" charset="0"/>
              </a:rPr>
              <a:t> </a:t>
            </a:r>
            <a:r>
              <a:rPr lang="en-US" sz="3200" kern="0" dirty="0" err="1">
                <a:latin typeface="Incised901 BT" pitchFamily="34" charset="0"/>
              </a:rPr>
              <a:t>melhorias</a:t>
            </a:r>
            <a:r>
              <a:rPr lang="en-US" sz="3200" kern="0" dirty="0">
                <a:latin typeface="Incised901 BT" pitchFamily="34" charset="0"/>
              </a:rPr>
              <a:t>.</a:t>
            </a:r>
            <a:endParaRPr lang="pt-BR" sz="3200" kern="0" dirty="0">
              <a:latin typeface="Incised901 BT" pitchFamily="34" charset="0"/>
            </a:endParaRPr>
          </a:p>
        </p:txBody>
      </p:sp>
      <p:sp>
        <p:nvSpPr>
          <p:cNvPr id="21" name="Retângulo de cantos arredondados 3">
            <a:extLst>
              <a:ext uri="{FF2B5EF4-FFF2-40B4-BE49-F238E27FC236}">
                <a16:creationId xmlns:a16="http://schemas.microsoft.com/office/drawing/2014/main" id="{168B6B7F-1FF0-4639-A037-568B9F7D545E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8567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49225" y="2454275"/>
            <a:ext cx="8858250" cy="1206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3400">
                <a:latin typeface="Incised901 BT"/>
              </a:rPr>
              <a:t>Trabalhe forte na eliminação dos ajustes e regulagens (ou minimize).</a:t>
            </a:r>
            <a:endParaRPr lang="pt-BR" altLang="pt-BR" sz="3400">
              <a:latin typeface="Incised901 BT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84213" y="1652588"/>
            <a:ext cx="3023691" cy="480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b="1" dirty="0" err="1">
                <a:latin typeface="Incised901 BT"/>
              </a:rPr>
              <a:t>Adicionalmente</a:t>
            </a:r>
            <a:r>
              <a:rPr lang="en-US" altLang="pt-BR" b="1" dirty="0">
                <a:latin typeface="Incised901 BT"/>
              </a:rPr>
              <a:t>:</a:t>
            </a:r>
            <a:endParaRPr lang="pt-BR" altLang="pt-BR" b="1" dirty="0">
              <a:latin typeface="Incised901 B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16013" y="4221163"/>
            <a:ext cx="7105650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defRPr/>
            </a:pPr>
            <a:r>
              <a:rPr lang="en-US" sz="3400" b="1" kern="0" dirty="0">
                <a:latin typeface="+mn-lt"/>
              </a:rPr>
              <a:t>O </a:t>
            </a:r>
            <a:r>
              <a:rPr lang="en-US" sz="3400" b="1" kern="0" dirty="0" err="1">
                <a:latin typeface="+mn-lt"/>
              </a:rPr>
              <a:t>processo</a:t>
            </a:r>
            <a:r>
              <a:rPr lang="en-US" sz="3400" b="1" kern="0" dirty="0">
                <a:latin typeface="+mn-lt"/>
              </a:rPr>
              <a:t> de </a:t>
            </a:r>
            <a:r>
              <a:rPr lang="en-US" sz="3400" b="1" kern="0" dirty="0" err="1">
                <a:latin typeface="+mn-lt"/>
              </a:rPr>
              <a:t>ajuste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nas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ações</a:t>
            </a:r>
            <a:r>
              <a:rPr lang="en-US" sz="3400" b="1" kern="0" dirty="0">
                <a:latin typeface="+mn-lt"/>
              </a:rPr>
              <a:t> de </a:t>
            </a:r>
            <a:r>
              <a:rPr lang="en-US" sz="3400" b="1" kern="0" dirty="0" err="1">
                <a:latin typeface="+mn-lt"/>
              </a:rPr>
              <a:t>troca</a:t>
            </a:r>
            <a:r>
              <a:rPr lang="en-US" sz="3400" b="1" kern="0" dirty="0">
                <a:latin typeface="+mn-lt"/>
              </a:rPr>
              <a:t> de </a:t>
            </a:r>
            <a:r>
              <a:rPr lang="en-US" sz="3400" b="1" kern="0" dirty="0" err="1">
                <a:latin typeface="+mn-lt"/>
              </a:rPr>
              <a:t>ferramentas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gasta</a:t>
            </a:r>
            <a:r>
              <a:rPr lang="en-US" sz="3400" b="1" kern="0" dirty="0">
                <a:latin typeface="+mn-lt"/>
              </a:rPr>
              <a:t> de 50% a 70% do tempo total de </a:t>
            </a:r>
            <a:r>
              <a:rPr lang="en-US" sz="3400" b="1" kern="0" dirty="0" err="1">
                <a:latin typeface="+mn-lt"/>
              </a:rPr>
              <a:t>troca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interna</a:t>
            </a:r>
            <a:r>
              <a:rPr lang="en-US" sz="3400" b="1" kern="0" dirty="0">
                <a:latin typeface="+mn-lt"/>
              </a:rPr>
              <a:t>, </a:t>
            </a:r>
            <a:r>
              <a:rPr lang="en-US" sz="3400" b="1" kern="0" dirty="0" err="1">
                <a:latin typeface="+mn-lt"/>
              </a:rPr>
              <a:t>em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média</a:t>
            </a:r>
            <a:r>
              <a:rPr lang="en-US" sz="3400" b="1" kern="0" dirty="0">
                <a:latin typeface="+mn-lt"/>
              </a:rPr>
              <a:t>.</a:t>
            </a:r>
            <a:endParaRPr lang="pt-BR" sz="3400" b="1" kern="0" dirty="0">
              <a:latin typeface="+mn-lt"/>
            </a:endParaRP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C4B9E015-C4A9-4C2A-ABB3-DE09868649EC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88603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95550" y="5668963"/>
            <a:ext cx="717550" cy="903287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47700" y="1543050"/>
            <a:ext cx="4402138" cy="869950"/>
          </a:xfrm>
          <a:prstGeom prst="rect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658813" y="2408238"/>
            <a:ext cx="1466850" cy="501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752475" y="2662238"/>
            <a:ext cx="84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b="1">
                <a:solidFill>
                  <a:srgbClr val="000000"/>
                </a:solidFill>
                <a:cs typeface="Arial" pitchFamily="34" charset="0"/>
              </a:rPr>
              <a:t>Externo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4073525" y="2662238"/>
            <a:ext cx="844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b="1">
                <a:solidFill>
                  <a:srgbClr val="000000"/>
                </a:solidFill>
                <a:cs typeface="Arial" pitchFamily="34" charset="0"/>
              </a:rPr>
              <a:t>Externo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446338" y="2686050"/>
            <a:ext cx="7842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400" b="1">
                <a:solidFill>
                  <a:srgbClr val="000000"/>
                </a:solidFill>
                <a:cs typeface="Arial" pitchFamily="34" charset="0"/>
              </a:rPr>
              <a:t>Interno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903288" y="2924175"/>
            <a:ext cx="1212850" cy="869950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0000"/>
              </a:spcAft>
              <a:buClr>
                <a:schemeClr val="tx2"/>
              </a:buClr>
              <a:buSzPct val="115000"/>
              <a:buFontTx/>
              <a:buNone/>
            </a:pPr>
            <a:endParaRPr lang="en-US" altLang="pt-BR" sz="2400" b="1" i="1">
              <a:solidFill>
                <a:srgbClr val="33CC33"/>
              </a:solidFill>
              <a:cs typeface="Arial" pitchFamily="34" charset="0"/>
            </a:endParaRP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3586163" y="2930525"/>
            <a:ext cx="1279525" cy="855663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2114550" y="2924175"/>
            <a:ext cx="1468438" cy="869950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4" name="AutoShape 14"/>
          <p:cNvSpPr>
            <a:spLocks noChangeArrowheads="1"/>
          </p:cNvSpPr>
          <p:nvPr/>
        </p:nvSpPr>
        <p:spPr bwMode="auto">
          <a:xfrm>
            <a:off x="2132013" y="3230563"/>
            <a:ext cx="1433512" cy="307975"/>
          </a:xfrm>
          <a:prstGeom prst="leftRightArrow">
            <a:avLst>
              <a:gd name="adj1" fmla="val 50000"/>
              <a:gd name="adj2" fmla="val 93093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2125663" y="3786188"/>
            <a:ext cx="285750" cy="523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6" name="Line 16"/>
          <p:cNvSpPr>
            <a:spLocks noChangeShapeType="1"/>
          </p:cNvSpPr>
          <p:nvPr/>
        </p:nvSpPr>
        <p:spPr bwMode="auto">
          <a:xfrm flipH="1">
            <a:off x="3295650" y="3795713"/>
            <a:ext cx="285750" cy="5238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1050925" y="4287838"/>
            <a:ext cx="1338263" cy="869950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3305175" y="4292600"/>
            <a:ext cx="1327150" cy="871538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9" name="Rectangle 20"/>
          <p:cNvSpPr>
            <a:spLocks noChangeArrowheads="1"/>
          </p:cNvSpPr>
          <p:nvPr/>
        </p:nvSpPr>
        <p:spPr bwMode="auto">
          <a:xfrm>
            <a:off x="2390775" y="4287838"/>
            <a:ext cx="931863" cy="869950"/>
          </a:xfrm>
          <a:prstGeom prst="rect">
            <a:avLst/>
          </a:prstGeom>
          <a:solidFill>
            <a:srgbClr val="FF0000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20" name="AutoShape 21"/>
          <p:cNvSpPr>
            <a:spLocks noChangeArrowheads="1"/>
          </p:cNvSpPr>
          <p:nvPr/>
        </p:nvSpPr>
        <p:spPr bwMode="auto">
          <a:xfrm>
            <a:off x="2390775" y="4560888"/>
            <a:ext cx="915988" cy="323850"/>
          </a:xfrm>
          <a:prstGeom prst="leftRightArrow">
            <a:avLst>
              <a:gd name="adj1" fmla="val 50000"/>
              <a:gd name="adj2" fmla="val 5656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21" name="Line 22"/>
          <p:cNvSpPr>
            <a:spLocks noChangeShapeType="1"/>
          </p:cNvSpPr>
          <p:nvPr/>
        </p:nvSpPr>
        <p:spPr bwMode="auto">
          <a:xfrm>
            <a:off x="2382838" y="5160963"/>
            <a:ext cx="117475" cy="530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2" name="Line 23"/>
          <p:cNvSpPr>
            <a:spLocks noChangeShapeType="1"/>
          </p:cNvSpPr>
          <p:nvPr/>
        </p:nvSpPr>
        <p:spPr bwMode="auto">
          <a:xfrm flipH="1">
            <a:off x="3187700" y="5165725"/>
            <a:ext cx="114300" cy="5254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3" name="Rectangle 24"/>
          <p:cNvSpPr>
            <a:spLocks noChangeArrowheads="1"/>
          </p:cNvSpPr>
          <p:nvPr/>
        </p:nvSpPr>
        <p:spPr bwMode="auto">
          <a:xfrm>
            <a:off x="1477963" y="5668963"/>
            <a:ext cx="1020762" cy="904875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24" name="Rectangle 25"/>
          <p:cNvSpPr>
            <a:spLocks noChangeArrowheads="1"/>
          </p:cNvSpPr>
          <p:nvPr/>
        </p:nvSpPr>
        <p:spPr bwMode="auto">
          <a:xfrm>
            <a:off x="3203575" y="5661025"/>
            <a:ext cx="1022350" cy="911225"/>
          </a:xfrm>
          <a:prstGeom prst="rect">
            <a:avLst/>
          </a:prstGeom>
          <a:solidFill>
            <a:srgbClr val="000099"/>
          </a:solidFill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25" name="AutoShape 26"/>
          <p:cNvSpPr>
            <a:spLocks noChangeArrowheads="1"/>
          </p:cNvSpPr>
          <p:nvPr/>
        </p:nvSpPr>
        <p:spPr bwMode="auto">
          <a:xfrm>
            <a:off x="2511425" y="5992813"/>
            <a:ext cx="639763" cy="288925"/>
          </a:xfrm>
          <a:prstGeom prst="leftRightArrow">
            <a:avLst>
              <a:gd name="adj1" fmla="val 50000"/>
              <a:gd name="adj2" fmla="val 44286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grpSp>
        <p:nvGrpSpPr>
          <p:cNvPr id="27" name="Group 28"/>
          <p:cNvGrpSpPr>
            <a:grpSpLocks/>
          </p:cNvGrpSpPr>
          <p:nvPr/>
        </p:nvGrpSpPr>
        <p:grpSpPr bwMode="auto">
          <a:xfrm>
            <a:off x="669925" y="1619250"/>
            <a:ext cx="4362450" cy="641350"/>
            <a:chOff x="1470" y="894"/>
            <a:chExt cx="2748" cy="404"/>
          </a:xfrm>
        </p:grpSpPr>
        <p:sp>
          <p:nvSpPr>
            <p:cNvPr id="28" name="Text Box 29"/>
            <p:cNvSpPr txBox="1">
              <a:spLocks noChangeArrowheads="1"/>
            </p:cNvSpPr>
            <p:nvPr/>
          </p:nvSpPr>
          <p:spPr bwMode="auto">
            <a:xfrm>
              <a:off x="2218" y="894"/>
              <a:ext cx="1290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pt-BR" altLang="pt-BR" sz="1800" b="1">
                  <a:cs typeface="Arial" pitchFamily="34" charset="0"/>
                </a:rPr>
                <a:t>Manufatura parada</a:t>
              </a:r>
            </a:p>
          </p:txBody>
        </p:sp>
        <p:sp>
          <p:nvSpPr>
            <p:cNvPr id="29" name="AutoShape 30"/>
            <p:cNvSpPr>
              <a:spLocks noChangeArrowheads="1"/>
            </p:cNvSpPr>
            <p:nvPr/>
          </p:nvSpPr>
          <p:spPr bwMode="auto">
            <a:xfrm>
              <a:off x="1470" y="990"/>
              <a:ext cx="772" cy="247"/>
            </a:xfrm>
            <a:prstGeom prst="leftArrow">
              <a:avLst>
                <a:gd name="adj1" fmla="val 50000"/>
                <a:gd name="adj2" fmla="val 78138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>
                <a:cs typeface="Arial" pitchFamily="34" charset="0"/>
              </a:endParaRPr>
            </a:p>
          </p:txBody>
        </p:sp>
        <p:sp>
          <p:nvSpPr>
            <p:cNvPr id="30" name="AutoShape 31"/>
            <p:cNvSpPr>
              <a:spLocks noChangeArrowheads="1"/>
            </p:cNvSpPr>
            <p:nvPr/>
          </p:nvSpPr>
          <p:spPr bwMode="auto">
            <a:xfrm rot="10800000">
              <a:off x="3446" y="998"/>
              <a:ext cx="772" cy="224"/>
            </a:xfrm>
            <a:prstGeom prst="leftArrow">
              <a:avLst>
                <a:gd name="adj1" fmla="val 50000"/>
                <a:gd name="adj2" fmla="val 86161"/>
              </a:avLst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>
                <a:cs typeface="Arial" pitchFamily="34" charset="0"/>
              </a:endParaRPr>
            </a:p>
          </p:txBody>
        </p:sp>
      </p:grpSp>
      <p:sp>
        <p:nvSpPr>
          <p:cNvPr id="31" name="Line 33"/>
          <p:cNvSpPr>
            <a:spLocks noChangeShapeType="1"/>
          </p:cNvSpPr>
          <p:nvPr/>
        </p:nvSpPr>
        <p:spPr bwMode="auto">
          <a:xfrm flipH="1">
            <a:off x="3641725" y="2457450"/>
            <a:ext cx="1371600" cy="427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5165725" y="2686050"/>
            <a:ext cx="2813050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/>
              <a:t>Separar atividades EXTERNAS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/>
              <a:t>das INTERNAS e remover desperdícios óbvios.</a:t>
            </a:r>
          </a:p>
        </p:txBody>
      </p:sp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5089525" y="4286250"/>
            <a:ext cx="28717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/>
              <a:t>Converter atividades INTERNAS  em EXTERNAS e remover desperdícios.</a:t>
            </a:r>
          </a:p>
        </p:txBody>
      </p:sp>
      <p:sp>
        <p:nvSpPr>
          <p:cNvPr id="34" name="Text Box 36"/>
          <p:cNvSpPr txBox="1">
            <a:spLocks noChangeArrowheads="1"/>
          </p:cNvSpPr>
          <p:nvPr/>
        </p:nvSpPr>
        <p:spPr bwMode="auto">
          <a:xfrm>
            <a:off x="5089525" y="5734050"/>
            <a:ext cx="28702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/>
              <a:t>Demais redução de desperdícios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1600" b="1"/>
              <a:t>(INTERNAS são prioridade).</a:t>
            </a:r>
          </a:p>
        </p:txBody>
      </p:sp>
      <p:sp>
        <p:nvSpPr>
          <p:cNvPr id="35" name="Retângulo de cantos arredondados 3">
            <a:extLst>
              <a:ext uri="{FF2B5EF4-FFF2-40B4-BE49-F238E27FC236}">
                <a16:creationId xmlns:a16="http://schemas.microsoft.com/office/drawing/2014/main" id="{4E0E0B50-AFBB-4EA3-AFA0-6DA3516FB30F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</a:t>
            </a:r>
            <a:r>
              <a:rPr lang="pt-BR" sz="2400" b="1" dirty="0" err="1">
                <a:latin typeface="Century Gothic" panose="020B0502020202020204" pitchFamily="34" charset="0"/>
              </a:rPr>
              <a:t>Shingo</a:t>
            </a:r>
            <a:r>
              <a:rPr lang="pt-BR" sz="2400" b="1" dirty="0">
                <a:latin typeface="Century Gothic" panose="020B0502020202020204" pitchFamily="34" charset="0"/>
              </a:rPr>
              <a:t> - Resumo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2826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642938" y="1628800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Troca da Ferramenta e Ajustes</a:t>
            </a:r>
          </a:p>
        </p:txBody>
      </p:sp>
      <p:sp>
        <p:nvSpPr>
          <p:cNvPr id="7" name="AutoShape 38"/>
          <p:cNvSpPr>
            <a:spLocks noChangeArrowheads="1"/>
          </p:cNvSpPr>
          <p:nvPr/>
        </p:nvSpPr>
        <p:spPr bwMode="auto">
          <a:xfrm>
            <a:off x="4270375" y="3136925"/>
            <a:ext cx="746125" cy="4206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 sz="2000">
              <a:latin typeface="Calibri" pitchFamily="34" charset="0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5500688" y="1628800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7072313" y="1628800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aprova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286000" y="1628800"/>
            <a:ext cx="1643063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857625" y="1628800"/>
            <a:ext cx="1643063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rejeita</a:t>
            </a:r>
          </a:p>
        </p:txBody>
      </p:sp>
      <p:sp>
        <p:nvSpPr>
          <p:cNvPr id="12" name="CaixaDeTexto 44"/>
          <p:cNvSpPr txBox="1">
            <a:spLocks noChangeArrowheads="1"/>
          </p:cNvSpPr>
          <p:nvPr/>
        </p:nvSpPr>
        <p:spPr bwMode="auto">
          <a:xfrm>
            <a:off x="1214438" y="3817962"/>
            <a:ext cx="6858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 “Fiz uma peça, não deu certo, ajustei, fiz outra, não deu certo, .....”</a:t>
            </a:r>
          </a:p>
        </p:txBody>
      </p:sp>
      <p:sp>
        <p:nvSpPr>
          <p:cNvPr id="13" name="AutoShape 38"/>
          <p:cNvSpPr>
            <a:spLocks noChangeArrowheads="1"/>
          </p:cNvSpPr>
          <p:nvPr/>
        </p:nvSpPr>
        <p:spPr bwMode="auto">
          <a:xfrm>
            <a:off x="4270375" y="4914925"/>
            <a:ext cx="746125" cy="4206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 sz="2000">
              <a:latin typeface="Calibri" pitchFamily="34" charset="0"/>
            </a:endParaRPr>
          </a:p>
        </p:txBody>
      </p:sp>
      <p:sp>
        <p:nvSpPr>
          <p:cNvPr id="14" name="CaixaDeTexto 46"/>
          <p:cNvSpPr txBox="1">
            <a:spLocks noChangeArrowheads="1"/>
          </p:cNvSpPr>
          <p:nvPr/>
        </p:nvSpPr>
        <p:spPr bwMode="auto">
          <a:xfrm>
            <a:off x="1214438" y="5532462"/>
            <a:ext cx="6858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>
                <a:latin typeface="Arial MT Black"/>
              </a:rPr>
              <a:t> Geração de sucatas e retrabalhos;</a:t>
            </a:r>
          </a:p>
          <a:p>
            <a:pPr eaLnBrk="1" hangingPunct="1">
              <a:spcBef>
                <a:spcPct val="0"/>
              </a:spcBef>
            </a:pPr>
            <a:r>
              <a:rPr lang="pt-BR" altLang="pt-BR">
                <a:latin typeface="Arial MT Black"/>
              </a:rPr>
              <a:t> Aumento do tempo de setup</a:t>
            </a:r>
          </a:p>
        </p:txBody>
      </p:sp>
      <p:cxnSp>
        <p:nvCxnSpPr>
          <p:cNvPr id="15" name="Conector de seta reta 48"/>
          <p:cNvCxnSpPr>
            <a:cxnSpLocks noChangeShapeType="1"/>
          </p:cNvCxnSpPr>
          <p:nvPr/>
        </p:nvCxnSpPr>
        <p:spPr bwMode="auto">
          <a:xfrm>
            <a:off x="642938" y="2986112"/>
            <a:ext cx="8143875" cy="158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CaixaDeTexto 49"/>
          <p:cNvSpPr txBox="1">
            <a:spLocks noChangeArrowheads="1"/>
          </p:cNvSpPr>
          <p:nvPr/>
        </p:nvSpPr>
        <p:spPr bwMode="auto">
          <a:xfrm>
            <a:off x="5929313" y="2800375"/>
            <a:ext cx="2214562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 MT Black"/>
              </a:rPr>
              <a:t>tempo de setup</a:t>
            </a:r>
          </a:p>
        </p:txBody>
      </p:sp>
      <p:sp>
        <p:nvSpPr>
          <p:cNvPr id="17" name="Retângulo de cantos arredondados 3">
            <a:extLst>
              <a:ext uri="{FF2B5EF4-FFF2-40B4-BE49-F238E27FC236}">
                <a16:creationId xmlns:a16="http://schemas.microsoft.com/office/drawing/2014/main" id="{9E6A4BFC-0DC8-4865-8915-0D861B504D9E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Setup por tentativa e erro...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3519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07963" y="1395413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Troca da Ferramenta e Ajustes</a:t>
            </a:r>
          </a:p>
        </p:txBody>
      </p:sp>
      <p:sp>
        <p:nvSpPr>
          <p:cNvPr id="6" name="AutoShape 38"/>
          <p:cNvSpPr>
            <a:spLocks noChangeArrowheads="1"/>
          </p:cNvSpPr>
          <p:nvPr/>
        </p:nvSpPr>
        <p:spPr bwMode="auto">
          <a:xfrm>
            <a:off x="4137025" y="4189413"/>
            <a:ext cx="744538" cy="420687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tx1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 lIns="92075" tIns="46038" rIns="92075" bIns="46038" anchor="ctr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 sz="2000">
              <a:latin typeface="Calibri" pitchFamily="34" charset="0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137400" y="1395413"/>
            <a:ext cx="1643063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aprova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137275" y="1395413"/>
            <a:ext cx="1000125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2851150" y="1395413"/>
            <a:ext cx="1643063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rejeita</a:t>
            </a:r>
          </a:p>
        </p:txBody>
      </p:sp>
      <p:sp>
        <p:nvSpPr>
          <p:cNvPr id="10" name="CaixaDeTexto 44"/>
          <p:cNvSpPr txBox="1">
            <a:spLocks noChangeArrowheads="1"/>
          </p:cNvSpPr>
          <p:nvPr/>
        </p:nvSpPr>
        <p:spPr bwMode="auto">
          <a:xfrm>
            <a:off x="7065963" y="5307013"/>
            <a:ext cx="1857375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Qualidade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Tempo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494213" y="1395413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Ajusta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851025" y="1395413"/>
            <a:ext cx="1000125" cy="111283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auto">
          <a:xfrm>
            <a:off x="2351088" y="5205413"/>
            <a:ext cx="1643062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Troca da Ferramenta e Ajustes</a:t>
            </a: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4994275" y="5205413"/>
            <a:ext cx="1643063" cy="110807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aprova</a:t>
            </a:r>
          </a:p>
        </p:txBody>
      </p:sp>
      <p:sp>
        <p:nvSpPr>
          <p:cNvPr id="15" name="Rectangle 4"/>
          <p:cNvSpPr>
            <a:spLocks noChangeArrowheads="1"/>
          </p:cNvSpPr>
          <p:nvPr/>
        </p:nvSpPr>
        <p:spPr bwMode="auto">
          <a:xfrm>
            <a:off x="3994150" y="5205413"/>
            <a:ext cx="1000125" cy="111125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207963" y="2984500"/>
            <a:ext cx="1643062" cy="1109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Troca da Ferramenta e Ajustes</a:t>
            </a: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7137400" y="2984500"/>
            <a:ext cx="1643063" cy="1109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aprova</a:t>
            </a:r>
          </a:p>
        </p:txBody>
      </p:sp>
      <p:sp>
        <p:nvSpPr>
          <p:cNvPr id="18" name="Rectangle 4"/>
          <p:cNvSpPr>
            <a:spLocks noChangeArrowheads="1"/>
          </p:cNvSpPr>
          <p:nvPr/>
        </p:nvSpPr>
        <p:spPr bwMode="auto">
          <a:xfrm>
            <a:off x="6137275" y="2984500"/>
            <a:ext cx="1000125" cy="1109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2851150" y="2984500"/>
            <a:ext cx="1643063" cy="1109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Inspeciona e rejeita</a:t>
            </a:r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494213" y="2982913"/>
            <a:ext cx="1643062" cy="110966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endParaRPr lang="pt-BR" sz="2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Calibri" pitchFamily="34" charset="0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Ajusta</a:t>
            </a: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1851025" y="2984500"/>
            <a:ext cx="1000125" cy="111283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defRPr/>
            </a:pPr>
            <a:r>
              <a:rPr lang="pt-BR" sz="20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alibri" pitchFamily="34" charset="0"/>
              </a:rPr>
              <a:t>Faz uma peça</a:t>
            </a:r>
          </a:p>
        </p:txBody>
      </p:sp>
      <p:sp>
        <p:nvSpPr>
          <p:cNvPr id="22" name="Text Box 3"/>
          <p:cNvSpPr txBox="1">
            <a:spLocks noChangeArrowheads="1"/>
          </p:cNvSpPr>
          <p:nvPr/>
        </p:nvSpPr>
        <p:spPr bwMode="auto">
          <a:xfrm>
            <a:off x="3136900" y="2990850"/>
            <a:ext cx="11049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9000" b="1">
                <a:solidFill>
                  <a:srgbClr val="DC325A"/>
                </a:solidFill>
                <a:latin typeface="Incised901 BT"/>
              </a:rPr>
              <a:t>X</a:t>
            </a:r>
          </a:p>
        </p:txBody>
      </p:sp>
      <p:sp>
        <p:nvSpPr>
          <p:cNvPr id="23" name="Text Box 3"/>
          <p:cNvSpPr txBox="1">
            <a:spLocks noChangeArrowheads="1"/>
          </p:cNvSpPr>
          <p:nvPr/>
        </p:nvSpPr>
        <p:spPr bwMode="auto">
          <a:xfrm>
            <a:off x="4818063" y="2990850"/>
            <a:ext cx="11049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9000" b="1">
                <a:solidFill>
                  <a:srgbClr val="DC325A"/>
                </a:solidFill>
                <a:latin typeface="Incised901 BT"/>
              </a:rPr>
              <a:t>X</a:t>
            </a:r>
          </a:p>
        </p:txBody>
      </p:sp>
      <p:sp>
        <p:nvSpPr>
          <p:cNvPr id="24" name="Text Box 3"/>
          <p:cNvSpPr txBox="1">
            <a:spLocks noChangeArrowheads="1"/>
          </p:cNvSpPr>
          <p:nvPr/>
        </p:nvSpPr>
        <p:spPr bwMode="auto">
          <a:xfrm>
            <a:off x="6103938" y="2990850"/>
            <a:ext cx="1104900" cy="1339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9000" b="1">
                <a:solidFill>
                  <a:srgbClr val="DC325A"/>
                </a:solidFill>
                <a:latin typeface="Incised901 BT"/>
              </a:rPr>
              <a:t>X</a:t>
            </a:r>
          </a:p>
        </p:txBody>
      </p:sp>
      <p:sp>
        <p:nvSpPr>
          <p:cNvPr id="25" name="CaixaDeTexto 33"/>
          <p:cNvSpPr txBox="1">
            <a:spLocks noChangeArrowheads="1"/>
          </p:cNvSpPr>
          <p:nvPr/>
        </p:nvSpPr>
        <p:spPr bwMode="auto">
          <a:xfrm>
            <a:off x="3636963" y="1109663"/>
            <a:ext cx="1785937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Antes</a:t>
            </a:r>
          </a:p>
        </p:txBody>
      </p:sp>
      <p:sp>
        <p:nvSpPr>
          <p:cNvPr id="26" name="CaixaDeTexto 34"/>
          <p:cNvSpPr txBox="1">
            <a:spLocks noChangeArrowheads="1"/>
          </p:cNvSpPr>
          <p:nvPr/>
        </p:nvSpPr>
        <p:spPr bwMode="auto">
          <a:xfrm>
            <a:off x="3065463" y="2609850"/>
            <a:ext cx="3965575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Eliminando os ajustes</a:t>
            </a:r>
          </a:p>
        </p:txBody>
      </p:sp>
      <p:sp>
        <p:nvSpPr>
          <p:cNvPr id="27" name="CaixaDeTexto 35"/>
          <p:cNvSpPr txBox="1">
            <a:spLocks noChangeArrowheads="1"/>
          </p:cNvSpPr>
          <p:nvPr/>
        </p:nvSpPr>
        <p:spPr bwMode="auto">
          <a:xfrm>
            <a:off x="3636963" y="4752975"/>
            <a:ext cx="1785937" cy="52387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latin typeface="Arial MT Black"/>
              </a:rPr>
              <a:t>Depois</a:t>
            </a:r>
          </a:p>
        </p:txBody>
      </p:sp>
      <p:sp>
        <p:nvSpPr>
          <p:cNvPr id="28" name="Seta para cima 36"/>
          <p:cNvSpPr>
            <a:spLocks noChangeArrowheads="1"/>
          </p:cNvSpPr>
          <p:nvPr/>
        </p:nvSpPr>
        <p:spPr bwMode="auto">
          <a:xfrm>
            <a:off x="6780213" y="5292725"/>
            <a:ext cx="357187" cy="428625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003399">
              <a:alpha val="25098"/>
            </a:srgb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>
              <a:latin typeface="Arial MT Black"/>
            </a:endParaRPr>
          </a:p>
        </p:txBody>
      </p:sp>
      <p:sp>
        <p:nvSpPr>
          <p:cNvPr id="29" name="Seta para baixo 37"/>
          <p:cNvSpPr>
            <a:spLocks noChangeArrowheads="1"/>
          </p:cNvSpPr>
          <p:nvPr/>
        </p:nvSpPr>
        <p:spPr bwMode="auto">
          <a:xfrm>
            <a:off x="6780213" y="5776913"/>
            <a:ext cx="357187" cy="42862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3399">
              <a:alpha val="25098"/>
            </a:srgbClr>
          </a:solidFill>
          <a:ln w="28575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>
              <a:latin typeface="Arial MT Black"/>
            </a:endParaRPr>
          </a:p>
        </p:txBody>
      </p:sp>
      <p:cxnSp>
        <p:nvCxnSpPr>
          <p:cNvPr id="30" name="Conector de seta reta 41"/>
          <p:cNvCxnSpPr>
            <a:cxnSpLocks noChangeShapeType="1"/>
          </p:cNvCxnSpPr>
          <p:nvPr/>
        </p:nvCxnSpPr>
        <p:spPr bwMode="auto">
          <a:xfrm>
            <a:off x="2351088" y="6610350"/>
            <a:ext cx="4357687" cy="1588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CaixaDeTexto 45"/>
          <p:cNvSpPr txBox="1">
            <a:spLocks noChangeArrowheads="1"/>
          </p:cNvSpPr>
          <p:nvPr/>
        </p:nvSpPr>
        <p:spPr bwMode="auto">
          <a:xfrm>
            <a:off x="3851275" y="6424613"/>
            <a:ext cx="2214563" cy="4000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>
                <a:latin typeface="Arial MT Black"/>
              </a:rPr>
              <a:t>tempo de setup</a:t>
            </a:r>
          </a:p>
        </p:txBody>
      </p:sp>
      <p:sp>
        <p:nvSpPr>
          <p:cNvPr id="32" name="Retângulo de cantos arredondados 3">
            <a:extLst>
              <a:ext uri="{FF2B5EF4-FFF2-40B4-BE49-F238E27FC236}">
                <a16:creationId xmlns:a16="http://schemas.microsoft.com/office/drawing/2014/main" id="{EC49CBD7-BA29-4615-9732-3192ACE88394}"/>
              </a:ext>
            </a:extLst>
          </p:cNvPr>
          <p:cNvSpPr/>
          <p:nvPr/>
        </p:nvSpPr>
        <p:spPr>
          <a:xfrm>
            <a:off x="323528" y="260648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Setup por tentativa e erro...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343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112838" y="2428875"/>
            <a:ext cx="7059612" cy="11779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pt-BR" sz="3400" dirty="0" err="1">
                <a:latin typeface="Incised901 BT"/>
              </a:rPr>
              <a:t>Abolir</a:t>
            </a:r>
            <a:r>
              <a:rPr lang="en-US" altLang="pt-BR" sz="3400" dirty="0">
                <a:latin typeface="Incised901 BT"/>
              </a:rPr>
              <a:t>, </a:t>
            </a:r>
            <a:r>
              <a:rPr lang="en-US" altLang="pt-BR" sz="3400" dirty="0" err="1">
                <a:latin typeface="Incised901 BT"/>
              </a:rPr>
              <a:t>por</a:t>
            </a:r>
            <a:r>
              <a:rPr lang="en-US" altLang="pt-BR" sz="3400" dirty="0">
                <a:latin typeface="Incised901 BT"/>
              </a:rPr>
              <a:t> </a:t>
            </a:r>
            <a:r>
              <a:rPr lang="en-US" altLang="pt-BR" sz="3400" dirty="0" err="1">
                <a:latin typeface="Incised901 BT"/>
              </a:rPr>
              <a:t>si</a:t>
            </a:r>
            <a:r>
              <a:rPr lang="en-US" altLang="pt-BR" sz="3400" dirty="0">
                <a:latin typeface="Incised901 BT"/>
              </a:rPr>
              <a:t> </a:t>
            </a:r>
            <a:r>
              <a:rPr lang="en-US" altLang="pt-BR" sz="3400" dirty="0" err="1">
                <a:latin typeface="Incised901 BT"/>
              </a:rPr>
              <a:t>mesma</a:t>
            </a:r>
            <a:r>
              <a:rPr lang="en-US" altLang="pt-BR" sz="3400" dirty="0">
                <a:latin typeface="Incised901 BT"/>
              </a:rPr>
              <a:t>, a </a:t>
            </a:r>
            <a:r>
              <a:rPr lang="en-US" altLang="pt-BR" sz="3400" dirty="0" err="1">
                <a:latin typeface="Incised901 BT"/>
              </a:rPr>
              <a:t>etapa</a:t>
            </a:r>
            <a:r>
              <a:rPr lang="en-US" altLang="pt-BR" sz="3400" dirty="0">
                <a:latin typeface="Incised901 BT"/>
              </a:rPr>
              <a:t> de </a:t>
            </a:r>
            <a:r>
              <a:rPr lang="en-US" altLang="pt-BR" sz="3400" dirty="0" err="1">
                <a:latin typeface="Incised901 BT"/>
              </a:rPr>
              <a:t>troca</a:t>
            </a:r>
            <a:r>
              <a:rPr lang="en-US" altLang="pt-BR" sz="3400" dirty="0">
                <a:latin typeface="Incised901 BT"/>
              </a:rPr>
              <a:t> de </a:t>
            </a:r>
            <a:r>
              <a:rPr lang="en-US" altLang="pt-BR" sz="3400" dirty="0" err="1">
                <a:latin typeface="Incised901 BT"/>
              </a:rPr>
              <a:t>ferramenta</a:t>
            </a:r>
            <a:r>
              <a:rPr lang="en-US" altLang="pt-BR" sz="3400" dirty="0">
                <a:latin typeface="Incised901 BT"/>
              </a:rPr>
              <a:t>.</a:t>
            </a:r>
            <a:endParaRPr lang="pt-BR" altLang="pt-BR" sz="3400" dirty="0">
              <a:latin typeface="Incised901 BT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109663" y="4251325"/>
            <a:ext cx="7105650" cy="167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20000"/>
              </a:spcBef>
              <a:defRPr/>
            </a:pPr>
            <a:r>
              <a:rPr lang="en-US" sz="3400" b="1" kern="0" dirty="0">
                <a:latin typeface="+mn-lt"/>
              </a:rPr>
              <a:t>O </a:t>
            </a:r>
            <a:r>
              <a:rPr lang="en-US" sz="3400" b="1" kern="0" dirty="0" err="1">
                <a:latin typeface="+mn-lt"/>
              </a:rPr>
              <a:t>que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podemos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fazer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para</a:t>
            </a:r>
            <a:r>
              <a:rPr lang="en-US" sz="3400" b="1" kern="0" dirty="0">
                <a:latin typeface="+mn-lt"/>
              </a:rPr>
              <a:t> </a:t>
            </a:r>
            <a:r>
              <a:rPr lang="en-US" sz="3400" b="1" kern="0" dirty="0" err="1">
                <a:latin typeface="+mn-lt"/>
              </a:rPr>
              <a:t>diminuir</a:t>
            </a:r>
            <a:r>
              <a:rPr lang="en-US" sz="3400" b="1" kern="0" dirty="0">
                <a:latin typeface="+mn-lt"/>
              </a:rPr>
              <a:t> a </a:t>
            </a:r>
            <a:r>
              <a:rPr lang="en-US" sz="3400" b="1" kern="0" dirty="0" err="1">
                <a:latin typeface="+mn-lt"/>
              </a:rPr>
              <a:t>necessidade</a:t>
            </a:r>
            <a:r>
              <a:rPr lang="en-US" sz="3400" b="1" kern="0" dirty="0">
                <a:latin typeface="+mn-lt"/>
              </a:rPr>
              <a:t> de </a:t>
            </a:r>
            <a:r>
              <a:rPr lang="en-US" sz="3400" b="1" kern="0" dirty="0" err="1">
                <a:latin typeface="+mn-lt"/>
              </a:rPr>
              <a:t>realização</a:t>
            </a:r>
            <a:r>
              <a:rPr lang="en-US" sz="3400" b="1" kern="0" dirty="0">
                <a:latin typeface="+mn-lt"/>
              </a:rPr>
              <a:t> de setups ?</a:t>
            </a:r>
            <a:endParaRPr lang="pt-BR" sz="3400" b="1" kern="0" dirty="0">
              <a:latin typeface="+mn-lt"/>
            </a:endParaRPr>
          </a:p>
        </p:txBody>
      </p:sp>
      <p:sp>
        <p:nvSpPr>
          <p:cNvPr id="6" name="Retângulo de cantos arredondados 3">
            <a:extLst>
              <a:ext uri="{FF2B5EF4-FFF2-40B4-BE49-F238E27FC236}">
                <a16:creationId xmlns:a16="http://schemas.microsoft.com/office/drawing/2014/main" id="{CC074659-889F-4E9A-AE9C-C4D904550733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 verdadeiro objetivo é...</a:t>
            </a:r>
            <a:endParaRPr lang="pt-BR" sz="24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0443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 descr="http://1.bp.blogspot.com/_HFCg9PMGu2c/Sm4DPzZF5gI/AAAAAAAAAPU/urswi0uzk7k/s400/parafuso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0675" y="2434680"/>
            <a:ext cx="906463" cy="906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611188" y="1556792"/>
            <a:ext cx="3455987" cy="839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1800" b="1">
                <a:solidFill>
                  <a:srgbClr val="F7173C"/>
                </a:solidFill>
                <a:latin typeface="Incised901 BT"/>
              </a:rPr>
              <a:t>“A Gambiarra é o Inimigo Número Zero da Troca Rápida de Ferramentas”</a:t>
            </a:r>
            <a:endParaRPr lang="pt-BR" altLang="pt-BR" sz="18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7" name="Text Box 3"/>
          <p:cNvSpPr txBox="1">
            <a:spLocks noChangeArrowheads="1"/>
          </p:cNvSpPr>
          <p:nvPr/>
        </p:nvSpPr>
        <p:spPr bwMode="auto">
          <a:xfrm>
            <a:off x="5076825" y="1680617"/>
            <a:ext cx="3240088" cy="5921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1800" b="1">
                <a:latin typeface="Incised901 BT"/>
              </a:rPr>
              <a:t>GAMBIARRA = AUMENTO DA VARIABILIDADE</a:t>
            </a: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519113" y="2983955"/>
            <a:ext cx="3527425" cy="841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1800" b="1">
                <a:solidFill>
                  <a:srgbClr val="F7173C"/>
                </a:solidFill>
                <a:latin typeface="Incised901 BT"/>
              </a:rPr>
              <a:t>“Os Parafusos são o Inimigo Número 1 da Troca Rápida de Ferramentas”</a:t>
            </a:r>
            <a:endParaRPr lang="pt-BR" altLang="pt-BR" sz="1800" b="1">
              <a:solidFill>
                <a:srgbClr val="F7173C"/>
              </a:solidFill>
              <a:latin typeface="Incised901 BT"/>
            </a:endParaRP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5121275" y="3109367"/>
            <a:ext cx="3454400" cy="5905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sz="1800" b="1">
                <a:latin typeface="Incised901 BT"/>
              </a:rPr>
              <a:t>PARAFUSO = AUMENTO DO SET-UP INTERNO</a:t>
            </a: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827088" y="4536530"/>
            <a:ext cx="7858125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endParaRPr lang="en-US" altLang="pt-BR" sz="2400" b="1">
              <a:solidFill>
                <a:srgbClr val="F7173C"/>
              </a:solidFill>
              <a:latin typeface="Incised901 BT"/>
            </a:endParaRP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2400" b="1">
                <a:solidFill>
                  <a:srgbClr val="F7173C"/>
                </a:solidFill>
                <a:latin typeface="Incised901 BT"/>
              </a:rPr>
              <a:t>“O que importa é que funciona….”</a:t>
            </a:r>
          </a:p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en-US" altLang="pt-BR" sz="2400" b="1">
                <a:latin typeface="Incised901 BT"/>
              </a:rPr>
              <a:t>Exemplos de gambiarras…</a:t>
            </a:r>
            <a:endParaRPr lang="pt-BR" altLang="pt-BR" sz="2400" b="1">
              <a:latin typeface="Incised901 BT"/>
            </a:endParaRPr>
          </a:p>
        </p:txBody>
      </p:sp>
      <p:sp>
        <p:nvSpPr>
          <p:cNvPr id="11" name="Retângulo de cantos arredondados 3">
            <a:extLst>
              <a:ext uri="{FF2B5EF4-FFF2-40B4-BE49-F238E27FC236}">
                <a16:creationId xmlns:a16="http://schemas.microsoft.com/office/drawing/2014/main" id="{CAF155CD-7077-4D71-99F5-64999D9C1728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Inimigos da TRF</a:t>
            </a:r>
          </a:p>
        </p:txBody>
      </p:sp>
    </p:spTree>
    <p:extLst>
      <p:ext uri="{BB962C8B-B14F-4D97-AF65-F5344CB8AC3E}">
        <p14:creationId xmlns:p14="http://schemas.microsoft.com/office/powerpoint/2010/main" val="1824240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 autoUpdateAnimBg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ângulo isósceles 5"/>
          <p:cNvSpPr/>
          <p:nvPr/>
        </p:nvSpPr>
        <p:spPr>
          <a:xfrm>
            <a:off x="2755900" y="2543175"/>
            <a:ext cx="4552950" cy="3203575"/>
          </a:xfrm>
          <a:prstGeom prst="triangle">
            <a:avLst/>
          </a:prstGeom>
          <a:noFill/>
          <a:ln w="57150">
            <a:solidFill>
              <a:schemeClr val="tx2">
                <a:lumMod val="75000"/>
              </a:schemeClr>
            </a:solidFill>
            <a:prstDash val="dash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pt-BR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1938" y="1571625"/>
            <a:ext cx="1371600" cy="115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9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5237163"/>
            <a:ext cx="1398587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825" y="4954588"/>
            <a:ext cx="868363" cy="1331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CaixaDeTexto 16"/>
          <p:cNvSpPr txBox="1">
            <a:spLocks noChangeArrowheads="1"/>
          </p:cNvSpPr>
          <p:nvPr/>
        </p:nvSpPr>
        <p:spPr bwMode="auto">
          <a:xfrm>
            <a:off x="1428750" y="4429125"/>
            <a:ext cx="2120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FF0000"/>
                </a:solidFill>
                <a:latin typeface="Arial MT Black"/>
              </a:rPr>
              <a:t>operador</a:t>
            </a:r>
          </a:p>
        </p:txBody>
      </p:sp>
      <p:sp>
        <p:nvSpPr>
          <p:cNvPr id="11" name="CaixaDeTexto 17"/>
          <p:cNvSpPr txBox="1">
            <a:spLocks noChangeArrowheads="1"/>
          </p:cNvSpPr>
          <p:nvPr/>
        </p:nvSpPr>
        <p:spPr bwMode="auto">
          <a:xfrm>
            <a:off x="6810375" y="4143375"/>
            <a:ext cx="2119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FF0000"/>
                </a:solidFill>
                <a:latin typeface="Arial MT Black"/>
              </a:rPr>
              <a:t>máquina</a:t>
            </a:r>
          </a:p>
        </p:txBody>
      </p:sp>
      <p:sp>
        <p:nvSpPr>
          <p:cNvPr id="12" name="CaixaDeTexto 18"/>
          <p:cNvSpPr txBox="1">
            <a:spLocks noChangeArrowheads="1"/>
          </p:cNvSpPr>
          <p:nvPr/>
        </p:nvSpPr>
        <p:spPr bwMode="auto">
          <a:xfrm>
            <a:off x="5429250" y="2032000"/>
            <a:ext cx="21209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FF0000"/>
                </a:solidFill>
                <a:latin typeface="Arial MT Black"/>
              </a:rPr>
              <a:t>ferramental</a:t>
            </a:r>
          </a:p>
        </p:txBody>
      </p:sp>
      <p:sp>
        <p:nvSpPr>
          <p:cNvPr id="13" name="CaixaDeTexto 10"/>
          <p:cNvSpPr txBox="1">
            <a:spLocks noChangeArrowheads="1"/>
          </p:cNvSpPr>
          <p:nvPr/>
        </p:nvSpPr>
        <p:spPr bwMode="auto">
          <a:xfrm>
            <a:off x="500063" y="1785938"/>
            <a:ext cx="2928937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2400">
                <a:latin typeface="Arial MT Black"/>
              </a:rPr>
              <a:t>Quando falamos em implementar a TRF de forma consistente temos que nos preocupar com todos os vértices do tripé.</a:t>
            </a:r>
          </a:p>
        </p:txBody>
      </p:sp>
      <p:sp>
        <p:nvSpPr>
          <p:cNvPr id="14" name="CaixaDeTexto 11"/>
          <p:cNvSpPr txBox="1">
            <a:spLocks noChangeArrowheads="1"/>
          </p:cNvSpPr>
          <p:nvPr/>
        </p:nvSpPr>
        <p:spPr bwMode="auto">
          <a:xfrm>
            <a:off x="4071938" y="4262438"/>
            <a:ext cx="178593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b="1">
                <a:latin typeface="Arial MT Black"/>
              </a:rPr>
              <a:t>TRF</a:t>
            </a:r>
          </a:p>
        </p:txBody>
      </p:sp>
      <p:sp>
        <p:nvSpPr>
          <p:cNvPr id="15" name="Retângulo de cantos arredondados 3">
            <a:extLst>
              <a:ext uri="{FF2B5EF4-FFF2-40B4-BE49-F238E27FC236}">
                <a16:creationId xmlns:a16="http://schemas.microsoft.com/office/drawing/2014/main" id="{47227136-DA0C-4DD1-8D9B-FDF6DCCB4529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Tripé da TRF</a:t>
            </a:r>
          </a:p>
        </p:txBody>
      </p:sp>
    </p:spTree>
    <p:extLst>
      <p:ext uri="{BB962C8B-B14F-4D97-AF65-F5344CB8AC3E}">
        <p14:creationId xmlns:p14="http://schemas.microsoft.com/office/powerpoint/2010/main" val="34509243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763" y="2430463"/>
            <a:ext cx="3702051" cy="373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1438" y="2492375"/>
            <a:ext cx="5029200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331913" y="1574800"/>
            <a:ext cx="692943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b="1">
                <a:latin typeface="Incised901 BT"/>
              </a:rPr>
              <a:t>ANTES - sem gestão de ferramentas</a:t>
            </a: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5EE74DE3-E02F-4618-91B0-8B925DED9CA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</p:spTree>
    <p:extLst>
      <p:ext uri="{BB962C8B-B14F-4D97-AF65-F5344CB8AC3E}">
        <p14:creationId xmlns:p14="http://schemas.microsoft.com/office/powerpoint/2010/main" val="25523062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6475" y="2708275"/>
            <a:ext cx="5091113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357313" y="1700213"/>
            <a:ext cx="6929437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 anchorCtr="1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pt-BR" altLang="pt-BR" b="1">
                <a:latin typeface="Incised901 BT"/>
              </a:rPr>
              <a:t>ANTES - sem gestão de ferramentas</a:t>
            </a: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7BAE1FD6-FDA8-4D4C-ABAD-4BBD56046C3B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</p:spTree>
    <p:extLst>
      <p:ext uri="{BB962C8B-B14F-4D97-AF65-F5344CB8AC3E}">
        <p14:creationId xmlns:p14="http://schemas.microsoft.com/office/powerpoint/2010/main" val="3843627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2"/>
          <p:cNvSpPr txBox="1">
            <a:spLocks noChangeArrowheads="1"/>
          </p:cNvSpPr>
          <p:nvPr/>
        </p:nvSpPr>
        <p:spPr bwMode="auto">
          <a:xfrm>
            <a:off x="468313" y="1412875"/>
            <a:ext cx="8382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b="1">
                <a:latin typeface="Incised901 BT"/>
              </a:rPr>
              <a:t>Depois – com gestão das ferramentas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email">
            <a:lum bright="1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4075" y="2205038"/>
            <a:ext cx="5754688" cy="417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</p:spTree>
    <p:extLst>
      <p:ext uri="{BB962C8B-B14F-4D97-AF65-F5344CB8AC3E}">
        <p14:creationId xmlns:p14="http://schemas.microsoft.com/office/powerpoint/2010/main" val="3551215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pic>
        <p:nvPicPr>
          <p:cNvPr id="7" name="Imagem 6" descr="Uma imagem contendo biblioteca, cena, interior, sala&#10;&#10;Descrição gerada com muito alta confiança">
            <a:extLst>
              <a:ext uri="{FF2B5EF4-FFF2-40B4-BE49-F238E27FC236}">
                <a16:creationId xmlns:a16="http://schemas.microsoft.com/office/drawing/2014/main" id="{7A18D407-3766-4A33-8175-F74B46CE6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1484784"/>
            <a:ext cx="6840760" cy="51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14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pic>
        <p:nvPicPr>
          <p:cNvPr id="4" name="Imagem 3" descr="Uma imagem contendo interior, parede, mesa&#10;&#10;Descrição gerada com muito alta confiança">
            <a:extLst>
              <a:ext uri="{FF2B5EF4-FFF2-40B4-BE49-F238E27FC236}">
                <a16:creationId xmlns:a16="http://schemas.microsoft.com/office/drawing/2014/main" id="{9784926D-D8F0-4D03-A2C4-DFE0ED2A87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25"/>
          <a:stretch/>
        </p:blipFill>
        <p:spPr>
          <a:xfrm>
            <a:off x="1101418" y="1714700"/>
            <a:ext cx="6941165" cy="4522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0864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33AA887-D7AC-4691-9A84-2B6D5EF5F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2432" y="1540312"/>
            <a:ext cx="6739136" cy="5054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981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pic>
        <p:nvPicPr>
          <p:cNvPr id="4" name="Imagem 3" descr="Uma imagem contendo janela, mesa, interior, chão&#10;&#10;Descrição gerada com muito alta confiança">
            <a:extLst>
              <a:ext uri="{FF2B5EF4-FFF2-40B4-BE49-F238E27FC236}">
                <a16:creationId xmlns:a16="http://schemas.microsoft.com/office/drawing/2014/main" id="{03B64DD4-A74F-47FB-B527-20E1D08768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034" y="1556792"/>
            <a:ext cx="6633931" cy="4975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51075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61C3177F-9FBE-40D2-B3AD-68635277B377}"/>
              </a:ext>
            </a:extLst>
          </p:cNvPr>
          <p:cNvGrpSpPr/>
          <p:nvPr/>
        </p:nvGrpSpPr>
        <p:grpSpPr>
          <a:xfrm>
            <a:off x="132379" y="1344454"/>
            <a:ext cx="8879242" cy="4975448"/>
            <a:chOff x="85939" y="1344454"/>
            <a:chExt cx="8879242" cy="4975448"/>
          </a:xfrm>
        </p:grpSpPr>
        <p:pic>
          <p:nvPicPr>
            <p:cNvPr id="6" name="Imagem 5" descr="Uma imagem contendo janela, mesa, interior, chão&#10;&#10;Descrição gerada com muito alta confiança">
              <a:extLst>
                <a:ext uri="{FF2B5EF4-FFF2-40B4-BE49-F238E27FC236}">
                  <a16:creationId xmlns:a16="http://schemas.microsoft.com/office/drawing/2014/main" id="{E518DDA4-F2F0-4D1F-9E12-090278D5A3F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737" r="15335"/>
            <a:stretch/>
          </p:blipFill>
          <p:spPr>
            <a:xfrm>
              <a:off x="85939" y="1344454"/>
              <a:ext cx="5103373" cy="4975448"/>
            </a:xfrm>
            <a:prstGeom prst="rect">
              <a:avLst/>
            </a:prstGeom>
          </p:spPr>
        </p:pic>
        <p:pic>
          <p:nvPicPr>
            <p:cNvPr id="3" name="Imagem 2" descr="Uma imagem contendo interior, edifício&#10;&#10;Descrição gerada com muito alta confiança">
              <a:extLst>
                <a:ext uri="{FF2B5EF4-FFF2-40B4-BE49-F238E27FC236}">
                  <a16:creationId xmlns:a16="http://schemas.microsoft.com/office/drawing/2014/main" id="{D877B5D3-F47D-4EA1-AC3A-D20C5B9CEF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4611665" y="1966386"/>
              <a:ext cx="4975447" cy="373158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76057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ECBB4532-6EAC-4369-9F17-4D6E7E4CC3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TRF e 5S</a:t>
            </a:r>
          </a:p>
        </p:txBody>
      </p:sp>
      <p:pic>
        <p:nvPicPr>
          <p:cNvPr id="4" name="Imagem 3" descr="Uma imagem contendo edifício, interior, chão&#10;&#10;Descrição gerada com muito alta confiança">
            <a:extLst>
              <a:ext uri="{FF2B5EF4-FFF2-40B4-BE49-F238E27FC236}">
                <a16:creationId xmlns:a16="http://schemas.microsoft.com/office/drawing/2014/main" id="{49E0FB56-40D4-4286-8E20-8A6B55A7FD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620" y="1460088"/>
            <a:ext cx="6840760" cy="51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993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893824" y="1628800"/>
            <a:ext cx="7572375" cy="483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3200" dirty="0">
                <a:latin typeface="Incised901 BT"/>
              </a:rPr>
              <a:t>Premissas:</a:t>
            </a:r>
            <a:endParaRPr lang="pt-BR" altLang="pt-BR" sz="2400" dirty="0">
              <a:latin typeface="Incised901 BT"/>
            </a:endParaRPr>
          </a:p>
          <a:p>
            <a:pPr lvl="1">
              <a:spcBef>
                <a:spcPct val="50000"/>
              </a:spcBef>
              <a:buFont typeface="Arial" pitchFamily="34" charset="0"/>
              <a:buChar char="•"/>
            </a:pPr>
            <a:r>
              <a:rPr lang="pt-BR" altLang="pt-BR" dirty="0">
                <a:latin typeface="Incised901 BT"/>
              </a:rPr>
              <a:t> Existência de uma equipe de trabalho focada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•"/>
            </a:pPr>
            <a:r>
              <a:rPr lang="pt-BR" altLang="pt-BR" dirty="0">
                <a:latin typeface="Incised901 BT"/>
              </a:rPr>
              <a:t> Existência de um líder formal</a:t>
            </a:r>
            <a:r>
              <a:rPr lang="pt-BR" altLang="pt-BR" sz="3200" dirty="0">
                <a:latin typeface="Incised901 BT"/>
              </a:rPr>
              <a:t>	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pt-BR" altLang="pt-BR" sz="3200" dirty="0">
                <a:latin typeface="Incised901 BT"/>
              </a:rPr>
              <a:t>Objetivos:</a:t>
            </a:r>
            <a:endParaRPr lang="pt-BR" altLang="pt-BR" sz="2400" dirty="0">
              <a:latin typeface="Incised901 BT"/>
            </a:endParaRPr>
          </a:p>
          <a:p>
            <a:pPr lvl="1">
              <a:spcBef>
                <a:spcPct val="50000"/>
              </a:spcBef>
              <a:buFont typeface="Arial" pitchFamily="34" charset="0"/>
              <a:buChar char="•"/>
            </a:pPr>
            <a:r>
              <a:rPr lang="pt-BR" altLang="pt-BR" dirty="0">
                <a:latin typeface="Incised901 BT"/>
              </a:rPr>
              <a:t> Determinar um roteiro de setup</a:t>
            </a:r>
          </a:p>
          <a:p>
            <a:pPr lvl="1">
              <a:spcBef>
                <a:spcPct val="50000"/>
              </a:spcBef>
              <a:buFont typeface="Arial" pitchFamily="34" charset="0"/>
              <a:buChar char="•"/>
            </a:pPr>
            <a:r>
              <a:rPr lang="pt-BR" altLang="pt-BR" dirty="0">
                <a:latin typeface="Incised901 BT"/>
              </a:rPr>
              <a:t> Elaborar um plano de ação de implementação do roteiro e de melhorias</a:t>
            </a:r>
          </a:p>
          <a:p>
            <a:pPr>
              <a:spcBef>
                <a:spcPct val="50000"/>
              </a:spcBef>
              <a:buFontTx/>
              <a:buNone/>
            </a:pPr>
            <a:endParaRPr lang="pt-BR" altLang="pt-BR" sz="3200" dirty="0">
              <a:latin typeface="Incised901 BT"/>
            </a:endParaRPr>
          </a:p>
        </p:txBody>
      </p:sp>
      <p:sp>
        <p:nvSpPr>
          <p:cNvPr id="6" name="Retângulo de cantos arredondados 3">
            <a:extLst>
              <a:ext uri="{FF2B5EF4-FFF2-40B4-BE49-F238E27FC236}">
                <a16:creationId xmlns:a16="http://schemas.microsoft.com/office/drawing/2014/main" id="{C2E69613-4ABD-407E-B922-98958621AFB0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305426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5084425" y="1735743925"/>
            <a:ext cx="0" cy="412975425"/>
            <a:chOff x="7542246" y="4885284"/>
            <a:chExt cx="0" cy="1162474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7542246" y="6047603"/>
              <a:ext cx="0" cy="1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1600">
                <a:solidFill>
                  <a:srgbClr val="000000"/>
                </a:solidFill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7542246" y="5664747"/>
              <a:ext cx="0" cy="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1600">
                <a:solidFill>
                  <a:srgbClr val="000000"/>
                </a:solidFill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7542246" y="4885284"/>
              <a:ext cx="0" cy="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1600">
                <a:solidFill>
                  <a:srgbClr val="000000"/>
                </a:solidFill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7542246" y="5267872"/>
              <a:ext cx="0" cy="6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1600">
                <a:solidFill>
                  <a:srgbClr val="000000"/>
                </a:solidFill>
              </a:endParaRPr>
            </a:p>
          </p:txBody>
        </p:sp>
      </p:grp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1428750" y="2311400"/>
            <a:ext cx="1689100" cy="5842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Selecione a máquina</a:t>
            </a: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492500" y="2187575"/>
            <a:ext cx="1689100" cy="83185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Estudo do procedimento existente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5635625" y="2184400"/>
            <a:ext cx="1954213" cy="830263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Conversão dos elementos internos em externos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7000875" y="3643313"/>
            <a:ext cx="1778000" cy="831850"/>
          </a:xfrm>
          <a:prstGeom prst="rect">
            <a:avLst/>
          </a:prstGeom>
          <a:solidFill>
            <a:srgbClr val="00B05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Efetivação das melhorias propostas</a:t>
            </a: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003800" y="4884738"/>
            <a:ext cx="1689100" cy="1077912"/>
          </a:xfrm>
          <a:prstGeom prst="rect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/>
              <a:t>Execução do setup de acordo com o novo procedimento</a:t>
            </a:r>
          </a:p>
        </p:txBody>
      </p:sp>
      <p:sp>
        <p:nvSpPr>
          <p:cNvPr id="15" name="Text Box 14"/>
          <p:cNvSpPr txBox="1">
            <a:spLocks noChangeArrowheads="1"/>
          </p:cNvSpPr>
          <p:nvPr/>
        </p:nvSpPr>
        <p:spPr bwMode="auto">
          <a:xfrm>
            <a:off x="280988" y="3714750"/>
            <a:ext cx="1863725" cy="584200"/>
          </a:xfrm>
          <a:prstGeom prst="rect">
            <a:avLst/>
          </a:prstGeom>
          <a:solidFill>
            <a:srgbClr val="9900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Padronização dos procedimentos</a:t>
            </a: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2486025" y="4781550"/>
            <a:ext cx="1511300" cy="1290638"/>
          </a:xfrm>
          <a:prstGeom prst="diamond">
            <a:avLst/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lnSpc>
                <a:spcPct val="90000"/>
              </a:lnSpc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Char char="u"/>
            </a:pPr>
            <a:endParaRPr lang="pt-BR" altLang="pt-BR" sz="1600">
              <a:latin typeface="Arial MT Black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2560638" y="5100638"/>
            <a:ext cx="15113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/>
              <a:t>Resultado </a:t>
            </a:r>
          </a:p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/>
              <a:t>OK ?</a:t>
            </a:r>
          </a:p>
        </p:txBody>
      </p:sp>
      <p:sp>
        <p:nvSpPr>
          <p:cNvPr id="18" name="Text Box 43"/>
          <p:cNvSpPr txBox="1">
            <a:spLocks noChangeArrowheads="1"/>
          </p:cNvSpPr>
          <p:nvPr/>
        </p:nvSpPr>
        <p:spPr bwMode="auto">
          <a:xfrm>
            <a:off x="3500438" y="5786438"/>
            <a:ext cx="6191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/>
              <a:t>Não</a:t>
            </a:r>
          </a:p>
        </p:txBody>
      </p:sp>
      <p:sp>
        <p:nvSpPr>
          <p:cNvPr id="19" name="Text Box 44"/>
          <p:cNvSpPr txBox="1">
            <a:spLocks noChangeArrowheads="1"/>
          </p:cNvSpPr>
          <p:nvPr/>
        </p:nvSpPr>
        <p:spPr bwMode="auto">
          <a:xfrm>
            <a:off x="1643063" y="4879975"/>
            <a:ext cx="62071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/>
              <a:t>Sim</a:t>
            </a:r>
          </a:p>
        </p:txBody>
      </p:sp>
      <p:cxnSp>
        <p:nvCxnSpPr>
          <p:cNvPr id="20" name="AutoShape 45"/>
          <p:cNvCxnSpPr>
            <a:cxnSpLocks noChangeShapeType="1"/>
            <a:stCxn id="10" idx="3"/>
            <a:endCxn id="11" idx="1"/>
          </p:cNvCxnSpPr>
          <p:nvPr/>
        </p:nvCxnSpPr>
        <p:spPr bwMode="auto">
          <a:xfrm flipV="1">
            <a:off x="3117850" y="2603500"/>
            <a:ext cx="374650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AutoShape 46"/>
          <p:cNvCxnSpPr>
            <a:cxnSpLocks noChangeShapeType="1"/>
            <a:stCxn id="11" idx="3"/>
            <a:endCxn id="12" idx="1"/>
          </p:cNvCxnSpPr>
          <p:nvPr/>
        </p:nvCxnSpPr>
        <p:spPr bwMode="auto">
          <a:xfrm flipV="1">
            <a:off x="5181600" y="2600325"/>
            <a:ext cx="454025" cy="3175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Conector angulado 47"/>
          <p:cNvCxnSpPr>
            <a:cxnSpLocks noChangeShapeType="1"/>
            <a:stCxn id="16" idx="1"/>
            <a:endCxn id="15" idx="2"/>
          </p:cNvCxnSpPr>
          <p:nvPr/>
        </p:nvCxnSpPr>
        <p:spPr bwMode="auto">
          <a:xfrm rot="10800000">
            <a:off x="1212850" y="4298950"/>
            <a:ext cx="1273175" cy="1128713"/>
          </a:xfrm>
          <a:prstGeom prst="bentConnector2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Forma 68"/>
          <p:cNvCxnSpPr>
            <a:cxnSpLocks noChangeShapeType="1"/>
            <a:stCxn id="12" idx="3"/>
            <a:endCxn id="13" idx="0"/>
          </p:cNvCxnSpPr>
          <p:nvPr/>
        </p:nvCxnSpPr>
        <p:spPr bwMode="auto">
          <a:xfrm>
            <a:off x="7589838" y="2600325"/>
            <a:ext cx="300037" cy="1042988"/>
          </a:xfrm>
          <a:prstGeom prst="bentConnector2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Forma 70"/>
          <p:cNvCxnSpPr>
            <a:cxnSpLocks noChangeShapeType="1"/>
            <a:stCxn id="15" idx="0"/>
            <a:endCxn id="10" idx="1"/>
          </p:cNvCxnSpPr>
          <p:nvPr/>
        </p:nvCxnSpPr>
        <p:spPr bwMode="auto">
          <a:xfrm rot="5400000" flipH="1" flipV="1">
            <a:off x="765175" y="3051175"/>
            <a:ext cx="1111250" cy="215900"/>
          </a:xfrm>
          <a:prstGeom prst="bentConnector2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Forma 72"/>
          <p:cNvCxnSpPr>
            <a:cxnSpLocks noChangeShapeType="1"/>
            <a:endCxn id="14" idx="3"/>
          </p:cNvCxnSpPr>
          <p:nvPr/>
        </p:nvCxnSpPr>
        <p:spPr bwMode="auto">
          <a:xfrm rot="5400000">
            <a:off x="6899275" y="4433888"/>
            <a:ext cx="784225" cy="1196975"/>
          </a:xfrm>
          <a:prstGeom prst="bentConnector2">
            <a:avLst/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Conector angulado 79"/>
          <p:cNvCxnSpPr>
            <a:cxnSpLocks noChangeShapeType="1"/>
            <a:stCxn id="14" idx="1"/>
            <a:endCxn id="16" idx="3"/>
          </p:cNvCxnSpPr>
          <p:nvPr/>
        </p:nvCxnSpPr>
        <p:spPr bwMode="auto">
          <a:xfrm rot="10800000" flipV="1">
            <a:off x="3997325" y="5424488"/>
            <a:ext cx="1006475" cy="3175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8" name="Text Box 14"/>
          <p:cNvSpPr txBox="1">
            <a:spLocks noChangeArrowheads="1"/>
          </p:cNvSpPr>
          <p:nvPr/>
        </p:nvSpPr>
        <p:spPr bwMode="auto">
          <a:xfrm>
            <a:off x="1893888" y="6357938"/>
            <a:ext cx="2716212" cy="338137"/>
          </a:xfrm>
          <a:prstGeom prst="rect">
            <a:avLst/>
          </a:prstGeom>
          <a:solidFill>
            <a:srgbClr val="990033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600">
                <a:solidFill>
                  <a:schemeClr val="bg1"/>
                </a:solidFill>
              </a:rPr>
              <a:t>Retorna para o Passo 2</a:t>
            </a:r>
          </a:p>
        </p:txBody>
      </p:sp>
      <p:sp>
        <p:nvSpPr>
          <p:cNvPr id="29" name="AutoShape 37" descr="data:image/jpg;base64,/9j/4AAQSkZJRgABAQAAAQABAAD/2wBDAAkGBwgHBgkIBwgKCgkLDRYPDQwMDRsUFRAWIB0iIiAdHx8kKDQsJCYxJx8fLT0tMTU3Ojo6Iys/RD84QzQ5Ojf/2wBDAQoKCg0MDRoPDxo3JR8lNzc3Nzc3Nzc3Nzc3Nzc3Nzc3Nzc3Nzc3Nzc3Nzc3Nzc3Nzc3Nzc3Nzc3Nzc3Nzc3Nzf/wAARCACfAKQDASIAAhEBAxEB/8QAGwAAAQUBAQAAAAAAAAAAAAAAAAMEBQYHAgH/xAA9EAABAwIEAwUECQMDBQAAAAABAAIDBBEFEiExBhNBMlFhcZEUIoGhBxUjQlKxwdHhFmJyJDPwQ3OCkvH/xAAaAQACAwEBAAAAAAAAAAAAAAAABAIDBQEG/8QAJREAAgIBAwUAAgMAAAAAAAAAAAECAxESITEEEyJBUQUUMkJx/9oADAMBAAIRAxEAPwDcUIQgAQhCABCF4XAIA9QkXzAdQms9cyMXc4Ad5KAew/Lguc471BT45Ts/6ub/ABBKZScSQNPuiQ/D+VYqpvhEHZFey1Zx3r3OFT/6pgB94Sj/AMR+6Vi4oonGxnyf5ghDpsXoO5D6WwEL1Q1Ni0M7Q6KZjwfwuunkVWx2twq3tyTW49Qk2Shy7uEAeoXOYL0FAHqEIQAIQhAAhC8KAPV5dRGKY/hmFyiLEK6Gle4XZzjlDh4E6FR/9X4G7sYxQuPhO391JQk+ERc4rlllc8BMqqsbENSFGDHqOZn2NbTuv3StP5FR9RVxucSZmuJ/uU417+WxCdmF47jirxGR9+WcoUTPI55u9xcfErqWa4JAcfJNpXJ2pQ4iJ2OzmQnIHEXDHHyCZSu1INwRuCptxxc8PQfUrp2zGtIkMIBIZl636XskMezPjw2DEaiIYhFHNNVPYAXCNrSRcDS5IA81z9jEsNE+xmOUQUjk2kcl+TUPpPauRJyMty/KcoHmkZqapbC+Z1PMImNa5z8hsAdiT43CaU4/SnS/g25j43543uY4feabFSdDxVXUjgJiKiPrm0d6/uoV7rpvIVN1Qmt0EbJR4ZquC8R02IsvDLZ4F3Ru7TVOMrAW3JHqsIE0kMrZIXuZI3VrmmxClqvi+umwp9Ifdmf7rpmmxLevkT/zdI2dBLPhwMx6pY8uTTsI4hixWtxCKnF4aWRsTZL9t1jmt4DQKehfm8Vmn0buDMIcW/fqHE/AABaLSG7UpdFQscUMVycoJ/R4hCFUTBCEIAF47Zerw7IAiccw6lxOkfTV0LZYndDuD3g7g+Kw/izAm4JiRpo5+bG9udgJ99o6B379VtfEmKw4Ths1ZNqGdlt+047BYbWzzV1XLVVT88sri5x8/wBFp/j1PLedhHrFBrGNyLMQt2R6LzlAbBPeWvOWtXYz9LFsAqX0eL0sjpXNjzhrwTpY6fqtEldos1yEG43B0V/p5zU0UM5HbYCfPqkb0lZGSGas9txZ1ilaJMFp6GF8zJW1hleW3aCzKRuPGyZR8ilpK2Nsd5Z4hECN7Fwzm/fYJd13mzGlx8AvDQVcgu2L1IVLhWs5ZapTljCOMWr6GRmJim5sktSGRQOdGWthhBF2AE9A0XPUnzu3xbExVOxPJK8skZFT0rMlvs2uaXE9xOQX7/glpMJrrXEF/JwUZVRSwHLPG+Mn8TbXXIU1P2SlZNcobOdYJvIUpI7om8jloJYQsxJ7k3lOqUeU1lcpxRU2adwM0MwalLdi0uPxJV/opBlAv0VG4aAgw2naNhCz8rqxUdWQ6ywLottz+s1qpr+HwswN16mtNLnbdOlQXAhCEACTldlB8komGK1LKWklnkNmRsLj8BddSy8BnBmX0i4mazEm0MZPLptXjvkP7D8yqhy0+nc+omknkN3yOLnHxJuk8i3qYKuCijKm9Um2NDGvOX4J2Y0ctW5IYGZjVv4UaKnD+S8OtHIR66j80zwbA/bIjJOHWcLMDd/NTvDeEVOGYnJFK0vhlYHMkA0uDse42KQ6m6EouKe6GqapRabWzJ+kw5mUBrAB4BSUWGtt2U7o4rNGikGtACyst8j2y4In6ubbs/JNqnCo5I3MfG1zTuHNBCsFgk5WAt2QBlvEfC3KZJUUJDcoJdE46W62P6KjvdfW60njR2JYrK/DcJpJXwM/35uyx5/CCbXA626qvR8FVABfW1LIxuWxAu+Ztb0K1unvUK82SELqtUvBFOkdvcrmCkqa2QMpoJZCdyxl7C+6vlPgeGUx0hEzvxS+98tvkpBmRjQ1jWtaNgBYK59TJrEIlPZit5Mc0toYgwdNPRLsmyuuCmPMRzUt2vHSyx2eepFxwycOAN+imWG4VRwWozNFyrVA7MwLMaw8M0U87iyEIQB4dlV+OJ3RYHUNaL8wtjPxIv8AJWg7Kl8fPPsULL6Om1+AP7q2hZsSIWPEGzPeX4ei8yBTuDQUkYqq/Eo+ZRUkWd7D99xNmj1ukMcoRQY5UU8duQ8CanIvblu29DdavfWvQIdt6NRE8td0tNz6hkXRxsfLqlgzM7KO1tbxUjgcQNY5x+7pbuN/4XbbNMGwrjqki14RRtAbZoAGgAVihpWgDRMsJjAY3TqpxoAWJzuaQnHHl2SoXqEAC5eLhdIQAzmgzkX6JnPRtym7dLa3UvYJKdt2lAbGa1zDTVckP4Tp5dEhzCpDi5oixCN43fHr8CkmSQUfCxxB1BT1M/tgiHOJtY27lqK3TWpc5EHXmbQ05nijmJzXQ0tVgLsYoKc0zoZhHUQB5c2xtq2+240UUJgdiFZXNTITg4ssWBze+5t9iFdaJ12hZ5gEn+of5BX7DzdgWb1CxYx6l5rRIoQhUlh4diqdxtHnp4D3Sn5j+FcTsq3xXFnoHWFy17XfP+VbS8TTK7VmDKtPU0NBhFNQT0La+Wrd7RNHzzGI7aMBLb38iu8SNLitLhVY8NonU84pJozPnc2EkWdc6m2mvS5THkNvfKLnc23Q+nY6xc0EjbROvp9853FFdtjA4o3VMWOU4qG00UTZXGCBpiIDQDlBIuddNSdb+jbAnzSVUstUQZ3m7/dDbEb6AWXIpowTaMC/glqRggmYWiwvZcnS9L/w7C1akXzCj7rVMt2CruFTAAAlTLJ22Gqzh8dISbZAdkoEHAQhcuNkAdJKbRhK5MwHVJTzAtIBQBQON5m/WEDBu2Mk/E/wuIIRiHCBpIqmlim9uEmWeYR+6ANdVD8Q1wrMYqZWkFgdkYR1A0uot4Y83e1rj4haqpbqils0Z7sSsbLJiVZTUPD/ANS09bBVVFXMJKiSnPMjiYCNMw3Pu7efgksYkFPFWw/6fkmSNlC1mQuLWm7pLjWxaNydSbKBBa3sgBeNytJIaAT3IXTNPOQdyxwWThk5qmTqMo/VaJh/Yas/4RjLhJJ3usPgP5Wh0DbMakep3tY3SsQQ/QhCoLQKjMVp/aKeSM395pGik0hUtuxdTw8gzPDERcEWI3C4ewMaSdlM4lSiKpcQNHahR9UwNjGbQXBPwWl3PDUjN0eelkXNXUdO0maoiaW7tc8X9BqmUmP4bGbCR8v/AG2H9bKkvcZaiWV273lx+JulowmV0+VmUmQ7qT2RdGcaOibamo9tnSSfmAP1T/BsexrGaxrBJHTU7SDK+KME27hmvqf5VEjVu4YxSnjYyneGwuB36OPffvVF1MK4Nwjll9Vkpy8mabSPLh1Ug3ZQOH1TQ0AnVSrKlpHaWUPYHaSmNmn0XHPHekZqltu0gCj4tjlXw7j80MmeWgn+1aw6Fl9w09wN9NvLdc43xVD9WH2KXPJOC1tt2DqSO9J/SLCyoo4ayPK50EmRxB1yn+beqoHMWnRRXbFT9oSttnW3H6OuYe+685ibcwo5i0NIpkc8xHMKbcxPsFp3V2Iww2uy+Z/+I/4AozahFyZ2Ky0i+8K0Zho4mu7RGZ3mf/qu1K2zQoXCaewFwrBELBeflLU2zWSwsCiEIXDoLl4u1dIQBD4nTcxtwNQdFUOKM0GD1kvZc2F1ie86D5laDNHnHcs/+lBzIMB5f3p52NbbwuT+SYobclD6yi6KXn8MpjGmicsCSjFwE4YFuszIoWjCcRhIxhS2B4XNi1eylhc1lwXOe7ZjRuT6hVTkoptlsVl4QrQYnWUjQ2GZwYPuu1HzU3T8UVQsJIo3eRI/dNGv4Ts6FjsVlLTl9qjDcjj+INvt8FGwB5izua7IHZc1tL9PVKYrs5iXZnD2Wb+p6k9iGMeZJSE2KVlTcPmLWnozRRUadRhdVVceER7k2OCwT0M9G7szNI8dlnzy5ji1+jgSCPFaGxpabEEG19RbQ7Ko8RYTWHE5p6SmllhkAeTG29iRqLD/AJqp0zULGnwyNicoJ/CJ5nijmeK4dSVrb5qSoAHfE79kg5xYbPBaf7tPzTqcXwxVtr0OuYtD4Lwl1PTiWYfbS2JBGrR0H6/FZtRVkdPVwzPjbMxjw4sLtDZa9wnidHikAlo5Mzm2zxnRzPMfqkPyDmopJbDnR6XLLe5bKCENapAbJvTHROVkGiCEIQAIQhAHEmyy/wCleSaoqcLw+GN0j3l8jWtFy49kAD1WpOF1ET4TTvxL29zM1TyhE1x+425JA7r31Ktps7c9RCyGuODJZeD6+KgbOMr6g6yQt6DuB6lQoYWkhwIINrEWN/JbqaEH7osq/j/CdLiLnShpiqLf7rRv5jr+abq655xYLz6Vf0MyjFlZ+CJ4Y6+ppZ3tj9spnwMe7YOO3qo7EMAxDDnEywF8Y2kjBI+I3HxTRjQdDsm56bYNJ8lCzXLLRJQ8O4vSPFI/Dp3PZ7uZjLtcBpcEdFI4fFSvpcPpZw6WSrryeTmLWhrRlc5xGunvWHUqLFXXmHk/WNYIfwCdw/Vewtc0sIe+7AchzH3b727lRKFklpkyzXFPUiRijpYaGGpljM7apsssTGF5ka0EhoAGnS5c42A6LqWB8bhQshzz8uMPqCXAZ3gGzRtbW2u+qbRc1sPIbUTNhO8bZHBp+F7J0wSObG108xbHbI10hs3yF9FX27PoOcfg7xIMGIF0L+cJnkc8EhrQz3OWB3i1yT3iyVZG02uE2hgAaG5nZQ7NlLiRfvt3p9GPAnyQoqMcSOOTk/EUZTRu6H/2KWjooZHWDC7z1C7gp5JCLjK1TFFR5ABYJWyceIoZrhNbyZG/UFJO37WlgkH90TT+iVoOGsMoqkVFNQQQzN0D42ZSPRWGOKzQLJQMAVeuXGS3THnAlCwhOBsvALL1ROghCEACEIQALwi69QgDnKFxJEHBKoQBHT0TXgg7KEr+HKOpJc+BmY/ebofkrXYLl0bT0UlJx4YNJ8mfzcJsDvspXtHcQCm54dnYdJWHzBWhvgaeiTNI09FYuosXsr7MH6KIzA5xu5vzTqPB3jtOPorh7G3uC6FI0dEPqLH7BUwXorUGEjS4UjBhrW20HophkDR0SjWAdFU23yTUUuBrDSNZb9E6bGGruyFw6CEIQAIQhAAhCEAf/9k="/>
          <p:cNvSpPr>
            <a:spLocks noChangeAspect="1" noChangeArrowheads="1"/>
          </p:cNvSpPr>
          <p:nvPr/>
        </p:nvSpPr>
        <p:spPr bwMode="auto">
          <a:xfrm>
            <a:off x="115888" y="-547688"/>
            <a:ext cx="1190625" cy="115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>
              <a:latin typeface="Arial MT Black"/>
            </a:endParaRPr>
          </a:p>
        </p:txBody>
      </p:sp>
      <p:sp>
        <p:nvSpPr>
          <p:cNvPr id="30" name="AutoShape 39" descr="data:image/jpg;base64,/9j/4AAQSkZJRgABAQAAAQABAAD/2wBDAAkGBwgHBgkIBwgKCgkLDRYPDQwMDRsUFRAWIB0iIiAdHx8kKDQsJCYxJx8fLT0tMTU3Ojo6Iys/RD84QzQ5Ojf/2wBDAQoKCg0MDRoPDxo3JR8lNzc3Nzc3Nzc3Nzc3Nzc3Nzc3Nzc3Nzc3Nzc3Nzc3Nzc3Nzc3Nzc3Nzc3Nzc3Nzc3Nzf/wAARCACfAKQDASIAAhEBAxEB/8QAGwAAAQUBAQAAAAAAAAAAAAAAAAMEBQYHAgH/xAA9EAABAwIEAwUECQMDBQAAAAABAAIDBBEFEiExBhNBMlFhcZEUIoGhBxUjQlKxwdHhFmJyJDPwQ3OCkvH/xAAaAQACAwEBAAAAAAAAAAAAAAAABAIDBQEG/8QAJREAAgIBAwUAAgMAAAAAAAAAAAECAxESITEEEyJBUQUUMkJx/9oADAMBAAIRAxEAPwDcUIQgAQhCABCF4XAIA9QkXzAdQms9cyMXc4Ad5KAew/Lguc471BT45Ts/6ub/ABBKZScSQNPuiQ/D+VYqpvhEHZFey1Zx3r3OFT/6pgB94Sj/AMR+6Vi4oonGxnyf5ghDpsXoO5D6WwEL1Q1Ni0M7Q6KZjwfwuunkVWx2twq3tyTW49Qk2Shy7uEAeoXOYL0FAHqEIQAIQhAAhC8KAPV5dRGKY/hmFyiLEK6Gle4XZzjlDh4E6FR/9X4G7sYxQuPhO391JQk+ERc4rlllc8BMqqsbENSFGDHqOZn2NbTuv3StP5FR9RVxucSZmuJ/uU417+WxCdmF47jirxGR9+WcoUTPI55u9xcfErqWa4JAcfJNpXJ2pQ4iJ2OzmQnIHEXDHHyCZSu1INwRuCptxxc8PQfUrp2zGtIkMIBIZl636XskMezPjw2DEaiIYhFHNNVPYAXCNrSRcDS5IA81z9jEsNE+xmOUQUjk2kcl+TUPpPauRJyMty/KcoHmkZqapbC+Z1PMImNa5z8hsAdiT43CaU4/SnS/g25j43543uY4feabFSdDxVXUjgJiKiPrm0d6/uoV7rpvIVN1Qmt0EbJR4ZquC8R02IsvDLZ4F3Ru7TVOMrAW3JHqsIE0kMrZIXuZI3VrmmxClqvi+umwp9Ifdmf7rpmmxLevkT/zdI2dBLPhwMx6pY8uTTsI4hixWtxCKnF4aWRsTZL9t1jmt4DQKehfm8Vmn0buDMIcW/fqHE/AABaLSG7UpdFQscUMVycoJ/R4hCFUTBCEIAF47Zerw7IAiccw6lxOkfTV0LZYndDuD3g7g+Kw/izAm4JiRpo5+bG9udgJ99o6B379VtfEmKw4Ths1ZNqGdlt+047BYbWzzV1XLVVT88sri5x8/wBFp/j1PLedhHrFBrGNyLMQt2R6LzlAbBPeWvOWtXYz9LFsAqX0eL0sjpXNjzhrwTpY6fqtEldos1yEG43B0V/p5zU0UM5HbYCfPqkb0lZGSGas9txZ1ilaJMFp6GF8zJW1hleW3aCzKRuPGyZR8ilpK2Nsd5Z4hECN7Fwzm/fYJd13mzGlx8AvDQVcgu2L1IVLhWs5ZapTljCOMWr6GRmJim5sktSGRQOdGWthhBF2AE9A0XPUnzu3xbExVOxPJK8skZFT0rMlvs2uaXE9xOQX7/glpMJrrXEF/JwUZVRSwHLPG+Mn8TbXXIU1P2SlZNcobOdYJvIUpI7om8jloJYQsxJ7k3lOqUeU1lcpxRU2adwM0MwalLdi0uPxJV/opBlAv0VG4aAgw2naNhCz8rqxUdWQ6ywLottz+s1qpr+HwswN16mtNLnbdOlQXAhCEACTldlB8komGK1LKWklnkNmRsLj8BddSy8BnBmX0i4mazEm0MZPLptXjvkP7D8yqhy0+nc+omknkN3yOLnHxJuk8i3qYKuCijKm9Um2NDGvOX4J2Y0ctW5IYGZjVv4UaKnD+S8OtHIR66j80zwbA/bIjJOHWcLMDd/NTvDeEVOGYnJFK0vhlYHMkA0uDse42KQ6m6EouKe6GqapRabWzJ+kw5mUBrAB4BSUWGtt2U7o4rNGikGtACyst8j2y4In6ubbs/JNqnCo5I3MfG1zTuHNBCsFgk5WAt2QBlvEfC3KZJUUJDcoJdE46W62P6KjvdfW60njR2JYrK/DcJpJXwM/35uyx5/CCbXA626qvR8FVABfW1LIxuWxAu+Ztb0K1unvUK82SELqtUvBFOkdvcrmCkqa2QMpoJZCdyxl7C+6vlPgeGUx0hEzvxS+98tvkpBmRjQ1jWtaNgBYK59TJrEIlPZit5Mc0toYgwdNPRLsmyuuCmPMRzUt2vHSyx2eepFxwycOAN+imWG4VRwWozNFyrVA7MwLMaw8M0U87iyEIQB4dlV+OJ3RYHUNaL8wtjPxIv8AJWg7Kl8fPPsULL6Om1+AP7q2hZsSIWPEGzPeX4ei8yBTuDQUkYqq/Eo+ZRUkWd7D99xNmj1ukMcoRQY5UU8duQ8CanIvblu29DdavfWvQIdt6NRE8td0tNz6hkXRxsfLqlgzM7KO1tbxUjgcQNY5x+7pbuN/4XbbNMGwrjqki14RRtAbZoAGgAVihpWgDRMsJjAY3TqpxoAWJzuaQnHHl2SoXqEAC5eLhdIQAzmgzkX6JnPRtym7dLa3UvYJKdt2lAbGa1zDTVckP4Tp5dEhzCpDi5oixCN43fHr8CkmSQUfCxxB1BT1M/tgiHOJtY27lqK3TWpc5EHXmbQ05nijmJzXQ0tVgLsYoKc0zoZhHUQB5c2xtq2+240UUJgdiFZXNTITg4ssWBze+5t9iFdaJ12hZ5gEn+of5BX7DzdgWb1CxYx6l5rRIoQhUlh4diqdxtHnp4D3Sn5j+FcTsq3xXFnoHWFy17XfP+VbS8TTK7VmDKtPU0NBhFNQT0La+Wrd7RNHzzGI7aMBLb38iu8SNLitLhVY8NonU84pJozPnc2EkWdc6m2mvS5THkNvfKLnc23Q+nY6xc0EjbROvp9853FFdtjA4o3VMWOU4qG00UTZXGCBpiIDQDlBIuddNSdb+jbAnzSVUstUQZ3m7/dDbEb6AWXIpowTaMC/glqRggmYWiwvZcnS9L/w7C1akXzCj7rVMt2CruFTAAAlTLJ22Gqzh8dISbZAdkoEHAQhcuNkAdJKbRhK5MwHVJTzAtIBQBQON5m/WEDBu2Mk/E/wuIIRiHCBpIqmlim9uEmWeYR+6ANdVD8Q1wrMYqZWkFgdkYR1A0uot4Y83e1rj4haqpbqils0Z7sSsbLJiVZTUPD/ANS09bBVVFXMJKiSnPMjiYCNMw3Pu7efgksYkFPFWw/6fkmSNlC1mQuLWm7pLjWxaNydSbKBBa3sgBeNytJIaAT3IXTNPOQdyxwWThk5qmTqMo/VaJh/Yas/4RjLhJJ3usPgP5Wh0DbMakep3tY3SsQQ/QhCoLQKjMVp/aKeSM395pGik0hUtuxdTw8gzPDERcEWI3C4ewMaSdlM4lSiKpcQNHahR9UwNjGbQXBPwWl3PDUjN0eelkXNXUdO0maoiaW7tc8X9BqmUmP4bGbCR8v/AG2H9bKkvcZaiWV273lx+JulowmV0+VmUmQ7qT2RdGcaOibamo9tnSSfmAP1T/BsexrGaxrBJHTU7SDK+KME27hmvqf5VEjVu4YxSnjYyneGwuB36OPffvVF1MK4Nwjll9Vkpy8mabSPLh1Ug3ZQOH1TQ0AnVSrKlpHaWUPYHaSmNmn0XHPHekZqltu0gCj4tjlXw7j80MmeWgn+1aw6Fl9w09wN9NvLdc43xVD9WH2KXPJOC1tt2DqSO9J/SLCyoo4ayPK50EmRxB1yn+beqoHMWnRRXbFT9oSttnW3H6OuYe+685ibcwo5i0NIpkc8xHMKbcxPsFp3V2Iww2uy+Z/+I/4AozahFyZ2Ky0i+8K0Zho4mu7RGZ3mf/qu1K2zQoXCaewFwrBELBeflLU2zWSwsCiEIXDoLl4u1dIQBD4nTcxtwNQdFUOKM0GD1kvZc2F1ie86D5laDNHnHcs/+lBzIMB5f3p52NbbwuT+SYobclD6yi6KXn8MpjGmicsCSjFwE4YFuszIoWjCcRhIxhS2B4XNi1eylhc1lwXOe7ZjRuT6hVTkoptlsVl4QrQYnWUjQ2GZwYPuu1HzU3T8UVQsJIo3eRI/dNGv4Ts6FjsVlLTl9qjDcjj+INvt8FGwB5izua7IHZc1tL9PVKYrs5iXZnD2Wb+p6k9iGMeZJSE2KVlTcPmLWnozRRUadRhdVVceER7k2OCwT0M9G7szNI8dlnzy5ji1+jgSCPFaGxpabEEG19RbQ7Ko8RYTWHE5p6SmllhkAeTG29iRqLD/AJqp0zULGnwyNicoJ/CJ5nijmeK4dSVrb5qSoAHfE79kg5xYbPBaf7tPzTqcXwxVtr0OuYtD4Lwl1PTiWYfbS2JBGrR0H6/FZtRVkdPVwzPjbMxjw4sLtDZa9wnidHikAlo5Mzm2zxnRzPMfqkPyDmopJbDnR6XLLe5bKCENapAbJvTHROVkGiCEIQAIQhAHEmyy/wCleSaoqcLw+GN0j3l8jWtFy49kAD1WpOF1ET4TTvxL29zM1TyhE1x+425JA7r31Ktps7c9RCyGuODJZeD6+KgbOMr6g6yQt6DuB6lQoYWkhwIINrEWN/JbqaEH7osq/j/CdLiLnShpiqLf7rRv5jr+abq655xYLz6Vf0MyjFlZ+CJ4Y6+ppZ3tj9spnwMe7YOO3qo7EMAxDDnEywF8Y2kjBI+I3HxTRjQdDsm56bYNJ8lCzXLLRJQ8O4vSPFI/Dp3PZ7uZjLtcBpcEdFI4fFSvpcPpZw6WSrryeTmLWhrRlc5xGunvWHUqLFXXmHk/WNYIfwCdw/Vewtc0sIe+7AchzH3b727lRKFklpkyzXFPUiRijpYaGGpljM7apsssTGF5ka0EhoAGnS5c42A6LqWB8bhQshzz8uMPqCXAZ3gGzRtbW2u+qbRc1sPIbUTNhO8bZHBp+F7J0wSObG108xbHbI10hs3yF9FX27PoOcfg7xIMGIF0L+cJnkc8EhrQz3OWB3i1yT3iyVZG02uE2hgAaG5nZQ7NlLiRfvt3p9GPAnyQoqMcSOOTk/EUZTRu6H/2KWjooZHWDC7z1C7gp5JCLjK1TFFR5ABYJWyceIoZrhNbyZG/UFJO37WlgkH90TT+iVoOGsMoqkVFNQQQzN0D42ZSPRWGOKzQLJQMAVeuXGS3THnAlCwhOBsvALL1ROghCEACEIQALwi69QgDnKFxJEHBKoQBHT0TXgg7KEr+HKOpJc+BmY/ebofkrXYLl0bT0UlJx4YNJ8mfzcJsDvspXtHcQCm54dnYdJWHzBWhvgaeiTNI09FYuosXsr7MH6KIzA5xu5vzTqPB3jtOPorh7G3uC6FI0dEPqLH7BUwXorUGEjS4UjBhrW20HophkDR0SjWAdFU23yTUUuBrDSNZb9E6bGGruyFw6CEIQAIQhAAhCEAf/9k="/>
          <p:cNvSpPr>
            <a:spLocks noChangeAspect="1" noChangeArrowheads="1"/>
          </p:cNvSpPr>
          <p:nvPr/>
        </p:nvSpPr>
        <p:spPr bwMode="auto">
          <a:xfrm>
            <a:off x="115888" y="-547688"/>
            <a:ext cx="1190625" cy="1152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>
              <a:latin typeface="Arial MT Black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1714500" y="1751013"/>
            <a:ext cx="1143000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1</a:t>
            </a:r>
          </a:p>
        </p:txBody>
      </p:sp>
      <p:sp>
        <p:nvSpPr>
          <p:cNvPr id="32" name="CaixaDeTexto 31"/>
          <p:cNvSpPr txBox="1"/>
          <p:nvPr/>
        </p:nvSpPr>
        <p:spPr>
          <a:xfrm>
            <a:off x="3860800" y="1751013"/>
            <a:ext cx="1143000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2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5929313" y="1751013"/>
            <a:ext cx="1143000" cy="3397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3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5857875" y="3948113"/>
            <a:ext cx="1143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4</a:t>
            </a:r>
          </a:p>
        </p:txBody>
      </p:sp>
      <p:sp>
        <p:nvSpPr>
          <p:cNvPr id="35" name="CaixaDeTexto 34"/>
          <p:cNvSpPr txBox="1"/>
          <p:nvPr/>
        </p:nvSpPr>
        <p:spPr>
          <a:xfrm>
            <a:off x="5286375" y="4519613"/>
            <a:ext cx="1143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5</a:t>
            </a:r>
          </a:p>
        </p:txBody>
      </p:sp>
      <p:sp>
        <p:nvSpPr>
          <p:cNvPr id="36" name="CaixaDeTexto 35"/>
          <p:cNvSpPr txBox="1"/>
          <p:nvPr/>
        </p:nvSpPr>
        <p:spPr>
          <a:xfrm>
            <a:off x="1285875" y="3214688"/>
            <a:ext cx="1143000" cy="3381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pt-BR" sz="1600" b="1" dirty="0">
                <a:solidFill>
                  <a:schemeClr val="accent4"/>
                </a:solidFill>
              </a:rPr>
              <a:t>Passo 6</a:t>
            </a:r>
          </a:p>
        </p:txBody>
      </p:sp>
      <p:cxnSp>
        <p:nvCxnSpPr>
          <p:cNvPr id="37" name="Conector angulado 99"/>
          <p:cNvCxnSpPr>
            <a:cxnSpLocks noChangeShapeType="1"/>
            <a:stCxn id="16" idx="2"/>
            <a:endCxn id="28" idx="0"/>
          </p:cNvCxnSpPr>
          <p:nvPr/>
        </p:nvCxnSpPr>
        <p:spPr bwMode="auto">
          <a:xfrm rot="16200000" flipH="1">
            <a:off x="3104357" y="6209506"/>
            <a:ext cx="285750" cy="11113"/>
          </a:xfrm>
          <a:prstGeom prst="bentConnector3">
            <a:avLst>
              <a:gd name="adj1" fmla="val 50000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38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4713" y="3214688"/>
            <a:ext cx="1589087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" name="Retângulo de cantos arredondados 3">
            <a:extLst>
              <a:ext uri="{FF2B5EF4-FFF2-40B4-BE49-F238E27FC236}">
                <a16:creationId xmlns:a16="http://schemas.microsoft.com/office/drawing/2014/main" id="{EE740EF7-69D0-487E-AE4C-43EC642E246B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9715345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542213" y="5370513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53642" y="1653307"/>
            <a:ext cx="77565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Incised901 BT"/>
              </a:rPr>
              <a:t>Passo 1 - Selecione a máquina para análise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23850" y="2203302"/>
            <a:ext cx="8358188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200" dirty="0">
                <a:latin typeface="Incised901 BT"/>
              </a:rPr>
              <a:t> definição da máquina a ser analisada;</a:t>
            </a:r>
          </a:p>
          <a:p>
            <a:pPr>
              <a:spcBef>
                <a:spcPct val="50000"/>
              </a:spcBef>
            </a:pPr>
            <a:r>
              <a:rPr lang="pt-BR" altLang="pt-BR" sz="3200" dirty="0">
                <a:latin typeface="Incised901 BT"/>
              </a:rPr>
              <a:t> justificar a escolha da máquina;</a:t>
            </a:r>
          </a:p>
          <a:p>
            <a:pPr>
              <a:spcBef>
                <a:spcPct val="50000"/>
              </a:spcBef>
            </a:pPr>
            <a:r>
              <a:rPr lang="pt-BR" altLang="pt-BR" sz="3200" dirty="0">
                <a:latin typeface="Incised901 BT"/>
              </a:rPr>
              <a:t> formalizar os objetivos de redução e padronização e os respectivos ganhos;</a:t>
            </a:r>
          </a:p>
          <a:p>
            <a:pPr>
              <a:spcBef>
                <a:spcPct val="50000"/>
              </a:spcBef>
            </a:pPr>
            <a:r>
              <a:rPr lang="pt-BR" altLang="pt-BR" sz="3200" dirty="0">
                <a:latin typeface="Incised901 BT"/>
              </a:rPr>
              <a:t> realizar um brainstorming inicial</a:t>
            </a:r>
          </a:p>
          <a:p>
            <a:pPr>
              <a:spcBef>
                <a:spcPct val="50000"/>
              </a:spcBef>
              <a:buFontTx/>
              <a:buNone/>
            </a:pPr>
            <a:r>
              <a:rPr lang="pt-BR" altLang="pt-BR" sz="3200" dirty="0">
                <a:latin typeface="Incised901 BT"/>
              </a:rPr>
              <a:t>		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4368" y="5230988"/>
            <a:ext cx="1008948" cy="10442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de cantos arredondados 3">
            <a:extLst>
              <a:ext uri="{FF2B5EF4-FFF2-40B4-BE49-F238E27FC236}">
                <a16:creationId xmlns:a16="http://schemas.microsoft.com/office/drawing/2014/main" id="{F19932BC-76CC-4C27-B765-A320E86918F2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7406508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615238" y="5888038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777875" y="1389063"/>
            <a:ext cx="7827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b="1">
                <a:latin typeface="Incised901 BT"/>
              </a:rPr>
              <a:t>Passo 2 - Estudo do Procedimento Existente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68313" y="2285578"/>
            <a:ext cx="8458200" cy="3231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2400" dirty="0">
                <a:latin typeface="Incised901 BT"/>
              </a:rPr>
              <a:t> realizar uma filmagem do setup. A filmagem deve ser feita no setup mais completo possível, contemplando atividades de </a:t>
            </a:r>
            <a:r>
              <a:rPr lang="pt-BR" altLang="pt-BR" sz="2400" dirty="0" err="1">
                <a:latin typeface="Incised901 BT"/>
              </a:rPr>
              <a:t>Preset</a:t>
            </a:r>
            <a:r>
              <a:rPr lang="pt-BR" altLang="pt-BR" sz="2400" dirty="0">
                <a:latin typeface="Incised901 BT"/>
              </a:rPr>
              <a:t>, laboratório, entre outras;</a:t>
            </a:r>
          </a:p>
          <a:p>
            <a:pPr>
              <a:spcBef>
                <a:spcPct val="50000"/>
              </a:spcBef>
            </a:pPr>
            <a:r>
              <a:rPr lang="pt-BR" altLang="pt-BR" sz="2400" dirty="0">
                <a:latin typeface="Incised901 BT"/>
              </a:rPr>
              <a:t> detalhar a </a:t>
            </a:r>
            <a:r>
              <a:rPr lang="pt-BR" altLang="pt-BR" sz="2400" dirty="0" err="1">
                <a:latin typeface="Incised901 BT"/>
              </a:rPr>
              <a:t>cronoanálise</a:t>
            </a:r>
            <a:r>
              <a:rPr lang="pt-BR" altLang="pt-BR" sz="2400" dirty="0">
                <a:latin typeface="Incised901 BT"/>
              </a:rPr>
              <a:t> do setup;</a:t>
            </a:r>
          </a:p>
          <a:p>
            <a:pPr>
              <a:spcBef>
                <a:spcPct val="50000"/>
              </a:spcBef>
            </a:pPr>
            <a:r>
              <a:rPr lang="pt-BR" altLang="pt-BR" sz="2400" dirty="0">
                <a:latin typeface="Incised901 BT"/>
              </a:rPr>
              <a:t> elaborar uma curva A-B-C das atividades;</a:t>
            </a:r>
          </a:p>
          <a:p>
            <a:pPr>
              <a:spcBef>
                <a:spcPct val="50000"/>
              </a:spcBef>
            </a:pPr>
            <a:r>
              <a:rPr lang="pt-BR" altLang="pt-BR" sz="2400" dirty="0">
                <a:latin typeface="Incised901 BT"/>
              </a:rPr>
              <a:t> classificação dos elementos internos e externos do setup. 		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5338" y="3516313"/>
            <a:ext cx="1589087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de cantos arredondados 3">
            <a:extLst>
              <a:ext uri="{FF2B5EF4-FFF2-40B4-BE49-F238E27FC236}">
                <a16:creationId xmlns:a16="http://schemas.microsoft.com/office/drawing/2014/main" id="{0CBD971C-16FF-40FD-A6D3-8DEDB6E25886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28449895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371600"/>
            <a:ext cx="6943725" cy="4972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1600200" y="304800"/>
            <a:ext cx="5695950" cy="617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chemeClr val="accent2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3" name="Retângulo 1"/>
          <p:cNvSpPr>
            <a:spLocks noChangeArrowheads="1"/>
          </p:cNvSpPr>
          <p:nvPr/>
        </p:nvSpPr>
        <p:spPr bwMode="auto">
          <a:xfrm>
            <a:off x="1258888" y="1557338"/>
            <a:ext cx="1081087" cy="50323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spAutoFit/>
          </a:bodyPr>
          <a:lstStyle>
            <a:lvl1pPr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endParaRPr lang="pt-BR" altLang="pt-BR">
              <a:cs typeface="Arial" pitchFamily="34" charset="0"/>
            </a:endParaRPr>
          </a:p>
        </p:txBody>
      </p:sp>
      <p:sp>
        <p:nvSpPr>
          <p:cNvPr id="6" name="Retângulo de cantos arredondados 3">
            <a:extLst>
              <a:ext uri="{FF2B5EF4-FFF2-40B4-BE49-F238E27FC236}">
                <a16:creationId xmlns:a16="http://schemas.microsoft.com/office/drawing/2014/main" id="{444E5DA1-DD8E-4A4E-856E-44F85F7D4AC9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29624285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902575" y="5616575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39750" y="1541463"/>
            <a:ext cx="818832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b="1">
                <a:latin typeface="Incised901 BT"/>
              </a:rPr>
              <a:t>Passo 3 - Conversão dos Elementos Internos em Externos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404813" y="2733675"/>
            <a:ext cx="84582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>
                <a:latin typeface="Incised901 BT"/>
              </a:rPr>
              <a:t> avaliação de tudo o que pode ser melhorado (pré-montagens, ajustes externos, melhoria no ferramental, comunicação, análise das operações, agilização das fixações, eliminação dos ajustes, etc)</a:t>
            </a:r>
          </a:p>
          <a:p>
            <a:pPr>
              <a:spcBef>
                <a:spcPct val="50000"/>
              </a:spcBef>
            </a:pPr>
            <a:r>
              <a:rPr lang="pt-BR" altLang="pt-BR">
                <a:latin typeface="Incised901 BT"/>
              </a:rPr>
              <a:t> elaborar o Roteiro de Setup</a:t>
            </a:r>
          </a:p>
          <a:p>
            <a:pPr>
              <a:spcBef>
                <a:spcPct val="50000"/>
              </a:spcBef>
            </a:pPr>
            <a:r>
              <a:rPr lang="pt-BR" altLang="pt-BR">
                <a:latin typeface="Incised901 BT"/>
              </a:rPr>
              <a:t> elaborar o plano de ação com prazos e responsáveis					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8700" y="4878388"/>
            <a:ext cx="1349375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tângulo de cantos arredondados 3">
            <a:extLst>
              <a:ext uri="{FF2B5EF4-FFF2-40B4-BE49-F238E27FC236}">
                <a16:creationId xmlns:a16="http://schemas.microsoft.com/office/drawing/2014/main" id="{787A1167-A632-45E5-8543-5C7C41BE6E55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74637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DCP0182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875" y="1303338"/>
            <a:ext cx="5876925" cy="4416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Line 3"/>
          <p:cNvSpPr>
            <a:spLocks noChangeShapeType="1"/>
          </p:cNvSpPr>
          <p:nvPr/>
        </p:nvSpPr>
        <p:spPr bwMode="auto">
          <a:xfrm flipV="1">
            <a:off x="1222375" y="3702050"/>
            <a:ext cx="1322388" cy="727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 flipV="1">
            <a:off x="4362450" y="4770438"/>
            <a:ext cx="153988" cy="116840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 flipH="1" flipV="1">
            <a:off x="6367463" y="3943350"/>
            <a:ext cx="1252537" cy="5524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165100" y="4438650"/>
            <a:ext cx="1574800" cy="179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400" b="1">
                <a:solidFill>
                  <a:srgbClr val="000099"/>
                </a:solidFill>
              </a:rPr>
              <a:t>Trabalho que pode ser realizado com a máquina trabalhando (ex. preparação de material e ferramentas).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124200" y="5943600"/>
            <a:ext cx="2809875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400" b="1">
                <a:solidFill>
                  <a:schemeClr val="accent2"/>
                </a:solidFill>
              </a:rPr>
              <a:t>Trabalho que pode ser realizado somente quando a máquina está parada. 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7620000" y="3810000"/>
            <a:ext cx="1311275" cy="221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pt-BR" altLang="pt-BR" sz="1400" b="1">
                <a:solidFill>
                  <a:srgbClr val="000099"/>
                </a:solidFill>
              </a:rPr>
              <a:t>Trabalho que pode ser realizado uma vez a máquina está pronta e trabalhando (ex. guardar ferramentas e materiais).</a:t>
            </a:r>
          </a:p>
        </p:txBody>
      </p:sp>
      <p:sp>
        <p:nvSpPr>
          <p:cNvPr id="12" name="Retângulo de cantos arredondados 3">
            <a:extLst>
              <a:ext uri="{FF2B5EF4-FFF2-40B4-BE49-F238E27FC236}">
                <a16:creationId xmlns:a16="http://schemas.microsoft.com/office/drawing/2014/main" id="{65FA3313-F094-4CAC-B8CF-082709F12DBF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870141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8600" y="1427163"/>
            <a:ext cx="6019800" cy="3761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</a:rPr>
              <a:t>Particularmente aplique o descarte e a simplificação durante o evento que suportará a melhoria de Set </a:t>
            </a:r>
            <a:r>
              <a:rPr lang="pt-BR" altLang="pt-BR" sz="2000" dirty="0" err="1">
                <a:latin typeface="Century Ghotic"/>
              </a:rPr>
              <a:t>Up</a:t>
            </a:r>
            <a:r>
              <a:rPr lang="pt-BR" altLang="pt-BR" sz="2000" dirty="0">
                <a:latin typeface="Century Ghotic"/>
              </a:rPr>
              <a:t>.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r>
              <a:rPr lang="pt-BR" altLang="pt-BR" dirty="0">
                <a:latin typeface="Century Ghotic"/>
              </a:rPr>
              <a:t>Evite a procura de peças</a:t>
            </a: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endParaRPr lang="pt-BR" altLang="pt-BR" dirty="0">
              <a:latin typeface="Century Ghotic"/>
            </a:endParaRP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r>
              <a:rPr lang="pt-BR" altLang="pt-BR" dirty="0">
                <a:latin typeface="Century Ghotic"/>
              </a:rPr>
              <a:t>Evite movimentação desnecessária de materiais. 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pt-BR" altLang="pt-BR" sz="2000" dirty="0">
              <a:latin typeface="Century Ghotic"/>
            </a:endParaRP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r>
              <a:rPr lang="pt-BR" altLang="pt-BR" dirty="0">
                <a:latin typeface="Century Ghotic"/>
              </a:rPr>
              <a:t>Estabeleça bancadas e locais de estoque apropriados.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endParaRPr lang="pt-BR" altLang="pt-BR" sz="2000" dirty="0">
              <a:latin typeface="Century Ghotic"/>
            </a:endParaRP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r>
              <a:rPr lang="pt-BR" altLang="pt-BR" dirty="0">
                <a:latin typeface="Century Ghotic"/>
              </a:rPr>
              <a:t>Evite utilização de ferramentas e peças não apropriadas. </a:t>
            </a:r>
          </a:p>
          <a:p>
            <a:pPr marL="0" lvl="2">
              <a:lnSpc>
                <a:spcPct val="90000"/>
              </a:lnSpc>
              <a:spcBef>
                <a:spcPct val="0"/>
              </a:spcBef>
            </a:pPr>
            <a:endParaRPr lang="pt-BR" altLang="pt-BR" dirty="0">
              <a:latin typeface="Century Ghotic"/>
            </a:endParaRPr>
          </a:p>
          <a:p>
            <a:pPr>
              <a:lnSpc>
                <a:spcPct val="80000"/>
              </a:lnSpc>
              <a:spcBef>
                <a:spcPct val="0"/>
              </a:spcBef>
            </a:pPr>
            <a:r>
              <a:rPr lang="pt-BR" altLang="pt-BR" sz="2000" dirty="0">
                <a:latin typeface="Century Ghotic"/>
              </a:rPr>
              <a:t> Identificação das ferramentas da 	máquina é essencial! 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381000"/>
            <a:ext cx="91440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3000" b="1" dirty="0">
              <a:solidFill>
                <a:srgbClr val="FF0000"/>
              </a:solidFill>
              <a:latin typeface="Arial Black" pitchFamily="34" charset="0"/>
            </a:endParaRPr>
          </a:p>
        </p:txBody>
      </p:sp>
      <p:pic>
        <p:nvPicPr>
          <p:cNvPr id="7" name="Picture 4" descr="GP004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133600"/>
            <a:ext cx="2557463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023B7BA7-6C2E-4D4B-A5A4-A0F39604C85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Utilização dos 5S na TRF</a:t>
            </a:r>
          </a:p>
        </p:txBody>
      </p:sp>
    </p:spTree>
    <p:extLst>
      <p:ext uri="{BB962C8B-B14F-4D97-AF65-F5344CB8AC3E}">
        <p14:creationId xmlns:p14="http://schemas.microsoft.com/office/powerpoint/2010/main" val="231083674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41325" y="1406815"/>
            <a:ext cx="6524928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CÓDIGO DE CORES</a:t>
            </a:r>
            <a:r>
              <a:rPr lang="pt-BR" altLang="pt-BR" sz="2000" b="1" dirty="0">
                <a:latin typeface="Century Ghotic"/>
              </a:rPr>
              <a:t>	                    	</a:t>
            </a:r>
            <a:r>
              <a:rPr lang="pt-BR" altLang="pt-BR" sz="2000" b="1" u="sng" dirty="0">
                <a:latin typeface="Century Ghotic"/>
              </a:rPr>
              <a:t>PADRONIZAÇÃO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93725" y="1787815"/>
            <a:ext cx="3309304" cy="101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Parafusos e porcas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Ferramentas e dispositivos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Matrizes e processadores</a:t>
            </a: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441325" y="3429000"/>
            <a:ext cx="2584490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CÓDIGO DE NÚMEROS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93725" y="3810000"/>
            <a:ext cx="3099310" cy="708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  <a:cs typeface="Arial" pitchFamily="34" charset="0"/>
              </a:rPr>
              <a:t>- Ferramentas e dispositivos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  <a:cs typeface="Arial" pitchFamily="34" charset="0"/>
              </a:rPr>
              <a:t>- Matrizes e processadores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41325" y="4912015"/>
            <a:ext cx="1043555" cy="4007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>
                <a:latin typeface="Century Ghotic"/>
                <a:cs typeface="Arial" pitchFamily="34" charset="0"/>
              </a:rPr>
              <a:t>PRE-SET</a:t>
            </a: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593725" y="5293015"/>
            <a:ext cx="3357009" cy="10163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  <a:cs typeface="Arial" pitchFamily="34" charset="0"/>
              </a:rPr>
              <a:t>-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Pre-montagem</a:t>
            </a:r>
            <a:r>
              <a:rPr lang="pt-BR" altLang="pt-BR" sz="2000" dirty="0">
                <a:latin typeface="Century Ghotic"/>
                <a:cs typeface="Arial" pitchFamily="34" charset="0"/>
              </a:rPr>
              <a:t>,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Pre-corte</a:t>
            </a:r>
            <a:endParaRPr lang="pt-BR" altLang="pt-BR" sz="2000" dirty="0">
              <a:latin typeface="Century Ghotic"/>
              <a:cs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  <a:cs typeface="Arial" pitchFamily="34" charset="0"/>
              </a:rPr>
              <a:t>-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Pre-ajuste</a:t>
            </a:r>
            <a:r>
              <a:rPr lang="pt-BR" altLang="pt-BR" sz="2000" dirty="0">
                <a:latin typeface="Century Ghotic"/>
                <a:cs typeface="Arial" pitchFamily="34" charset="0"/>
              </a:rPr>
              <a:t>, 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Pre-aquecimento</a:t>
            </a:r>
            <a:endParaRPr lang="pt-BR" altLang="pt-BR" sz="2000" dirty="0">
              <a:latin typeface="Century Ghotic"/>
              <a:cs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Century Ghotic"/>
                <a:cs typeface="Arial" pitchFamily="34" charset="0"/>
              </a:rPr>
              <a:t>-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Pre</a:t>
            </a:r>
            <a:r>
              <a:rPr lang="pt-BR" altLang="pt-BR" sz="2000" dirty="0">
                <a:latin typeface="Century Ghotic"/>
                <a:cs typeface="Arial" pitchFamily="34" charset="0"/>
              </a:rPr>
              <a:t>-TUDO</a:t>
            </a: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4932040" y="1872891"/>
            <a:ext cx="3309304" cy="2555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Tamanhos e formatos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Parafusos e porcas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Ferramentas e dispositivos</a:t>
            </a:r>
          </a:p>
          <a:p>
            <a:pPr marL="342900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pt-BR" altLang="pt-BR" sz="2000" dirty="0">
                <a:latin typeface="Century Ghotic"/>
                <a:cs typeface="Arial" pitchFamily="34" charset="0"/>
              </a:rPr>
              <a:t>Matrizes e processadores</a:t>
            </a:r>
          </a:p>
          <a:p>
            <a:pPr marL="342900" indent="-342900">
              <a:spcBef>
                <a:spcPct val="0"/>
              </a:spcBef>
            </a:pPr>
            <a:r>
              <a:rPr lang="pt-BR" altLang="pt-BR" sz="2000" dirty="0">
                <a:latin typeface="Century Ghotic"/>
                <a:cs typeface="Arial" pitchFamily="34" charset="0"/>
              </a:rPr>
              <a:t>Pressão de matriz</a:t>
            </a:r>
          </a:p>
          <a:p>
            <a:pPr marL="342900" indent="-342900">
              <a:spcBef>
                <a:spcPct val="0"/>
              </a:spcBef>
            </a:pPr>
            <a:r>
              <a:rPr lang="pt-BR" altLang="pt-BR" sz="2000" dirty="0">
                <a:latin typeface="Century Ghotic"/>
                <a:cs typeface="Arial" pitchFamily="34" charset="0"/>
              </a:rPr>
              <a:t>Procedimento de Set </a:t>
            </a:r>
            <a:r>
              <a:rPr lang="pt-BR" altLang="pt-BR" sz="2000" dirty="0" err="1">
                <a:latin typeface="Century Ghotic"/>
                <a:cs typeface="Arial" pitchFamily="34" charset="0"/>
              </a:rPr>
              <a:t>Up</a:t>
            </a:r>
            <a:endParaRPr lang="pt-BR" altLang="pt-BR" sz="2000" dirty="0">
              <a:latin typeface="Century Ghotic"/>
              <a:cs typeface="Arial" pitchFamily="34" charset="0"/>
            </a:endParaRPr>
          </a:p>
          <a:p>
            <a:pPr marL="342900" indent="-342900">
              <a:spcBef>
                <a:spcPct val="0"/>
              </a:spcBef>
            </a:pPr>
            <a:r>
              <a:rPr lang="pt-BR" altLang="pt-BR" sz="2000" dirty="0">
                <a:latin typeface="Century Ghotic"/>
                <a:cs typeface="Arial" pitchFamily="34" charset="0"/>
              </a:rPr>
              <a:t>Altura e estilos</a:t>
            </a:r>
          </a:p>
          <a:p>
            <a:pPr>
              <a:spcBef>
                <a:spcPct val="0"/>
              </a:spcBef>
              <a:buNone/>
            </a:pPr>
            <a:endParaRPr lang="pt-BR" altLang="pt-BR" sz="2000" dirty="0">
              <a:latin typeface="Century Ghotic"/>
              <a:cs typeface="Arial" pitchFamily="34" charset="0"/>
            </a:endParaRPr>
          </a:p>
        </p:txBody>
      </p:sp>
      <p:sp>
        <p:nvSpPr>
          <p:cNvPr id="15" name="Rectangle 12"/>
          <p:cNvSpPr>
            <a:spLocks noChangeArrowheads="1"/>
          </p:cNvSpPr>
          <p:nvPr/>
        </p:nvSpPr>
        <p:spPr bwMode="auto">
          <a:xfrm>
            <a:off x="1143000" y="304800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6" name="Retângulo de cantos arredondados 3">
            <a:extLst>
              <a:ext uri="{FF2B5EF4-FFF2-40B4-BE49-F238E27FC236}">
                <a16:creationId xmlns:a16="http://schemas.microsoft.com/office/drawing/2014/main" id="{A76BD22C-4D88-4DBF-9EF5-2CF729285DDE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11003344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11188" y="333375"/>
            <a:ext cx="7543800" cy="1754188"/>
          </a:xfrm>
          <a:prstGeom prst="rect">
            <a:avLst/>
          </a:prstGeom>
        </p:spPr>
        <p:txBody>
          <a:bodyPr vert="horz" lIns="92075" tIns="46038" rIns="92075" bIns="46038" rtlCol="0" anchor="t" anchorCtr="1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br>
              <a:rPr lang="en-US" altLang="pt-BR" sz="2800" dirty="0">
                <a:latin typeface="Incised901 BT"/>
              </a:rPr>
            </a:br>
            <a:br>
              <a:rPr lang="en-US" altLang="pt-BR" sz="2800" dirty="0">
                <a:latin typeface="Incised901 BT"/>
              </a:rPr>
            </a:br>
            <a:br>
              <a:rPr lang="en-US" altLang="pt-BR" sz="2800" dirty="0">
                <a:latin typeface="Incised901 BT"/>
              </a:rPr>
            </a:br>
            <a:r>
              <a:rPr lang="en-US" altLang="pt-BR" sz="2400" dirty="0" err="1">
                <a:latin typeface="Incised901 BT"/>
              </a:rPr>
              <a:t>Médico</a:t>
            </a:r>
            <a:r>
              <a:rPr lang="en-US" altLang="pt-BR" sz="2400" dirty="0">
                <a:latin typeface="Incised901 BT"/>
              </a:rPr>
              <a:t> / </a:t>
            </a:r>
            <a:r>
              <a:rPr lang="en-US" altLang="pt-BR" sz="2400" dirty="0" err="1">
                <a:latin typeface="Incised901 BT"/>
              </a:rPr>
              <a:t>Enfermeiro</a:t>
            </a:r>
            <a:endParaRPr lang="pt-BR" altLang="pt-BR" sz="2400" dirty="0">
              <a:latin typeface="Incised901 BT"/>
            </a:endParaRPr>
          </a:p>
        </p:txBody>
      </p:sp>
      <p:pic>
        <p:nvPicPr>
          <p:cNvPr id="6" name="Picture 5" descr="http://www.klickeducacao.com.br/Klick_Portal/Enciclopedia/images/Me/12608/4446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6375" y="2349500"/>
            <a:ext cx="6142038" cy="3957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tângulo de cantos arredondados 3">
            <a:extLst>
              <a:ext uri="{FF2B5EF4-FFF2-40B4-BE49-F238E27FC236}">
                <a16:creationId xmlns:a16="http://schemas.microsoft.com/office/drawing/2014/main" id="{EBA835EB-F969-4032-B951-31F0D0FC946C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29399197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Dr Enfermeir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565400"/>
            <a:ext cx="8591550" cy="29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E576A2F1-DA09-4AB2-AA95-58D1B59D4619}"/>
              </a:ext>
            </a:extLst>
          </p:cNvPr>
          <p:cNvSpPr txBox="1">
            <a:spLocks noChangeArrowheads="1"/>
          </p:cNvSpPr>
          <p:nvPr/>
        </p:nvSpPr>
        <p:spPr>
          <a:xfrm>
            <a:off x="611188" y="333375"/>
            <a:ext cx="7543800" cy="1754188"/>
          </a:xfrm>
          <a:prstGeom prst="rect">
            <a:avLst/>
          </a:prstGeom>
        </p:spPr>
        <p:txBody>
          <a:bodyPr vert="horz" lIns="92075" tIns="46038" rIns="92075" bIns="46038" rtlCol="0" anchor="t" anchorCtr="1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ct val="3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br>
              <a:rPr lang="en-US" altLang="pt-BR" sz="2800" dirty="0">
                <a:latin typeface="Incised901 BT"/>
              </a:rPr>
            </a:br>
            <a:br>
              <a:rPr lang="en-US" altLang="pt-BR" sz="2800" dirty="0">
                <a:latin typeface="Incised901 BT"/>
              </a:rPr>
            </a:br>
            <a:br>
              <a:rPr lang="en-US" altLang="pt-BR" sz="2800" dirty="0">
                <a:latin typeface="Incised901 BT"/>
              </a:rPr>
            </a:br>
            <a:r>
              <a:rPr lang="en-US" altLang="pt-BR" sz="2400" dirty="0" err="1">
                <a:latin typeface="Incised901 BT"/>
              </a:rPr>
              <a:t>Médico</a:t>
            </a:r>
            <a:r>
              <a:rPr lang="en-US" altLang="pt-BR" sz="2400" dirty="0">
                <a:latin typeface="Incised901 BT"/>
              </a:rPr>
              <a:t> / </a:t>
            </a:r>
            <a:r>
              <a:rPr lang="en-US" altLang="pt-BR" sz="2400" dirty="0" err="1">
                <a:latin typeface="Incised901 BT"/>
              </a:rPr>
              <a:t>Enfermeiro</a:t>
            </a:r>
            <a:endParaRPr lang="pt-BR" altLang="pt-BR" sz="2400" dirty="0">
              <a:latin typeface="Incised901 BT"/>
            </a:endParaRPr>
          </a:p>
        </p:txBody>
      </p:sp>
      <p:sp>
        <p:nvSpPr>
          <p:cNvPr id="8" name="Retângulo de cantos arredondados 3">
            <a:extLst>
              <a:ext uri="{FF2B5EF4-FFF2-40B4-BE49-F238E27FC236}">
                <a16:creationId xmlns:a16="http://schemas.microsoft.com/office/drawing/2014/main" id="{64362854-37A7-467A-BE62-A96A2DCB33E3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30422565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28" descr="figura 6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5519738"/>
            <a:ext cx="1917700" cy="6667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 Box 1029"/>
          <p:cNvSpPr txBox="1">
            <a:spLocks noChangeArrowheads="1"/>
          </p:cNvSpPr>
          <p:nvPr/>
        </p:nvSpPr>
        <p:spPr bwMode="auto">
          <a:xfrm>
            <a:off x="332158" y="1643744"/>
            <a:ext cx="75961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2000" dirty="0" err="1">
                <a:latin typeface="Incised901 BT"/>
              </a:rPr>
              <a:t>Nas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operações</a:t>
            </a:r>
            <a:r>
              <a:rPr lang="en-US" altLang="pt-BR" sz="2000" dirty="0">
                <a:latin typeface="Incised901 BT"/>
              </a:rPr>
              <a:t> de </a:t>
            </a:r>
            <a:r>
              <a:rPr lang="en-US" altLang="pt-BR" sz="2000" dirty="0" err="1">
                <a:latin typeface="Incised901 BT"/>
              </a:rPr>
              <a:t>preparação</a:t>
            </a:r>
            <a:r>
              <a:rPr lang="en-US" altLang="pt-BR" sz="2000" dirty="0">
                <a:latin typeface="Incised901 BT"/>
              </a:rPr>
              <a:t>, as </a:t>
            </a:r>
            <a:r>
              <a:rPr lang="en-US" altLang="pt-BR" sz="2000" dirty="0" err="1">
                <a:latin typeface="Incised901 BT"/>
              </a:rPr>
              <a:t>atividades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relativas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aos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aspectos</a:t>
            </a:r>
            <a:r>
              <a:rPr lang="en-US" altLang="pt-BR" sz="2000" dirty="0">
                <a:latin typeface="Incised901 BT"/>
              </a:rPr>
              <a:t>, </a:t>
            </a:r>
            <a:r>
              <a:rPr lang="en-US" altLang="pt-BR" sz="2000" dirty="0" err="1">
                <a:latin typeface="Incised901 BT"/>
              </a:rPr>
              <a:t>fixação</a:t>
            </a:r>
            <a:r>
              <a:rPr lang="en-US" altLang="pt-BR" sz="2000" dirty="0">
                <a:latin typeface="Incised901 BT"/>
              </a:rPr>
              <a:t> e </a:t>
            </a:r>
            <a:r>
              <a:rPr lang="en-US" altLang="pt-BR" sz="2000" dirty="0" err="1">
                <a:latin typeface="Incised901 BT"/>
              </a:rPr>
              <a:t>trava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são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inúmeras</a:t>
            </a:r>
            <a:r>
              <a:rPr lang="en-US" altLang="pt-BR" sz="2000" dirty="0">
                <a:latin typeface="Incised901 BT"/>
              </a:rPr>
              <a:t> e </a:t>
            </a:r>
            <a:r>
              <a:rPr lang="en-US" altLang="pt-BR" sz="2000" dirty="0" err="1">
                <a:latin typeface="Incised901 BT"/>
              </a:rPr>
              <a:t>inevitáveis</a:t>
            </a:r>
            <a:r>
              <a:rPr lang="en-US" altLang="pt-BR" sz="2000" dirty="0">
                <a:latin typeface="Incised901 BT"/>
              </a:rPr>
              <a:t>.:</a:t>
            </a:r>
            <a:endParaRPr lang="pt-BR" altLang="pt-BR" dirty="0">
              <a:latin typeface="Incised901 BT"/>
            </a:endParaRPr>
          </a:p>
        </p:txBody>
      </p:sp>
      <p:sp>
        <p:nvSpPr>
          <p:cNvPr id="8" name="Text Box 1030"/>
          <p:cNvSpPr txBox="1">
            <a:spLocks noChangeArrowheads="1"/>
          </p:cNvSpPr>
          <p:nvPr/>
        </p:nvSpPr>
        <p:spPr bwMode="auto">
          <a:xfrm>
            <a:off x="755650" y="2714625"/>
            <a:ext cx="7596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2000" b="1" dirty="0">
                <a:latin typeface="Incised901 BT"/>
              </a:rPr>
              <a:t>A) </a:t>
            </a:r>
            <a:r>
              <a:rPr lang="en-US" altLang="pt-BR" sz="2000" dirty="0" err="1">
                <a:latin typeface="Incised901 BT"/>
              </a:rPr>
              <a:t>Evitar</a:t>
            </a:r>
            <a:r>
              <a:rPr lang="en-US" altLang="pt-BR" sz="2000" dirty="0">
                <a:latin typeface="Incised901 BT"/>
              </a:rPr>
              <a:t> o </a:t>
            </a:r>
            <a:r>
              <a:rPr lang="en-US" altLang="pt-BR" sz="2000" dirty="0" err="1">
                <a:latin typeface="Incised901 BT"/>
              </a:rPr>
              <a:t>uso</a:t>
            </a:r>
            <a:r>
              <a:rPr lang="en-US" altLang="pt-BR" sz="2000" dirty="0">
                <a:latin typeface="Incised901 BT"/>
              </a:rPr>
              <a:t> de </a:t>
            </a:r>
            <a:r>
              <a:rPr lang="en-US" altLang="pt-BR" sz="2000" dirty="0" err="1">
                <a:latin typeface="Incised901 BT"/>
              </a:rPr>
              <a:t>porcas</a:t>
            </a:r>
            <a:r>
              <a:rPr lang="en-US" altLang="pt-BR" sz="2000" dirty="0">
                <a:latin typeface="Incised901 BT"/>
              </a:rPr>
              <a:t> e </a:t>
            </a:r>
            <a:r>
              <a:rPr lang="en-US" altLang="pt-BR" sz="2000" dirty="0" err="1">
                <a:latin typeface="Incised901 BT"/>
              </a:rPr>
              <a:t>parafusos</a:t>
            </a:r>
            <a:r>
              <a:rPr lang="en-US" altLang="pt-BR" sz="2000" dirty="0">
                <a:latin typeface="Incised901 BT"/>
              </a:rPr>
              <a:t> de </a:t>
            </a:r>
            <a:r>
              <a:rPr lang="en-US" altLang="pt-BR" sz="2000" dirty="0" err="1">
                <a:latin typeface="Incised901 BT"/>
              </a:rPr>
              <a:t>tamanhos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diferentes</a:t>
            </a:r>
            <a:r>
              <a:rPr lang="en-US" altLang="pt-BR" sz="2000" dirty="0">
                <a:latin typeface="Incised901 BT"/>
              </a:rPr>
              <a:t>. </a:t>
            </a:r>
            <a:r>
              <a:rPr lang="en-US" altLang="pt-BR" sz="2000" dirty="0" err="1">
                <a:latin typeface="Incised901 BT"/>
              </a:rPr>
              <a:t>Normalizar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os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parafusos</a:t>
            </a:r>
            <a:r>
              <a:rPr lang="en-US" altLang="pt-BR" sz="2000" dirty="0">
                <a:latin typeface="Incised901 BT"/>
              </a:rPr>
              <a:t> e as </a:t>
            </a:r>
            <a:r>
              <a:rPr lang="en-US" altLang="pt-BR" sz="2000" dirty="0" err="1">
                <a:latin typeface="Incised901 BT"/>
              </a:rPr>
              <a:t>porcas</a:t>
            </a:r>
            <a:r>
              <a:rPr lang="en-US" altLang="pt-BR" sz="2000" dirty="0">
                <a:latin typeface="Incised901 BT"/>
              </a:rPr>
              <a:t>;</a:t>
            </a:r>
            <a:endParaRPr lang="pt-BR" altLang="pt-BR" dirty="0">
              <a:latin typeface="Incised901 BT"/>
            </a:endParaRPr>
          </a:p>
        </p:txBody>
      </p:sp>
      <p:pic>
        <p:nvPicPr>
          <p:cNvPr id="9" name="Picture 1032" descr="figura 4"/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4468813"/>
            <a:ext cx="1933575" cy="7620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 Box 1033"/>
          <p:cNvSpPr txBox="1">
            <a:spLocks noChangeArrowheads="1"/>
          </p:cNvSpPr>
          <p:nvPr/>
        </p:nvSpPr>
        <p:spPr bwMode="auto">
          <a:xfrm>
            <a:off x="755650" y="3506788"/>
            <a:ext cx="780732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buClr>
                <a:schemeClr val="hlink"/>
              </a:buClr>
              <a:buSzPct val="75000"/>
              <a:buFont typeface="Monotype Sorts" pitchFamily="-84" charset="2"/>
              <a:buNone/>
            </a:pPr>
            <a:r>
              <a:rPr lang="en-US" altLang="pt-BR" sz="2000" b="1" dirty="0">
                <a:latin typeface="Incised901 BT"/>
              </a:rPr>
              <a:t>B) </a:t>
            </a:r>
            <a:r>
              <a:rPr lang="en-US" altLang="pt-BR" sz="2000" dirty="0" err="1">
                <a:latin typeface="Incised901 BT"/>
              </a:rPr>
              <a:t>Reduzir</a:t>
            </a:r>
            <a:r>
              <a:rPr lang="en-US" altLang="pt-BR" sz="2000" dirty="0">
                <a:latin typeface="Incised901 BT"/>
              </a:rPr>
              <a:t> o </a:t>
            </a:r>
            <a:r>
              <a:rPr lang="en-US" altLang="pt-BR" sz="2000" dirty="0" err="1">
                <a:latin typeface="Incised901 BT"/>
              </a:rPr>
              <a:t>número</a:t>
            </a:r>
            <a:r>
              <a:rPr lang="en-US" altLang="pt-BR" sz="2000" dirty="0">
                <a:latin typeface="Incised901 BT"/>
              </a:rPr>
              <a:t> de </a:t>
            </a:r>
            <a:r>
              <a:rPr lang="en-US" altLang="pt-BR" sz="2000" dirty="0" err="1">
                <a:latin typeface="Incised901 BT"/>
              </a:rPr>
              <a:t>roscas</a:t>
            </a:r>
            <a:r>
              <a:rPr lang="en-US" altLang="pt-BR" sz="2000" dirty="0">
                <a:latin typeface="Incised901 BT"/>
              </a:rPr>
              <a:t>, </a:t>
            </a:r>
            <a:r>
              <a:rPr lang="en-US" altLang="pt-BR" sz="2000" dirty="0" err="1">
                <a:latin typeface="Incised901 BT"/>
              </a:rPr>
              <a:t>avaliando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os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casos</a:t>
            </a:r>
            <a:r>
              <a:rPr lang="en-US" altLang="pt-BR" sz="2000" dirty="0">
                <a:latin typeface="Incised901 BT"/>
              </a:rPr>
              <a:t> </a:t>
            </a:r>
            <a:r>
              <a:rPr lang="en-US" altLang="pt-BR" sz="2000" dirty="0" err="1">
                <a:latin typeface="Incised901 BT"/>
              </a:rPr>
              <a:t>cuidadosamente</a:t>
            </a:r>
            <a:r>
              <a:rPr lang="en-US" altLang="pt-BR" sz="2000" dirty="0">
                <a:latin typeface="Incised901 BT"/>
              </a:rPr>
              <a:t>;</a:t>
            </a:r>
            <a:endParaRPr lang="pt-BR" altLang="pt-BR" dirty="0">
              <a:latin typeface="Incised901 BT"/>
            </a:endParaRPr>
          </a:p>
        </p:txBody>
      </p:sp>
      <p:sp>
        <p:nvSpPr>
          <p:cNvPr id="11" name="AutoShape 12" descr="data:image/jpg;base64,/9j/4AAQSkZJRgABAQAAAQABAAD/2wBDAAkGBwgHBgkIBwgKCgkLDRYPDQwMDRsUFRAWIB0iIiAdHx8kKDQsJCYxJx8fLT0tMTU3Ojo6Iys/RD84QzQ5Ojf/2wBDAQoKCg0MDRoPDxo3JR8lNzc3Nzc3Nzc3Nzc3Nzc3Nzc3Nzc3Nzc3Nzc3Nzc3Nzc3Nzc3Nzc3Nzc3Nzc3Nzc3Nzf/wAARCACMAIwDASIAAhEBAxEB/8QAHAABAAICAwEAAAAAAAAAAAAAAAUHAQYCBAgD/8QAQxAAAQMDAgMEBgcFBQkAAAAAAQIDBAAFEQYSEyExB0FRYRQVcYGRoSIjMkJSscEIYoLR8CQzU5LxFiU0NUNyk8Li/8QAGAEBAQEBAQAAAAAAAAAAAAAAAAMCAQT/xAAfEQEBAAIDAAMBAQAAAAAAAAAAAQIRAyExEkFREzL/2gAMAwEAAhEDEQA/ALxpSlApSofUupbVpmAZt4lpZb6IT1W4fBKepP8ARoJcnFdG6Xm2Whri3SfGiI7i+6EZ9mevuqtX9Rax1cT6sSNOWlXR51O+U4nxA6J+R8zXGDoayx3vSZzbt0mHmqRPcLpUfYeXyrcwtYy5MYnJfa3plKy3bRPurg5bYUVSvmrFdRXaRfHgTA0NcVJ+6qU+ln5EVq+rVa4hSHE6ajRkW1OOEmG0guYx3pV35/CMVpI7Q9YWqTsuCgpQPNmXESg/IJNPjJ65MrZuLdGuNaK5jRcceRuSf5UGvdXtn+0aG3p8Wbggn8q0SB2wsFk+sLS4l0DkYzoKVH2K5j4moq69rl1fJTbIceGn8S8ur/QfKu6w/SXk/FqN9qqI5xedL32CM81hgOoHtIx+VTtl7RNJ3lYbiXmOh48uFIyyrPhhWM+6qPst+7SLotK4AfdbV99cRpDZ/iKQPnVixrEi72poattluenkHiFlGMeGFdc464OPCkw34XP4+rTCgQCDkEZB8a5VT7Om7vp48XRt8kRkg59AmEvR1eQzzT+fnU9p7tJQqc3aNWwvU1zVyQtSsx3z+6vu9h+NZuNx9axzmXiwqVgHzrNZaKUpQKUpQRGqr7F03Ypd2m5LUdGQgHBWo8kpHmTgfOqo0/bpWoLmjUuqTxpz/wBKPHUPq4rfVISnuP8AXXNTH7Qy3EaatYUCYpnjjYH7isf+1fZh5DiG3o68trSFtrT0KSMgj3VTjktS5bZOk3y7ulK6Ddw2f8Qg4/GkZHvHdXcaebeTuZcSseKTmryvM0jWcPXkqY4LFJYTAI+glhaW3QO/cpXMnPga0dPZvq65SN9w4aFH7TsmUFn5bjV5U6dKxcJVJyWdRWUDsfiJaPrC6vLdIwPR2wlKT/Fkn5VEXXsiuTOVWqdHlJHMIdBaX+o+Yq5axT+eJOTJTVn0z2i2pxKIDjjCBy2mY2psfwkkfKrIsV4SIzMS9Xi0u3bmFojPo5+AxnOfYK+9pty9azH1vuLRp2K4pkNtqKTPcScKKiOfCSeWB9o57hW9N2K0og+gotcJMXGOAI6NmPZjFT+UxvSvxuU7aw+81GaW7IcQ00j7S3FBKU+0npUPdGbLqe1vNcWLOZBwosupXtPkQTtNTDemYFu1TERMSuVAcQr1azIVvbivJypSQD1JTzSTkpCFAYGKm79pmDdmt6W0RpzY+pmMpAW2fA/iT4pPI+3nXf6s/wAteVovZ1qKbZr4nR19kKkNLQV2qWs81IH/AE1HxABx4YI6EVa9ee9TzHRqnTEZtAbvDFwCHW2zktkOIGB5HGR4jHia9Bip3W+lsd67ZpSlcdKUpQQ2rrBF1PYZNpm5S28n6LgGS2sc0qHsPx5jvqholwvHZ7cDYdTR1rh5JjvI5jbnqgnqk+HUHw6V6SqOvdktt+hKh3eG1Kjq57HB9k+IPUHzFdl05ZL6ra2XSDdWuLb5LbwH2gk/ST5KT1Hvr7rYbUrdjar8SDg/EVD6j7En2X/TNJXVTLqT9FmSopIHgHE/qPfWsyF9pOmfo3G1vS2E/fU1xk/52+fxNUnJ+pXi/FgpXMb/ALuYsjwdSFVzE64J6pjr9xGariN2ohKts60qSodeE909xH61JM9pdjWPrWJrR820n8lVr5z9YvHl+N39ZTe+Mx/5DUdqK93CHYbhJbZZQpuOspUFklJxgEfGoAdounSP76SPawf5107trvTk63Soaly1JkNKbyljpkYzzPdyrtyhMLvxdujYLVt0paIjAGxqG2Mj7xKQSfeST76hu1PVszR2nUz7fFQ+84+lkKdBKG8gnJwRnpjqOta12SdpFslWaLZb1Lbiz4qAy0t5W1D6AMJwo8goDlg9cAjysm4SramEty4PxBEUMqU+pOwjzzyNed6WlWvUsjU2irJepsYR5fraOhKW87VnjBslOe4pUr513+1HVdz0lY2JlpgIlOOPhta3EqUhoYzkgEHn0HOtXvmu7ZIvVrktxZZ0na5JUucxHJackhJCAOn0E5z5nGByqemdrWluGG7Q/Jus1zkzEiRnN61dwypIA+fsoOhpyyxr/wBoA1RcIxjzGrXEfVEI/u33ErGT35CUjAPiD3VZ1azom2XCNGl3K+BCbrc3uO+2g5DCQAlDQPftSPiTWzUClKUClKUClKUCsYFZrBOKCqP2imWhpCG8GkcX1ghPE2jdjhucs9cVAL0ZbXEjdb4ZyM5SCn8qz256ytN7tyLFanHJMiNLDrzractJ2pUkjd3nKuoGOR51sKZUbhJV6Szt2jnxE4/OqYSfaXJb9NWOhLUT/wAuY9zqx+tc0aHtaTkW6PnzWo/rU6q8wOJwY73pb/8AgwwXl/BOce/Fc/QJ89tbl0c9WW9IKltIdHFWnv3uA4QnHXaSf3hW9RPeX3Va60sUcRlyLW1GbjwMplONp2pU4pSQlsH7yhzJHcOuKtHSHZXpGbZrXdZNteW7JitPKZckKKApSQTyGOXOq+vE5rUmotPWmJFLOmVTkMMoQNgfAUlK1AdwwrA9p7ycekmm0NNIQ2kJQlICUpGAAOgFSy9Xx8fKNCixYiIkaO01GQjYllCAEBPhjpiuMW2wIalLiQozClcipppKCfgK7VKy0UpSgUpSgUpSgUpSgVFas9K/2Yu3oAUZfob3B25zv2HGMd/hUrWCKCkeyAW5WlQmMGzLLivSwACvqdue/btxju6+dbYbFat242iDu65MRH8q03tw0dabHCb1DaG3IkyRLDbiGl4QdyVKKgO45T3cufSh0Vb3UJTIm3V5H+G5MJT+VWxy61Ihnjq7tbHdtUWGwNcF2UyHByREigLWT4BKeQ9+K119u7awcSq7tLttmBCkwQr62R3guHuHl/rUnarBarQQq3wWml/4mNy/8xyakzy6nHma139sbk8afqJCWNZaIYZQlDSZ6EpSkYAAcawAPCr9HQV5x7Q0en25F4Di4seGrZEcPJUp1Sk5KB1CAEk7u/HLlzq+tKuzHtM2p257vTVw2lP7hg7ygZz55qOfq+H+UrSlKy2UpSgUpSgUpSgUpSgVg1muKxlPXFBRfazqV3Wa3dO6btkiYi2yOLIlN8wVJCk7Ugd3M8+8jkKlxeoOAN7+78Poj274bM1rvZ7dIel5F2sOoHUwrgiWVFb/ANFLnID7XuyM9QrlW9q1FZko3m9QNnj6Uj+dWwkk3tDktt1pGMy5EogQrZNcGR9N5ssIx3nK8H4JNfR2CxDaXctQzUFhhKVloDaw2QchXPmtWQMZ9wrpztfWhDhj2hL93ln7LMNskZ81kYA8xmo5NquWoJTc3Vam+C2rcxa2Tlps+Kz99Xy/KtWsa1701663GXqTWmmJE6Nw7VInttxI7vVbfERlax+9ke4e8+kh0FeftZyWIOrNIy5Sw1HjzOI4sjklKVtknl4CvQDagpCVJIIIyCKjl69GH+XKlKVlopSlApSlApSlApSlArBGazWFchmgqP8AaKgxBpmFO9Ga9LExDQf2Dfs2LO3PXGQOVdRvS1gASv1REKiM828/KulrA3HtG1lc7GmaYlos6tuAjdveGU7iMjJzuHXkB4mp5EG/pSlH+6VYGN/EdGfdt/Wq8c+0uS/W3ONGjxG+HFYaZR+FtASPgK+U24NRXEMBLkiW6PqozI3OOeeOgT4qOAPGvsmzXN8/2y6oZR3ogsbT/nWVH4AV0Ltc7dpRHoFmiCTepf2GAorcWfxurJJwOvM+zA5jdSndajryK5JdgWmQpp+/XF5CW2kK+rhtk4CQe8qVjKj129wxn0PbIog26LECysMMoaCj1VtAGflXniNZ3Wu0fSyJr6pVykyhKmPZ5FQVkJHgkBBA/oD0eOlRy9ejDxmlKVlopSlApSlApSlApSlArCuYxWaUFK6ntF+0VrC56gtNtculouZLsltrJW0rO45wCRz3EHBGDg4NfGB2jOXKPxbfpi5yBuKdzagU58N2P6zV3qAIORkVQMKKdGa+uOnH/oQZy+PAUenPO0D3ZT7Uit45XxPPGXvSReuGsL1ltpmNYYyuSnFK4z+PLuB+Htrt2Sww7MhxbG92S7zelPK3OuHzP6f61KDpUdqC7NWO1Pz3SMoThtJP21n7Kfj8garqTuo7t6joaKZ9ddssiUObNoiFIPUb8bcfFa/hV3DpVcdh+n3rXpp26zgfTbu5x1FXXh89mfblSv4hVkVC3demTU0UpSuOlKUoFKUoFKUoFKUoFKUoFaf2kaIY1jakIQtLFxjEriSPwnvSrHPacDzBAPkdwpQeeUavm6dUu16xt8lmewnCXUJB44HQ9QD/ANwJB8qlNLaVuvaBdY941HGVDsDB3R4a8hT/AP8AJ5ZV39B4i7XWGXccVpC8dNyQcV9AK78rrTMwxl2JSlCQlIAAGAAOlZpSuNFKUoFKUoFKUoP/2Q=="/>
          <p:cNvSpPr>
            <a:spLocks noChangeAspect="1" noChangeArrowheads="1"/>
          </p:cNvSpPr>
          <p:nvPr/>
        </p:nvSpPr>
        <p:spPr bwMode="auto">
          <a:xfrm>
            <a:off x="115888" y="-571500"/>
            <a:ext cx="11906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>
              <a:latin typeface="Arial MT Black"/>
            </a:endParaRPr>
          </a:p>
        </p:txBody>
      </p:sp>
      <p:pic>
        <p:nvPicPr>
          <p:cNvPr id="12" name="Picture 16" descr="http://t0.gstatic.com/images?q=tbn:ANd9GcRs56Ur7144BZ30CABVcDUeh8OC-J5-Y0qVbILEJyIfQsOlveqw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3750" y="4459288"/>
            <a:ext cx="280987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17" descr="C:\Documents and Settings\Produttare\Configurações locais\Temporary Internet Files\Content.IE5\80N5ZMSW\MC900296094[1].wmf"/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4000500"/>
            <a:ext cx="2192337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de cantos arredondados 3">
            <a:extLst>
              <a:ext uri="{FF2B5EF4-FFF2-40B4-BE49-F238E27FC236}">
                <a16:creationId xmlns:a16="http://schemas.microsoft.com/office/drawing/2014/main" id="{F4752E05-AFD6-4CBD-8A91-894D0221DDAF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4492245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371600"/>
            <a:ext cx="8382000" cy="550863"/>
          </a:xfrm>
        </p:spPr>
        <p:txBody>
          <a:bodyPr/>
          <a:lstStyle/>
          <a:p>
            <a:pPr algn="l" eaLnBrk="1" hangingPunct="1"/>
            <a:r>
              <a:rPr lang="pt-BR" altLang="pt-BR" sz="2200" b="1" dirty="0">
                <a:solidFill>
                  <a:schemeClr val="tx1"/>
                </a:solidFill>
              </a:rPr>
              <a:t>Algumas sugestões 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04800" y="2057400"/>
            <a:ext cx="4724400" cy="41148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90488" tIns="44450" rIns="90488" bIns="4445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400" dirty="0"/>
              <a:t>Use menos elementos de fixação.</a:t>
            </a:r>
          </a:p>
          <a:p>
            <a:pPr lvl="1">
              <a:defRPr/>
            </a:pPr>
            <a:r>
              <a:rPr lang="pt-BR" sz="2000" dirty="0"/>
              <a:t>Pergunte porque necessitamos de tantos? Não funcionaria com menos? </a:t>
            </a:r>
          </a:p>
          <a:p>
            <a:pPr>
              <a:defRPr/>
            </a:pPr>
            <a:r>
              <a:rPr lang="pt-BR" sz="2400" dirty="0"/>
              <a:t>Use fixadores mais curtos</a:t>
            </a:r>
          </a:p>
          <a:p>
            <a:pPr>
              <a:defRPr/>
            </a:pPr>
            <a:r>
              <a:rPr lang="pt-BR" sz="2400" dirty="0"/>
              <a:t>Poderia a rosca do parafuso ser menor? </a:t>
            </a:r>
          </a:p>
          <a:p>
            <a:pPr>
              <a:defRPr/>
            </a:pPr>
            <a:r>
              <a:rPr lang="pt-BR" sz="2400" dirty="0"/>
              <a:t>Use arruelas </a:t>
            </a:r>
            <a:r>
              <a:rPr lang="ja-JP" altLang="pt-BR" sz="2400" dirty="0"/>
              <a:t>‘</a:t>
            </a:r>
            <a:r>
              <a:rPr lang="pt-BR" altLang="ja-JP" sz="2400" dirty="0"/>
              <a:t>C</a:t>
            </a:r>
            <a:r>
              <a:rPr lang="ja-JP" altLang="pt-BR" sz="2400" dirty="0"/>
              <a:t>’</a:t>
            </a:r>
            <a:endParaRPr lang="pt-BR" altLang="ja-JP" sz="2400" dirty="0"/>
          </a:p>
          <a:p>
            <a:pPr lvl="1">
              <a:defRPr/>
            </a:pPr>
            <a:endParaRPr lang="pt-BR" sz="2000" dirty="0"/>
          </a:p>
        </p:txBody>
      </p:sp>
      <p:graphicFrame>
        <p:nvGraphicFramePr>
          <p:cNvPr id="7" name="Object 4"/>
          <p:cNvGraphicFramePr>
            <a:graphicFrameLocks/>
          </p:cNvGraphicFramePr>
          <p:nvPr/>
        </p:nvGraphicFramePr>
        <p:xfrm>
          <a:off x="5029200" y="2133600"/>
          <a:ext cx="3454400" cy="185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4" name="Picture" r:id="rId4" imgW="3454400" imgH="1854200" progId="PageScan.Image">
                  <p:embed/>
                </p:oleObj>
              </mc:Choice>
              <mc:Fallback>
                <p:oleObj name="Picture" r:id="rId4" imgW="3454400" imgH="1854200" progId="PageScan.Image">
                  <p:embed/>
                  <p:pic>
                    <p:nvPicPr>
                      <p:cNvPr id="7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2133600"/>
                        <a:ext cx="3454400" cy="185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4876800" y="2133600"/>
            <a:ext cx="3810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graphicFrame>
        <p:nvGraphicFramePr>
          <p:cNvPr id="9" name="Object 6"/>
          <p:cNvGraphicFramePr>
            <a:graphicFrameLocks/>
          </p:cNvGraphicFramePr>
          <p:nvPr/>
        </p:nvGraphicFramePr>
        <p:xfrm>
          <a:off x="4953000" y="4343400"/>
          <a:ext cx="3302000" cy="166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5" name="Picture" r:id="rId6" imgW="3302000" imgH="1663700" progId="PageScan.Image">
                  <p:embed/>
                </p:oleObj>
              </mc:Choice>
              <mc:Fallback>
                <p:oleObj name="Picture" r:id="rId6" imgW="3302000" imgH="1663700" progId="PageScan.Image">
                  <p:embed/>
                  <p:pic>
                    <p:nvPicPr>
                      <p:cNvPr id="9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343400"/>
                        <a:ext cx="3302000" cy="166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8034338" y="4279900"/>
            <a:ext cx="644525" cy="9525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143000" y="304800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2" name="Retângulo de cantos arredondados 3">
            <a:extLst>
              <a:ext uri="{FF2B5EF4-FFF2-40B4-BE49-F238E27FC236}">
                <a16:creationId xmlns:a16="http://schemas.microsoft.com/office/drawing/2014/main" id="{26517D97-99F9-4155-BE94-C0A6C3A59A57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344277643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4287568"/>
              </p:ext>
            </p:extLst>
          </p:nvPr>
        </p:nvGraphicFramePr>
        <p:xfrm>
          <a:off x="5615632" y="1628800"/>
          <a:ext cx="2540000" cy="204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6" name="Picture" r:id="rId4" imgW="2540000" imgH="2043113" progId="PageScan.Image">
                  <p:embed/>
                </p:oleObj>
              </mc:Choice>
              <mc:Fallback>
                <p:oleObj name="Picture" r:id="rId4" imgW="2540000" imgH="2043113" progId="PageScan.Image">
                  <p:embed/>
                  <p:pic>
                    <p:nvPicPr>
                      <p:cNvPr id="5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5632" y="1628800"/>
                        <a:ext cx="2540000" cy="204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95279806"/>
              </p:ext>
            </p:extLst>
          </p:nvPr>
        </p:nvGraphicFramePr>
        <p:xfrm>
          <a:off x="5844232" y="3686200"/>
          <a:ext cx="2616200" cy="209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7" name="Picture" r:id="rId6" imgW="2616200" imgH="2098675" progId="PageScan.Image">
                  <p:embed/>
                </p:oleObj>
              </mc:Choice>
              <mc:Fallback>
                <p:oleObj name="Picture" r:id="rId6" imgW="2616200" imgH="2098675" progId="PageScan.Image">
                  <p:embed/>
                  <p:pic>
                    <p:nvPicPr>
                      <p:cNvPr id="6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4232" y="3686200"/>
                        <a:ext cx="2616200" cy="2098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4"/>
          <p:cNvSpPr txBox="1">
            <a:spLocks noChangeArrowheads="1"/>
          </p:cNvSpPr>
          <p:nvPr/>
        </p:nvSpPr>
        <p:spPr>
          <a:xfrm>
            <a:off x="609600" y="1905000"/>
            <a:ext cx="4419600" cy="4343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90488" tIns="44450" rIns="90488" bIns="4445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400" dirty="0" err="1"/>
              <a:t>Cam</a:t>
            </a:r>
            <a:r>
              <a:rPr lang="pt-BR" sz="2400" dirty="0"/>
              <a:t> </a:t>
            </a:r>
            <a:r>
              <a:rPr lang="pt-BR" sz="2400" dirty="0" err="1"/>
              <a:t>Lock</a:t>
            </a:r>
            <a:endParaRPr lang="pt-BR" sz="2400" dirty="0"/>
          </a:p>
          <a:p>
            <a:pPr lvl="1">
              <a:defRPr/>
            </a:pPr>
            <a:r>
              <a:rPr lang="pt-BR" sz="2200" dirty="0"/>
              <a:t>Rápido manuseio em soltar e travar eliminando parafusos e porcas</a:t>
            </a:r>
            <a:endParaRPr lang="pt-BR" sz="1800" dirty="0"/>
          </a:p>
          <a:p>
            <a:pPr lvl="1">
              <a:defRPr/>
            </a:pPr>
            <a:endParaRPr lang="pt-BR" sz="1800" dirty="0"/>
          </a:p>
          <a:p>
            <a:pPr lvl="1">
              <a:defRPr/>
            </a:pPr>
            <a:endParaRPr lang="pt-BR" sz="1800" dirty="0"/>
          </a:p>
          <a:p>
            <a:pPr>
              <a:defRPr/>
            </a:pPr>
            <a:r>
              <a:rPr lang="pt-BR" sz="2400" dirty="0"/>
              <a:t>Rasgos com acesso. Afrouxar e arrastar a fixação para acelerar o processo</a:t>
            </a:r>
            <a:endParaRPr lang="pt-BR" sz="2600" dirty="0"/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57200" y="1524000"/>
            <a:ext cx="838200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>
                <a:cs typeface="Arial" pitchFamily="34" charset="0"/>
              </a:rPr>
              <a:t>Algumas sugestões </a:t>
            </a:r>
          </a:p>
        </p:txBody>
      </p:sp>
      <p:sp>
        <p:nvSpPr>
          <p:cNvPr id="9" name="Rectangle 12"/>
          <p:cNvSpPr>
            <a:spLocks noChangeArrowheads="1"/>
          </p:cNvSpPr>
          <p:nvPr/>
        </p:nvSpPr>
        <p:spPr bwMode="auto">
          <a:xfrm>
            <a:off x="1143000" y="304800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0" name="Retângulo de cantos arredondados 3">
            <a:extLst>
              <a:ext uri="{FF2B5EF4-FFF2-40B4-BE49-F238E27FC236}">
                <a16:creationId xmlns:a16="http://schemas.microsoft.com/office/drawing/2014/main" id="{0119F6BA-CF26-441C-9A48-E344B0099A81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29152008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609600" y="2132856"/>
            <a:ext cx="3965575" cy="4343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vert="horz" lIns="90488" tIns="44450" rIns="90488" bIns="4445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400" dirty="0" err="1"/>
              <a:t>Porca</a:t>
            </a:r>
            <a:r>
              <a:rPr lang="en-US" sz="2400" dirty="0"/>
              <a:t> </a:t>
            </a:r>
            <a:r>
              <a:rPr lang="en-US" sz="2400" dirty="0" err="1"/>
              <a:t>borboleta</a:t>
            </a:r>
            <a:endParaRPr lang="en-US" sz="2400" dirty="0"/>
          </a:p>
          <a:p>
            <a:pPr>
              <a:defRPr/>
            </a:pPr>
            <a:endParaRPr lang="en-US" sz="24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2000" dirty="0"/>
          </a:p>
          <a:p>
            <a:pPr>
              <a:defRPr/>
            </a:pPr>
            <a:r>
              <a:rPr lang="en-US" sz="2400" dirty="0" err="1"/>
              <a:t>Magnetismo</a:t>
            </a:r>
            <a:endParaRPr lang="en-US" sz="2400" dirty="0"/>
          </a:p>
          <a:p>
            <a:pPr lvl="1">
              <a:defRPr/>
            </a:pPr>
            <a:endParaRPr lang="en-US" sz="2200" dirty="0"/>
          </a:p>
        </p:txBody>
      </p:sp>
      <p:pic>
        <p:nvPicPr>
          <p:cNvPr id="6" name="Picture 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1905000"/>
            <a:ext cx="11287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/>
          <p:cNvPicPr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191000"/>
            <a:ext cx="32766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867400" y="4572000"/>
            <a:ext cx="987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200">
                <a:solidFill>
                  <a:srgbClr val="000000"/>
                </a:solidFill>
                <a:cs typeface="Arial" pitchFamily="34" charset="0"/>
              </a:rPr>
              <a:t>contact with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pt-BR" sz="1200">
                <a:solidFill>
                  <a:srgbClr val="000000"/>
                </a:solidFill>
                <a:cs typeface="Arial" pitchFamily="34" charset="0"/>
              </a:rPr>
              <a:t>work piece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6934200" y="3886200"/>
            <a:ext cx="946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sz="1800">
                <a:solidFill>
                  <a:srgbClr val="000000"/>
                </a:solidFill>
                <a:cs typeface="Arial" pitchFamily="34" charset="0"/>
              </a:rPr>
              <a:t>magnet</a:t>
            </a:r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457200" y="1524000"/>
            <a:ext cx="838200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>
                <a:cs typeface="Arial" pitchFamily="34" charset="0"/>
              </a:rPr>
              <a:t>Algumas sugestões 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143000" y="304800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2" name="Retângulo de cantos arredondados 3">
            <a:extLst>
              <a:ext uri="{FF2B5EF4-FFF2-40B4-BE49-F238E27FC236}">
                <a16:creationId xmlns:a16="http://schemas.microsoft.com/office/drawing/2014/main" id="{9C712220-7A37-4FEA-B3A5-D0FCD6F6F34C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167113245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997075"/>
            <a:ext cx="3048000" cy="229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 descr="http://t1.gstatic.com/images?q=tbn:ANd9GcS2g_wC8n5Fys9-dLXCK63Bjr7jZ7neNkwYZkPN8dTk-9cTKPeQbQ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" y="1500188"/>
            <a:ext cx="2714625" cy="271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 descr="http://www.elesa-ganter.com/images/IntroCatalogo/E+G.03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4551363"/>
            <a:ext cx="2071688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90738" y="4267200"/>
            <a:ext cx="2552700" cy="187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</p:pic>
      <p:sp>
        <p:nvSpPr>
          <p:cNvPr id="10" name="Retângulo de cantos arredondados 3">
            <a:extLst>
              <a:ext uri="{FF2B5EF4-FFF2-40B4-BE49-F238E27FC236}">
                <a16:creationId xmlns:a16="http://schemas.microsoft.com/office/drawing/2014/main" id="{E5B22010-D84D-4F61-8DAB-11A3BAB3F876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25146559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elhoria_op301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2000250"/>
            <a:ext cx="7556500" cy="401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3">
            <a:extLst>
              <a:ext uri="{FF2B5EF4-FFF2-40B4-BE49-F238E27FC236}">
                <a16:creationId xmlns:a16="http://schemas.microsoft.com/office/drawing/2014/main" id="{B5DA35C1-C225-4DF5-BAE0-F9BEF95FB7C7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237383193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381000" y="2133600"/>
            <a:ext cx="8458200" cy="4155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Motivo</a:t>
            </a:r>
            <a:r>
              <a:rPr lang="pt-BR" altLang="pt-BR" sz="2000" dirty="0">
                <a:latin typeface="Century Ghotic"/>
              </a:rPr>
              <a:t> – Que função o ajuste está atendendo?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Causa</a:t>
            </a:r>
            <a:r>
              <a:rPr lang="pt-BR" altLang="pt-BR" sz="2000" dirty="0">
                <a:latin typeface="Century Ghotic"/>
              </a:rPr>
              <a:t> – Que condições criam a necessidade de ajuste? Acumulação de erros, 	falta de rigidez, falte de padrão, métodos etc.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Método</a:t>
            </a:r>
            <a:r>
              <a:rPr lang="pt-BR" altLang="pt-BR" sz="2000" dirty="0">
                <a:latin typeface="Century Ghotic"/>
              </a:rPr>
              <a:t> – Qual é o método atual empregado?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Alternativas</a:t>
            </a:r>
            <a:r>
              <a:rPr lang="pt-BR" altLang="pt-BR" sz="2000" dirty="0">
                <a:latin typeface="Century Ghotic"/>
              </a:rPr>
              <a:t> – Quais melhorias irão reduzir  / eliminar a necessidade de ajustes? 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pt-BR" altLang="pt-BR" sz="2000" b="1" u="sng" dirty="0">
                <a:latin typeface="Century Ghotic"/>
              </a:rPr>
              <a:t>Procedimento</a:t>
            </a:r>
            <a:r>
              <a:rPr lang="pt-BR" altLang="pt-BR" sz="2000" b="1" dirty="0">
                <a:latin typeface="Century Ghotic"/>
              </a:rPr>
              <a:t> </a:t>
            </a:r>
            <a:r>
              <a:rPr lang="pt-BR" altLang="pt-BR" sz="2000" dirty="0">
                <a:latin typeface="Century Ghotic"/>
              </a:rPr>
              <a:t>– Tenha certeza quando o ajuste é necessário esteja em um procedimento padronizado a operação.</a:t>
            </a:r>
          </a:p>
          <a:p>
            <a:pPr>
              <a:spcBef>
                <a:spcPct val="0"/>
              </a:spcBef>
              <a:buFontTx/>
              <a:buNone/>
            </a:pPr>
            <a:endParaRPr lang="pt-BR" altLang="pt-BR" sz="2000" dirty="0">
              <a:latin typeface="Century Ghotic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pt-BR" altLang="pt-BR" sz="2400" dirty="0">
                <a:latin typeface="Century Ghotic"/>
              </a:rPr>
              <a:t>Sempre que houver um ajuste, você tem uma oportunidade!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304800" y="1371600"/>
            <a:ext cx="8458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200" dirty="0">
                <a:solidFill>
                  <a:srgbClr val="FF0000"/>
                </a:solidFill>
                <a:latin typeface="Arial Black" pitchFamily="34" charset="0"/>
              </a:rPr>
              <a:t>O Ajuste é necessário?</a:t>
            </a:r>
          </a:p>
        </p:txBody>
      </p:sp>
      <p:sp>
        <p:nvSpPr>
          <p:cNvPr id="9" name="Retângulo de cantos arredondados 3">
            <a:extLst>
              <a:ext uri="{FF2B5EF4-FFF2-40B4-BE49-F238E27FC236}">
                <a16:creationId xmlns:a16="http://schemas.microsoft.com/office/drawing/2014/main" id="{3B520FDE-4D9F-4744-B546-10A3E1D34378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20497043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1524000" y="2057400"/>
            <a:ext cx="6111875" cy="4191000"/>
            <a:chOff x="1862" y="1152"/>
            <a:chExt cx="4186" cy="3137"/>
          </a:xfrm>
        </p:grpSpPr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2" y="1152"/>
              <a:ext cx="4186" cy="3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Line 4"/>
            <p:cNvSpPr>
              <a:spLocks noChangeAspect="1" noChangeShapeType="1"/>
            </p:cNvSpPr>
            <p:nvPr/>
          </p:nvSpPr>
          <p:spPr bwMode="auto">
            <a:xfrm flipH="1" flipV="1">
              <a:off x="2582" y="2400"/>
              <a:ext cx="383" cy="1175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8" name="Line 5"/>
            <p:cNvSpPr>
              <a:spLocks noChangeAspect="1" noChangeShapeType="1"/>
            </p:cNvSpPr>
            <p:nvPr/>
          </p:nvSpPr>
          <p:spPr bwMode="auto">
            <a:xfrm flipV="1">
              <a:off x="2964" y="2437"/>
              <a:ext cx="192" cy="1138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9" name="Line 6"/>
            <p:cNvSpPr>
              <a:spLocks noChangeAspect="1" noChangeShapeType="1"/>
            </p:cNvSpPr>
            <p:nvPr/>
          </p:nvSpPr>
          <p:spPr bwMode="auto">
            <a:xfrm flipV="1">
              <a:off x="2964" y="2400"/>
              <a:ext cx="1453" cy="1175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0" name="Rectangle 7"/>
            <p:cNvSpPr>
              <a:spLocks noChangeAspect="1" noChangeArrowheads="1"/>
            </p:cNvSpPr>
            <p:nvPr/>
          </p:nvSpPr>
          <p:spPr bwMode="auto">
            <a:xfrm>
              <a:off x="2558" y="3564"/>
              <a:ext cx="792" cy="6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pt-BR" sz="1800" b="1">
                  <a:solidFill>
                    <a:srgbClr val="FF3300"/>
                  </a:solidFill>
                  <a:cs typeface="Arial" pitchFamily="34" charset="0"/>
                </a:rPr>
                <a:t>Colour Coded Lines.</a:t>
              </a:r>
            </a:p>
          </p:txBody>
        </p:sp>
        <p:sp>
          <p:nvSpPr>
            <p:cNvPr id="11" name="Line 8"/>
            <p:cNvSpPr>
              <a:spLocks noChangeAspect="1" noChangeShapeType="1"/>
            </p:cNvSpPr>
            <p:nvPr/>
          </p:nvSpPr>
          <p:spPr bwMode="auto">
            <a:xfrm flipH="1" flipV="1">
              <a:off x="5136" y="2112"/>
              <a:ext cx="96" cy="1463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2" name="Line 9"/>
            <p:cNvSpPr>
              <a:spLocks noChangeAspect="1" noChangeShapeType="1"/>
            </p:cNvSpPr>
            <p:nvPr/>
          </p:nvSpPr>
          <p:spPr bwMode="auto">
            <a:xfrm flipH="1" flipV="1">
              <a:off x="4489" y="2004"/>
              <a:ext cx="743" cy="1607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3" name="Line 10"/>
            <p:cNvSpPr>
              <a:spLocks noChangeAspect="1" noChangeShapeType="1"/>
            </p:cNvSpPr>
            <p:nvPr/>
          </p:nvSpPr>
          <p:spPr bwMode="auto">
            <a:xfrm>
              <a:off x="3829" y="2100"/>
              <a:ext cx="1379" cy="1487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14" name="Rectangle 11"/>
            <p:cNvSpPr>
              <a:spLocks noChangeAspect="1" noChangeArrowheads="1"/>
            </p:cNvSpPr>
            <p:nvPr/>
          </p:nvSpPr>
          <p:spPr bwMode="auto">
            <a:xfrm>
              <a:off x="4490" y="3589"/>
              <a:ext cx="1490" cy="47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pt-BR" sz="1800" b="1">
                  <a:solidFill>
                    <a:srgbClr val="FF3300"/>
                  </a:solidFill>
                  <a:cs typeface="Arial" pitchFamily="34" charset="0"/>
                </a:rPr>
                <a:t>Quick Disconnect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pt-BR" sz="1800" b="1">
                  <a:solidFill>
                    <a:srgbClr val="FF3300"/>
                  </a:solidFill>
                  <a:cs typeface="Arial" pitchFamily="34" charset="0"/>
                </a:rPr>
                <a:t>Hydraulic Fittings.</a:t>
              </a:r>
            </a:p>
          </p:txBody>
        </p:sp>
      </p:grp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457200" y="1524000"/>
            <a:ext cx="838200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400" b="1">
                <a:cs typeface="Arial" pitchFamily="34" charset="0"/>
              </a:rPr>
              <a:t>Algumas sugestões</a:t>
            </a:r>
          </a:p>
        </p:txBody>
      </p:sp>
      <p:sp>
        <p:nvSpPr>
          <p:cNvPr id="16" name="Rectangle 12"/>
          <p:cNvSpPr>
            <a:spLocks noChangeArrowheads="1"/>
          </p:cNvSpPr>
          <p:nvPr/>
        </p:nvSpPr>
        <p:spPr bwMode="auto">
          <a:xfrm>
            <a:off x="1143000" y="304800"/>
            <a:ext cx="6019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FF0000"/>
              </a:solidFill>
              <a:latin typeface="Arial Black" pitchFamily="34" charset="0"/>
              <a:cs typeface="Arial" pitchFamily="34" charset="0"/>
            </a:endParaRPr>
          </a:p>
        </p:txBody>
      </p:sp>
      <p:sp>
        <p:nvSpPr>
          <p:cNvPr id="17" name="Retângulo de cantos arredondados 3">
            <a:extLst>
              <a:ext uri="{FF2B5EF4-FFF2-40B4-BE49-F238E27FC236}">
                <a16:creationId xmlns:a16="http://schemas.microsoft.com/office/drawing/2014/main" id="{7BF3BB89-CDD8-49C7-B873-F118C9854B6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Oportunidades de melhoria em setup</a:t>
            </a:r>
          </a:p>
        </p:txBody>
      </p:sp>
    </p:spTree>
    <p:extLst>
      <p:ext uri="{BB962C8B-B14F-4D97-AF65-F5344CB8AC3E}">
        <p14:creationId xmlns:p14="http://schemas.microsoft.com/office/powerpoint/2010/main" val="42638314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323528" y="1829544"/>
            <a:ext cx="8583488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hotic"/>
              </a:rPr>
              <a:t>Após reorganizar a célula, o time precisa revisar todos os processos e identificar se existem atividades consideradas como risco de segurança. </a:t>
            </a:r>
          </a:p>
          <a:p>
            <a:pPr marL="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  <a:defRPr/>
            </a:pPr>
            <a:endParaRPr kumimoji="0" lang="pt-BR" sz="20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hotic"/>
            </a:endParaRPr>
          </a:p>
          <a:p>
            <a:pPr marL="0" marR="0" lvl="0" indent="-342900" algn="just" defTabSz="91440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pt-BR" sz="20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hotic"/>
              </a:rPr>
              <a:t>Uma avaliação de Risco deve ser conduzida na atividade considerada com risco de segurança, levantando os resultados e ações propostas validadas pelo Gerente de Linha ou responsável pela segurança.</a:t>
            </a:r>
            <a:endParaRPr kumimoji="0" lang="pt-BR" sz="2000" i="0" u="none" strike="noStrike" kern="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Century Ghotic"/>
            </a:endParaRPr>
          </a:p>
        </p:txBody>
      </p:sp>
      <p:sp>
        <p:nvSpPr>
          <p:cNvPr id="5" name="Retângulo de cantos arredondados 3">
            <a:extLst>
              <a:ext uri="{FF2B5EF4-FFF2-40B4-BE49-F238E27FC236}">
                <a16:creationId xmlns:a16="http://schemas.microsoft.com/office/drawing/2014/main" id="{4142F565-EBCC-4BEE-A553-5CE42AA28ECD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Segurança é parte do processo</a:t>
            </a:r>
          </a:p>
        </p:txBody>
      </p:sp>
      <p:pic>
        <p:nvPicPr>
          <p:cNvPr id="6148" name="Picture 4" descr="Resultado de imagem para seguranÃ§a trabalho">
            <a:extLst>
              <a:ext uri="{FF2B5EF4-FFF2-40B4-BE49-F238E27FC236}">
                <a16:creationId xmlns:a16="http://schemas.microsoft.com/office/drawing/2014/main" id="{0A090774-11F1-4781-90A7-D34EC8865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365104"/>
            <a:ext cx="3721401" cy="2325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48832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542213" y="5154613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395288" y="1697038"/>
            <a:ext cx="8534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Century Ghotic"/>
              </a:rPr>
              <a:t>Passo 4 - Melhoria de todos os aspectos do setup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395288" y="3067050"/>
            <a:ext cx="84582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dirty="0">
                <a:latin typeface="Century Ghotic"/>
              </a:rPr>
              <a:t> Executar as melhorias levantadas no Passo 3 e formalizadas no Plano de Ação.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0050" y="4286250"/>
            <a:ext cx="15875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de cantos arredondados 3">
            <a:extLst>
              <a:ext uri="{FF2B5EF4-FFF2-40B4-BE49-F238E27FC236}">
                <a16:creationId xmlns:a16="http://schemas.microsoft.com/office/drawing/2014/main" id="{6F7DDD17-931D-412C-87D4-02F752D07B7B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27191750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542213" y="4833938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38200" y="1595438"/>
            <a:ext cx="7467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Century Ghotic"/>
              </a:rPr>
              <a:t>Passo 5 - Execução do setup de acordo com o novo procedimento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269875" y="2909843"/>
            <a:ext cx="8604250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altLang="pt-BR" dirty="0">
                <a:latin typeface="Century Ghotic"/>
              </a:rPr>
              <a:t> Feitas as melhorias, deve-se programar e realizar um setup dentro das novas especificações;</a:t>
            </a:r>
          </a:p>
          <a:p>
            <a:pPr algn="just">
              <a:spcBef>
                <a:spcPct val="50000"/>
              </a:spcBef>
            </a:pPr>
            <a:r>
              <a:rPr lang="pt-BR" altLang="pt-BR" dirty="0">
                <a:latin typeface="Century Ghotic"/>
              </a:rPr>
              <a:t> Análise do resultado, comparando Planejado x Realizado 						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008" y="5143501"/>
            <a:ext cx="1153542" cy="1193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de cantos arredondados 3">
            <a:extLst>
              <a:ext uri="{FF2B5EF4-FFF2-40B4-BE49-F238E27FC236}">
                <a16:creationId xmlns:a16="http://schemas.microsoft.com/office/drawing/2014/main" id="{888A9D37-7D74-4615-A30B-45483A145D71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18776846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7542213" y="4629150"/>
            <a:ext cx="0" cy="1298575"/>
            <a:chOff x="4751" y="2862"/>
            <a:chExt cx="0" cy="818"/>
          </a:xfrm>
        </p:grpSpPr>
        <p:sp>
          <p:nvSpPr>
            <p:cNvPr id="6" name="Rectangle 3"/>
            <p:cNvSpPr>
              <a:spLocks noChangeArrowheads="1"/>
            </p:cNvSpPr>
            <p:nvPr/>
          </p:nvSpPr>
          <p:spPr bwMode="auto">
            <a:xfrm>
              <a:off x="4751" y="3594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7" name="Rectangle 4"/>
            <p:cNvSpPr>
              <a:spLocks noChangeArrowheads="1"/>
            </p:cNvSpPr>
            <p:nvPr/>
          </p:nvSpPr>
          <p:spPr bwMode="auto">
            <a:xfrm>
              <a:off x="4751" y="335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4751" y="2862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4751" y="3103"/>
              <a:ext cx="0" cy="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pt-BR" altLang="pt-BR" sz="900">
                <a:solidFill>
                  <a:srgbClr val="000000"/>
                </a:solidFill>
                <a:latin typeface="Incised901 BT"/>
              </a:endParaRPr>
            </a:p>
          </p:txBody>
        </p:sp>
      </p:grp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838200" y="1449388"/>
            <a:ext cx="74676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b="1" dirty="0">
                <a:latin typeface="Century Ghotic"/>
              </a:rPr>
              <a:t>Passo 6 - Padronização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533400" y="2357438"/>
            <a:ext cx="80772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971550" indent="-5143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pt-BR" altLang="pt-BR" sz="3200" dirty="0">
                <a:latin typeface="Century Ghotic"/>
              </a:rPr>
              <a:t> Aprovadas as novas condições de realização do setup deve-se:</a:t>
            </a:r>
          </a:p>
          <a:p>
            <a:pPr lvl="1" algn="just">
              <a:spcBef>
                <a:spcPct val="50000"/>
              </a:spcBef>
              <a:buFont typeface="Arial" pitchFamily="34" charset="0"/>
              <a:buAutoNum type="arabicPeriod"/>
            </a:pPr>
            <a:r>
              <a:rPr lang="pt-BR" altLang="pt-BR" sz="3200" dirty="0">
                <a:latin typeface="Century Ghotic"/>
              </a:rPr>
              <a:t>confeccionar instruções de trabalho;</a:t>
            </a:r>
          </a:p>
          <a:p>
            <a:pPr lvl="1" algn="just">
              <a:spcBef>
                <a:spcPct val="50000"/>
              </a:spcBef>
              <a:buFont typeface="Arial" pitchFamily="34" charset="0"/>
              <a:buAutoNum type="arabicPeriod"/>
            </a:pPr>
            <a:r>
              <a:rPr lang="pt-BR" altLang="pt-BR" sz="3200" dirty="0">
                <a:latin typeface="Century Ghotic"/>
              </a:rPr>
              <a:t> treinar, treinar e treinar;</a:t>
            </a:r>
          </a:p>
          <a:p>
            <a:pPr lvl="1" algn="just">
              <a:spcBef>
                <a:spcPct val="50000"/>
              </a:spcBef>
              <a:buFont typeface="Arial" pitchFamily="34" charset="0"/>
              <a:buAutoNum type="arabicPeriod"/>
            </a:pPr>
            <a:r>
              <a:rPr lang="pt-BR" altLang="pt-BR" sz="3200" dirty="0">
                <a:latin typeface="Century Ghotic"/>
              </a:rPr>
              <a:t> elaborar o Manual de Setup.</a:t>
            </a:r>
          </a:p>
          <a:p>
            <a:pPr algn="just">
              <a:spcBef>
                <a:spcPct val="50000"/>
              </a:spcBef>
              <a:buFontTx/>
              <a:buNone/>
            </a:pPr>
            <a:r>
              <a:rPr lang="pt-BR" altLang="pt-BR" sz="3200" dirty="0">
                <a:latin typeface="Century Ghotic"/>
              </a:rPr>
              <a:t>							</a:t>
            </a:r>
          </a:p>
        </p:txBody>
      </p:sp>
      <p:pic>
        <p:nvPicPr>
          <p:cNvPr id="12" name="Picture 37" descr="http://www.rietjevanvliet.nl/wp-content/uploads/pdca-cyclus.jpg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3750" y="4622800"/>
            <a:ext cx="1589088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de cantos arredondados 3">
            <a:extLst>
              <a:ext uri="{FF2B5EF4-FFF2-40B4-BE49-F238E27FC236}">
                <a16:creationId xmlns:a16="http://schemas.microsoft.com/office/drawing/2014/main" id="{5715CE67-D2D4-4F84-AE12-BFB8E1A88618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Método de análise do setup</a:t>
            </a:r>
          </a:p>
        </p:txBody>
      </p:sp>
    </p:spTree>
    <p:extLst>
      <p:ext uri="{BB962C8B-B14F-4D97-AF65-F5344CB8AC3E}">
        <p14:creationId xmlns:p14="http://schemas.microsoft.com/office/powerpoint/2010/main" val="33314154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de cantos arredondados 3"/>
          <p:cNvSpPr/>
          <p:nvPr/>
        </p:nvSpPr>
        <p:spPr>
          <a:xfrm>
            <a:off x="384402" y="483253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tx2">
              <a:lumMod val="75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POP de setup</a:t>
            </a:r>
          </a:p>
        </p:txBody>
      </p:sp>
      <p:pic>
        <p:nvPicPr>
          <p:cNvPr id="3" name="Picture 10" descr="paperplane22"/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4213" y="1268413"/>
            <a:ext cx="3787775" cy="5113337"/>
          </a:xfrm>
        </p:spPr>
      </p:pic>
      <p:sp>
        <p:nvSpPr>
          <p:cNvPr id="5" name="Text Box 13"/>
          <p:cNvSpPr txBox="1">
            <a:spLocks noChangeArrowheads="1"/>
          </p:cNvSpPr>
          <p:nvPr/>
        </p:nvSpPr>
        <p:spPr bwMode="auto">
          <a:xfrm>
            <a:off x="5148263" y="1700213"/>
            <a:ext cx="3671887" cy="54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algn="ctr" eaLnBrk="0" fontAlgn="base" hangingPunct="0">
              <a:spcBef>
                <a:spcPct val="2000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pt-BR" altLang="pt-BR" sz="2800" dirty="0">
                <a:effectLst/>
                <a:latin typeface="Century Ghotic"/>
              </a:rPr>
              <a:t>O que falta?</a:t>
            </a:r>
          </a:p>
          <a:p>
            <a:pPr eaLnBrk="1" hangingPunct="1"/>
            <a:endParaRPr lang="pt-BR" altLang="pt-BR" sz="2800" dirty="0">
              <a:effectLst/>
              <a:latin typeface="Century Ghotic"/>
            </a:endParaRPr>
          </a:p>
        </p:txBody>
      </p:sp>
      <p:sp>
        <p:nvSpPr>
          <p:cNvPr id="6" name="AutoShape 9"/>
          <p:cNvSpPr>
            <a:spLocks/>
          </p:cNvSpPr>
          <p:nvPr/>
        </p:nvSpPr>
        <p:spPr bwMode="auto">
          <a:xfrm flipH="1">
            <a:off x="755650" y="1773238"/>
            <a:ext cx="73025" cy="936625"/>
          </a:xfrm>
          <a:prstGeom prst="rightBrace">
            <a:avLst>
              <a:gd name="adj1" fmla="val 1068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7" name="AutoShape 11"/>
          <p:cNvSpPr>
            <a:spLocks/>
          </p:cNvSpPr>
          <p:nvPr/>
        </p:nvSpPr>
        <p:spPr bwMode="auto">
          <a:xfrm rot="5400000" flipH="1">
            <a:off x="1690687" y="836613"/>
            <a:ext cx="73025" cy="1657350"/>
          </a:xfrm>
          <a:prstGeom prst="rightBrace">
            <a:avLst>
              <a:gd name="adj1" fmla="val 18913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8" name="AutoShape 12"/>
          <p:cNvSpPr>
            <a:spLocks/>
          </p:cNvSpPr>
          <p:nvPr/>
        </p:nvSpPr>
        <p:spPr bwMode="auto">
          <a:xfrm rot="5400000" flipH="1">
            <a:off x="3780631" y="1123157"/>
            <a:ext cx="73025" cy="1081088"/>
          </a:xfrm>
          <a:prstGeom prst="rightBrace">
            <a:avLst>
              <a:gd name="adj1" fmla="val 12337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9" name="AutoShape 13"/>
          <p:cNvSpPr>
            <a:spLocks/>
          </p:cNvSpPr>
          <p:nvPr/>
        </p:nvSpPr>
        <p:spPr bwMode="auto">
          <a:xfrm rot="5400000" flipH="1">
            <a:off x="3168650" y="1592263"/>
            <a:ext cx="71438" cy="144462"/>
          </a:xfrm>
          <a:prstGeom prst="rightBrace">
            <a:avLst>
              <a:gd name="adj1" fmla="val 1685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0" name="AutoShape 14"/>
          <p:cNvSpPr>
            <a:spLocks/>
          </p:cNvSpPr>
          <p:nvPr/>
        </p:nvSpPr>
        <p:spPr bwMode="auto">
          <a:xfrm rot="5400000" flipH="1">
            <a:off x="1150937" y="2744788"/>
            <a:ext cx="73025" cy="431800"/>
          </a:xfrm>
          <a:prstGeom prst="rightBrace">
            <a:avLst>
              <a:gd name="adj1" fmla="val 49275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  <p:sp>
        <p:nvSpPr>
          <p:cNvPr id="11" name="AutoShape 15"/>
          <p:cNvSpPr>
            <a:spLocks/>
          </p:cNvSpPr>
          <p:nvPr/>
        </p:nvSpPr>
        <p:spPr bwMode="auto">
          <a:xfrm>
            <a:off x="3635375" y="4581525"/>
            <a:ext cx="71438" cy="360363"/>
          </a:xfrm>
          <a:prstGeom prst="rightBrace">
            <a:avLst>
              <a:gd name="adj1" fmla="val 4203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78078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de cantos arredondados 16"/>
          <p:cNvSpPr/>
          <p:nvPr/>
        </p:nvSpPr>
        <p:spPr>
          <a:xfrm>
            <a:off x="384401" y="483253"/>
            <a:ext cx="6677591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Tabela de Trabalho Padrão Combinado</a:t>
            </a:r>
          </a:p>
        </p:txBody>
      </p:sp>
      <p:sp>
        <p:nvSpPr>
          <p:cNvPr id="2048003" name="Text Box 3"/>
          <p:cNvSpPr txBox="1">
            <a:spLocks noChangeArrowheads="1"/>
          </p:cNvSpPr>
          <p:nvPr/>
        </p:nvSpPr>
        <p:spPr bwMode="auto">
          <a:xfrm>
            <a:off x="35496" y="1351306"/>
            <a:ext cx="8791575" cy="1429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marL="358775" indent="-4572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ts val="600"/>
              </a:spcBef>
            </a:pPr>
            <a:r>
              <a:rPr lang="pt-BR" altLang="pt-BR" sz="2000" dirty="0">
                <a:latin typeface="Century Ghotic"/>
                <a:cs typeface="Times New Roman" panose="02020603050405020304" pitchFamily="18" charset="0"/>
              </a:rPr>
              <a:t> 	Mostra o relacionamento em termos de tempo de duas ou mais atividades que apresentam uma combinação de operações manuais e equipamento automático</a:t>
            </a:r>
            <a:endParaRPr lang="en-US" altLang="ja-JP" sz="2000" dirty="0">
              <a:latin typeface="Century Ghotic"/>
              <a:ea typeface="MS PGothic" panose="020B0600070205080204" pitchFamily="34" charset="-128"/>
            </a:endParaRPr>
          </a:p>
        </p:txBody>
      </p:sp>
      <p:pic>
        <p:nvPicPr>
          <p:cNvPr id="2048006" name="Picture 6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309" y="2924944"/>
            <a:ext cx="8791575" cy="52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  <p:sp>
        <p:nvSpPr>
          <p:cNvPr id="2048007" name="AutoShape 7"/>
          <p:cNvSpPr>
            <a:spLocks noChangeArrowheads="1"/>
          </p:cNvSpPr>
          <p:nvPr/>
        </p:nvSpPr>
        <p:spPr bwMode="auto">
          <a:xfrm>
            <a:off x="116459" y="4525144"/>
            <a:ext cx="1693862" cy="1066800"/>
          </a:xfrm>
          <a:prstGeom prst="wedgeRoundRectCallout">
            <a:avLst>
              <a:gd name="adj1" fmla="val 63227"/>
              <a:gd name="adj2" fmla="val -107440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r>
              <a:rPr lang="pt-BR" altLang="pt-BR" sz="1600" b="1" dirty="0">
                <a:latin typeface="Century Ghotic"/>
              </a:rPr>
              <a:t>Elemento do Trabalho Padronizado</a:t>
            </a:r>
            <a:endParaRPr lang="en-US" altLang="ja-JP" sz="1600" b="1" dirty="0">
              <a:latin typeface="Century Ghotic"/>
              <a:ea typeface="MS PGothic" panose="020B0600070205080204" pitchFamily="34" charset="-128"/>
            </a:endParaRPr>
          </a:p>
        </p:txBody>
      </p:sp>
      <p:sp>
        <p:nvSpPr>
          <p:cNvPr id="2048008" name="AutoShape 8"/>
          <p:cNvSpPr>
            <a:spLocks noChangeArrowheads="1"/>
          </p:cNvSpPr>
          <p:nvPr/>
        </p:nvSpPr>
        <p:spPr bwMode="auto">
          <a:xfrm>
            <a:off x="2156396" y="4144144"/>
            <a:ext cx="2320925" cy="1676400"/>
          </a:xfrm>
          <a:prstGeom prst="wedgeRoundRectCallout">
            <a:avLst>
              <a:gd name="adj1" fmla="val 29167"/>
              <a:gd name="adj2" fmla="val -63824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600" b="1">
                <a:latin typeface="Century Ghotic"/>
              </a:rPr>
              <a:t>Tempo de cada Elemento: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Manual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Caminhada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Automático</a:t>
            </a:r>
            <a:endParaRPr lang="en-US" altLang="ja-JP" sz="1600" b="1">
              <a:latin typeface="Century Ghotic"/>
              <a:ea typeface="MS PGothic" panose="020B0600070205080204" pitchFamily="34" charset="-128"/>
            </a:endParaRPr>
          </a:p>
        </p:txBody>
      </p:sp>
      <p:sp>
        <p:nvSpPr>
          <p:cNvPr id="2048009" name="AutoShape 9"/>
          <p:cNvSpPr>
            <a:spLocks noChangeArrowheads="1"/>
          </p:cNvSpPr>
          <p:nvPr/>
        </p:nvSpPr>
        <p:spPr bwMode="auto">
          <a:xfrm>
            <a:off x="4617021" y="4220344"/>
            <a:ext cx="4010025" cy="1600200"/>
          </a:xfrm>
          <a:prstGeom prst="wedgeRoundRectCallout">
            <a:avLst>
              <a:gd name="adj1" fmla="val 2778"/>
              <a:gd name="adj2" fmla="val -68750"/>
              <a:gd name="adj3" fmla="val 16667"/>
            </a:avLst>
          </a:prstGeom>
          <a:solidFill>
            <a:srgbClr val="FFFFCC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anchor="ctr"/>
          <a:lstStyle>
            <a:lvl1pPr marL="1624013" indent="-1624013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pt-BR" altLang="pt-BR" sz="1600" b="1">
                <a:latin typeface="Century Ghotic"/>
              </a:rPr>
              <a:t>Representação gráfica do tempo: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Manual	=&gt;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Automático	=&gt;</a:t>
            </a:r>
          </a:p>
          <a:p>
            <a:pPr eaLnBrk="1" hangingPunct="1"/>
            <a:r>
              <a:rPr lang="pt-BR" altLang="pt-BR" sz="1600" b="1">
                <a:latin typeface="Century Ghotic"/>
              </a:rPr>
              <a:t>Caminhada	=&gt;</a:t>
            </a:r>
            <a:endParaRPr lang="en-US" altLang="ja-JP" sz="1600" b="1">
              <a:latin typeface="Century Ghotic"/>
              <a:ea typeface="MS PGothic" panose="020B0600070205080204" pitchFamily="34" charset="-128"/>
            </a:endParaRPr>
          </a:p>
        </p:txBody>
      </p:sp>
      <p:sp>
        <p:nvSpPr>
          <p:cNvPr id="2048010" name="AutoShape 10"/>
          <p:cNvSpPr>
            <a:spLocks/>
          </p:cNvSpPr>
          <p:nvPr/>
        </p:nvSpPr>
        <p:spPr bwMode="auto">
          <a:xfrm rot="-5400000">
            <a:off x="6537103" y="1398562"/>
            <a:ext cx="381000" cy="4500563"/>
          </a:xfrm>
          <a:prstGeom prst="leftBrace">
            <a:avLst>
              <a:gd name="adj1" fmla="val 106641"/>
              <a:gd name="adj2" fmla="val 50000"/>
            </a:avLst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8011" name="Line 11"/>
          <p:cNvSpPr>
            <a:spLocks noChangeShapeType="1"/>
          </p:cNvSpPr>
          <p:nvPr/>
        </p:nvSpPr>
        <p:spPr bwMode="auto">
          <a:xfrm>
            <a:off x="6785546" y="4868044"/>
            <a:ext cx="9969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8012" name="Line 12"/>
          <p:cNvSpPr>
            <a:spLocks noChangeShapeType="1"/>
          </p:cNvSpPr>
          <p:nvPr/>
        </p:nvSpPr>
        <p:spPr bwMode="auto">
          <a:xfrm>
            <a:off x="6779196" y="5172844"/>
            <a:ext cx="996950" cy="0"/>
          </a:xfrm>
          <a:prstGeom prst="line">
            <a:avLst/>
          </a:prstGeom>
          <a:noFill/>
          <a:ln w="38100" cap="rnd">
            <a:solidFill>
              <a:srgbClr val="000000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8013" name="Freeform 13"/>
          <p:cNvSpPr>
            <a:spLocks/>
          </p:cNvSpPr>
          <p:nvPr/>
        </p:nvSpPr>
        <p:spPr bwMode="auto">
          <a:xfrm>
            <a:off x="6779196" y="5388744"/>
            <a:ext cx="996950" cy="74612"/>
          </a:xfrm>
          <a:custGeom>
            <a:avLst/>
            <a:gdLst>
              <a:gd name="T0" fmla="*/ 0 w 42"/>
              <a:gd name="T1" fmla="*/ 2147483647 h 8"/>
              <a:gd name="T2" fmla="*/ 2147483647 w 42"/>
              <a:gd name="T3" fmla="*/ 0 h 8"/>
              <a:gd name="T4" fmla="*/ 2147483647 w 42"/>
              <a:gd name="T5" fmla="*/ 2147483647 h 8"/>
              <a:gd name="T6" fmla="*/ 2147483647 w 42"/>
              <a:gd name="T7" fmla="*/ 2147483647 h 8"/>
              <a:gd name="T8" fmla="*/ 2147483647 w 42"/>
              <a:gd name="T9" fmla="*/ 2147483647 h 8"/>
              <a:gd name="T10" fmla="*/ 2147483647 w 42"/>
              <a:gd name="T11" fmla="*/ 2147483647 h 8"/>
              <a:gd name="T12" fmla="*/ 2147483647 w 42"/>
              <a:gd name="T13" fmla="*/ 2147483647 h 8"/>
              <a:gd name="T14" fmla="*/ 2147483647 w 42"/>
              <a:gd name="T15" fmla="*/ 2147483647 h 8"/>
              <a:gd name="T16" fmla="*/ 2147483647 w 42"/>
              <a:gd name="T17" fmla="*/ 2147483647 h 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2"/>
              <a:gd name="T28" fmla="*/ 0 h 8"/>
              <a:gd name="T29" fmla="*/ 42 w 42"/>
              <a:gd name="T30" fmla="*/ 8 h 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2" h="8">
                <a:moveTo>
                  <a:pt x="0" y="6"/>
                </a:moveTo>
                <a:cubicBezTo>
                  <a:pt x="2" y="3"/>
                  <a:pt x="4" y="0"/>
                  <a:pt x="6" y="0"/>
                </a:cubicBezTo>
                <a:cubicBezTo>
                  <a:pt x="8" y="0"/>
                  <a:pt x="9" y="7"/>
                  <a:pt x="11" y="7"/>
                </a:cubicBezTo>
                <a:cubicBezTo>
                  <a:pt x="13" y="7"/>
                  <a:pt x="15" y="1"/>
                  <a:pt x="17" y="1"/>
                </a:cubicBezTo>
                <a:cubicBezTo>
                  <a:pt x="19" y="1"/>
                  <a:pt x="21" y="7"/>
                  <a:pt x="23" y="7"/>
                </a:cubicBezTo>
                <a:cubicBezTo>
                  <a:pt x="25" y="7"/>
                  <a:pt x="26" y="1"/>
                  <a:pt x="27" y="1"/>
                </a:cubicBezTo>
                <a:cubicBezTo>
                  <a:pt x="28" y="1"/>
                  <a:pt x="30" y="7"/>
                  <a:pt x="32" y="7"/>
                </a:cubicBezTo>
                <a:cubicBezTo>
                  <a:pt x="34" y="7"/>
                  <a:pt x="35" y="2"/>
                  <a:pt x="37" y="2"/>
                </a:cubicBezTo>
                <a:cubicBezTo>
                  <a:pt x="39" y="2"/>
                  <a:pt x="39" y="8"/>
                  <a:pt x="42" y="7"/>
                </a:cubicBezTo>
              </a:path>
            </a:pathLst>
          </a:custGeom>
          <a:noFill/>
          <a:ln w="38100" cmpd="sng">
            <a:solidFill>
              <a:srgbClr val="000000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2048014" name="AutoShape 14"/>
          <p:cNvSpPr>
            <a:spLocks/>
          </p:cNvSpPr>
          <p:nvPr/>
        </p:nvSpPr>
        <p:spPr bwMode="auto">
          <a:xfrm rot="-5400000">
            <a:off x="3867721" y="3229744"/>
            <a:ext cx="304800" cy="914400"/>
          </a:xfrm>
          <a:prstGeom prst="leftBrace">
            <a:avLst>
              <a:gd name="adj1" fmla="val 58319"/>
              <a:gd name="adj2" fmla="val 46954"/>
            </a:avLst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2048015" name="AutoShape 15"/>
          <p:cNvSpPr>
            <a:spLocks/>
          </p:cNvSpPr>
          <p:nvPr/>
        </p:nvSpPr>
        <p:spPr bwMode="auto">
          <a:xfrm rot="-5400000">
            <a:off x="1772221" y="2048644"/>
            <a:ext cx="381000" cy="3200400"/>
          </a:xfrm>
          <a:prstGeom prst="leftBrace">
            <a:avLst>
              <a:gd name="adj1" fmla="val 75833"/>
              <a:gd name="adj2" fmla="val 50000"/>
            </a:avLst>
          </a:prstGeom>
          <a:noFill/>
          <a:ln w="381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82957" name="Espaço Reservado para Número de Slide 5"/>
          <p:cNvSpPr txBox="1">
            <a:spLocks/>
          </p:cNvSpPr>
          <p:nvPr/>
        </p:nvSpPr>
        <p:spPr bwMode="auto">
          <a:xfrm>
            <a:off x="8594725" y="6480175"/>
            <a:ext cx="514350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/>
            <a:fld id="{BC3E046F-9172-4188-A2FE-47F3FC3132FC}" type="slidenum">
              <a:rPr lang="zh-CN" altLang="pt-BR" sz="1400">
                <a:latin typeface="Times New Roman" panose="02020603050405020304" pitchFamily="18" charset="0"/>
                <a:ea typeface="MS PGothic" panose="020B0600070205080204" pitchFamily="34" charset="-128"/>
              </a:rPr>
              <a:pPr algn="ctr" eaLnBrk="1" hangingPunct="1"/>
              <a:t>63</a:t>
            </a:fld>
            <a:endParaRPr lang="pt-BR" altLang="zh-CN" sz="140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2394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048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5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16" dur="500"/>
                                        <p:tgtEl>
                                          <p:spTgt spid="2048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48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5" dur="500"/>
                                        <p:tgtEl>
                                          <p:spTgt spid="2048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048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4" dur="500"/>
                                        <p:tgtEl>
                                          <p:spTgt spid="2048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048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48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048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48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03" grpId="0" autoUpdateAnimBg="0"/>
      <p:bldP spid="2048007" grpId="0" animBg="1" autoUpdateAnimBg="0"/>
      <p:bldP spid="2048008" grpId="0" animBg="1" autoUpdateAnimBg="0"/>
      <p:bldP spid="2048009" grpId="0" animBg="1" autoUpdateAnimBg="0"/>
      <p:bldP spid="2048010" grpId="0" animBg="1"/>
      <p:bldP spid="2048011" grpId="0" animBg="1"/>
      <p:bldP spid="2048012" grpId="0" animBg="1"/>
      <p:bldP spid="2048013" grpId="0" animBg="1"/>
      <p:bldP spid="2048014" grpId="0" animBg="1"/>
      <p:bldP spid="204801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auto">
          <a:xfrm>
            <a:off x="558800" y="700088"/>
            <a:ext cx="352425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Part No.:</a:t>
            </a:r>
            <a:endParaRPr lang="pt-BR" altLang="pt-BR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auto">
          <a:xfrm>
            <a:off x="2208213" y="700088"/>
            <a:ext cx="201612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Cell::</a:t>
            </a:r>
            <a:endParaRPr lang="pt-BR" altLang="pt-BR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auto">
          <a:xfrm>
            <a:off x="3933825" y="641350"/>
            <a:ext cx="1103313" cy="19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300">
                <a:solidFill>
                  <a:srgbClr val="000000"/>
                </a:solidFill>
              </a:rPr>
              <a:t>Standard Work</a:t>
            </a:r>
            <a:endParaRPr lang="pt-BR" altLang="pt-BR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auto">
          <a:xfrm>
            <a:off x="5522913" y="700088"/>
            <a:ext cx="300037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Volume</a:t>
            </a:r>
            <a:endParaRPr lang="pt-BR" altLang="pt-BR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auto">
          <a:xfrm>
            <a:off x="5940426" y="625931"/>
            <a:ext cx="406399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/>
            <a:r>
              <a:rPr lang="pt-BR" altLang="pt-BR" sz="600" dirty="0">
                <a:solidFill>
                  <a:srgbClr val="000000"/>
                </a:solidFill>
              </a:rPr>
              <a:t>Target  </a:t>
            </a:r>
            <a:r>
              <a:rPr lang="pt-BR" altLang="pt-BR" sz="600" dirty="0" err="1">
                <a:solidFill>
                  <a:srgbClr val="000000"/>
                </a:solidFill>
              </a:rPr>
              <a:t>Cycle</a:t>
            </a:r>
            <a:endParaRPr lang="pt-BR" altLang="pt-BR" sz="2000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6407150" y="700088"/>
            <a:ext cx="395288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 dirty="0">
                <a:solidFill>
                  <a:srgbClr val="000000"/>
                </a:solidFill>
              </a:rPr>
              <a:t>Takt Time</a:t>
            </a:r>
            <a:endParaRPr lang="pt-BR" altLang="pt-BR" dirty="0"/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6835775" y="614363"/>
            <a:ext cx="7620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   </a:t>
            </a:r>
            <a:endParaRPr lang="pt-BR" altLang="pt-BR"/>
          </a:p>
        </p:txBody>
      </p:sp>
      <p:sp>
        <p:nvSpPr>
          <p:cNvPr id="45066" name="Rectangle 10"/>
          <p:cNvSpPr>
            <a:spLocks noChangeArrowheads="1"/>
          </p:cNvSpPr>
          <p:nvPr/>
        </p:nvSpPr>
        <p:spPr bwMode="auto">
          <a:xfrm>
            <a:off x="7034213" y="614363"/>
            <a:ext cx="290512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Manual</a:t>
            </a:r>
            <a:endParaRPr lang="pt-BR" altLang="pt-BR"/>
          </a:p>
        </p:txBody>
      </p:sp>
      <p:sp>
        <p:nvSpPr>
          <p:cNvPr id="45067" name="Rectangle 11"/>
          <p:cNvSpPr>
            <a:spLocks noChangeArrowheads="1"/>
          </p:cNvSpPr>
          <p:nvPr/>
        </p:nvSpPr>
        <p:spPr bwMode="auto">
          <a:xfrm>
            <a:off x="7893050" y="614363"/>
            <a:ext cx="196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Walk</a:t>
            </a:r>
            <a:endParaRPr lang="pt-BR" altLang="pt-BR"/>
          </a:p>
        </p:txBody>
      </p:sp>
      <p:sp>
        <p:nvSpPr>
          <p:cNvPr id="45068" name="Rectangle 12"/>
          <p:cNvSpPr>
            <a:spLocks noChangeArrowheads="1"/>
          </p:cNvSpPr>
          <p:nvPr/>
        </p:nvSpPr>
        <p:spPr bwMode="auto">
          <a:xfrm>
            <a:off x="558800" y="922338"/>
            <a:ext cx="450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Part Name:</a:t>
            </a:r>
            <a:endParaRPr lang="pt-BR" altLang="pt-BR"/>
          </a:p>
        </p:txBody>
      </p:sp>
      <p:sp>
        <p:nvSpPr>
          <p:cNvPr id="45069" name="Rectangle 13"/>
          <p:cNvSpPr>
            <a:spLocks noChangeArrowheads="1"/>
          </p:cNvSpPr>
          <p:nvPr/>
        </p:nvSpPr>
        <p:spPr bwMode="auto">
          <a:xfrm>
            <a:off x="2208213" y="922338"/>
            <a:ext cx="212725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Date:</a:t>
            </a:r>
            <a:endParaRPr lang="pt-BR" altLang="pt-BR"/>
          </a:p>
        </p:txBody>
      </p:sp>
      <p:sp>
        <p:nvSpPr>
          <p:cNvPr id="45070" name="Rectangle 14"/>
          <p:cNvSpPr>
            <a:spLocks noChangeArrowheads="1"/>
          </p:cNvSpPr>
          <p:nvPr/>
        </p:nvSpPr>
        <p:spPr bwMode="auto">
          <a:xfrm>
            <a:off x="3795713" y="846138"/>
            <a:ext cx="1389062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300">
                <a:solidFill>
                  <a:srgbClr val="000000"/>
                </a:solidFill>
              </a:rPr>
              <a:t>Combination Table</a:t>
            </a:r>
            <a:endParaRPr lang="pt-BR" altLang="pt-BR"/>
          </a:p>
        </p:txBody>
      </p:sp>
      <p:sp>
        <p:nvSpPr>
          <p:cNvPr id="45071" name="Rectangle 15"/>
          <p:cNvSpPr>
            <a:spLocks noChangeArrowheads="1"/>
          </p:cNvSpPr>
          <p:nvPr/>
        </p:nvSpPr>
        <p:spPr bwMode="auto">
          <a:xfrm>
            <a:off x="7119938" y="836613"/>
            <a:ext cx="182562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Auto</a:t>
            </a:r>
            <a:endParaRPr lang="pt-BR" altLang="pt-BR"/>
          </a:p>
        </p:txBody>
      </p:sp>
      <p:sp>
        <p:nvSpPr>
          <p:cNvPr id="45072" name="Rectangle 16"/>
          <p:cNvSpPr>
            <a:spLocks noChangeArrowheads="1"/>
          </p:cNvSpPr>
          <p:nvPr/>
        </p:nvSpPr>
        <p:spPr bwMode="auto">
          <a:xfrm>
            <a:off x="7900988" y="836613"/>
            <a:ext cx="17780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Wait</a:t>
            </a:r>
            <a:endParaRPr lang="pt-BR" altLang="pt-BR"/>
          </a:p>
        </p:txBody>
      </p:sp>
      <p:sp>
        <p:nvSpPr>
          <p:cNvPr id="45073" name="Rectangle 17"/>
          <p:cNvSpPr>
            <a:spLocks noChangeArrowheads="1"/>
          </p:cNvSpPr>
          <p:nvPr/>
        </p:nvSpPr>
        <p:spPr bwMode="auto">
          <a:xfrm>
            <a:off x="2231073" y="1066165"/>
            <a:ext cx="290512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 dirty="0">
                <a:solidFill>
                  <a:srgbClr val="000000"/>
                </a:solidFill>
              </a:rPr>
              <a:t>Manual</a:t>
            </a:r>
            <a:endParaRPr lang="pt-BR" altLang="pt-BR" dirty="0"/>
          </a:p>
        </p:txBody>
      </p:sp>
      <p:sp>
        <p:nvSpPr>
          <p:cNvPr id="45074" name="Rectangle 18"/>
          <p:cNvSpPr>
            <a:spLocks noChangeArrowheads="1"/>
          </p:cNvSpPr>
          <p:nvPr/>
        </p:nvSpPr>
        <p:spPr bwMode="auto">
          <a:xfrm>
            <a:off x="2619375" y="1050925"/>
            <a:ext cx="182563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Auto</a:t>
            </a:r>
            <a:endParaRPr lang="pt-BR" altLang="pt-BR"/>
          </a:p>
        </p:txBody>
      </p:sp>
      <p:sp>
        <p:nvSpPr>
          <p:cNvPr id="45075" name="Rectangle 19"/>
          <p:cNvSpPr>
            <a:spLocks noChangeArrowheads="1"/>
          </p:cNvSpPr>
          <p:nvPr/>
        </p:nvSpPr>
        <p:spPr bwMode="auto">
          <a:xfrm>
            <a:off x="2946400" y="1050925"/>
            <a:ext cx="177800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Wait</a:t>
            </a:r>
            <a:endParaRPr lang="pt-BR" altLang="pt-BR"/>
          </a:p>
        </p:txBody>
      </p:sp>
      <p:sp>
        <p:nvSpPr>
          <p:cNvPr id="45076" name="Rectangle 20"/>
          <p:cNvSpPr>
            <a:spLocks noChangeArrowheads="1"/>
          </p:cNvSpPr>
          <p:nvPr/>
        </p:nvSpPr>
        <p:spPr bwMode="auto">
          <a:xfrm>
            <a:off x="3530600" y="1050925"/>
            <a:ext cx="4605338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 dirty="0" err="1">
                <a:solidFill>
                  <a:srgbClr val="000000"/>
                </a:solidFill>
              </a:rPr>
              <a:t>Red</a:t>
            </a:r>
            <a:r>
              <a:rPr lang="pt-BR" altLang="pt-BR" sz="700" dirty="0">
                <a:solidFill>
                  <a:srgbClr val="000000"/>
                </a:solidFill>
              </a:rPr>
              <a:t> Vertical </a:t>
            </a:r>
            <a:r>
              <a:rPr lang="pt-BR" altLang="pt-BR" sz="700" dirty="0" err="1">
                <a:solidFill>
                  <a:srgbClr val="000000"/>
                </a:solidFill>
              </a:rPr>
              <a:t>Line</a:t>
            </a:r>
            <a:r>
              <a:rPr lang="pt-BR" altLang="pt-BR" sz="700" dirty="0">
                <a:solidFill>
                  <a:srgbClr val="000000"/>
                </a:solidFill>
              </a:rPr>
              <a:t> Takt Time; </a:t>
            </a:r>
            <a:r>
              <a:rPr lang="pt-BR" altLang="pt-BR" sz="700" dirty="0" err="1">
                <a:solidFill>
                  <a:srgbClr val="000000"/>
                </a:solidFill>
              </a:rPr>
              <a:t>Long</a:t>
            </a:r>
            <a:r>
              <a:rPr lang="pt-BR" altLang="pt-BR" sz="700" dirty="0">
                <a:solidFill>
                  <a:srgbClr val="000000"/>
                </a:solidFill>
              </a:rPr>
              <a:t> Vertical Black </a:t>
            </a:r>
            <a:r>
              <a:rPr lang="pt-BR" altLang="pt-BR" sz="700" dirty="0" err="1">
                <a:solidFill>
                  <a:srgbClr val="000000"/>
                </a:solidFill>
              </a:rPr>
              <a:t>Line</a:t>
            </a:r>
            <a:r>
              <a:rPr lang="pt-BR" altLang="pt-BR" sz="700" dirty="0">
                <a:solidFill>
                  <a:srgbClr val="000000"/>
                </a:solidFill>
              </a:rPr>
              <a:t> Target </a:t>
            </a:r>
            <a:r>
              <a:rPr lang="pt-BR" altLang="pt-BR" sz="700" dirty="0" err="1">
                <a:solidFill>
                  <a:srgbClr val="000000"/>
                </a:solidFill>
              </a:rPr>
              <a:t>Cycle</a:t>
            </a:r>
            <a:r>
              <a:rPr lang="pt-BR" altLang="pt-BR" sz="700" dirty="0">
                <a:solidFill>
                  <a:srgbClr val="000000"/>
                </a:solidFill>
              </a:rPr>
              <a:t> Time; Short Vertical Black </a:t>
            </a:r>
            <a:r>
              <a:rPr lang="pt-BR" altLang="pt-BR" sz="700" dirty="0" err="1">
                <a:solidFill>
                  <a:srgbClr val="000000"/>
                </a:solidFill>
              </a:rPr>
              <a:t>Line</a:t>
            </a:r>
            <a:r>
              <a:rPr lang="pt-BR" altLang="pt-BR" sz="700" dirty="0">
                <a:solidFill>
                  <a:srgbClr val="000000"/>
                </a:solidFill>
              </a:rPr>
              <a:t> </a:t>
            </a:r>
            <a:r>
              <a:rPr lang="pt-BR" altLang="pt-BR" sz="700" dirty="0" err="1">
                <a:solidFill>
                  <a:srgbClr val="000000"/>
                </a:solidFill>
              </a:rPr>
              <a:t>Actual</a:t>
            </a:r>
            <a:r>
              <a:rPr lang="pt-BR" altLang="pt-BR" sz="700" dirty="0">
                <a:solidFill>
                  <a:srgbClr val="000000"/>
                </a:solidFill>
              </a:rPr>
              <a:t> </a:t>
            </a:r>
            <a:r>
              <a:rPr lang="pt-BR" altLang="pt-BR" sz="700" dirty="0" err="1">
                <a:solidFill>
                  <a:srgbClr val="000000"/>
                </a:solidFill>
              </a:rPr>
              <a:t>Cycle</a:t>
            </a:r>
            <a:r>
              <a:rPr lang="pt-BR" altLang="pt-BR" sz="700" dirty="0">
                <a:solidFill>
                  <a:srgbClr val="000000"/>
                </a:solidFill>
              </a:rPr>
              <a:t> Time</a:t>
            </a:r>
            <a:endParaRPr lang="pt-BR" altLang="pt-BR" dirty="0"/>
          </a:p>
        </p:txBody>
      </p:sp>
      <p:sp>
        <p:nvSpPr>
          <p:cNvPr id="45077" name="Rectangle 21"/>
          <p:cNvSpPr>
            <a:spLocks noChangeArrowheads="1"/>
          </p:cNvSpPr>
          <p:nvPr/>
        </p:nvSpPr>
        <p:spPr bwMode="auto">
          <a:xfrm>
            <a:off x="541338" y="1179513"/>
            <a:ext cx="1778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No.</a:t>
            </a:r>
            <a:endParaRPr lang="pt-BR" altLang="pt-BR"/>
          </a:p>
        </p:txBody>
      </p:sp>
      <p:sp>
        <p:nvSpPr>
          <p:cNvPr id="45078" name="Rectangle 22"/>
          <p:cNvSpPr>
            <a:spLocks noChangeArrowheads="1"/>
          </p:cNvSpPr>
          <p:nvPr/>
        </p:nvSpPr>
        <p:spPr bwMode="auto">
          <a:xfrm>
            <a:off x="1082675" y="1179513"/>
            <a:ext cx="7493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Process Name</a:t>
            </a:r>
            <a:endParaRPr lang="pt-BR" altLang="pt-BR"/>
          </a:p>
        </p:txBody>
      </p:sp>
      <p:sp>
        <p:nvSpPr>
          <p:cNvPr id="45079" name="Rectangle 23"/>
          <p:cNvSpPr>
            <a:spLocks noChangeArrowheads="1"/>
          </p:cNvSpPr>
          <p:nvPr/>
        </p:nvSpPr>
        <p:spPr bwMode="auto">
          <a:xfrm>
            <a:off x="2276475" y="1179513"/>
            <a:ext cx="196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Time</a:t>
            </a:r>
            <a:endParaRPr lang="pt-BR" altLang="pt-BR"/>
          </a:p>
        </p:txBody>
      </p:sp>
      <p:sp>
        <p:nvSpPr>
          <p:cNvPr id="45080" name="Rectangle 24"/>
          <p:cNvSpPr>
            <a:spLocks noChangeArrowheads="1"/>
          </p:cNvSpPr>
          <p:nvPr/>
        </p:nvSpPr>
        <p:spPr bwMode="auto">
          <a:xfrm>
            <a:off x="2619375" y="1179513"/>
            <a:ext cx="196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 dirty="0">
                <a:solidFill>
                  <a:srgbClr val="000000"/>
                </a:solidFill>
              </a:rPr>
              <a:t>Time</a:t>
            </a:r>
            <a:endParaRPr lang="pt-BR" altLang="pt-BR" dirty="0"/>
          </a:p>
        </p:txBody>
      </p:sp>
      <p:sp>
        <p:nvSpPr>
          <p:cNvPr id="45081" name="Rectangle 25"/>
          <p:cNvSpPr>
            <a:spLocks noChangeArrowheads="1"/>
          </p:cNvSpPr>
          <p:nvPr/>
        </p:nvSpPr>
        <p:spPr bwMode="auto">
          <a:xfrm>
            <a:off x="2938463" y="1179513"/>
            <a:ext cx="196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Time</a:t>
            </a:r>
            <a:endParaRPr lang="pt-BR" altLang="pt-BR"/>
          </a:p>
        </p:txBody>
      </p:sp>
      <p:sp>
        <p:nvSpPr>
          <p:cNvPr id="45082" name="Rectangle 26"/>
          <p:cNvSpPr>
            <a:spLocks noChangeArrowheads="1"/>
          </p:cNvSpPr>
          <p:nvPr/>
        </p:nvSpPr>
        <p:spPr bwMode="auto">
          <a:xfrm>
            <a:off x="3246438" y="1169988"/>
            <a:ext cx="196850" cy="10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Walk</a:t>
            </a:r>
            <a:endParaRPr lang="pt-BR" altLang="pt-BR"/>
          </a:p>
        </p:txBody>
      </p:sp>
      <p:sp>
        <p:nvSpPr>
          <p:cNvPr id="45083" name="Rectangle 27"/>
          <p:cNvSpPr>
            <a:spLocks noChangeArrowheads="1"/>
          </p:cNvSpPr>
          <p:nvPr/>
        </p:nvSpPr>
        <p:spPr bwMode="auto">
          <a:xfrm>
            <a:off x="3255963" y="1298575"/>
            <a:ext cx="196850" cy="10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700">
                <a:solidFill>
                  <a:srgbClr val="000000"/>
                </a:solidFill>
              </a:rPr>
              <a:t>Time</a:t>
            </a:r>
            <a:endParaRPr lang="pt-BR" altLang="pt-BR"/>
          </a:p>
        </p:txBody>
      </p:sp>
      <p:sp>
        <p:nvSpPr>
          <p:cNvPr id="45084" name="Rectangle 28"/>
          <p:cNvSpPr>
            <a:spLocks noChangeArrowheads="1"/>
          </p:cNvSpPr>
          <p:nvPr/>
        </p:nvSpPr>
        <p:spPr bwMode="auto">
          <a:xfrm>
            <a:off x="1863725" y="6197600"/>
            <a:ext cx="3111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Totals</a:t>
            </a:r>
            <a:endParaRPr lang="pt-BR" altLang="pt-BR"/>
          </a:p>
        </p:txBody>
      </p:sp>
      <p:sp>
        <p:nvSpPr>
          <p:cNvPr id="45085" name="Rectangle 29"/>
          <p:cNvSpPr>
            <a:spLocks noChangeArrowheads="1"/>
          </p:cNvSpPr>
          <p:nvPr/>
        </p:nvSpPr>
        <p:spPr bwMode="auto">
          <a:xfrm>
            <a:off x="2311400" y="6180138"/>
            <a:ext cx="127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12</a:t>
            </a:r>
            <a:endParaRPr lang="pt-BR" altLang="pt-BR"/>
          </a:p>
        </p:txBody>
      </p:sp>
      <p:sp>
        <p:nvSpPr>
          <p:cNvPr id="45086" name="Rectangle 30"/>
          <p:cNvSpPr>
            <a:spLocks noChangeArrowheads="1"/>
          </p:cNvSpPr>
          <p:nvPr/>
        </p:nvSpPr>
        <p:spPr bwMode="auto">
          <a:xfrm>
            <a:off x="2732088" y="6180138"/>
            <a:ext cx="1270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26</a:t>
            </a:r>
            <a:endParaRPr lang="pt-BR" altLang="pt-BR"/>
          </a:p>
        </p:txBody>
      </p:sp>
      <p:sp>
        <p:nvSpPr>
          <p:cNvPr id="45087" name="Rectangle 31"/>
          <p:cNvSpPr>
            <a:spLocks noChangeArrowheads="1"/>
          </p:cNvSpPr>
          <p:nvPr/>
        </p:nvSpPr>
        <p:spPr bwMode="auto">
          <a:xfrm>
            <a:off x="3006725" y="6180138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6</a:t>
            </a:r>
            <a:endParaRPr lang="pt-BR" altLang="pt-BR"/>
          </a:p>
        </p:txBody>
      </p:sp>
      <p:sp>
        <p:nvSpPr>
          <p:cNvPr id="45088" name="Rectangle 32"/>
          <p:cNvSpPr>
            <a:spLocks noChangeArrowheads="1"/>
          </p:cNvSpPr>
          <p:nvPr/>
        </p:nvSpPr>
        <p:spPr bwMode="auto">
          <a:xfrm>
            <a:off x="3530600" y="6188075"/>
            <a:ext cx="101917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Actual Cycle Time =</a:t>
            </a:r>
            <a:endParaRPr lang="pt-BR" altLang="pt-BR"/>
          </a:p>
        </p:txBody>
      </p:sp>
      <p:sp>
        <p:nvSpPr>
          <p:cNvPr id="45089" name="Rectangle 33"/>
          <p:cNvSpPr>
            <a:spLocks noChangeArrowheads="1"/>
          </p:cNvSpPr>
          <p:nvPr/>
        </p:nvSpPr>
        <p:spPr bwMode="auto">
          <a:xfrm>
            <a:off x="4535488" y="6180138"/>
            <a:ext cx="168275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27"</a:t>
            </a:r>
            <a:endParaRPr lang="pt-BR" altLang="pt-BR"/>
          </a:p>
        </p:txBody>
      </p:sp>
      <p:sp>
        <p:nvSpPr>
          <p:cNvPr id="45090" name="Rectangle 34"/>
          <p:cNvSpPr>
            <a:spLocks noChangeArrowheads="1"/>
          </p:cNvSpPr>
          <p:nvPr/>
        </p:nvSpPr>
        <p:spPr bwMode="auto">
          <a:xfrm>
            <a:off x="3324225" y="6299200"/>
            <a:ext cx="635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9</a:t>
            </a:r>
            <a:endParaRPr lang="pt-BR" altLang="pt-BR"/>
          </a:p>
        </p:txBody>
      </p:sp>
      <p:sp>
        <p:nvSpPr>
          <p:cNvPr id="45091" name="Line 35"/>
          <p:cNvSpPr>
            <a:spLocks noChangeShapeType="1"/>
          </p:cNvSpPr>
          <p:nvPr/>
        </p:nvSpPr>
        <p:spPr bwMode="auto">
          <a:xfrm>
            <a:off x="541338" y="606425"/>
            <a:ext cx="78343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93" name="Line 37"/>
          <p:cNvSpPr>
            <a:spLocks noChangeShapeType="1"/>
          </p:cNvSpPr>
          <p:nvPr/>
        </p:nvSpPr>
        <p:spPr bwMode="auto">
          <a:xfrm>
            <a:off x="541338" y="82867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94" name="Rectangle 38"/>
          <p:cNvSpPr>
            <a:spLocks noChangeArrowheads="1"/>
          </p:cNvSpPr>
          <p:nvPr/>
        </p:nvSpPr>
        <p:spPr bwMode="auto">
          <a:xfrm>
            <a:off x="541338" y="828675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095" name="Rectangle 39"/>
          <p:cNvSpPr>
            <a:spLocks noChangeArrowheads="1"/>
          </p:cNvSpPr>
          <p:nvPr/>
        </p:nvSpPr>
        <p:spPr bwMode="auto">
          <a:xfrm>
            <a:off x="5445125" y="828675"/>
            <a:ext cx="455613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096" name="Rectangle 40"/>
          <p:cNvSpPr>
            <a:spLocks noChangeArrowheads="1"/>
          </p:cNvSpPr>
          <p:nvPr/>
        </p:nvSpPr>
        <p:spPr bwMode="auto">
          <a:xfrm>
            <a:off x="5908675" y="828675"/>
            <a:ext cx="455613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097" name="Rectangle 41"/>
          <p:cNvSpPr>
            <a:spLocks noChangeArrowheads="1"/>
          </p:cNvSpPr>
          <p:nvPr/>
        </p:nvSpPr>
        <p:spPr bwMode="auto">
          <a:xfrm>
            <a:off x="6372225" y="828675"/>
            <a:ext cx="455613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098" name="Line 42"/>
          <p:cNvSpPr>
            <a:spLocks noChangeShapeType="1"/>
          </p:cNvSpPr>
          <p:nvPr/>
        </p:nvSpPr>
        <p:spPr bwMode="auto">
          <a:xfrm>
            <a:off x="541338" y="1050925"/>
            <a:ext cx="16351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099" name="Rectangle 43"/>
          <p:cNvSpPr>
            <a:spLocks noChangeArrowheads="1"/>
          </p:cNvSpPr>
          <p:nvPr/>
        </p:nvSpPr>
        <p:spPr bwMode="auto">
          <a:xfrm>
            <a:off x="541338" y="1050925"/>
            <a:ext cx="16351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00" name="Line 44"/>
          <p:cNvSpPr>
            <a:spLocks noChangeShapeType="1"/>
          </p:cNvSpPr>
          <p:nvPr/>
        </p:nvSpPr>
        <p:spPr bwMode="auto">
          <a:xfrm>
            <a:off x="2182813" y="614363"/>
            <a:ext cx="1587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01" name="Rectangle 45"/>
          <p:cNvSpPr>
            <a:spLocks noChangeArrowheads="1"/>
          </p:cNvSpPr>
          <p:nvPr/>
        </p:nvSpPr>
        <p:spPr bwMode="auto">
          <a:xfrm>
            <a:off x="2182813" y="614363"/>
            <a:ext cx="7937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02" name="Line 46"/>
          <p:cNvSpPr>
            <a:spLocks noChangeShapeType="1"/>
          </p:cNvSpPr>
          <p:nvPr/>
        </p:nvSpPr>
        <p:spPr bwMode="auto">
          <a:xfrm>
            <a:off x="3186113" y="614363"/>
            <a:ext cx="1587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03" name="Rectangle 47"/>
          <p:cNvSpPr>
            <a:spLocks noChangeArrowheads="1"/>
          </p:cNvSpPr>
          <p:nvPr/>
        </p:nvSpPr>
        <p:spPr bwMode="auto">
          <a:xfrm>
            <a:off x="3186113" y="614363"/>
            <a:ext cx="9525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04" name="Line 48"/>
          <p:cNvSpPr>
            <a:spLocks noChangeShapeType="1"/>
          </p:cNvSpPr>
          <p:nvPr/>
        </p:nvSpPr>
        <p:spPr bwMode="auto">
          <a:xfrm>
            <a:off x="3505200" y="614363"/>
            <a:ext cx="1588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05" name="Rectangle 49"/>
          <p:cNvSpPr>
            <a:spLocks noChangeArrowheads="1"/>
          </p:cNvSpPr>
          <p:nvPr/>
        </p:nvSpPr>
        <p:spPr bwMode="auto">
          <a:xfrm>
            <a:off x="3505200" y="614363"/>
            <a:ext cx="7938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07" name="Line 51"/>
          <p:cNvSpPr>
            <a:spLocks noChangeShapeType="1"/>
          </p:cNvSpPr>
          <p:nvPr/>
        </p:nvSpPr>
        <p:spPr bwMode="auto">
          <a:xfrm>
            <a:off x="541338" y="1290638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08" name="Rectangle 52"/>
          <p:cNvSpPr>
            <a:spLocks noChangeArrowheads="1"/>
          </p:cNvSpPr>
          <p:nvPr/>
        </p:nvSpPr>
        <p:spPr bwMode="auto">
          <a:xfrm>
            <a:off x="541338" y="1290638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09" name="Line 53"/>
          <p:cNvSpPr>
            <a:spLocks noChangeShapeType="1"/>
          </p:cNvSpPr>
          <p:nvPr/>
        </p:nvSpPr>
        <p:spPr bwMode="auto">
          <a:xfrm>
            <a:off x="541338" y="153035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10" name="Rectangle 54"/>
          <p:cNvSpPr>
            <a:spLocks noChangeArrowheads="1"/>
          </p:cNvSpPr>
          <p:nvPr/>
        </p:nvSpPr>
        <p:spPr bwMode="auto">
          <a:xfrm>
            <a:off x="541338" y="1530350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11" name="Line 55"/>
          <p:cNvSpPr>
            <a:spLocks noChangeShapeType="1"/>
          </p:cNvSpPr>
          <p:nvPr/>
        </p:nvSpPr>
        <p:spPr bwMode="auto">
          <a:xfrm>
            <a:off x="541338" y="176847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12" name="Rectangle 56"/>
          <p:cNvSpPr>
            <a:spLocks noChangeArrowheads="1"/>
          </p:cNvSpPr>
          <p:nvPr/>
        </p:nvSpPr>
        <p:spPr bwMode="auto">
          <a:xfrm>
            <a:off x="541338" y="1768475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13" name="Line 57"/>
          <p:cNvSpPr>
            <a:spLocks noChangeShapeType="1"/>
          </p:cNvSpPr>
          <p:nvPr/>
        </p:nvSpPr>
        <p:spPr bwMode="auto">
          <a:xfrm>
            <a:off x="541338" y="2008188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14" name="Rectangle 58"/>
          <p:cNvSpPr>
            <a:spLocks noChangeArrowheads="1"/>
          </p:cNvSpPr>
          <p:nvPr/>
        </p:nvSpPr>
        <p:spPr bwMode="auto">
          <a:xfrm>
            <a:off x="541338" y="2008188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15" name="Line 59"/>
          <p:cNvSpPr>
            <a:spLocks noChangeShapeType="1"/>
          </p:cNvSpPr>
          <p:nvPr/>
        </p:nvSpPr>
        <p:spPr bwMode="auto">
          <a:xfrm>
            <a:off x="541338" y="224790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16" name="Rectangle 60"/>
          <p:cNvSpPr>
            <a:spLocks noChangeArrowheads="1"/>
          </p:cNvSpPr>
          <p:nvPr/>
        </p:nvSpPr>
        <p:spPr bwMode="auto">
          <a:xfrm>
            <a:off x="541338" y="2247900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17" name="Line 61"/>
          <p:cNvSpPr>
            <a:spLocks noChangeShapeType="1"/>
          </p:cNvSpPr>
          <p:nvPr/>
        </p:nvSpPr>
        <p:spPr bwMode="auto">
          <a:xfrm>
            <a:off x="541338" y="2487613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18" name="Rectangle 62"/>
          <p:cNvSpPr>
            <a:spLocks noChangeArrowheads="1"/>
          </p:cNvSpPr>
          <p:nvPr/>
        </p:nvSpPr>
        <p:spPr bwMode="auto">
          <a:xfrm>
            <a:off x="541338" y="2487613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19" name="Line 63"/>
          <p:cNvSpPr>
            <a:spLocks noChangeShapeType="1"/>
          </p:cNvSpPr>
          <p:nvPr/>
        </p:nvSpPr>
        <p:spPr bwMode="auto">
          <a:xfrm>
            <a:off x="541338" y="272732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20" name="Rectangle 64"/>
          <p:cNvSpPr>
            <a:spLocks noChangeArrowheads="1"/>
          </p:cNvSpPr>
          <p:nvPr/>
        </p:nvSpPr>
        <p:spPr bwMode="auto">
          <a:xfrm>
            <a:off x="541338" y="2727325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21" name="Line 65"/>
          <p:cNvSpPr>
            <a:spLocks noChangeShapeType="1"/>
          </p:cNvSpPr>
          <p:nvPr/>
        </p:nvSpPr>
        <p:spPr bwMode="auto">
          <a:xfrm>
            <a:off x="541338" y="296545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22" name="Rectangle 66"/>
          <p:cNvSpPr>
            <a:spLocks noChangeArrowheads="1"/>
          </p:cNvSpPr>
          <p:nvPr/>
        </p:nvSpPr>
        <p:spPr bwMode="auto">
          <a:xfrm>
            <a:off x="541338" y="2965450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23" name="Line 67"/>
          <p:cNvSpPr>
            <a:spLocks noChangeShapeType="1"/>
          </p:cNvSpPr>
          <p:nvPr/>
        </p:nvSpPr>
        <p:spPr bwMode="auto">
          <a:xfrm>
            <a:off x="541338" y="3205163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24" name="Rectangle 68"/>
          <p:cNvSpPr>
            <a:spLocks noChangeArrowheads="1"/>
          </p:cNvSpPr>
          <p:nvPr/>
        </p:nvSpPr>
        <p:spPr bwMode="auto">
          <a:xfrm>
            <a:off x="541338" y="3205163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25" name="Line 69"/>
          <p:cNvSpPr>
            <a:spLocks noChangeShapeType="1"/>
          </p:cNvSpPr>
          <p:nvPr/>
        </p:nvSpPr>
        <p:spPr bwMode="auto">
          <a:xfrm>
            <a:off x="541338" y="344487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26" name="Rectangle 70"/>
          <p:cNvSpPr>
            <a:spLocks noChangeArrowheads="1"/>
          </p:cNvSpPr>
          <p:nvPr/>
        </p:nvSpPr>
        <p:spPr bwMode="auto">
          <a:xfrm>
            <a:off x="541338" y="3444875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27" name="Line 71"/>
          <p:cNvSpPr>
            <a:spLocks noChangeShapeType="1"/>
          </p:cNvSpPr>
          <p:nvPr/>
        </p:nvSpPr>
        <p:spPr bwMode="auto">
          <a:xfrm>
            <a:off x="541338" y="3684588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28" name="Rectangle 72"/>
          <p:cNvSpPr>
            <a:spLocks noChangeArrowheads="1"/>
          </p:cNvSpPr>
          <p:nvPr/>
        </p:nvSpPr>
        <p:spPr bwMode="auto">
          <a:xfrm>
            <a:off x="541338" y="3684588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29" name="Line 73"/>
          <p:cNvSpPr>
            <a:spLocks noChangeShapeType="1"/>
          </p:cNvSpPr>
          <p:nvPr/>
        </p:nvSpPr>
        <p:spPr bwMode="auto">
          <a:xfrm>
            <a:off x="541338" y="3922713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30" name="Rectangle 74"/>
          <p:cNvSpPr>
            <a:spLocks noChangeArrowheads="1"/>
          </p:cNvSpPr>
          <p:nvPr/>
        </p:nvSpPr>
        <p:spPr bwMode="auto">
          <a:xfrm>
            <a:off x="541338" y="3922713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31" name="Line 75"/>
          <p:cNvSpPr>
            <a:spLocks noChangeShapeType="1"/>
          </p:cNvSpPr>
          <p:nvPr/>
        </p:nvSpPr>
        <p:spPr bwMode="auto">
          <a:xfrm>
            <a:off x="541338" y="416242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32" name="Rectangle 76"/>
          <p:cNvSpPr>
            <a:spLocks noChangeArrowheads="1"/>
          </p:cNvSpPr>
          <p:nvPr/>
        </p:nvSpPr>
        <p:spPr bwMode="auto">
          <a:xfrm>
            <a:off x="541338" y="4162425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33" name="Line 77"/>
          <p:cNvSpPr>
            <a:spLocks noChangeShapeType="1"/>
          </p:cNvSpPr>
          <p:nvPr/>
        </p:nvSpPr>
        <p:spPr bwMode="auto">
          <a:xfrm>
            <a:off x="541338" y="4402138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34" name="Rectangle 78"/>
          <p:cNvSpPr>
            <a:spLocks noChangeArrowheads="1"/>
          </p:cNvSpPr>
          <p:nvPr/>
        </p:nvSpPr>
        <p:spPr bwMode="auto">
          <a:xfrm>
            <a:off x="541338" y="4402138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35" name="Line 79"/>
          <p:cNvSpPr>
            <a:spLocks noChangeShapeType="1"/>
          </p:cNvSpPr>
          <p:nvPr/>
        </p:nvSpPr>
        <p:spPr bwMode="auto">
          <a:xfrm>
            <a:off x="541338" y="464185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36" name="Rectangle 80"/>
          <p:cNvSpPr>
            <a:spLocks noChangeArrowheads="1"/>
          </p:cNvSpPr>
          <p:nvPr/>
        </p:nvSpPr>
        <p:spPr bwMode="auto">
          <a:xfrm>
            <a:off x="541338" y="4641850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37" name="Line 81"/>
          <p:cNvSpPr>
            <a:spLocks noChangeShapeType="1"/>
          </p:cNvSpPr>
          <p:nvPr/>
        </p:nvSpPr>
        <p:spPr bwMode="auto">
          <a:xfrm>
            <a:off x="541338" y="4881563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38" name="Rectangle 82"/>
          <p:cNvSpPr>
            <a:spLocks noChangeArrowheads="1"/>
          </p:cNvSpPr>
          <p:nvPr/>
        </p:nvSpPr>
        <p:spPr bwMode="auto">
          <a:xfrm>
            <a:off x="541338" y="4881563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39" name="Line 83"/>
          <p:cNvSpPr>
            <a:spLocks noChangeShapeType="1"/>
          </p:cNvSpPr>
          <p:nvPr/>
        </p:nvSpPr>
        <p:spPr bwMode="auto">
          <a:xfrm>
            <a:off x="541338" y="5119688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40" name="Rectangle 84"/>
          <p:cNvSpPr>
            <a:spLocks noChangeArrowheads="1"/>
          </p:cNvSpPr>
          <p:nvPr/>
        </p:nvSpPr>
        <p:spPr bwMode="auto">
          <a:xfrm>
            <a:off x="541338" y="5119688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41" name="Line 85"/>
          <p:cNvSpPr>
            <a:spLocks noChangeShapeType="1"/>
          </p:cNvSpPr>
          <p:nvPr/>
        </p:nvSpPr>
        <p:spPr bwMode="auto">
          <a:xfrm>
            <a:off x="541338" y="535940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42" name="Rectangle 86"/>
          <p:cNvSpPr>
            <a:spLocks noChangeArrowheads="1"/>
          </p:cNvSpPr>
          <p:nvPr/>
        </p:nvSpPr>
        <p:spPr bwMode="auto">
          <a:xfrm>
            <a:off x="541338" y="5359400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43" name="Line 87"/>
          <p:cNvSpPr>
            <a:spLocks noChangeShapeType="1"/>
          </p:cNvSpPr>
          <p:nvPr/>
        </p:nvSpPr>
        <p:spPr bwMode="auto">
          <a:xfrm>
            <a:off x="541338" y="5599113"/>
            <a:ext cx="26543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44" name="Rectangle 88"/>
          <p:cNvSpPr>
            <a:spLocks noChangeArrowheads="1"/>
          </p:cNvSpPr>
          <p:nvPr/>
        </p:nvSpPr>
        <p:spPr bwMode="auto">
          <a:xfrm>
            <a:off x="541338" y="5599113"/>
            <a:ext cx="26543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45" name="Line 89"/>
          <p:cNvSpPr>
            <a:spLocks noChangeShapeType="1"/>
          </p:cNvSpPr>
          <p:nvPr/>
        </p:nvSpPr>
        <p:spPr bwMode="auto">
          <a:xfrm>
            <a:off x="541338" y="5838825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46" name="Rectangle 90"/>
          <p:cNvSpPr>
            <a:spLocks noChangeArrowheads="1"/>
          </p:cNvSpPr>
          <p:nvPr/>
        </p:nvSpPr>
        <p:spPr bwMode="auto">
          <a:xfrm>
            <a:off x="541338" y="5838825"/>
            <a:ext cx="26543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47" name="Line 91"/>
          <p:cNvSpPr>
            <a:spLocks noChangeShapeType="1"/>
          </p:cNvSpPr>
          <p:nvPr/>
        </p:nvSpPr>
        <p:spPr bwMode="auto">
          <a:xfrm>
            <a:off x="541338" y="6076950"/>
            <a:ext cx="26543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48" name="Rectangle 92"/>
          <p:cNvSpPr>
            <a:spLocks noChangeArrowheads="1"/>
          </p:cNvSpPr>
          <p:nvPr/>
        </p:nvSpPr>
        <p:spPr bwMode="auto">
          <a:xfrm>
            <a:off x="541338" y="6076950"/>
            <a:ext cx="26543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49" name="Line 93"/>
          <p:cNvSpPr>
            <a:spLocks noChangeShapeType="1"/>
          </p:cNvSpPr>
          <p:nvPr/>
        </p:nvSpPr>
        <p:spPr bwMode="auto">
          <a:xfrm>
            <a:off x="533400" y="606425"/>
            <a:ext cx="1588" cy="548005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50" name="Rectangle 94"/>
          <p:cNvSpPr>
            <a:spLocks noChangeArrowheads="1"/>
          </p:cNvSpPr>
          <p:nvPr/>
        </p:nvSpPr>
        <p:spPr bwMode="auto">
          <a:xfrm>
            <a:off x="533400" y="606425"/>
            <a:ext cx="7938" cy="548005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51" name="Line 95"/>
          <p:cNvSpPr>
            <a:spLocks noChangeShapeType="1"/>
          </p:cNvSpPr>
          <p:nvPr/>
        </p:nvSpPr>
        <p:spPr bwMode="auto">
          <a:xfrm>
            <a:off x="2182813" y="1058863"/>
            <a:ext cx="1587" cy="5267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52" name="Rectangle 96"/>
          <p:cNvSpPr>
            <a:spLocks noChangeArrowheads="1"/>
          </p:cNvSpPr>
          <p:nvPr/>
        </p:nvSpPr>
        <p:spPr bwMode="auto">
          <a:xfrm>
            <a:off x="2182813" y="1058863"/>
            <a:ext cx="7937" cy="526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53" name="Line 97"/>
          <p:cNvSpPr>
            <a:spLocks noChangeShapeType="1"/>
          </p:cNvSpPr>
          <p:nvPr/>
        </p:nvSpPr>
        <p:spPr bwMode="auto">
          <a:xfrm>
            <a:off x="3186113" y="1058863"/>
            <a:ext cx="1587" cy="5386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54" name="Rectangle 98"/>
          <p:cNvSpPr>
            <a:spLocks noChangeArrowheads="1"/>
          </p:cNvSpPr>
          <p:nvPr/>
        </p:nvSpPr>
        <p:spPr bwMode="auto">
          <a:xfrm>
            <a:off x="3186113" y="1058863"/>
            <a:ext cx="9525" cy="53863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55" name="Line 99"/>
          <p:cNvSpPr>
            <a:spLocks noChangeShapeType="1"/>
          </p:cNvSpPr>
          <p:nvPr/>
        </p:nvSpPr>
        <p:spPr bwMode="auto">
          <a:xfrm>
            <a:off x="3505200" y="1058863"/>
            <a:ext cx="1588" cy="53863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56" name="Rectangle 100"/>
          <p:cNvSpPr>
            <a:spLocks noChangeArrowheads="1"/>
          </p:cNvSpPr>
          <p:nvPr/>
        </p:nvSpPr>
        <p:spPr bwMode="auto">
          <a:xfrm>
            <a:off x="3505200" y="1058863"/>
            <a:ext cx="7938" cy="538638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57" name="Line 101"/>
          <p:cNvSpPr>
            <a:spLocks noChangeShapeType="1"/>
          </p:cNvSpPr>
          <p:nvPr/>
        </p:nvSpPr>
        <p:spPr bwMode="auto">
          <a:xfrm>
            <a:off x="5437188" y="614363"/>
            <a:ext cx="1587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58" name="Rectangle 102"/>
          <p:cNvSpPr>
            <a:spLocks noChangeArrowheads="1"/>
          </p:cNvSpPr>
          <p:nvPr/>
        </p:nvSpPr>
        <p:spPr bwMode="auto">
          <a:xfrm>
            <a:off x="5437188" y="614363"/>
            <a:ext cx="7937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59" name="Line 103"/>
          <p:cNvSpPr>
            <a:spLocks noChangeShapeType="1"/>
          </p:cNvSpPr>
          <p:nvPr/>
        </p:nvSpPr>
        <p:spPr bwMode="auto">
          <a:xfrm>
            <a:off x="5900738" y="614363"/>
            <a:ext cx="1587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60" name="Rectangle 104"/>
          <p:cNvSpPr>
            <a:spLocks noChangeArrowheads="1"/>
          </p:cNvSpPr>
          <p:nvPr/>
        </p:nvSpPr>
        <p:spPr bwMode="auto">
          <a:xfrm>
            <a:off x="5900738" y="614363"/>
            <a:ext cx="7937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61" name="Line 105"/>
          <p:cNvSpPr>
            <a:spLocks noChangeShapeType="1"/>
          </p:cNvSpPr>
          <p:nvPr/>
        </p:nvSpPr>
        <p:spPr bwMode="auto">
          <a:xfrm>
            <a:off x="6364288" y="614363"/>
            <a:ext cx="1587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62" name="Rectangle 106"/>
          <p:cNvSpPr>
            <a:spLocks noChangeArrowheads="1"/>
          </p:cNvSpPr>
          <p:nvPr/>
        </p:nvSpPr>
        <p:spPr bwMode="auto">
          <a:xfrm>
            <a:off x="6364288" y="614363"/>
            <a:ext cx="7937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63" name="Line 107"/>
          <p:cNvSpPr>
            <a:spLocks noChangeShapeType="1"/>
          </p:cNvSpPr>
          <p:nvPr/>
        </p:nvSpPr>
        <p:spPr bwMode="auto">
          <a:xfrm>
            <a:off x="7600950" y="614363"/>
            <a:ext cx="1588" cy="4286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64" name="Rectangle 108"/>
          <p:cNvSpPr>
            <a:spLocks noChangeArrowheads="1"/>
          </p:cNvSpPr>
          <p:nvPr/>
        </p:nvSpPr>
        <p:spPr bwMode="auto">
          <a:xfrm>
            <a:off x="7600950" y="614363"/>
            <a:ext cx="7938" cy="4286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65" name="Line 109"/>
          <p:cNvSpPr>
            <a:spLocks noChangeShapeType="1"/>
          </p:cNvSpPr>
          <p:nvPr/>
        </p:nvSpPr>
        <p:spPr bwMode="auto">
          <a:xfrm>
            <a:off x="8374063" y="606425"/>
            <a:ext cx="1587" cy="54800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68" name="Rectangle 112"/>
          <p:cNvSpPr>
            <a:spLocks noChangeArrowheads="1"/>
          </p:cNvSpPr>
          <p:nvPr/>
        </p:nvSpPr>
        <p:spPr bwMode="auto">
          <a:xfrm>
            <a:off x="6827838" y="828675"/>
            <a:ext cx="7937" cy="214313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69" name="Line 113"/>
          <p:cNvSpPr>
            <a:spLocks noChangeShapeType="1"/>
          </p:cNvSpPr>
          <p:nvPr/>
        </p:nvSpPr>
        <p:spPr bwMode="auto">
          <a:xfrm>
            <a:off x="704850" y="1058863"/>
            <a:ext cx="1588" cy="5267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70" name="Rectangle 114"/>
          <p:cNvSpPr>
            <a:spLocks noChangeArrowheads="1"/>
          </p:cNvSpPr>
          <p:nvPr/>
        </p:nvSpPr>
        <p:spPr bwMode="auto">
          <a:xfrm>
            <a:off x="704850" y="1058863"/>
            <a:ext cx="9525" cy="526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71" name="Line 115"/>
          <p:cNvSpPr>
            <a:spLocks noChangeShapeType="1"/>
          </p:cNvSpPr>
          <p:nvPr/>
        </p:nvSpPr>
        <p:spPr bwMode="auto">
          <a:xfrm>
            <a:off x="2551113" y="1058863"/>
            <a:ext cx="1587" cy="5267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72" name="Rectangle 116"/>
          <p:cNvSpPr>
            <a:spLocks noChangeArrowheads="1"/>
          </p:cNvSpPr>
          <p:nvPr/>
        </p:nvSpPr>
        <p:spPr bwMode="auto">
          <a:xfrm>
            <a:off x="2551113" y="1058863"/>
            <a:ext cx="9525" cy="526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73" name="Line 117"/>
          <p:cNvSpPr>
            <a:spLocks noChangeShapeType="1"/>
          </p:cNvSpPr>
          <p:nvPr/>
        </p:nvSpPr>
        <p:spPr bwMode="auto">
          <a:xfrm>
            <a:off x="2868613" y="1058863"/>
            <a:ext cx="1587" cy="526732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74" name="Rectangle 118"/>
          <p:cNvSpPr>
            <a:spLocks noChangeArrowheads="1"/>
          </p:cNvSpPr>
          <p:nvPr/>
        </p:nvSpPr>
        <p:spPr bwMode="auto">
          <a:xfrm>
            <a:off x="2868613" y="1058863"/>
            <a:ext cx="9525" cy="52673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75" name="Line 119"/>
          <p:cNvSpPr>
            <a:spLocks noChangeShapeType="1"/>
          </p:cNvSpPr>
          <p:nvPr/>
        </p:nvSpPr>
        <p:spPr bwMode="auto">
          <a:xfrm>
            <a:off x="365918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76" name="Rectangle 120"/>
          <p:cNvSpPr>
            <a:spLocks noChangeArrowheads="1"/>
          </p:cNvSpPr>
          <p:nvPr/>
        </p:nvSpPr>
        <p:spPr bwMode="auto">
          <a:xfrm>
            <a:off x="3659188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77" name="Line 121"/>
          <p:cNvSpPr>
            <a:spLocks noChangeShapeType="1"/>
          </p:cNvSpPr>
          <p:nvPr/>
        </p:nvSpPr>
        <p:spPr bwMode="auto">
          <a:xfrm>
            <a:off x="3813175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78" name="Rectangle 122"/>
          <p:cNvSpPr>
            <a:spLocks noChangeArrowheads="1"/>
          </p:cNvSpPr>
          <p:nvPr/>
        </p:nvSpPr>
        <p:spPr bwMode="auto">
          <a:xfrm>
            <a:off x="3813175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79" name="Line 123"/>
          <p:cNvSpPr>
            <a:spLocks noChangeShapeType="1"/>
          </p:cNvSpPr>
          <p:nvPr/>
        </p:nvSpPr>
        <p:spPr bwMode="auto">
          <a:xfrm>
            <a:off x="396875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80" name="Rectangle 124"/>
          <p:cNvSpPr>
            <a:spLocks noChangeArrowheads="1"/>
          </p:cNvSpPr>
          <p:nvPr/>
        </p:nvSpPr>
        <p:spPr bwMode="auto">
          <a:xfrm>
            <a:off x="3968750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81" name="Line 125"/>
          <p:cNvSpPr>
            <a:spLocks noChangeShapeType="1"/>
          </p:cNvSpPr>
          <p:nvPr/>
        </p:nvSpPr>
        <p:spPr bwMode="auto">
          <a:xfrm>
            <a:off x="412273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82" name="Rectangle 126"/>
          <p:cNvSpPr>
            <a:spLocks noChangeArrowheads="1"/>
          </p:cNvSpPr>
          <p:nvPr/>
        </p:nvSpPr>
        <p:spPr bwMode="auto">
          <a:xfrm>
            <a:off x="4122738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83" name="Line 127"/>
          <p:cNvSpPr>
            <a:spLocks noChangeShapeType="1"/>
          </p:cNvSpPr>
          <p:nvPr/>
        </p:nvSpPr>
        <p:spPr bwMode="auto">
          <a:xfrm>
            <a:off x="443230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84" name="Rectangle 128"/>
          <p:cNvSpPr>
            <a:spLocks noChangeArrowheads="1"/>
          </p:cNvSpPr>
          <p:nvPr/>
        </p:nvSpPr>
        <p:spPr bwMode="auto">
          <a:xfrm>
            <a:off x="4432300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85" name="Line 129"/>
          <p:cNvSpPr>
            <a:spLocks noChangeShapeType="1"/>
          </p:cNvSpPr>
          <p:nvPr/>
        </p:nvSpPr>
        <p:spPr bwMode="auto">
          <a:xfrm>
            <a:off x="458628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86" name="Rectangle 130"/>
          <p:cNvSpPr>
            <a:spLocks noChangeArrowheads="1"/>
          </p:cNvSpPr>
          <p:nvPr/>
        </p:nvSpPr>
        <p:spPr bwMode="auto">
          <a:xfrm>
            <a:off x="4586288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87" name="Line 131"/>
          <p:cNvSpPr>
            <a:spLocks noChangeShapeType="1"/>
          </p:cNvSpPr>
          <p:nvPr/>
        </p:nvSpPr>
        <p:spPr bwMode="auto">
          <a:xfrm>
            <a:off x="4740275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88" name="Rectangle 132"/>
          <p:cNvSpPr>
            <a:spLocks noChangeArrowheads="1"/>
          </p:cNvSpPr>
          <p:nvPr/>
        </p:nvSpPr>
        <p:spPr bwMode="auto">
          <a:xfrm>
            <a:off x="4740275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89" name="Line 133"/>
          <p:cNvSpPr>
            <a:spLocks noChangeShapeType="1"/>
          </p:cNvSpPr>
          <p:nvPr/>
        </p:nvSpPr>
        <p:spPr bwMode="auto">
          <a:xfrm>
            <a:off x="489585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90" name="Rectangle 134"/>
          <p:cNvSpPr>
            <a:spLocks noChangeArrowheads="1"/>
          </p:cNvSpPr>
          <p:nvPr/>
        </p:nvSpPr>
        <p:spPr bwMode="auto">
          <a:xfrm>
            <a:off x="4895850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91" name="Line 135"/>
          <p:cNvSpPr>
            <a:spLocks noChangeShapeType="1"/>
          </p:cNvSpPr>
          <p:nvPr/>
        </p:nvSpPr>
        <p:spPr bwMode="auto">
          <a:xfrm>
            <a:off x="520541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92" name="Rectangle 136"/>
          <p:cNvSpPr>
            <a:spLocks noChangeArrowheads="1"/>
          </p:cNvSpPr>
          <p:nvPr/>
        </p:nvSpPr>
        <p:spPr bwMode="auto">
          <a:xfrm>
            <a:off x="5205413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93" name="Line 137"/>
          <p:cNvSpPr>
            <a:spLocks noChangeShapeType="1"/>
          </p:cNvSpPr>
          <p:nvPr/>
        </p:nvSpPr>
        <p:spPr bwMode="auto">
          <a:xfrm>
            <a:off x="535940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94" name="Rectangle 138"/>
          <p:cNvSpPr>
            <a:spLocks noChangeArrowheads="1"/>
          </p:cNvSpPr>
          <p:nvPr/>
        </p:nvSpPr>
        <p:spPr bwMode="auto">
          <a:xfrm>
            <a:off x="5359400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95" name="Line 139"/>
          <p:cNvSpPr>
            <a:spLocks noChangeShapeType="1"/>
          </p:cNvSpPr>
          <p:nvPr/>
        </p:nvSpPr>
        <p:spPr bwMode="auto">
          <a:xfrm>
            <a:off x="551338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96" name="Rectangle 140"/>
          <p:cNvSpPr>
            <a:spLocks noChangeArrowheads="1"/>
          </p:cNvSpPr>
          <p:nvPr/>
        </p:nvSpPr>
        <p:spPr bwMode="auto">
          <a:xfrm>
            <a:off x="5513388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97" name="Line 141"/>
          <p:cNvSpPr>
            <a:spLocks noChangeShapeType="1"/>
          </p:cNvSpPr>
          <p:nvPr/>
        </p:nvSpPr>
        <p:spPr bwMode="auto">
          <a:xfrm>
            <a:off x="566896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198" name="Rectangle 142"/>
          <p:cNvSpPr>
            <a:spLocks noChangeArrowheads="1"/>
          </p:cNvSpPr>
          <p:nvPr/>
        </p:nvSpPr>
        <p:spPr bwMode="auto">
          <a:xfrm>
            <a:off x="5668963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199" name="Line 143"/>
          <p:cNvSpPr>
            <a:spLocks noChangeShapeType="1"/>
          </p:cNvSpPr>
          <p:nvPr/>
        </p:nvSpPr>
        <p:spPr bwMode="auto">
          <a:xfrm>
            <a:off x="597693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00" name="Rectangle 144"/>
          <p:cNvSpPr>
            <a:spLocks noChangeArrowheads="1"/>
          </p:cNvSpPr>
          <p:nvPr/>
        </p:nvSpPr>
        <p:spPr bwMode="auto">
          <a:xfrm>
            <a:off x="5976938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1" name="Line 145"/>
          <p:cNvSpPr>
            <a:spLocks noChangeShapeType="1"/>
          </p:cNvSpPr>
          <p:nvPr/>
        </p:nvSpPr>
        <p:spPr bwMode="auto">
          <a:xfrm>
            <a:off x="613251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02" name="Rectangle 146"/>
          <p:cNvSpPr>
            <a:spLocks noChangeArrowheads="1"/>
          </p:cNvSpPr>
          <p:nvPr/>
        </p:nvSpPr>
        <p:spPr bwMode="auto">
          <a:xfrm>
            <a:off x="6132513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3" name="Line 147"/>
          <p:cNvSpPr>
            <a:spLocks noChangeShapeType="1"/>
          </p:cNvSpPr>
          <p:nvPr/>
        </p:nvSpPr>
        <p:spPr bwMode="auto">
          <a:xfrm>
            <a:off x="628650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04" name="Rectangle 148"/>
          <p:cNvSpPr>
            <a:spLocks noChangeArrowheads="1"/>
          </p:cNvSpPr>
          <p:nvPr/>
        </p:nvSpPr>
        <p:spPr bwMode="auto">
          <a:xfrm>
            <a:off x="6286500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6" name="Rectangle 150"/>
          <p:cNvSpPr>
            <a:spLocks noChangeArrowheads="1"/>
          </p:cNvSpPr>
          <p:nvPr/>
        </p:nvSpPr>
        <p:spPr bwMode="auto">
          <a:xfrm>
            <a:off x="6440488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7" name="Line 151"/>
          <p:cNvSpPr>
            <a:spLocks noChangeShapeType="1"/>
          </p:cNvSpPr>
          <p:nvPr/>
        </p:nvSpPr>
        <p:spPr bwMode="auto">
          <a:xfrm>
            <a:off x="675005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08" name="Rectangle 152"/>
          <p:cNvSpPr>
            <a:spLocks noChangeArrowheads="1"/>
          </p:cNvSpPr>
          <p:nvPr/>
        </p:nvSpPr>
        <p:spPr bwMode="auto">
          <a:xfrm>
            <a:off x="6750050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9" name="Line 153"/>
          <p:cNvSpPr>
            <a:spLocks noChangeShapeType="1"/>
          </p:cNvSpPr>
          <p:nvPr/>
        </p:nvSpPr>
        <p:spPr bwMode="auto">
          <a:xfrm>
            <a:off x="6905625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10" name="Rectangle 154"/>
          <p:cNvSpPr>
            <a:spLocks noChangeArrowheads="1"/>
          </p:cNvSpPr>
          <p:nvPr/>
        </p:nvSpPr>
        <p:spPr bwMode="auto">
          <a:xfrm>
            <a:off x="6905625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11" name="Line 155"/>
          <p:cNvSpPr>
            <a:spLocks noChangeShapeType="1"/>
          </p:cNvSpPr>
          <p:nvPr/>
        </p:nvSpPr>
        <p:spPr bwMode="auto">
          <a:xfrm>
            <a:off x="705961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12" name="Rectangle 156"/>
          <p:cNvSpPr>
            <a:spLocks noChangeArrowheads="1"/>
          </p:cNvSpPr>
          <p:nvPr/>
        </p:nvSpPr>
        <p:spPr bwMode="auto">
          <a:xfrm>
            <a:off x="7059613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13" name="Line 157"/>
          <p:cNvSpPr>
            <a:spLocks noChangeShapeType="1"/>
          </p:cNvSpPr>
          <p:nvPr/>
        </p:nvSpPr>
        <p:spPr bwMode="auto">
          <a:xfrm>
            <a:off x="721360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14" name="Rectangle 158"/>
          <p:cNvSpPr>
            <a:spLocks noChangeArrowheads="1"/>
          </p:cNvSpPr>
          <p:nvPr/>
        </p:nvSpPr>
        <p:spPr bwMode="auto">
          <a:xfrm>
            <a:off x="7213600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15" name="Line 159"/>
          <p:cNvSpPr>
            <a:spLocks noChangeShapeType="1"/>
          </p:cNvSpPr>
          <p:nvPr/>
        </p:nvSpPr>
        <p:spPr bwMode="auto">
          <a:xfrm>
            <a:off x="752316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16" name="Rectangle 160"/>
          <p:cNvSpPr>
            <a:spLocks noChangeArrowheads="1"/>
          </p:cNvSpPr>
          <p:nvPr/>
        </p:nvSpPr>
        <p:spPr bwMode="auto">
          <a:xfrm>
            <a:off x="7523163" y="1298575"/>
            <a:ext cx="7937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17" name="Line 161"/>
          <p:cNvSpPr>
            <a:spLocks noChangeShapeType="1"/>
          </p:cNvSpPr>
          <p:nvPr/>
        </p:nvSpPr>
        <p:spPr bwMode="auto">
          <a:xfrm>
            <a:off x="7677150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18" name="Rectangle 162"/>
          <p:cNvSpPr>
            <a:spLocks noChangeArrowheads="1"/>
          </p:cNvSpPr>
          <p:nvPr/>
        </p:nvSpPr>
        <p:spPr bwMode="auto">
          <a:xfrm>
            <a:off x="7677150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19" name="Line 163"/>
          <p:cNvSpPr>
            <a:spLocks noChangeShapeType="1"/>
          </p:cNvSpPr>
          <p:nvPr/>
        </p:nvSpPr>
        <p:spPr bwMode="auto">
          <a:xfrm>
            <a:off x="7832725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20" name="Rectangle 164"/>
          <p:cNvSpPr>
            <a:spLocks noChangeArrowheads="1"/>
          </p:cNvSpPr>
          <p:nvPr/>
        </p:nvSpPr>
        <p:spPr bwMode="auto">
          <a:xfrm>
            <a:off x="7832725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21" name="Line 165"/>
          <p:cNvSpPr>
            <a:spLocks noChangeShapeType="1"/>
          </p:cNvSpPr>
          <p:nvPr/>
        </p:nvSpPr>
        <p:spPr bwMode="auto">
          <a:xfrm>
            <a:off x="7986713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22" name="Rectangle 166"/>
          <p:cNvSpPr>
            <a:spLocks noChangeArrowheads="1"/>
          </p:cNvSpPr>
          <p:nvPr/>
        </p:nvSpPr>
        <p:spPr bwMode="auto">
          <a:xfrm>
            <a:off x="7986713" y="1298575"/>
            <a:ext cx="9525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23" name="Line 167"/>
          <p:cNvSpPr>
            <a:spLocks noChangeShapeType="1"/>
          </p:cNvSpPr>
          <p:nvPr/>
        </p:nvSpPr>
        <p:spPr bwMode="auto">
          <a:xfrm>
            <a:off x="8296275" y="1298575"/>
            <a:ext cx="1588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24" name="Rectangle 168"/>
          <p:cNvSpPr>
            <a:spLocks noChangeArrowheads="1"/>
          </p:cNvSpPr>
          <p:nvPr/>
        </p:nvSpPr>
        <p:spPr bwMode="auto">
          <a:xfrm>
            <a:off x="8296275" y="1298575"/>
            <a:ext cx="7938" cy="4787900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25" name="Line 169"/>
          <p:cNvSpPr>
            <a:spLocks noChangeShapeType="1"/>
          </p:cNvSpPr>
          <p:nvPr/>
        </p:nvSpPr>
        <p:spPr bwMode="auto">
          <a:xfrm>
            <a:off x="5049838" y="6086475"/>
            <a:ext cx="1587" cy="358775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26" name="Rectangle 170"/>
          <p:cNvSpPr>
            <a:spLocks noChangeArrowheads="1"/>
          </p:cNvSpPr>
          <p:nvPr/>
        </p:nvSpPr>
        <p:spPr bwMode="auto">
          <a:xfrm>
            <a:off x="5049838" y="6086475"/>
            <a:ext cx="9525" cy="3587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28" name="Line 172"/>
          <p:cNvSpPr>
            <a:spLocks noChangeShapeType="1"/>
          </p:cNvSpPr>
          <p:nvPr/>
        </p:nvSpPr>
        <p:spPr bwMode="auto">
          <a:xfrm>
            <a:off x="6835775" y="828675"/>
            <a:ext cx="1528763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29" name="Rectangle 173"/>
          <p:cNvSpPr>
            <a:spLocks noChangeArrowheads="1"/>
          </p:cNvSpPr>
          <p:nvPr/>
        </p:nvSpPr>
        <p:spPr bwMode="auto">
          <a:xfrm>
            <a:off x="6835775" y="828675"/>
            <a:ext cx="1528763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0" name="Rectangle 174"/>
          <p:cNvSpPr>
            <a:spLocks noChangeArrowheads="1"/>
          </p:cNvSpPr>
          <p:nvPr/>
        </p:nvSpPr>
        <p:spPr bwMode="auto">
          <a:xfrm>
            <a:off x="704850" y="1042988"/>
            <a:ext cx="7677150" cy="1587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1" name="Line 175"/>
          <p:cNvSpPr>
            <a:spLocks noChangeShapeType="1"/>
          </p:cNvSpPr>
          <p:nvPr/>
        </p:nvSpPr>
        <p:spPr bwMode="auto">
          <a:xfrm>
            <a:off x="3195638" y="116998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32" name="Rectangle 176"/>
          <p:cNvSpPr>
            <a:spLocks noChangeArrowheads="1"/>
          </p:cNvSpPr>
          <p:nvPr/>
        </p:nvSpPr>
        <p:spPr bwMode="auto">
          <a:xfrm>
            <a:off x="3195638" y="1169988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3" name="Line 177"/>
          <p:cNvSpPr>
            <a:spLocks noChangeShapeType="1"/>
          </p:cNvSpPr>
          <p:nvPr/>
        </p:nvSpPr>
        <p:spPr bwMode="auto">
          <a:xfrm>
            <a:off x="3513138" y="1290638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34" name="Rectangle 178"/>
          <p:cNvSpPr>
            <a:spLocks noChangeArrowheads="1"/>
          </p:cNvSpPr>
          <p:nvPr/>
        </p:nvSpPr>
        <p:spPr bwMode="auto">
          <a:xfrm>
            <a:off x="3513138" y="1290638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5" name="Line 179"/>
          <p:cNvSpPr>
            <a:spLocks noChangeShapeType="1"/>
          </p:cNvSpPr>
          <p:nvPr/>
        </p:nvSpPr>
        <p:spPr bwMode="auto">
          <a:xfrm>
            <a:off x="3195638" y="1409700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36" name="Rectangle 180"/>
          <p:cNvSpPr>
            <a:spLocks noChangeArrowheads="1"/>
          </p:cNvSpPr>
          <p:nvPr/>
        </p:nvSpPr>
        <p:spPr bwMode="auto">
          <a:xfrm>
            <a:off x="3195638" y="1409700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7" name="Line 181"/>
          <p:cNvSpPr>
            <a:spLocks noChangeShapeType="1"/>
          </p:cNvSpPr>
          <p:nvPr/>
        </p:nvSpPr>
        <p:spPr bwMode="auto">
          <a:xfrm>
            <a:off x="3513138" y="153035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38" name="Rectangle 182"/>
          <p:cNvSpPr>
            <a:spLocks noChangeArrowheads="1"/>
          </p:cNvSpPr>
          <p:nvPr/>
        </p:nvSpPr>
        <p:spPr bwMode="auto">
          <a:xfrm>
            <a:off x="3513138" y="1530350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39" name="Line 183"/>
          <p:cNvSpPr>
            <a:spLocks noChangeShapeType="1"/>
          </p:cNvSpPr>
          <p:nvPr/>
        </p:nvSpPr>
        <p:spPr bwMode="auto">
          <a:xfrm>
            <a:off x="3195638" y="1649413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40" name="Rectangle 184"/>
          <p:cNvSpPr>
            <a:spLocks noChangeArrowheads="1"/>
          </p:cNvSpPr>
          <p:nvPr/>
        </p:nvSpPr>
        <p:spPr bwMode="auto">
          <a:xfrm>
            <a:off x="3195638" y="1649413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41" name="Line 185"/>
          <p:cNvSpPr>
            <a:spLocks noChangeShapeType="1"/>
          </p:cNvSpPr>
          <p:nvPr/>
        </p:nvSpPr>
        <p:spPr bwMode="auto">
          <a:xfrm>
            <a:off x="3513138" y="1768475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42" name="Rectangle 186"/>
          <p:cNvSpPr>
            <a:spLocks noChangeArrowheads="1"/>
          </p:cNvSpPr>
          <p:nvPr/>
        </p:nvSpPr>
        <p:spPr bwMode="auto">
          <a:xfrm>
            <a:off x="3513138" y="1768475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43" name="Line 187"/>
          <p:cNvSpPr>
            <a:spLocks noChangeShapeType="1"/>
          </p:cNvSpPr>
          <p:nvPr/>
        </p:nvSpPr>
        <p:spPr bwMode="auto">
          <a:xfrm>
            <a:off x="3195638" y="188912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44" name="Rectangle 188"/>
          <p:cNvSpPr>
            <a:spLocks noChangeArrowheads="1"/>
          </p:cNvSpPr>
          <p:nvPr/>
        </p:nvSpPr>
        <p:spPr bwMode="auto">
          <a:xfrm>
            <a:off x="3195638" y="1889125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45" name="Line 189"/>
          <p:cNvSpPr>
            <a:spLocks noChangeShapeType="1"/>
          </p:cNvSpPr>
          <p:nvPr/>
        </p:nvSpPr>
        <p:spPr bwMode="auto">
          <a:xfrm>
            <a:off x="3513138" y="2008188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46" name="Rectangle 190"/>
          <p:cNvSpPr>
            <a:spLocks noChangeArrowheads="1"/>
          </p:cNvSpPr>
          <p:nvPr/>
        </p:nvSpPr>
        <p:spPr bwMode="auto">
          <a:xfrm>
            <a:off x="3513138" y="2008188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47" name="Line 191"/>
          <p:cNvSpPr>
            <a:spLocks noChangeShapeType="1"/>
          </p:cNvSpPr>
          <p:nvPr/>
        </p:nvSpPr>
        <p:spPr bwMode="auto">
          <a:xfrm>
            <a:off x="3195638" y="212883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48" name="Rectangle 192"/>
          <p:cNvSpPr>
            <a:spLocks noChangeArrowheads="1"/>
          </p:cNvSpPr>
          <p:nvPr/>
        </p:nvSpPr>
        <p:spPr bwMode="auto">
          <a:xfrm>
            <a:off x="3195638" y="2128838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49" name="Line 193"/>
          <p:cNvSpPr>
            <a:spLocks noChangeShapeType="1"/>
          </p:cNvSpPr>
          <p:nvPr/>
        </p:nvSpPr>
        <p:spPr bwMode="auto">
          <a:xfrm>
            <a:off x="3513138" y="224790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50" name="Rectangle 194"/>
          <p:cNvSpPr>
            <a:spLocks noChangeArrowheads="1"/>
          </p:cNvSpPr>
          <p:nvPr/>
        </p:nvSpPr>
        <p:spPr bwMode="auto">
          <a:xfrm>
            <a:off x="3513138" y="2247900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51" name="Line 195"/>
          <p:cNvSpPr>
            <a:spLocks noChangeShapeType="1"/>
          </p:cNvSpPr>
          <p:nvPr/>
        </p:nvSpPr>
        <p:spPr bwMode="auto">
          <a:xfrm>
            <a:off x="3195638" y="2366963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52" name="Rectangle 196"/>
          <p:cNvSpPr>
            <a:spLocks noChangeArrowheads="1"/>
          </p:cNvSpPr>
          <p:nvPr/>
        </p:nvSpPr>
        <p:spPr bwMode="auto">
          <a:xfrm>
            <a:off x="3195638" y="2366963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53" name="Line 197"/>
          <p:cNvSpPr>
            <a:spLocks noChangeShapeType="1"/>
          </p:cNvSpPr>
          <p:nvPr/>
        </p:nvSpPr>
        <p:spPr bwMode="auto">
          <a:xfrm>
            <a:off x="3513138" y="2487613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54" name="Rectangle 198"/>
          <p:cNvSpPr>
            <a:spLocks noChangeArrowheads="1"/>
          </p:cNvSpPr>
          <p:nvPr/>
        </p:nvSpPr>
        <p:spPr bwMode="auto">
          <a:xfrm>
            <a:off x="3513138" y="2487613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55" name="Line 199"/>
          <p:cNvSpPr>
            <a:spLocks noChangeShapeType="1"/>
          </p:cNvSpPr>
          <p:nvPr/>
        </p:nvSpPr>
        <p:spPr bwMode="auto">
          <a:xfrm>
            <a:off x="3195638" y="260667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56" name="Rectangle 200"/>
          <p:cNvSpPr>
            <a:spLocks noChangeArrowheads="1"/>
          </p:cNvSpPr>
          <p:nvPr/>
        </p:nvSpPr>
        <p:spPr bwMode="auto">
          <a:xfrm>
            <a:off x="3195638" y="2606675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57" name="Line 201"/>
          <p:cNvSpPr>
            <a:spLocks noChangeShapeType="1"/>
          </p:cNvSpPr>
          <p:nvPr/>
        </p:nvSpPr>
        <p:spPr bwMode="auto">
          <a:xfrm>
            <a:off x="3513138" y="2727325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58" name="Rectangle 202"/>
          <p:cNvSpPr>
            <a:spLocks noChangeArrowheads="1"/>
          </p:cNvSpPr>
          <p:nvPr/>
        </p:nvSpPr>
        <p:spPr bwMode="auto">
          <a:xfrm>
            <a:off x="3513138" y="2727325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59" name="Line 203"/>
          <p:cNvSpPr>
            <a:spLocks noChangeShapeType="1"/>
          </p:cNvSpPr>
          <p:nvPr/>
        </p:nvSpPr>
        <p:spPr bwMode="auto">
          <a:xfrm>
            <a:off x="3195638" y="284638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60" name="Rectangle 204"/>
          <p:cNvSpPr>
            <a:spLocks noChangeArrowheads="1"/>
          </p:cNvSpPr>
          <p:nvPr/>
        </p:nvSpPr>
        <p:spPr bwMode="auto">
          <a:xfrm>
            <a:off x="3195638" y="2846388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61" name="Line 205"/>
          <p:cNvSpPr>
            <a:spLocks noChangeShapeType="1"/>
          </p:cNvSpPr>
          <p:nvPr/>
        </p:nvSpPr>
        <p:spPr bwMode="auto">
          <a:xfrm>
            <a:off x="3513138" y="296545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62" name="Rectangle 206"/>
          <p:cNvSpPr>
            <a:spLocks noChangeArrowheads="1"/>
          </p:cNvSpPr>
          <p:nvPr/>
        </p:nvSpPr>
        <p:spPr bwMode="auto">
          <a:xfrm>
            <a:off x="3513138" y="2965450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63" name="Line 207"/>
          <p:cNvSpPr>
            <a:spLocks noChangeShapeType="1"/>
          </p:cNvSpPr>
          <p:nvPr/>
        </p:nvSpPr>
        <p:spPr bwMode="auto">
          <a:xfrm>
            <a:off x="3195638" y="3086100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64" name="Rectangle 208"/>
          <p:cNvSpPr>
            <a:spLocks noChangeArrowheads="1"/>
          </p:cNvSpPr>
          <p:nvPr/>
        </p:nvSpPr>
        <p:spPr bwMode="auto">
          <a:xfrm>
            <a:off x="3195638" y="3086100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65" name="Line 209"/>
          <p:cNvSpPr>
            <a:spLocks noChangeShapeType="1"/>
          </p:cNvSpPr>
          <p:nvPr/>
        </p:nvSpPr>
        <p:spPr bwMode="auto">
          <a:xfrm>
            <a:off x="3513138" y="3205163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66" name="Rectangle 210"/>
          <p:cNvSpPr>
            <a:spLocks noChangeArrowheads="1"/>
          </p:cNvSpPr>
          <p:nvPr/>
        </p:nvSpPr>
        <p:spPr bwMode="auto">
          <a:xfrm>
            <a:off x="3513138" y="3205163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67" name="Line 211"/>
          <p:cNvSpPr>
            <a:spLocks noChangeShapeType="1"/>
          </p:cNvSpPr>
          <p:nvPr/>
        </p:nvSpPr>
        <p:spPr bwMode="auto">
          <a:xfrm>
            <a:off x="3195638" y="332422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68" name="Rectangle 212"/>
          <p:cNvSpPr>
            <a:spLocks noChangeArrowheads="1"/>
          </p:cNvSpPr>
          <p:nvPr/>
        </p:nvSpPr>
        <p:spPr bwMode="auto">
          <a:xfrm>
            <a:off x="3195638" y="3324225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69" name="Line 213"/>
          <p:cNvSpPr>
            <a:spLocks noChangeShapeType="1"/>
          </p:cNvSpPr>
          <p:nvPr/>
        </p:nvSpPr>
        <p:spPr bwMode="auto">
          <a:xfrm>
            <a:off x="3513138" y="3444875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70" name="Rectangle 214"/>
          <p:cNvSpPr>
            <a:spLocks noChangeArrowheads="1"/>
          </p:cNvSpPr>
          <p:nvPr/>
        </p:nvSpPr>
        <p:spPr bwMode="auto">
          <a:xfrm>
            <a:off x="3513138" y="3444875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71" name="Line 215"/>
          <p:cNvSpPr>
            <a:spLocks noChangeShapeType="1"/>
          </p:cNvSpPr>
          <p:nvPr/>
        </p:nvSpPr>
        <p:spPr bwMode="auto">
          <a:xfrm>
            <a:off x="3195638" y="356393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72" name="Rectangle 216"/>
          <p:cNvSpPr>
            <a:spLocks noChangeArrowheads="1"/>
          </p:cNvSpPr>
          <p:nvPr/>
        </p:nvSpPr>
        <p:spPr bwMode="auto">
          <a:xfrm>
            <a:off x="3195638" y="3563938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73" name="Line 217"/>
          <p:cNvSpPr>
            <a:spLocks noChangeShapeType="1"/>
          </p:cNvSpPr>
          <p:nvPr/>
        </p:nvSpPr>
        <p:spPr bwMode="auto">
          <a:xfrm>
            <a:off x="3513138" y="3684588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74" name="Rectangle 218"/>
          <p:cNvSpPr>
            <a:spLocks noChangeArrowheads="1"/>
          </p:cNvSpPr>
          <p:nvPr/>
        </p:nvSpPr>
        <p:spPr bwMode="auto">
          <a:xfrm>
            <a:off x="3513138" y="3684588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75" name="Line 219"/>
          <p:cNvSpPr>
            <a:spLocks noChangeShapeType="1"/>
          </p:cNvSpPr>
          <p:nvPr/>
        </p:nvSpPr>
        <p:spPr bwMode="auto">
          <a:xfrm>
            <a:off x="3195638" y="3803650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76" name="Rectangle 220"/>
          <p:cNvSpPr>
            <a:spLocks noChangeArrowheads="1"/>
          </p:cNvSpPr>
          <p:nvPr/>
        </p:nvSpPr>
        <p:spPr bwMode="auto">
          <a:xfrm>
            <a:off x="3195638" y="3803650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77" name="Line 221"/>
          <p:cNvSpPr>
            <a:spLocks noChangeShapeType="1"/>
          </p:cNvSpPr>
          <p:nvPr/>
        </p:nvSpPr>
        <p:spPr bwMode="auto">
          <a:xfrm>
            <a:off x="3513138" y="3922713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78" name="Rectangle 222"/>
          <p:cNvSpPr>
            <a:spLocks noChangeArrowheads="1"/>
          </p:cNvSpPr>
          <p:nvPr/>
        </p:nvSpPr>
        <p:spPr bwMode="auto">
          <a:xfrm>
            <a:off x="3513138" y="3922713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79" name="Line 223"/>
          <p:cNvSpPr>
            <a:spLocks noChangeShapeType="1"/>
          </p:cNvSpPr>
          <p:nvPr/>
        </p:nvSpPr>
        <p:spPr bwMode="auto">
          <a:xfrm>
            <a:off x="3195638" y="4043363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80" name="Rectangle 224"/>
          <p:cNvSpPr>
            <a:spLocks noChangeArrowheads="1"/>
          </p:cNvSpPr>
          <p:nvPr/>
        </p:nvSpPr>
        <p:spPr bwMode="auto">
          <a:xfrm>
            <a:off x="3195638" y="4043363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81" name="Line 225"/>
          <p:cNvSpPr>
            <a:spLocks noChangeShapeType="1"/>
          </p:cNvSpPr>
          <p:nvPr/>
        </p:nvSpPr>
        <p:spPr bwMode="auto">
          <a:xfrm>
            <a:off x="3513138" y="4162425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82" name="Rectangle 226"/>
          <p:cNvSpPr>
            <a:spLocks noChangeArrowheads="1"/>
          </p:cNvSpPr>
          <p:nvPr/>
        </p:nvSpPr>
        <p:spPr bwMode="auto">
          <a:xfrm>
            <a:off x="3513138" y="4162425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83" name="Line 227"/>
          <p:cNvSpPr>
            <a:spLocks noChangeShapeType="1"/>
          </p:cNvSpPr>
          <p:nvPr/>
        </p:nvSpPr>
        <p:spPr bwMode="auto">
          <a:xfrm>
            <a:off x="3195638" y="428307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84" name="Rectangle 228"/>
          <p:cNvSpPr>
            <a:spLocks noChangeArrowheads="1"/>
          </p:cNvSpPr>
          <p:nvPr/>
        </p:nvSpPr>
        <p:spPr bwMode="auto">
          <a:xfrm>
            <a:off x="3195638" y="4283075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85" name="Line 229"/>
          <p:cNvSpPr>
            <a:spLocks noChangeShapeType="1"/>
          </p:cNvSpPr>
          <p:nvPr/>
        </p:nvSpPr>
        <p:spPr bwMode="auto">
          <a:xfrm>
            <a:off x="3513138" y="4402138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86" name="Rectangle 230"/>
          <p:cNvSpPr>
            <a:spLocks noChangeArrowheads="1"/>
          </p:cNvSpPr>
          <p:nvPr/>
        </p:nvSpPr>
        <p:spPr bwMode="auto">
          <a:xfrm>
            <a:off x="3513138" y="4402138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87" name="Line 231"/>
          <p:cNvSpPr>
            <a:spLocks noChangeShapeType="1"/>
          </p:cNvSpPr>
          <p:nvPr/>
        </p:nvSpPr>
        <p:spPr bwMode="auto">
          <a:xfrm>
            <a:off x="3195638" y="4521200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88" name="Rectangle 232"/>
          <p:cNvSpPr>
            <a:spLocks noChangeArrowheads="1"/>
          </p:cNvSpPr>
          <p:nvPr/>
        </p:nvSpPr>
        <p:spPr bwMode="auto">
          <a:xfrm>
            <a:off x="3195638" y="4521200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89" name="Line 233"/>
          <p:cNvSpPr>
            <a:spLocks noChangeShapeType="1"/>
          </p:cNvSpPr>
          <p:nvPr/>
        </p:nvSpPr>
        <p:spPr bwMode="auto">
          <a:xfrm>
            <a:off x="3513138" y="464185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90" name="Rectangle 234"/>
          <p:cNvSpPr>
            <a:spLocks noChangeArrowheads="1"/>
          </p:cNvSpPr>
          <p:nvPr/>
        </p:nvSpPr>
        <p:spPr bwMode="auto">
          <a:xfrm>
            <a:off x="3513138" y="4641850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91" name="Line 235"/>
          <p:cNvSpPr>
            <a:spLocks noChangeShapeType="1"/>
          </p:cNvSpPr>
          <p:nvPr/>
        </p:nvSpPr>
        <p:spPr bwMode="auto">
          <a:xfrm>
            <a:off x="3195638" y="4760913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92" name="Rectangle 236"/>
          <p:cNvSpPr>
            <a:spLocks noChangeArrowheads="1"/>
          </p:cNvSpPr>
          <p:nvPr/>
        </p:nvSpPr>
        <p:spPr bwMode="auto">
          <a:xfrm>
            <a:off x="3195638" y="4760913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93" name="Line 237"/>
          <p:cNvSpPr>
            <a:spLocks noChangeShapeType="1"/>
          </p:cNvSpPr>
          <p:nvPr/>
        </p:nvSpPr>
        <p:spPr bwMode="auto">
          <a:xfrm>
            <a:off x="3513138" y="4881563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94" name="Rectangle 238"/>
          <p:cNvSpPr>
            <a:spLocks noChangeArrowheads="1"/>
          </p:cNvSpPr>
          <p:nvPr/>
        </p:nvSpPr>
        <p:spPr bwMode="auto">
          <a:xfrm>
            <a:off x="3513138" y="4881563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95" name="Line 239"/>
          <p:cNvSpPr>
            <a:spLocks noChangeShapeType="1"/>
          </p:cNvSpPr>
          <p:nvPr/>
        </p:nvSpPr>
        <p:spPr bwMode="auto">
          <a:xfrm>
            <a:off x="3195638" y="500062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96" name="Rectangle 240"/>
          <p:cNvSpPr>
            <a:spLocks noChangeArrowheads="1"/>
          </p:cNvSpPr>
          <p:nvPr/>
        </p:nvSpPr>
        <p:spPr bwMode="auto">
          <a:xfrm>
            <a:off x="3195638" y="5000625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97" name="Line 241"/>
          <p:cNvSpPr>
            <a:spLocks noChangeShapeType="1"/>
          </p:cNvSpPr>
          <p:nvPr/>
        </p:nvSpPr>
        <p:spPr bwMode="auto">
          <a:xfrm>
            <a:off x="3513138" y="5119688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298" name="Rectangle 242"/>
          <p:cNvSpPr>
            <a:spLocks noChangeArrowheads="1"/>
          </p:cNvSpPr>
          <p:nvPr/>
        </p:nvSpPr>
        <p:spPr bwMode="auto">
          <a:xfrm>
            <a:off x="3513138" y="5119688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99" name="Line 243"/>
          <p:cNvSpPr>
            <a:spLocks noChangeShapeType="1"/>
          </p:cNvSpPr>
          <p:nvPr/>
        </p:nvSpPr>
        <p:spPr bwMode="auto">
          <a:xfrm>
            <a:off x="3195638" y="524033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00" name="Rectangle 244"/>
          <p:cNvSpPr>
            <a:spLocks noChangeArrowheads="1"/>
          </p:cNvSpPr>
          <p:nvPr/>
        </p:nvSpPr>
        <p:spPr bwMode="auto">
          <a:xfrm>
            <a:off x="3195638" y="5240338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01" name="Line 245"/>
          <p:cNvSpPr>
            <a:spLocks noChangeShapeType="1"/>
          </p:cNvSpPr>
          <p:nvPr/>
        </p:nvSpPr>
        <p:spPr bwMode="auto">
          <a:xfrm>
            <a:off x="3513138" y="535940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02" name="Rectangle 246"/>
          <p:cNvSpPr>
            <a:spLocks noChangeArrowheads="1"/>
          </p:cNvSpPr>
          <p:nvPr/>
        </p:nvSpPr>
        <p:spPr bwMode="auto">
          <a:xfrm>
            <a:off x="3513138" y="5359400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03" name="Line 247"/>
          <p:cNvSpPr>
            <a:spLocks noChangeShapeType="1"/>
          </p:cNvSpPr>
          <p:nvPr/>
        </p:nvSpPr>
        <p:spPr bwMode="auto">
          <a:xfrm>
            <a:off x="3195638" y="5478463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04" name="Rectangle 248"/>
          <p:cNvSpPr>
            <a:spLocks noChangeArrowheads="1"/>
          </p:cNvSpPr>
          <p:nvPr/>
        </p:nvSpPr>
        <p:spPr bwMode="auto">
          <a:xfrm>
            <a:off x="3195638" y="5478463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05" name="Line 249"/>
          <p:cNvSpPr>
            <a:spLocks noChangeShapeType="1"/>
          </p:cNvSpPr>
          <p:nvPr/>
        </p:nvSpPr>
        <p:spPr bwMode="auto">
          <a:xfrm>
            <a:off x="3513138" y="5599113"/>
            <a:ext cx="4868862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06" name="Rectangle 250"/>
          <p:cNvSpPr>
            <a:spLocks noChangeArrowheads="1"/>
          </p:cNvSpPr>
          <p:nvPr/>
        </p:nvSpPr>
        <p:spPr bwMode="auto">
          <a:xfrm>
            <a:off x="3513138" y="5599113"/>
            <a:ext cx="4868862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07" name="Line 251"/>
          <p:cNvSpPr>
            <a:spLocks noChangeShapeType="1"/>
          </p:cNvSpPr>
          <p:nvPr/>
        </p:nvSpPr>
        <p:spPr bwMode="auto">
          <a:xfrm>
            <a:off x="3195638" y="5718175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08" name="Rectangle 252"/>
          <p:cNvSpPr>
            <a:spLocks noChangeArrowheads="1"/>
          </p:cNvSpPr>
          <p:nvPr/>
        </p:nvSpPr>
        <p:spPr bwMode="auto">
          <a:xfrm>
            <a:off x="3195638" y="5718175"/>
            <a:ext cx="317500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09" name="Line 253"/>
          <p:cNvSpPr>
            <a:spLocks noChangeShapeType="1"/>
          </p:cNvSpPr>
          <p:nvPr/>
        </p:nvSpPr>
        <p:spPr bwMode="auto">
          <a:xfrm>
            <a:off x="3513138" y="5838825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10" name="Rectangle 254"/>
          <p:cNvSpPr>
            <a:spLocks noChangeArrowheads="1"/>
          </p:cNvSpPr>
          <p:nvPr/>
        </p:nvSpPr>
        <p:spPr bwMode="auto">
          <a:xfrm>
            <a:off x="3513138" y="5838825"/>
            <a:ext cx="4868862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11" name="Line 255"/>
          <p:cNvSpPr>
            <a:spLocks noChangeShapeType="1"/>
          </p:cNvSpPr>
          <p:nvPr/>
        </p:nvSpPr>
        <p:spPr bwMode="auto">
          <a:xfrm>
            <a:off x="3195638" y="5957888"/>
            <a:ext cx="317500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12" name="Rectangle 256"/>
          <p:cNvSpPr>
            <a:spLocks noChangeArrowheads="1"/>
          </p:cNvSpPr>
          <p:nvPr/>
        </p:nvSpPr>
        <p:spPr bwMode="auto">
          <a:xfrm>
            <a:off x="3195638" y="5957888"/>
            <a:ext cx="317500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13" name="Line 257"/>
          <p:cNvSpPr>
            <a:spLocks noChangeShapeType="1"/>
          </p:cNvSpPr>
          <p:nvPr/>
        </p:nvSpPr>
        <p:spPr bwMode="auto">
          <a:xfrm>
            <a:off x="3513138" y="6076950"/>
            <a:ext cx="4868862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14" name="Rectangle 258"/>
          <p:cNvSpPr>
            <a:spLocks noChangeArrowheads="1"/>
          </p:cNvSpPr>
          <p:nvPr/>
        </p:nvSpPr>
        <p:spPr bwMode="auto">
          <a:xfrm>
            <a:off x="3513138" y="6076950"/>
            <a:ext cx="4868862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15" name="Line 259"/>
          <p:cNvSpPr>
            <a:spLocks noChangeShapeType="1"/>
          </p:cNvSpPr>
          <p:nvPr/>
        </p:nvSpPr>
        <p:spPr bwMode="auto">
          <a:xfrm>
            <a:off x="3195638" y="6197600"/>
            <a:ext cx="317500" cy="1588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16" name="Rectangle 260"/>
          <p:cNvSpPr>
            <a:spLocks noChangeArrowheads="1"/>
          </p:cNvSpPr>
          <p:nvPr/>
        </p:nvSpPr>
        <p:spPr bwMode="auto">
          <a:xfrm>
            <a:off x="3195638" y="6197600"/>
            <a:ext cx="317500" cy="7938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17" name="Line 261"/>
          <p:cNvSpPr>
            <a:spLocks noChangeShapeType="1"/>
          </p:cNvSpPr>
          <p:nvPr/>
        </p:nvSpPr>
        <p:spPr bwMode="auto">
          <a:xfrm>
            <a:off x="714375" y="6316663"/>
            <a:ext cx="2481263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18" name="Rectangle 262"/>
          <p:cNvSpPr>
            <a:spLocks noChangeArrowheads="1"/>
          </p:cNvSpPr>
          <p:nvPr/>
        </p:nvSpPr>
        <p:spPr bwMode="auto">
          <a:xfrm>
            <a:off x="714375" y="6316663"/>
            <a:ext cx="2481263" cy="952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19" name="Line 263"/>
          <p:cNvSpPr>
            <a:spLocks noChangeShapeType="1"/>
          </p:cNvSpPr>
          <p:nvPr/>
        </p:nvSpPr>
        <p:spPr bwMode="auto">
          <a:xfrm>
            <a:off x="3195638" y="6437313"/>
            <a:ext cx="1863725" cy="1587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20" name="Rectangle 264"/>
          <p:cNvSpPr>
            <a:spLocks noChangeArrowheads="1"/>
          </p:cNvSpPr>
          <p:nvPr/>
        </p:nvSpPr>
        <p:spPr bwMode="auto">
          <a:xfrm>
            <a:off x="3195638" y="6437313"/>
            <a:ext cx="1863725" cy="7937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45321" name="Group 265"/>
          <p:cNvGrpSpPr>
            <a:grpSpLocks/>
          </p:cNvGrpSpPr>
          <p:nvPr/>
        </p:nvGrpSpPr>
        <p:grpSpPr bwMode="auto">
          <a:xfrm>
            <a:off x="7747000" y="922338"/>
            <a:ext cx="481013" cy="128587"/>
            <a:chOff x="4880" y="581"/>
            <a:chExt cx="303" cy="81"/>
          </a:xfrm>
        </p:grpSpPr>
        <p:sp>
          <p:nvSpPr>
            <p:cNvPr id="45499" name="Line 266"/>
            <p:cNvSpPr>
              <a:spLocks noChangeShapeType="1"/>
            </p:cNvSpPr>
            <p:nvPr/>
          </p:nvSpPr>
          <p:spPr bwMode="auto">
            <a:xfrm>
              <a:off x="4945" y="619"/>
              <a:ext cx="173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500" name="Freeform 267"/>
            <p:cNvSpPr>
              <a:spLocks/>
            </p:cNvSpPr>
            <p:nvPr/>
          </p:nvSpPr>
          <p:spPr bwMode="auto">
            <a:xfrm>
              <a:off x="4880" y="581"/>
              <a:ext cx="81" cy="81"/>
            </a:xfrm>
            <a:custGeom>
              <a:avLst/>
              <a:gdLst>
                <a:gd name="T0" fmla="*/ 81 w 81"/>
                <a:gd name="T1" fmla="*/ 0 h 81"/>
                <a:gd name="T2" fmla="*/ 0 w 81"/>
                <a:gd name="T3" fmla="*/ 38 h 81"/>
                <a:gd name="T4" fmla="*/ 81 w 81"/>
                <a:gd name="T5" fmla="*/ 81 h 81"/>
                <a:gd name="T6" fmla="*/ 81 w 81"/>
                <a:gd name="T7" fmla="*/ 0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"/>
                <a:gd name="T13" fmla="*/ 0 h 81"/>
                <a:gd name="T14" fmla="*/ 81 w 81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" h="81">
                  <a:moveTo>
                    <a:pt x="81" y="0"/>
                  </a:moveTo>
                  <a:lnTo>
                    <a:pt x="0" y="38"/>
                  </a:lnTo>
                  <a:lnTo>
                    <a:pt x="81" y="81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5501" name="Freeform 268"/>
            <p:cNvSpPr>
              <a:spLocks/>
            </p:cNvSpPr>
            <p:nvPr/>
          </p:nvSpPr>
          <p:spPr bwMode="auto">
            <a:xfrm>
              <a:off x="5107" y="581"/>
              <a:ext cx="76" cy="81"/>
            </a:xfrm>
            <a:custGeom>
              <a:avLst/>
              <a:gdLst>
                <a:gd name="T0" fmla="*/ 0 w 76"/>
                <a:gd name="T1" fmla="*/ 81 h 81"/>
                <a:gd name="T2" fmla="*/ 76 w 76"/>
                <a:gd name="T3" fmla="*/ 38 h 81"/>
                <a:gd name="T4" fmla="*/ 0 w 76"/>
                <a:gd name="T5" fmla="*/ 0 h 81"/>
                <a:gd name="T6" fmla="*/ 0 w 76"/>
                <a:gd name="T7" fmla="*/ 81 h 8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81"/>
                <a:gd name="T14" fmla="*/ 76 w 76"/>
                <a:gd name="T15" fmla="*/ 81 h 8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81">
                  <a:moveTo>
                    <a:pt x="0" y="81"/>
                  </a:moveTo>
                  <a:lnTo>
                    <a:pt x="76" y="38"/>
                  </a:lnTo>
                  <a:lnTo>
                    <a:pt x="0" y="0"/>
                  </a:lnTo>
                  <a:lnTo>
                    <a:pt x="0" y="81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45322" name="Line 269"/>
          <p:cNvSpPr>
            <a:spLocks noChangeShapeType="1"/>
          </p:cNvSpPr>
          <p:nvPr/>
        </p:nvSpPr>
        <p:spPr bwMode="auto">
          <a:xfrm flipV="1">
            <a:off x="6827838" y="606425"/>
            <a:ext cx="1587" cy="239713"/>
          </a:xfrm>
          <a:prstGeom prst="line">
            <a:avLst/>
          </a:prstGeom>
          <a:noFill/>
          <a:ln w="7938" cap="rnd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23" name="Line 270"/>
          <p:cNvSpPr>
            <a:spLocks noChangeShapeType="1"/>
          </p:cNvSpPr>
          <p:nvPr/>
        </p:nvSpPr>
        <p:spPr bwMode="auto">
          <a:xfrm>
            <a:off x="6888163" y="768350"/>
            <a:ext cx="592137" cy="1588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45324" name="Group 271"/>
          <p:cNvGrpSpPr>
            <a:grpSpLocks/>
          </p:cNvGrpSpPr>
          <p:nvPr/>
        </p:nvGrpSpPr>
        <p:grpSpPr bwMode="auto">
          <a:xfrm>
            <a:off x="6931025" y="974725"/>
            <a:ext cx="566738" cy="25400"/>
            <a:chOff x="4366" y="614"/>
            <a:chExt cx="357" cy="16"/>
          </a:xfrm>
        </p:grpSpPr>
        <p:sp>
          <p:nvSpPr>
            <p:cNvPr id="45495" name="Rectangle 272"/>
            <p:cNvSpPr>
              <a:spLocks noChangeArrowheads="1"/>
            </p:cNvSpPr>
            <p:nvPr/>
          </p:nvSpPr>
          <p:spPr bwMode="auto">
            <a:xfrm>
              <a:off x="4366" y="614"/>
              <a:ext cx="65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5496" name="Rectangle 273"/>
            <p:cNvSpPr>
              <a:spLocks noChangeArrowheads="1"/>
            </p:cNvSpPr>
            <p:nvPr/>
          </p:nvSpPr>
          <p:spPr bwMode="auto">
            <a:xfrm>
              <a:off x="4479" y="614"/>
              <a:ext cx="65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5497" name="Rectangle 274"/>
            <p:cNvSpPr>
              <a:spLocks noChangeArrowheads="1"/>
            </p:cNvSpPr>
            <p:nvPr/>
          </p:nvSpPr>
          <p:spPr bwMode="auto">
            <a:xfrm>
              <a:off x="4593" y="614"/>
              <a:ext cx="65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5498" name="Rectangle 275"/>
            <p:cNvSpPr>
              <a:spLocks noChangeArrowheads="1"/>
            </p:cNvSpPr>
            <p:nvPr/>
          </p:nvSpPr>
          <p:spPr bwMode="auto">
            <a:xfrm>
              <a:off x="4707" y="614"/>
              <a:ext cx="16" cy="16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45326" name="Rectangle 277"/>
          <p:cNvSpPr>
            <a:spLocks noChangeArrowheads="1"/>
          </p:cNvSpPr>
          <p:nvPr/>
        </p:nvSpPr>
        <p:spPr bwMode="auto">
          <a:xfrm>
            <a:off x="3848100" y="1136650"/>
            <a:ext cx="6826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27" name="Rectangle 278"/>
          <p:cNvSpPr>
            <a:spLocks noChangeArrowheads="1"/>
          </p:cNvSpPr>
          <p:nvPr/>
        </p:nvSpPr>
        <p:spPr bwMode="auto">
          <a:xfrm>
            <a:off x="4173538" y="1169988"/>
            <a:ext cx="698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28" name="Rectangle 279"/>
          <p:cNvSpPr>
            <a:spLocks noChangeArrowheads="1"/>
          </p:cNvSpPr>
          <p:nvPr/>
        </p:nvSpPr>
        <p:spPr bwMode="auto">
          <a:xfrm>
            <a:off x="4560888" y="1169988"/>
            <a:ext cx="68262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29" name="Rectangle 280"/>
          <p:cNvSpPr>
            <a:spLocks noChangeArrowheads="1"/>
          </p:cNvSpPr>
          <p:nvPr/>
        </p:nvSpPr>
        <p:spPr bwMode="auto">
          <a:xfrm>
            <a:off x="4973638" y="1169988"/>
            <a:ext cx="68262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0" name="Rectangle 281"/>
          <p:cNvSpPr>
            <a:spLocks noChangeArrowheads="1"/>
          </p:cNvSpPr>
          <p:nvPr/>
        </p:nvSpPr>
        <p:spPr bwMode="auto">
          <a:xfrm>
            <a:off x="5359400" y="1169988"/>
            <a:ext cx="682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1" name="Rectangle 282"/>
          <p:cNvSpPr>
            <a:spLocks noChangeArrowheads="1"/>
          </p:cNvSpPr>
          <p:nvPr/>
        </p:nvSpPr>
        <p:spPr bwMode="auto">
          <a:xfrm>
            <a:off x="5737225" y="1144588"/>
            <a:ext cx="188913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2" name="Rectangle 283"/>
          <p:cNvSpPr>
            <a:spLocks noChangeArrowheads="1"/>
          </p:cNvSpPr>
          <p:nvPr/>
        </p:nvSpPr>
        <p:spPr bwMode="auto">
          <a:xfrm>
            <a:off x="6132513" y="1169988"/>
            <a:ext cx="68262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3" name="Rectangle 284"/>
          <p:cNvSpPr>
            <a:spLocks noChangeArrowheads="1"/>
          </p:cNvSpPr>
          <p:nvPr/>
        </p:nvSpPr>
        <p:spPr bwMode="auto">
          <a:xfrm>
            <a:off x="6518275" y="1169988"/>
            <a:ext cx="682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4" name="Rectangle 285"/>
          <p:cNvSpPr>
            <a:spLocks noChangeArrowheads="1"/>
          </p:cNvSpPr>
          <p:nvPr/>
        </p:nvSpPr>
        <p:spPr bwMode="auto">
          <a:xfrm>
            <a:off x="6905625" y="1169988"/>
            <a:ext cx="682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5" name="Rectangle 286"/>
          <p:cNvSpPr>
            <a:spLocks noChangeArrowheads="1"/>
          </p:cNvSpPr>
          <p:nvPr/>
        </p:nvSpPr>
        <p:spPr bwMode="auto">
          <a:xfrm>
            <a:off x="7299325" y="1169988"/>
            <a:ext cx="698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6" name="Rectangle 287"/>
          <p:cNvSpPr>
            <a:spLocks noChangeArrowheads="1"/>
          </p:cNvSpPr>
          <p:nvPr/>
        </p:nvSpPr>
        <p:spPr bwMode="auto">
          <a:xfrm>
            <a:off x="7677150" y="1169988"/>
            <a:ext cx="698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7" name="Rectangle 288"/>
          <p:cNvSpPr>
            <a:spLocks noChangeArrowheads="1"/>
          </p:cNvSpPr>
          <p:nvPr/>
        </p:nvSpPr>
        <p:spPr bwMode="auto">
          <a:xfrm>
            <a:off x="8064500" y="1169988"/>
            <a:ext cx="682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38" name="Line 289"/>
          <p:cNvSpPr>
            <a:spLocks noChangeShapeType="1"/>
          </p:cNvSpPr>
          <p:nvPr/>
        </p:nvSpPr>
        <p:spPr bwMode="auto">
          <a:xfrm>
            <a:off x="8140700" y="1290638"/>
            <a:ext cx="1588" cy="4795837"/>
          </a:xfrm>
          <a:prstGeom prst="line">
            <a:avLst/>
          </a:prstGeom>
          <a:noFill/>
          <a:ln w="762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339" name="Rectangle 290"/>
          <p:cNvSpPr>
            <a:spLocks noChangeArrowheads="1"/>
          </p:cNvSpPr>
          <p:nvPr/>
        </p:nvSpPr>
        <p:spPr bwMode="auto">
          <a:xfrm>
            <a:off x="5565775" y="863600"/>
            <a:ext cx="30797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40" name="Rectangle 291"/>
          <p:cNvSpPr>
            <a:spLocks noChangeArrowheads="1"/>
          </p:cNvSpPr>
          <p:nvPr/>
        </p:nvSpPr>
        <p:spPr bwMode="auto">
          <a:xfrm>
            <a:off x="5542706" y="866999"/>
            <a:ext cx="30003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 dirty="0">
                <a:solidFill>
                  <a:srgbClr val="000000"/>
                </a:solidFill>
              </a:rPr>
              <a:t>1840</a:t>
            </a:r>
            <a:endParaRPr lang="pt-BR" altLang="pt-BR" dirty="0"/>
          </a:p>
        </p:txBody>
      </p:sp>
      <p:sp>
        <p:nvSpPr>
          <p:cNvPr id="45341" name="Rectangle 292"/>
          <p:cNvSpPr>
            <a:spLocks noChangeArrowheads="1"/>
          </p:cNvSpPr>
          <p:nvPr/>
        </p:nvSpPr>
        <p:spPr bwMode="auto">
          <a:xfrm>
            <a:off x="6011863" y="863600"/>
            <a:ext cx="32702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42" name="Rectangle 293"/>
          <p:cNvSpPr>
            <a:spLocks noChangeArrowheads="1"/>
          </p:cNvSpPr>
          <p:nvPr/>
        </p:nvSpPr>
        <p:spPr bwMode="auto">
          <a:xfrm>
            <a:off x="6037263" y="871538"/>
            <a:ext cx="309562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28.6"</a:t>
            </a:r>
            <a:endParaRPr lang="pt-BR" altLang="pt-BR"/>
          </a:p>
        </p:txBody>
      </p:sp>
      <p:sp>
        <p:nvSpPr>
          <p:cNvPr id="45343" name="Rectangle 294"/>
          <p:cNvSpPr>
            <a:spLocks noChangeArrowheads="1"/>
          </p:cNvSpPr>
          <p:nvPr/>
        </p:nvSpPr>
        <p:spPr bwMode="auto">
          <a:xfrm>
            <a:off x="6518275" y="863600"/>
            <a:ext cx="23177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44" name="Rectangle 295"/>
          <p:cNvSpPr>
            <a:spLocks noChangeArrowheads="1"/>
          </p:cNvSpPr>
          <p:nvPr/>
        </p:nvSpPr>
        <p:spPr bwMode="auto">
          <a:xfrm>
            <a:off x="6543675" y="871538"/>
            <a:ext cx="214313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FF0000"/>
                </a:solidFill>
              </a:rPr>
              <a:t>30"</a:t>
            </a:r>
            <a:endParaRPr lang="pt-BR" altLang="pt-BR"/>
          </a:p>
        </p:txBody>
      </p:sp>
      <p:sp>
        <p:nvSpPr>
          <p:cNvPr id="45345" name="Rectangle 296"/>
          <p:cNvSpPr>
            <a:spLocks noChangeArrowheads="1"/>
          </p:cNvSpPr>
          <p:nvPr/>
        </p:nvSpPr>
        <p:spPr bwMode="auto">
          <a:xfrm>
            <a:off x="2500313" y="666750"/>
            <a:ext cx="30797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46" name="Rectangle 297"/>
          <p:cNvSpPr>
            <a:spLocks noChangeArrowheads="1"/>
          </p:cNvSpPr>
          <p:nvPr/>
        </p:nvSpPr>
        <p:spPr bwMode="auto">
          <a:xfrm>
            <a:off x="2525713" y="674688"/>
            <a:ext cx="30003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4444</a:t>
            </a:r>
            <a:endParaRPr lang="pt-BR" altLang="pt-BR"/>
          </a:p>
        </p:txBody>
      </p:sp>
      <p:sp>
        <p:nvSpPr>
          <p:cNvPr id="45347" name="Rectangle 298"/>
          <p:cNvSpPr>
            <a:spLocks noChangeArrowheads="1"/>
          </p:cNvSpPr>
          <p:nvPr/>
        </p:nvSpPr>
        <p:spPr bwMode="auto">
          <a:xfrm>
            <a:off x="568325" y="1341438"/>
            <a:ext cx="1285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48" name="Rectangle 299"/>
          <p:cNvSpPr>
            <a:spLocks noChangeArrowheads="1"/>
          </p:cNvSpPr>
          <p:nvPr/>
        </p:nvSpPr>
        <p:spPr bwMode="auto">
          <a:xfrm>
            <a:off x="593725" y="1350963"/>
            <a:ext cx="1111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</a:t>
            </a:r>
            <a:endParaRPr lang="pt-BR" altLang="pt-BR"/>
          </a:p>
        </p:txBody>
      </p:sp>
      <p:sp>
        <p:nvSpPr>
          <p:cNvPr id="45349" name="Rectangle 300"/>
          <p:cNvSpPr>
            <a:spLocks noChangeArrowheads="1"/>
          </p:cNvSpPr>
          <p:nvPr/>
        </p:nvSpPr>
        <p:spPr bwMode="auto">
          <a:xfrm>
            <a:off x="1143000" y="1709738"/>
            <a:ext cx="6826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0" name="Rectangle 301"/>
          <p:cNvSpPr>
            <a:spLocks noChangeArrowheads="1"/>
          </p:cNvSpPr>
          <p:nvPr/>
        </p:nvSpPr>
        <p:spPr bwMode="auto">
          <a:xfrm>
            <a:off x="757238" y="1255713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1" name="Rectangle 302"/>
          <p:cNvSpPr>
            <a:spLocks noChangeArrowheads="1"/>
          </p:cNvSpPr>
          <p:nvPr/>
        </p:nvSpPr>
        <p:spPr bwMode="auto">
          <a:xfrm>
            <a:off x="2336800" y="1323975"/>
            <a:ext cx="1714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2" name="Rectangle 303"/>
          <p:cNvSpPr>
            <a:spLocks noChangeArrowheads="1"/>
          </p:cNvSpPr>
          <p:nvPr/>
        </p:nvSpPr>
        <p:spPr bwMode="auto">
          <a:xfrm>
            <a:off x="2362200" y="1333500"/>
            <a:ext cx="1539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1"</a:t>
            </a:r>
            <a:endParaRPr lang="pt-BR" altLang="pt-BR"/>
          </a:p>
        </p:txBody>
      </p:sp>
      <p:sp>
        <p:nvSpPr>
          <p:cNvPr id="45353" name="Rectangle 304"/>
          <p:cNvSpPr>
            <a:spLocks noChangeArrowheads="1"/>
          </p:cNvSpPr>
          <p:nvPr/>
        </p:nvSpPr>
        <p:spPr bwMode="auto">
          <a:xfrm>
            <a:off x="3316288" y="1462088"/>
            <a:ext cx="1714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4" name="Rectangle 305"/>
          <p:cNvSpPr>
            <a:spLocks noChangeArrowheads="1"/>
          </p:cNvSpPr>
          <p:nvPr/>
        </p:nvSpPr>
        <p:spPr bwMode="auto">
          <a:xfrm>
            <a:off x="3341688" y="1470025"/>
            <a:ext cx="1539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1"</a:t>
            </a:r>
            <a:endParaRPr lang="pt-BR" altLang="pt-BR"/>
          </a:p>
        </p:txBody>
      </p:sp>
      <p:sp>
        <p:nvSpPr>
          <p:cNvPr id="45355" name="Rectangle 306"/>
          <p:cNvSpPr>
            <a:spLocks noChangeArrowheads="1"/>
          </p:cNvSpPr>
          <p:nvPr/>
        </p:nvSpPr>
        <p:spPr bwMode="auto">
          <a:xfrm>
            <a:off x="3109913" y="2068513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6" name="Rectangle 307"/>
          <p:cNvSpPr>
            <a:spLocks noChangeArrowheads="1"/>
          </p:cNvSpPr>
          <p:nvPr/>
        </p:nvSpPr>
        <p:spPr bwMode="auto">
          <a:xfrm>
            <a:off x="2706688" y="3086100"/>
            <a:ext cx="682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7" name="Rectangle 308"/>
          <p:cNvSpPr>
            <a:spLocks noChangeArrowheads="1"/>
          </p:cNvSpPr>
          <p:nvPr/>
        </p:nvSpPr>
        <p:spPr bwMode="auto">
          <a:xfrm>
            <a:off x="2447925" y="2932113"/>
            <a:ext cx="698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8" name="Rectangle 309"/>
          <p:cNvSpPr>
            <a:spLocks noChangeArrowheads="1"/>
          </p:cNvSpPr>
          <p:nvPr/>
        </p:nvSpPr>
        <p:spPr bwMode="auto">
          <a:xfrm>
            <a:off x="2662238" y="1323975"/>
            <a:ext cx="698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59" name="Rectangle 310"/>
          <p:cNvSpPr>
            <a:spLocks noChangeArrowheads="1"/>
          </p:cNvSpPr>
          <p:nvPr/>
        </p:nvSpPr>
        <p:spPr bwMode="auto">
          <a:xfrm>
            <a:off x="584200" y="1581150"/>
            <a:ext cx="13017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0" name="Rectangle 311"/>
          <p:cNvSpPr>
            <a:spLocks noChangeArrowheads="1"/>
          </p:cNvSpPr>
          <p:nvPr/>
        </p:nvSpPr>
        <p:spPr bwMode="auto">
          <a:xfrm>
            <a:off x="611188" y="1589088"/>
            <a:ext cx="1111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</a:t>
            </a:r>
            <a:endParaRPr lang="pt-BR" altLang="pt-BR"/>
          </a:p>
        </p:txBody>
      </p:sp>
      <p:sp>
        <p:nvSpPr>
          <p:cNvPr id="45361" name="Rectangle 312"/>
          <p:cNvSpPr>
            <a:spLocks noChangeArrowheads="1"/>
          </p:cNvSpPr>
          <p:nvPr/>
        </p:nvSpPr>
        <p:spPr bwMode="auto">
          <a:xfrm>
            <a:off x="757238" y="1495425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2" name="Rectangle 313"/>
          <p:cNvSpPr>
            <a:spLocks noChangeArrowheads="1"/>
          </p:cNvSpPr>
          <p:nvPr/>
        </p:nvSpPr>
        <p:spPr bwMode="auto">
          <a:xfrm>
            <a:off x="1271588" y="2573338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3" name="Rectangle 314"/>
          <p:cNvSpPr>
            <a:spLocks noChangeArrowheads="1"/>
          </p:cNvSpPr>
          <p:nvPr/>
        </p:nvSpPr>
        <p:spPr bwMode="auto">
          <a:xfrm>
            <a:off x="1503363" y="1530350"/>
            <a:ext cx="698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4" name="Rectangle 315"/>
          <p:cNvSpPr>
            <a:spLocks noChangeArrowheads="1"/>
          </p:cNvSpPr>
          <p:nvPr/>
        </p:nvSpPr>
        <p:spPr bwMode="auto">
          <a:xfrm>
            <a:off x="2293938" y="158115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5" name="Rectangle 316"/>
          <p:cNvSpPr>
            <a:spLocks noChangeArrowheads="1"/>
          </p:cNvSpPr>
          <p:nvPr/>
        </p:nvSpPr>
        <p:spPr bwMode="auto">
          <a:xfrm>
            <a:off x="2611438" y="158115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6" name="Rectangle 317"/>
          <p:cNvSpPr>
            <a:spLocks noChangeArrowheads="1"/>
          </p:cNvSpPr>
          <p:nvPr/>
        </p:nvSpPr>
        <p:spPr bwMode="auto">
          <a:xfrm>
            <a:off x="2954338" y="2366963"/>
            <a:ext cx="698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7" name="Rectangle 318"/>
          <p:cNvSpPr>
            <a:spLocks noChangeArrowheads="1"/>
          </p:cNvSpPr>
          <p:nvPr/>
        </p:nvSpPr>
        <p:spPr bwMode="auto">
          <a:xfrm>
            <a:off x="2679700" y="1563688"/>
            <a:ext cx="698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8" name="Rectangle 319"/>
          <p:cNvSpPr>
            <a:spLocks noChangeArrowheads="1"/>
          </p:cNvSpPr>
          <p:nvPr/>
        </p:nvSpPr>
        <p:spPr bwMode="auto">
          <a:xfrm>
            <a:off x="2928938" y="158115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69" name="Rectangle 320"/>
          <p:cNvSpPr>
            <a:spLocks noChangeArrowheads="1"/>
          </p:cNvSpPr>
          <p:nvPr/>
        </p:nvSpPr>
        <p:spPr bwMode="auto">
          <a:xfrm>
            <a:off x="2997200" y="2333625"/>
            <a:ext cx="698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0" name="Rectangle 321"/>
          <p:cNvSpPr>
            <a:spLocks noChangeArrowheads="1"/>
          </p:cNvSpPr>
          <p:nvPr/>
        </p:nvSpPr>
        <p:spPr bwMode="auto">
          <a:xfrm>
            <a:off x="3109913" y="1538288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1" name="Rectangle 322"/>
          <p:cNvSpPr>
            <a:spLocks noChangeArrowheads="1"/>
          </p:cNvSpPr>
          <p:nvPr/>
        </p:nvSpPr>
        <p:spPr bwMode="auto">
          <a:xfrm>
            <a:off x="2895600" y="2068513"/>
            <a:ext cx="6826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2" name="Rectangle 323"/>
          <p:cNvSpPr>
            <a:spLocks noChangeArrowheads="1"/>
          </p:cNvSpPr>
          <p:nvPr/>
        </p:nvSpPr>
        <p:spPr bwMode="auto">
          <a:xfrm>
            <a:off x="3316288" y="1684338"/>
            <a:ext cx="1714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3" name="Rectangle 324"/>
          <p:cNvSpPr>
            <a:spLocks noChangeArrowheads="1"/>
          </p:cNvSpPr>
          <p:nvPr/>
        </p:nvSpPr>
        <p:spPr bwMode="auto">
          <a:xfrm>
            <a:off x="3341688" y="1692275"/>
            <a:ext cx="1539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2"</a:t>
            </a:r>
            <a:endParaRPr lang="pt-BR" altLang="pt-BR"/>
          </a:p>
        </p:txBody>
      </p:sp>
      <p:sp>
        <p:nvSpPr>
          <p:cNvPr id="45374" name="Rectangle 325"/>
          <p:cNvSpPr>
            <a:spLocks noChangeArrowheads="1"/>
          </p:cNvSpPr>
          <p:nvPr/>
        </p:nvSpPr>
        <p:spPr bwMode="auto">
          <a:xfrm>
            <a:off x="568325" y="1820863"/>
            <a:ext cx="128588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5" name="Rectangle 326"/>
          <p:cNvSpPr>
            <a:spLocks noChangeArrowheads="1"/>
          </p:cNvSpPr>
          <p:nvPr/>
        </p:nvSpPr>
        <p:spPr bwMode="auto">
          <a:xfrm>
            <a:off x="593725" y="1828800"/>
            <a:ext cx="111125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3</a:t>
            </a:r>
            <a:endParaRPr lang="pt-BR" altLang="pt-BR"/>
          </a:p>
        </p:txBody>
      </p:sp>
      <p:sp>
        <p:nvSpPr>
          <p:cNvPr id="45376" name="Rectangle 327"/>
          <p:cNvSpPr>
            <a:spLocks noChangeArrowheads="1"/>
          </p:cNvSpPr>
          <p:nvPr/>
        </p:nvSpPr>
        <p:spPr bwMode="auto">
          <a:xfrm>
            <a:off x="765175" y="1803400"/>
            <a:ext cx="6826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7" name="Rectangle 328"/>
          <p:cNvSpPr>
            <a:spLocks noChangeArrowheads="1"/>
          </p:cNvSpPr>
          <p:nvPr/>
        </p:nvSpPr>
        <p:spPr bwMode="auto">
          <a:xfrm>
            <a:off x="2336800" y="1803400"/>
            <a:ext cx="6826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8" name="Rectangle 329"/>
          <p:cNvSpPr>
            <a:spLocks noChangeArrowheads="1"/>
          </p:cNvSpPr>
          <p:nvPr/>
        </p:nvSpPr>
        <p:spPr bwMode="auto">
          <a:xfrm>
            <a:off x="3316288" y="1922463"/>
            <a:ext cx="1714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79" name="Rectangle 330"/>
          <p:cNvSpPr>
            <a:spLocks noChangeArrowheads="1"/>
          </p:cNvSpPr>
          <p:nvPr/>
        </p:nvSpPr>
        <p:spPr bwMode="auto">
          <a:xfrm>
            <a:off x="3341688" y="1931988"/>
            <a:ext cx="153987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2"</a:t>
            </a:r>
            <a:endParaRPr lang="pt-BR" altLang="pt-BR"/>
          </a:p>
        </p:txBody>
      </p:sp>
      <p:sp>
        <p:nvSpPr>
          <p:cNvPr id="45380" name="Rectangle 331"/>
          <p:cNvSpPr>
            <a:spLocks noChangeArrowheads="1"/>
          </p:cNvSpPr>
          <p:nvPr/>
        </p:nvSpPr>
        <p:spPr bwMode="auto">
          <a:xfrm>
            <a:off x="3341688" y="269240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1" name="Freeform 332"/>
          <p:cNvSpPr>
            <a:spLocks/>
          </p:cNvSpPr>
          <p:nvPr/>
        </p:nvSpPr>
        <p:spPr bwMode="auto">
          <a:xfrm>
            <a:off x="7712075" y="700088"/>
            <a:ext cx="523875" cy="120650"/>
          </a:xfrm>
          <a:custGeom>
            <a:avLst/>
            <a:gdLst>
              <a:gd name="T0" fmla="*/ 5 w 330"/>
              <a:gd name="T1" fmla="*/ 65 h 76"/>
              <a:gd name="T2" fmla="*/ 11 w 330"/>
              <a:gd name="T3" fmla="*/ 54 h 76"/>
              <a:gd name="T4" fmla="*/ 16 w 330"/>
              <a:gd name="T5" fmla="*/ 33 h 76"/>
              <a:gd name="T6" fmla="*/ 22 w 330"/>
              <a:gd name="T7" fmla="*/ 22 h 76"/>
              <a:gd name="T8" fmla="*/ 27 w 330"/>
              <a:gd name="T9" fmla="*/ 11 h 76"/>
              <a:gd name="T10" fmla="*/ 32 w 330"/>
              <a:gd name="T11" fmla="*/ 6 h 76"/>
              <a:gd name="T12" fmla="*/ 43 w 330"/>
              <a:gd name="T13" fmla="*/ 0 h 76"/>
              <a:gd name="T14" fmla="*/ 54 w 330"/>
              <a:gd name="T15" fmla="*/ 0 h 76"/>
              <a:gd name="T16" fmla="*/ 60 w 330"/>
              <a:gd name="T17" fmla="*/ 6 h 76"/>
              <a:gd name="T18" fmla="*/ 60 w 330"/>
              <a:gd name="T19" fmla="*/ 16 h 76"/>
              <a:gd name="T20" fmla="*/ 65 w 330"/>
              <a:gd name="T21" fmla="*/ 22 h 76"/>
              <a:gd name="T22" fmla="*/ 70 w 330"/>
              <a:gd name="T23" fmla="*/ 43 h 76"/>
              <a:gd name="T24" fmla="*/ 81 w 330"/>
              <a:gd name="T25" fmla="*/ 54 h 76"/>
              <a:gd name="T26" fmla="*/ 87 w 330"/>
              <a:gd name="T27" fmla="*/ 65 h 76"/>
              <a:gd name="T28" fmla="*/ 97 w 330"/>
              <a:gd name="T29" fmla="*/ 76 h 76"/>
              <a:gd name="T30" fmla="*/ 108 w 330"/>
              <a:gd name="T31" fmla="*/ 76 h 76"/>
              <a:gd name="T32" fmla="*/ 119 w 330"/>
              <a:gd name="T33" fmla="*/ 65 h 76"/>
              <a:gd name="T34" fmla="*/ 124 w 330"/>
              <a:gd name="T35" fmla="*/ 60 h 76"/>
              <a:gd name="T36" fmla="*/ 135 w 330"/>
              <a:gd name="T37" fmla="*/ 43 h 76"/>
              <a:gd name="T38" fmla="*/ 141 w 330"/>
              <a:gd name="T39" fmla="*/ 27 h 76"/>
              <a:gd name="T40" fmla="*/ 151 w 330"/>
              <a:gd name="T41" fmla="*/ 22 h 76"/>
              <a:gd name="T42" fmla="*/ 157 w 330"/>
              <a:gd name="T43" fmla="*/ 16 h 76"/>
              <a:gd name="T44" fmla="*/ 168 w 330"/>
              <a:gd name="T45" fmla="*/ 11 h 76"/>
              <a:gd name="T46" fmla="*/ 179 w 330"/>
              <a:gd name="T47" fmla="*/ 11 h 76"/>
              <a:gd name="T48" fmla="*/ 184 w 330"/>
              <a:gd name="T49" fmla="*/ 16 h 76"/>
              <a:gd name="T50" fmla="*/ 189 w 330"/>
              <a:gd name="T51" fmla="*/ 22 h 76"/>
              <a:gd name="T52" fmla="*/ 200 w 330"/>
              <a:gd name="T53" fmla="*/ 33 h 76"/>
              <a:gd name="T54" fmla="*/ 206 w 330"/>
              <a:gd name="T55" fmla="*/ 54 h 76"/>
              <a:gd name="T56" fmla="*/ 216 w 330"/>
              <a:gd name="T57" fmla="*/ 65 h 76"/>
              <a:gd name="T58" fmla="*/ 222 w 330"/>
              <a:gd name="T59" fmla="*/ 70 h 76"/>
              <a:gd name="T60" fmla="*/ 227 w 330"/>
              <a:gd name="T61" fmla="*/ 76 h 76"/>
              <a:gd name="T62" fmla="*/ 238 w 330"/>
              <a:gd name="T63" fmla="*/ 70 h 76"/>
              <a:gd name="T64" fmla="*/ 243 w 330"/>
              <a:gd name="T65" fmla="*/ 60 h 76"/>
              <a:gd name="T66" fmla="*/ 249 w 330"/>
              <a:gd name="T67" fmla="*/ 54 h 76"/>
              <a:gd name="T68" fmla="*/ 254 w 330"/>
              <a:gd name="T69" fmla="*/ 33 h 76"/>
              <a:gd name="T70" fmla="*/ 260 w 330"/>
              <a:gd name="T71" fmla="*/ 22 h 76"/>
              <a:gd name="T72" fmla="*/ 265 w 330"/>
              <a:gd name="T73" fmla="*/ 16 h 76"/>
              <a:gd name="T74" fmla="*/ 270 w 330"/>
              <a:gd name="T75" fmla="*/ 11 h 76"/>
              <a:gd name="T76" fmla="*/ 281 w 330"/>
              <a:gd name="T77" fmla="*/ 11 h 76"/>
              <a:gd name="T78" fmla="*/ 287 w 330"/>
              <a:gd name="T79" fmla="*/ 16 h 76"/>
              <a:gd name="T80" fmla="*/ 292 w 330"/>
              <a:gd name="T81" fmla="*/ 22 h 76"/>
              <a:gd name="T82" fmla="*/ 303 w 330"/>
              <a:gd name="T83" fmla="*/ 27 h 76"/>
              <a:gd name="T84" fmla="*/ 314 w 330"/>
              <a:gd name="T85" fmla="*/ 43 h 76"/>
              <a:gd name="T86" fmla="*/ 319 w 330"/>
              <a:gd name="T87" fmla="*/ 54 h 76"/>
              <a:gd name="T88" fmla="*/ 325 w 330"/>
              <a:gd name="T89" fmla="*/ 65 h 7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330"/>
              <a:gd name="T136" fmla="*/ 0 h 76"/>
              <a:gd name="T137" fmla="*/ 330 w 330"/>
              <a:gd name="T138" fmla="*/ 76 h 76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330" h="76">
                <a:moveTo>
                  <a:pt x="0" y="70"/>
                </a:moveTo>
                <a:lnTo>
                  <a:pt x="5" y="65"/>
                </a:lnTo>
                <a:lnTo>
                  <a:pt x="5" y="60"/>
                </a:lnTo>
                <a:lnTo>
                  <a:pt x="11" y="54"/>
                </a:lnTo>
                <a:lnTo>
                  <a:pt x="11" y="43"/>
                </a:lnTo>
                <a:lnTo>
                  <a:pt x="16" y="33"/>
                </a:lnTo>
                <a:lnTo>
                  <a:pt x="16" y="27"/>
                </a:lnTo>
                <a:lnTo>
                  <a:pt x="22" y="22"/>
                </a:lnTo>
                <a:lnTo>
                  <a:pt x="27" y="16"/>
                </a:lnTo>
                <a:lnTo>
                  <a:pt x="27" y="11"/>
                </a:lnTo>
                <a:lnTo>
                  <a:pt x="32" y="11"/>
                </a:lnTo>
                <a:lnTo>
                  <a:pt x="32" y="6"/>
                </a:lnTo>
                <a:lnTo>
                  <a:pt x="38" y="6"/>
                </a:lnTo>
                <a:lnTo>
                  <a:pt x="43" y="0"/>
                </a:lnTo>
                <a:lnTo>
                  <a:pt x="49" y="0"/>
                </a:lnTo>
                <a:lnTo>
                  <a:pt x="54" y="0"/>
                </a:lnTo>
                <a:lnTo>
                  <a:pt x="54" y="6"/>
                </a:lnTo>
                <a:lnTo>
                  <a:pt x="60" y="6"/>
                </a:lnTo>
                <a:lnTo>
                  <a:pt x="60" y="11"/>
                </a:lnTo>
                <a:lnTo>
                  <a:pt x="60" y="16"/>
                </a:lnTo>
                <a:lnTo>
                  <a:pt x="65" y="16"/>
                </a:lnTo>
                <a:lnTo>
                  <a:pt x="65" y="22"/>
                </a:lnTo>
                <a:lnTo>
                  <a:pt x="70" y="27"/>
                </a:lnTo>
                <a:lnTo>
                  <a:pt x="70" y="43"/>
                </a:lnTo>
                <a:lnTo>
                  <a:pt x="76" y="49"/>
                </a:lnTo>
                <a:lnTo>
                  <a:pt x="81" y="54"/>
                </a:lnTo>
                <a:lnTo>
                  <a:pt x="81" y="60"/>
                </a:lnTo>
                <a:lnTo>
                  <a:pt x="87" y="65"/>
                </a:lnTo>
                <a:lnTo>
                  <a:pt x="92" y="70"/>
                </a:lnTo>
                <a:lnTo>
                  <a:pt x="97" y="76"/>
                </a:lnTo>
                <a:lnTo>
                  <a:pt x="103" y="76"/>
                </a:lnTo>
                <a:lnTo>
                  <a:pt x="108" y="76"/>
                </a:lnTo>
                <a:lnTo>
                  <a:pt x="114" y="70"/>
                </a:lnTo>
                <a:lnTo>
                  <a:pt x="119" y="65"/>
                </a:lnTo>
                <a:lnTo>
                  <a:pt x="119" y="60"/>
                </a:lnTo>
                <a:lnTo>
                  <a:pt x="124" y="60"/>
                </a:lnTo>
                <a:lnTo>
                  <a:pt x="130" y="54"/>
                </a:lnTo>
                <a:lnTo>
                  <a:pt x="135" y="43"/>
                </a:lnTo>
                <a:lnTo>
                  <a:pt x="135" y="33"/>
                </a:lnTo>
                <a:lnTo>
                  <a:pt x="141" y="27"/>
                </a:lnTo>
                <a:lnTo>
                  <a:pt x="146" y="22"/>
                </a:lnTo>
                <a:lnTo>
                  <a:pt x="151" y="22"/>
                </a:lnTo>
                <a:lnTo>
                  <a:pt x="151" y="16"/>
                </a:lnTo>
                <a:lnTo>
                  <a:pt x="157" y="16"/>
                </a:lnTo>
                <a:lnTo>
                  <a:pt x="157" y="11"/>
                </a:lnTo>
                <a:lnTo>
                  <a:pt x="168" y="11"/>
                </a:lnTo>
                <a:lnTo>
                  <a:pt x="173" y="11"/>
                </a:lnTo>
                <a:lnTo>
                  <a:pt x="179" y="11"/>
                </a:lnTo>
                <a:lnTo>
                  <a:pt x="179" y="16"/>
                </a:lnTo>
                <a:lnTo>
                  <a:pt x="184" y="16"/>
                </a:lnTo>
                <a:lnTo>
                  <a:pt x="184" y="22"/>
                </a:lnTo>
                <a:lnTo>
                  <a:pt x="189" y="22"/>
                </a:lnTo>
                <a:lnTo>
                  <a:pt x="195" y="27"/>
                </a:lnTo>
                <a:lnTo>
                  <a:pt x="200" y="33"/>
                </a:lnTo>
                <a:lnTo>
                  <a:pt x="200" y="43"/>
                </a:lnTo>
                <a:lnTo>
                  <a:pt x="206" y="54"/>
                </a:lnTo>
                <a:lnTo>
                  <a:pt x="211" y="60"/>
                </a:lnTo>
                <a:lnTo>
                  <a:pt x="216" y="65"/>
                </a:lnTo>
                <a:lnTo>
                  <a:pt x="216" y="70"/>
                </a:lnTo>
                <a:lnTo>
                  <a:pt x="222" y="70"/>
                </a:lnTo>
                <a:lnTo>
                  <a:pt x="222" y="76"/>
                </a:lnTo>
                <a:lnTo>
                  <a:pt x="227" y="76"/>
                </a:lnTo>
                <a:lnTo>
                  <a:pt x="233" y="76"/>
                </a:lnTo>
                <a:lnTo>
                  <a:pt x="238" y="70"/>
                </a:lnTo>
                <a:lnTo>
                  <a:pt x="243" y="65"/>
                </a:lnTo>
                <a:lnTo>
                  <a:pt x="243" y="60"/>
                </a:lnTo>
                <a:lnTo>
                  <a:pt x="249" y="60"/>
                </a:lnTo>
                <a:lnTo>
                  <a:pt x="249" y="54"/>
                </a:lnTo>
                <a:lnTo>
                  <a:pt x="254" y="43"/>
                </a:lnTo>
                <a:lnTo>
                  <a:pt x="254" y="33"/>
                </a:lnTo>
                <a:lnTo>
                  <a:pt x="260" y="27"/>
                </a:lnTo>
                <a:lnTo>
                  <a:pt x="260" y="22"/>
                </a:lnTo>
                <a:lnTo>
                  <a:pt x="265" y="22"/>
                </a:lnTo>
                <a:lnTo>
                  <a:pt x="265" y="16"/>
                </a:lnTo>
                <a:lnTo>
                  <a:pt x="270" y="16"/>
                </a:lnTo>
                <a:lnTo>
                  <a:pt x="270" y="11"/>
                </a:lnTo>
                <a:lnTo>
                  <a:pt x="276" y="11"/>
                </a:lnTo>
                <a:lnTo>
                  <a:pt x="281" y="11"/>
                </a:lnTo>
                <a:lnTo>
                  <a:pt x="287" y="11"/>
                </a:lnTo>
                <a:lnTo>
                  <a:pt x="287" y="16"/>
                </a:lnTo>
                <a:lnTo>
                  <a:pt x="292" y="16"/>
                </a:lnTo>
                <a:lnTo>
                  <a:pt x="292" y="22"/>
                </a:lnTo>
                <a:lnTo>
                  <a:pt x="298" y="22"/>
                </a:lnTo>
                <a:lnTo>
                  <a:pt x="303" y="27"/>
                </a:lnTo>
                <a:lnTo>
                  <a:pt x="303" y="33"/>
                </a:lnTo>
                <a:lnTo>
                  <a:pt x="314" y="43"/>
                </a:lnTo>
                <a:lnTo>
                  <a:pt x="314" y="49"/>
                </a:lnTo>
                <a:lnTo>
                  <a:pt x="319" y="54"/>
                </a:lnTo>
                <a:lnTo>
                  <a:pt x="325" y="60"/>
                </a:lnTo>
                <a:lnTo>
                  <a:pt x="325" y="65"/>
                </a:lnTo>
                <a:lnTo>
                  <a:pt x="330" y="65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2" name="Rectangle 333"/>
          <p:cNvSpPr>
            <a:spLocks noChangeArrowheads="1"/>
          </p:cNvSpPr>
          <p:nvPr/>
        </p:nvSpPr>
        <p:spPr bwMode="auto">
          <a:xfrm>
            <a:off x="3213100" y="666750"/>
            <a:ext cx="34290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3" name="Rectangle 334"/>
          <p:cNvSpPr>
            <a:spLocks noChangeArrowheads="1"/>
          </p:cNvSpPr>
          <p:nvPr/>
        </p:nvSpPr>
        <p:spPr bwMode="auto">
          <a:xfrm>
            <a:off x="3238500" y="674688"/>
            <a:ext cx="2857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Oper.</a:t>
            </a:r>
            <a:endParaRPr lang="pt-BR" altLang="pt-BR"/>
          </a:p>
        </p:txBody>
      </p:sp>
      <p:sp>
        <p:nvSpPr>
          <p:cNvPr id="45384" name="Rectangle 335"/>
          <p:cNvSpPr>
            <a:spLocks noChangeArrowheads="1"/>
          </p:cNvSpPr>
          <p:nvPr/>
        </p:nvSpPr>
        <p:spPr bwMode="auto">
          <a:xfrm>
            <a:off x="3341688" y="1058863"/>
            <a:ext cx="68262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5" name="Rectangle 336"/>
          <p:cNvSpPr>
            <a:spLocks noChangeArrowheads="1"/>
          </p:cNvSpPr>
          <p:nvPr/>
        </p:nvSpPr>
        <p:spPr bwMode="auto">
          <a:xfrm>
            <a:off x="3316288" y="71755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6" name="Rectangle 337"/>
          <p:cNvSpPr>
            <a:spLocks noChangeArrowheads="1"/>
          </p:cNvSpPr>
          <p:nvPr/>
        </p:nvSpPr>
        <p:spPr bwMode="auto">
          <a:xfrm>
            <a:off x="3633788" y="93980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7" name="Rectangle 338"/>
          <p:cNvSpPr>
            <a:spLocks noChangeArrowheads="1"/>
          </p:cNvSpPr>
          <p:nvPr/>
        </p:nvSpPr>
        <p:spPr bwMode="auto">
          <a:xfrm>
            <a:off x="3452813" y="64135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8" name="Rectangle 339"/>
          <p:cNvSpPr>
            <a:spLocks noChangeArrowheads="1"/>
          </p:cNvSpPr>
          <p:nvPr/>
        </p:nvSpPr>
        <p:spPr bwMode="auto">
          <a:xfrm>
            <a:off x="3298825" y="863600"/>
            <a:ext cx="1460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89" name="Rectangle 340"/>
          <p:cNvSpPr>
            <a:spLocks noChangeArrowheads="1"/>
          </p:cNvSpPr>
          <p:nvPr/>
        </p:nvSpPr>
        <p:spPr bwMode="auto">
          <a:xfrm>
            <a:off x="3324225" y="871538"/>
            <a:ext cx="1285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A</a:t>
            </a:r>
            <a:endParaRPr lang="pt-BR" altLang="pt-BR"/>
          </a:p>
        </p:txBody>
      </p:sp>
      <p:sp>
        <p:nvSpPr>
          <p:cNvPr id="45390" name="Rectangle 341"/>
          <p:cNvSpPr>
            <a:spLocks noChangeArrowheads="1"/>
          </p:cNvSpPr>
          <p:nvPr/>
        </p:nvSpPr>
        <p:spPr bwMode="auto">
          <a:xfrm>
            <a:off x="2311400" y="1581150"/>
            <a:ext cx="1714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1" name="Rectangle 342"/>
          <p:cNvSpPr>
            <a:spLocks noChangeArrowheads="1"/>
          </p:cNvSpPr>
          <p:nvPr/>
        </p:nvSpPr>
        <p:spPr bwMode="auto">
          <a:xfrm>
            <a:off x="2336800" y="1589088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3"</a:t>
            </a:r>
            <a:endParaRPr lang="pt-BR" altLang="pt-BR"/>
          </a:p>
        </p:txBody>
      </p:sp>
      <p:sp>
        <p:nvSpPr>
          <p:cNvPr id="45392" name="Rectangle 343"/>
          <p:cNvSpPr>
            <a:spLocks noChangeArrowheads="1"/>
          </p:cNvSpPr>
          <p:nvPr/>
        </p:nvSpPr>
        <p:spPr bwMode="auto">
          <a:xfrm>
            <a:off x="2311400" y="1828800"/>
            <a:ext cx="1714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3" name="Rectangle 344"/>
          <p:cNvSpPr>
            <a:spLocks noChangeArrowheads="1"/>
          </p:cNvSpPr>
          <p:nvPr/>
        </p:nvSpPr>
        <p:spPr bwMode="auto">
          <a:xfrm>
            <a:off x="2336800" y="1836738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3"</a:t>
            </a:r>
            <a:endParaRPr lang="pt-BR" altLang="pt-BR"/>
          </a:p>
        </p:txBody>
      </p:sp>
      <p:sp>
        <p:nvSpPr>
          <p:cNvPr id="45394" name="Rectangle 345"/>
          <p:cNvSpPr>
            <a:spLocks noChangeArrowheads="1"/>
          </p:cNvSpPr>
          <p:nvPr/>
        </p:nvSpPr>
        <p:spPr bwMode="auto">
          <a:xfrm>
            <a:off x="558800" y="2058988"/>
            <a:ext cx="128588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5" name="Rectangle 346"/>
          <p:cNvSpPr>
            <a:spLocks noChangeArrowheads="1"/>
          </p:cNvSpPr>
          <p:nvPr/>
        </p:nvSpPr>
        <p:spPr bwMode="auto">
          <a:xfrm>
            <a:off x="584200" y="2068513"/>
            <a:ext cx="1111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4</a:t>
            </a:r>
            <a:endParaRPr lang="pt-BR" altLang="pt-BR"/>
          </a:p>
        </p:txBody>
      </p:sp>
      <p:sp>
        <p:nvSpPr>
          <p:cNvPr id="45396" name="Rectangle 347"/>
          <p:cNvSpPr>
            <a:spLocks noChangeArrowheads="1"/>
          </p:cNvSpPr>
          <p:nvPr/>
        </p:nvSpPr>
        <p:spPr bwMode="auto">
          <a:xfrm>
            <a:off x="1168400" y="3230563"/>
            <a:ext cx="698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7" name="Rectangle 348"/>
          <p:cNvSpPr>
            <a:spLocks noChangeArrowheads="1"/>
          </p:cNvSpPr>
          <p:nvPr/>
        </p:nvSpPr>
        <p:spPr bwMode="auto">
          <a:xfrm>
            <a:off x="3590925" y="3017838"/>
            <a:ext cx="68263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8" name="Rectangle 349"/>
          <p:cNvSpPr>
            <a:spLocks noChangeArrowheads="1"/>
          </p:cNvSpPr>
          <p:nvPr/>
        </p:nvSpPr>
        <p:spPr bwMode="auto">
          <a:xfrm>
            <a:off x="558800" y="2308225"/>
            <a:ext cx="128588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399" name="Rectangle 350"/>
          <p:cNvSpPr>
            <a:spLocks noChangeArrowheads="1"/>
          </p:cNvSpPr>
          <p:nvPr/>
        </p:nvSpPr>
        <p:spPr bwMode="auto">
          <a:xfrm>
            <a:off x="584200" y="2316163"/>
            <a:ext cx="1111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5</a:t>
            </a:r>
            <a:endParaRPr lang="pt-BR" altLang="pt-BR"/>
          </a:p>
        </p:txBody>
      </p:sp>
      <p:sp>
        <p:nvSpPr>
          <p:cNvPr id="45400" name="Rectangle 351"/>
          <p:cNvSpPr>
            <a:spLocks noChangeArrowheads="1"/>
          </p:cNvSpPr>
          <p:nvPr/>
        </p:nvSpPr>
        <p:spPr bwMode="auto">
          <a:xfrm>
            <a:off x="2792413" y="3144838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1" name="Rectangle 352"/>
          <p:cNvSpPr>
            <a:spLocks noChangeArrowheads="1"/>
          </p:cNvSpPr>
          <p:nvPr/>
        </p:nvSpPr>
        <p:spPr bwMode="auto">
          <a:xfrm>
            <a:off x="3238500" y="3171825"/>
            <a:ext cx="6826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2" name="Rectangle 353"/>
          <p:cNvSpPr>
            <a:spLocks noChangeArrowheads="1"/>
          </p:cNvSpPr>
          <p:nvPr/>
        </p:nvSpPr>
        <p:spPr bwMode="auto">
          <a:xfrm>
            <a:off x="3316288" y="2187575"/>
            <a:ext cx="1714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3" name="Rectangle 354"/>
          <p:cNvSpPr>
            <a:spLocks noChangeArrowheads="1"/>
          </p:cNvSpPr>
          <p:nvPr/>
        </p:nvSpPr>
        <p:spPr bwMode="auto">
          <a:xfrm>
            <a:off x="3341688" y="2197100"/>
            <a:ext cx="1539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2"</a:t>
            </a:r>
            <a:endParaRPr lang="pt-BR" altLang="pt-BR"/>
          </a:p>
        </p:txBody>
      </p:sp>
      <p:sp>
        <p:nvSpPr>
          <p:cNvPr id="45404" name="Rectangle 355"/>
          <p:cNvSpPr>
            <a:spLocks noChangeArrowheads="1"/>
          </p:cNvSpPr>
          <p:nvPr/>
        </p:nvSpPr>
        <p:spPr bwMode="auto">
          <a:xfrm>
            <a:off x="3341688" y="2932113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5" name="Rectangle 356"/>
          <p:cNvSpPr>
            <a:spLocks noChangeArrowheads="1"/>
          </p:cNvSpPr>
          <p:nvPr/>
        </p:nvSpPr>
        <p:spPr bwMode="auto">
          <a:xfrm>
            <a:off x="3359150" y="2154238"/>
            <a:ext cx="2540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6" name="Rectangle 357"/>
          <p:cNvSpPr>
            <a:spLocks noChangeArrowheads="1"/>
          </p:cNvSpPr>
          <p:nvPr/>
        </p:nvSpPr>
        <p:spPr bwMode="auto">
          <a:xfrm>
            <a:off x="3316288" y="2427288"/>
            <a:ext cx="1714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07" name="Rectangle 358"/>
          <p:cNvSpPr>
            <a:spLocks noChangeArrowheads="1"/>
          </p:cNvSpPr>
          <p:nvPr/>
        </p:nvSpPr>
        <p:spPr bwMode="auto">
          <a:xfrm>
            <a:off x="3341688" y="2435225"/>
            <a:ext cx="153987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2"</a:t>
            </a:r>
            <a:endParaRPr lang="pt-BR" altLang="pt-BR"/>
          </a:p>
        </p:txBody>
      </p:sp>
      <p:sp>
        <p:nvSpPr>
          <p:cNvPr id="45408" name="Line 359"/>
          <p:cNvSpPr>
            <a:spLocks noChangeShapeType="1"/>
          </p:cNvSpPr>
          <p:nvPr/>
        </p:nvSpPr>
        <p:spPr bwMode="auto">
          <a:xfrm>
            <a:off x="4276725" y="1290638"/>
            <a:ext cx="1588" cy="4795837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09" name="Line 360"/>
          <p:cNvSpPr>
            <a:spLocks noChangeShapeType="1"/>
          </p:cNvSpPr>
          <p:nvPr/>
        </p:nvSpPr>
        <p:spPr bwMode="auto">
          <a:xfrm>
            <a:off x="5049838" y="1290638"/>
            <a:ext cx="1587" cy="47863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10" name="Line 361"/>
          <p:cNvSpPr>
            <a:spLocks noChangeShapeType="1"/>
          </p:cNvSpPr>
          <p:nvPr/>
        </p:nvSpPr>
        <p:spPr bwMode="auto">
          <a:xfrm>
            <a:off x="5822950" y="1290638"/>
            <a:ext cx="1588" cy="47863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11" name="Line 362"/>
          <p:cNvSpPr>
            <a:spLocks noChangeShapeType="1"/>
          </p:cNvSpPr>
          <p:nvPr/>
        </p:nvSpPr>
        <p:spPr bwMode="auto">
          <a:xfrm>
            <a:off x="6596063" y="1290638"/>
            <a:ext cx="1587" cy="47863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12" name="Line 363"/>
          <p:cNvSpPr>
            <a:spLocks noChangeShapeType="1"/>
          </p:cNvSpPr>
          <p:nvPr/>
        </p:nvSpPr>
        <p:spPr bwMode="auto">
          <a:xfrm>
            <a:off x="7369175" y="1290638"/>
            <a:ext cx="1588" cy="4786312"/>
          </a:xfrm>
          <a:prstGeom prst="line">
            <a:avLst/>
          </a:prstGeom>
          <a:noFill/>
          <a:ln w="17463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13" name="Rectangle 364"/>
          <p:cNvSpPr>
            <a:spLocks noChangeArrowheads="1"/>
          </p:cNvSpPr>
          <p:nvPr/>
        </p:nvSpPr>
        <p:spPr bwMode="auto">
          <a:xfrm>
            <a:off x="4208463" y="1136650"/>
            <a:ext cx="12858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14" name="Rectangle 365"/>
          <p:cNvSpPr>
            <a:spLocks noChangeArrowheads="1"/>
          </p:cNvSpPr>
          <p:nvPr/>
        </p:nvSpPr>
        <p:spPr bwMode="auto">
          <a:xfrm>
            <a:off x="4233863" y="1144588"/>
            <a:ext cx="111125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5</a:t>
            </a:r>
            <a:endParaRPr lang="pt-BR" altLang="pt-BR"/>
          </a:p>
        </p:txBody>
      </p:sp>
      <p:sp>
        <p:nvSpPr>
          <p:cNvPr id="45415" name="Rectangle 366"/>
          <p:cNvSpPr>
            <a:spLocks noChangeArrowheads="1"/>
          </p:cNvSpPr>
          <p:nvPr/>
        </p:nvSpPr>
        <p:spPr bwMode="auto">
          <a:xfrm>
            <a:off x="4973638" y="1136650"/>
            <a:ext cx="18891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16" name="Rectangle 367"/>
          <p:cNvSpPr>
            <a:spLocks noChangeArrowheads="1"/>
          </p:cNvSpPr>
          <p:nvPr/>
        </p:nvSpPr>
        <p:spPr bwMode="auto">
          <a:xfrm>
            <a:off x="4999038" y="1144588"/>
            <a:ext cx="1714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10</a:t>
            </a:r>
            <a:endParaRPr lang="pt-BR" altLang="pt-BR"/>
          </a:p>
        </p:txBody>
      </p:sp>
      <p:sp>
        <p:nvSpPr>
          <p:cNvPr id="45417" name="Rectangle 368"/>
          <p:cNvSpPr>
            <a:spLocks noChangeArrowheads="1"/>
          </p:cNvSpPr>
          <p:nvPr/>
        </p:nvSpPr>
        <p:spPr bwMode="auto">
          <a:xfrm>
            <a:off x="5729288" y="1136650"/>
            <a:ext cx="18891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18" name="Rectangle 369"/>
          <p:cNvSpPr>
            <a:spLocks noChangeArrowheads="1"/>
          </p:cNvSpPr>
          <p:nvPr/>
        </p:nvSpPr>
        <p:spPr bwMode="auto">
          <a:xfrm>
            <a:off x="5754688" y="1144588"/>
            <a:ext cx="1714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15</a:t>
            </a:r>
            <a:endParaRPr lang="pt-BR" altLang="pt-BR"/>
          </a:p>
        </p:txBody>
      </p:sp>
      <p:sp>
        <p:nvSpPr>
          <p:cNvPr id="45419" name="Rectangle 370"/>
          <p:cNvSpPr>
            <a:spLocks noChangeArrowheads="1"/>
          </p:cNvSpPr>
          <p:nvPr/>
        </p:nvSpPr>
        <p:spPr bwMode="auto">
          <a:xfrm>
            <a:off x="6500813" y="1136650"/>
            <a:ext cx="18891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0" name="Rectangle 371"/>
          <p:cNvSpPr>
            <a:spLocks noChangeArrowheads="1"/>
          </p:cNvSpPr>
          <p:nvPr/>
        </p:nvSpPr>
        <p:spPr bwMode="auto">
          <a:xfrm>
            <a:off x="6527800" y="1144588"/>
            <a:ext cx="1714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20</a:t>
            </a:r>
            <a:endParaRPr lang="pt-BR" altLang="pt-BR"/>
          </a:p>
        </p:txBody>
      </p:sp>
      <p:sp>
        <p:nvSpPr>
          <p:cNvPr id="45421" name="Rectangle 372"/>
          <p:cNvSpPr>
            <a:spLocks noChangeArrowheads="1"/>
          </p:cNvSpPr>
          <p:nvPr/>
        </p:nvSpPr>
        <p:spPr bwMode="auto">
          <a:xfrm>
            <a:off x="7273925" y="1136650"/>
            <a:ext cx="18891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2" name="Rectangle 373"/>
          <p:cNvSpPr>
            <a:spLocks noChangeArrowheads="1"/>
          </p:cNvSpPr>
          <p:nvPr/>
        </p:nvSpPr>
        <p:spPr bwMode="auto">
          <a:xfrm>
            <a:off x="7299325" y="1144588"/>
            <a:ext cx="1714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25</a:t>
            </a:r>
            <a:endParaRPr lang="pt-BR" altLang="pt-BR"/>
          </a:p>
        </p:txBody>
      </p:sp>
      <p:sp>
        <p:nvSpPr>
          <p:cNvPr id="45423" name="Rectangle 374"/>
          <p:cNvSpPr>
            <a:spLocks noChangeArrowheads="1"/>
          </p:cNvSpPr>
          <p:nvPr/>
        </p:nvSpPr>
        <p:spPr bwMode="auto">
          <a:xfrm>
            <a:off x="8064500" y="1136650"/>
            <a:ext cx="188913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4" name="Rectangle 375"/>
          <p:cNvSpPr>
            <a:spLocks noChangeArrowheads="1"/>
          </p:cNvSpPr>
          <p:nvPr/>
        </p:nvSpPr>
        <p:spPr bwMode="auto">
          <a:xfrm>
            <a:off x="8089900" y="1144588"/>
            <a:ext cx="171450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30</a:t>
            </a:r>
            <a:endParaRPr lang="pt-BR" altLang="pt-BR"/>
          </a:p>
        </p:txBody>
      </p:sp>
      <p:sp>
        <p:nvSpPr>
          <p:cNvPr id="45425" name="Rectangle 376"/>
          <p:cNvSpPr>
            <a:spLocks noChangeArrowheads="1"/>
          </p:cNvSpPr>
          <p:nvPr/>
        </p:nvSpPr>
        <p:spPr bwMode="auto">
          <a:xfrm>
            <a:off x="2611438" y="1323975"/>
            <a:ext cx="231775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6" name="Rectangle 377"/>
          <p:cNvSpPr>
            <a:spLocks noChangeArrowheads="1"/>
          </p:cNvSpPr>
          <p:nvPr/>
        </p:nvSpPr>
        <p:spPr bwMode="auto">
          <a:xfrm>
            <a:off x="2636838" y="1333500"/>
            <a:ext cx="214312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26"</a:t>
            </a:r>
            <a:endParaRPr lang="pt-BR" altLang="pt-BR"/>
          </a:p>
        </p:txBody>
      </p:sp>
      <p:sp>
        <p:nvSpPr>
          <p:cNvPr id="45427" name="Rectangle 378"/>
          <p:cNvSpPr>
            <a:spLocks noChangeArrowheads="1"/>
          </p:cNvSpPr>
          <p:nvPr/>
        </p:nvSpPr>
        <p:spPr bwMode="auto">
          <a:xfrm>
            <a:off x="2560638" y="2616200"/>
            <a:ext cx="68262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8" name="Rectangle 379"/>
          <p:cNvSpPr>
            <a:spLocks noChangeArrowheads="1"/>
          </p:cNvSpPr>
          <p:nvPr/>
        </p:nvSpPr>
        <p:spPr bwMode="auto">
          <a:xfrm>
            <a:off x="1220788" y="3017838"/>
            <a:ext cx="68262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29" name="Rectangle 380"/>
          <p:cNvSpPr>
            <a:spLocks noChangeArrowheads="1"/>
          </p:cNvSpPr>
          <p:nvPr/>
        </p:nvSpPr>
        <p:spPr bwMode="auto">
          <a:xfrm>
            <a:off x="2928938" y="1298575"/>
            <a:ext cx="257175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30" name="Rectangle 381"/>
          <p:cNvSpPr>
            <a:spLocks noChangeArrowheads="1"/>
          </p:cNvSpPr>
          <p:nvPr/>
        </p:nvSpPr>
        <p:spPr bwMode="auto">
          <a:xfrm>
            <a:off x="2963863" y="1316038"/>
            <a:ext cx="239712" cy="22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1300" b="1" dirty="0">
                <a:solidFill>
                  <a:srgbClr val="000000"/>
                </a:solidFill>
              </a:rPr>
              <a:t>6"</a:t>
            </a:r>
            <a:endParaRPr lang="pt-BR" altLang="pt-BR" dirty="0"/>
          </a:p>
        </p:txBody>
      </p:sp>
      <p:sp>
        <p:nvSpPr>
          <p:cNvPr id="45431" name="Line 382"/>
          <p:cNvSpPr>
            <a:spLocks noChangeShapeType="1"/>
          </p:cNvSpPr>
          <p:nvPr/>
        </p:nvSpPr>
        <p:spPr bwMode="auto">
          <a:xfrm flipV="1">
            <a:off x="6896100" y="717550"/>
            <a:ext cx="1588" cy="93663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32" name="Line 383"/>
          <p:cNvSpPr>
            <a:spLocks noChangeShapeType="1"/>
          </p:cNvSpPr>
          <p:nvPr/>
        </p:nvSpPr>
        <p:spPr bwMode="auto">
          <a:xfrm flipV="1">
            <a:off x="7472363" y="725488"/>
            <a:ext cx="1587" cy="95250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33" name="Line 384"/>
          <p:cNvSpPr>
            <a:spLocks noChangeShapeType="1"/>
          </p:cNvSpPr>
          <p:nvPr/>
        </p:nvSpPr>
        <p:spPr bwMode="auto">
          <a:xfrm flipV="1">
            <a:off x="7480300" y="931863"/>
            <a:ext cx="1588" cy="936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34" name="Line 385"/>
          <p:cNvSpPr>
            <a:spLocks noChangeShapeType="1"/>
          </p:cNvSpPr>
          <p:nvPr/>
        </p:nvSpPr>
        <p:spPr bwMode="auto">
          <a:xfrm flipV="1">
            <a:off x="6931025" y="931863"/>
            <a:ext cx="1588" cy="93662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35" name="Rectangle 386"/>
          <p:cNvSpPr>
            <a:spLocks noChangeArrowheads="1"/>
          </p:cNvSpPr>
          <p:nvPr/>
        </p:nvSpPr>
        <p:spPr bwMode="auto">
          <a:xfrm>
            <a:off x="2311400" y="2058988"/>
            <a:ext cx="1714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36" name="Rectangle 387"/>
          <p:cNvSpPr>
            <a:spLocks noChangeArrowheads="1"/>
          </p:cNvSpPr>
          <p:nvPr/>
        </p:nvSpPr>
        <p:spPr bwMode="auto">
          <a:xfrm>
            <a:off x="2336800" y="2068513"/>
            <a:ext cx="153988" cy="15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2"</a:t>
            </a:r>
            <a:endParaRPr lang="pt-BR" altLang="pt-BR"/>
          </a:p>
        </p:txBody>
      </p:sp>
      <p:sp>
        <p:nvSpPr>
          <p:cNvPr id="45437" name="Rectangle 388"/>
          <p:cNvSpPr>
            <a:spLocks noChangeArrowheads="1"/>
          </p:cNvSpPr>
          <p:nvPr/>
        </p:nvSpPr>
        <p:spPr bwMode="auto">
          <a:xfrm>
            <a:off x="2311400" y="2298700"/>
            <a:ext cx="171450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438" name="Rectangle 389"/>
          <p:cNvSpPr>
            <a:spLocks noChangeArrowheads="1"/>
          </p:cNvSpPr>
          <p:nvPr/>
        </p:nvSpPr>
        <p:spPr bwMode="auto">
          <a:xfrm>
            <a:off x="2336800" y="2308225"/>
            <a:ext cx="153988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3"</a:t>
            </a:r>
            <a:endParaRPr lang="pt-BR" altLang="pt-BR"/>
          </a:p>
        </p:txBody>
      </p:sp>
      <p:sp>
        <p:nvSpPr>
          <p:cNvPr id="45439" name="Line 390"/>
          <p:cNvSpPr>
            <a:spLocks noChangeShapeType="1"/>
          </p:cNvSpPr>
          <p:nvPr/>
        </p:nvSpPr>
        <p:spPr bwMode="auto">
          <a:xfrm>
            <a:off x="7926388" y="1290638"/>
            <a:ext cx="1587" cy="4786312"/>
          </a:xfrm>
          <a:prstGeom prst="line">
            <a:avLst/>
          </a:prstGeom>
          <a:noFill/>
          <a:ln w="762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3505200" y="1350963"/>
            <a:ext cx="155575" cy="119062"/>
            <a:chOff x="3505200" y="1350963"/>
            <a:chExt cx="155575" cy="119062"/>
          </a:xfrm>
        </p:grpSpPr>
        <p:sp>
          <p:nvSpPr>
            <p:cNvPr id="45441" name="Line 392"/>
            <p:cNvSpPr>
              <a:spLocks noChangeShapeType="1"/>
            </p:cNvSpPr>
            <p:nvPr/>
          </p:nvSpPr>
          <p:spPr bwMode="auto">
            <a:xfrm>
              <a:off x="3505200" y="1409700"/>
              <a:ext cx="153988" cy="1588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42" name="Line 393"/>
            <p:cNvSpPr>
              <a:spLocks noChangeShapeType="1"/>
            </p:cNvSpPr>
            <p:nvPr/>
          </p:nvSpPr>
          <p:spPr bwMode="auto">
            <a:xfrm>
              <a:off x="3505200" y="1350963"/>
              <a:ext cx="1588" cy="119062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43" name="Line 394"/>
            <p:cNvSpPr>
              <a:spLocks noChangeShapeType="1"/>
            </p:cNvSpPr>
            <p:nvPr/>
          </p:nvSpPr>
          <p:spPr bwMode="auto">
            <a:xfrm>
              <a:off x="3659188" y="1350963"/>
              <a:ext cx="1587" cy="119062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7" name="Grupo 6"/>
          <p:cNvGrpSpPr/>
          <p:nvPr/>
        </p:nvGrpSpPr>
        <p:grpSpPr>
          <a:xfrm>
            <a:off x="3659188" y="1169988"/>
            <a:ext cx="4019550" cy="360362"/>
            <a:chOff x="3659188" y="1169988"/>
            <a:chExt cx="4019550" cy="360362"/>
          </a:xfrm>
        </p:grpSpPr>
        <p:sp>
          <p:nvSpPr>
            <p:cNvPr id="45440" name="Line 391"/>
            <p:cNvSpPr>
              <a:spLocks noChangeShapeType="1"/>
            </p:cNvSpPr>
            <p:nvPr/>
          </p:nvSpPr>
          <p:spPr bwMode="auto">
            <a:xfrm>
              <a:off x="7677150" y="1169988"/>
              <a:ext cx="1588" cy="36036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45444" name="Group 395"/>
            <p:cNvGrpSpPr>
              <a:grpSpLocks/>
            </p:cNvGrpSpPr>
            <p:nvPr/>
          </p:nvGrpSpPr>
          <p:grpSpPr bwMode="auto">
            <a:xfrm>
              <a:off x="3659188" y="1401763"/>
              <a:ext cx="4010025" cy="25400"/>
              <a:chOff x="2305" y="883"/>
              <a:chExt cx="2526" cy="16"/>
            </a:xfrm>
          </p:grpSpPr>
          <p:sp>
            <p:nvSpPr>
              <p:cNvPr id="45472" name="Rectangle 396"/>
              <p:cNvSpPr>
                <a:spLocks noChangeArrowheads="1"/>
              </p:cNvSpPr>
              <p:nvPr/>
            </p:nvSpPr>
            <p:spPr bwMode="auto">
              <a:xfrm>
                <a:off x="2305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3" name="Rectangle 397"/>
              <p:cNvSpPr>
                <a:spLocks noChangeArrowheads="1"/>
              </p:cNvSpPr>
              <p:nvPr/>
            </p:nvSpPr>
            <p:spPr bwMode="auto">
              <a:xfrm>
                <a:off x="2419" y="883"/>
                <a:ext cx="6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4" name="Rectangle 398"/>
              <p:cNvSpPr>
                <a:spLocks noChangeArrowheads="1"/>
              </p:cNvSpPr>
              <p:nvPr/>
            </p:nvSpPr>
            <p:spPr bwMode="auto">
              <a:xfrm>
                <a:off x="2532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5" name="Rectangle 399"/>
              <p:cNvSpPr>
                <a:spLocks noChangeArrowheads="1"/>
              </p:cNvSpPr>
              <p:nvPr/>
            </p:nvSpPr>
            <p:spPr bwMode="auto">
              <a:xfrm>
                <a:off x="2646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6" name="Rectangle 400"/>
              <p:cNvSpPr>
                <a:spLocks noChangeArrowheads="1"/>
              </p:cNvSpPr>
              <p:nvPr/>
            </p:nvSpPr>
            <p:spPr bwMode="auto">
              <a:xfrm>
                <a:off x="2759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7" name="Rectangle 401"/>
              <p:cNvSpPr>
                <a:spLocks noChangeArrowheads="1"/>
              </p:cNvSpPr>
              <p:nvPr/>
            </p:nvSpPr>
            <p:spPr bwMode="auto">
              <a:xfrm>
                <a:off x="2873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8" name="Rectangle 402"/>
              <p:cNvSpPr>
                <a:spLocks noChangeArrowheads="1"/>
              </p:cNvSpPr>
              <p:nvPr/>
            </p:nvSpPr>
            <p:spPr bwMode="auto">
              <a:xfrm>
                <a:off x="2986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79" name="Rectangle 403"/>
              <p:cNvSpPr>
                <a:spLocks noChangeArrowheads="1"/>
              </p:cNvSpPr>
              <p:nvPr/>
            </p:nvSpPr>
            <p:spPr bwMode="auto">
              <a:xfrm>
                <a:off x="3100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0" name="Rectangle 404"/>
              <p:cNvSpPr>
                <a:spLocks noChangeArrowheads="1"/>
              </p:cNvSpPr>
              <p:nvPr/>
            </p:nvSpPr>
            <p:spPr bwMode="auto">
              <a:xfrm>
                <a:off x="3214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1" name="Rectangle 405"/>
              <p:cNvSpPr>
                <a:spLocks noChangeArrowheads="1"/>
              </p:cNvSpPr>
              <p:nvPr/>
            </p:nvSpPr>
            <p:spPr bwMode="auto">
              <a:xfrm>
                <a:off x="3327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2" name="Rectangle 406"/>
              <p:cNvSpPr>
                <a:spLocks noChangeArrowheads="1"/>
              </p:cNvSpPr>
              <p:nvPr/>
            </p:nvSpPr>
            <p:spPr bwMode="auto">
              <a:xfrm>
                <a:off x="3441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3" name="Rectangle 407"/>
              <p:cNvSpPr>
                <a:spLocks noChangeArrowheads="1"/>
              </p:cNvSpPr>
              <p:nvPr/>
            </p:nvSpPr>
            <p:spPr bwMode="auto">
              <a:xfrm>
                <a:off x="3554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4" name="Rectangle 408"/>
              <p:cNvSpPr>
                <a:spLocks noChangeArrowheads="1"/>
              </p:cNvSpPr>
              <p:nvPr/>
            </p:nvSpPr>
            <p:spPr bwMode="auto">
              <a:xfrm>
                <a:off x="3668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5" name="Rectangle 409"/>
              <p:cNvSpPr>
                <a:spLocks noChangeArrowheads="1"/>
              </p:cNvSpPr>
              <p:nvPr/>
            </p:nvSpPr>
            <p:spPr bwMode="auto">
              <a:xfrm>
                <a:off x="3782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6" name="Rectangle 410"/>
              <p:cNvSpPr>
                <a:spLocks noChangeArrowheads="1"/>
              </p:cNvSpPr>
              <p:nvPr/>
            </p:nvSpPr>
            <p:spPr bwMode="auto">
              <a:xfrm>
                <a:off x="3895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7" name="Rectangle 411"/>
              <p:cNvSpPr>
                <a:spLocks noChangeArrowheads="1"/>
              </p:cNvSpPr>
              <p:nvPr/>
            </p:nvSpPr>
            <p:spPr bwMode="auto">
              <a:xfrm>
                <a:off x="4009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8" name="Rectangle 412"/>
              <p:cNvSpPr>
                <a:spLocks noChangeArrowheads="1"/>
              </p:cNvSpPr>
              <p:nvPr/>
            </p:nvSpPr>
            <p:spPr bwMode="auto">
              <a:xfrm>
                <a:off x="4122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89" name="Rectangle 413"/>
              <p:cNvSpPr>
                <a:spLocks noChangeArrowheads="1"/>
              </p:cNvSpPr>
              <p:nvPr/>
            </p:nvSpPr>
            <p:spPr bwMode="auto">
              <a:xfrm>
                <a:off x="4236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90" name="Rectangle 414"/>
              <p:cNvSpPr>
                <a:spLocks noChangeArrowheads="1"/>
              </p:cNvSpPr>
              <p:nvPr/>
            </p:nvSpPr>
            <p:spPr bwMode="auto">
              <a:xfrm>
                <a:off x="4350" y="883"/>
                <a:ext cx="64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91" name="Rectangle 415"/>
              <p:cNvSpPr>
                <a:spLocks noChangeArrowheads="1"/>
              </p:cNvSpPr>
              <p:nvPr/>
            </p:nvSpPr>
            <p:spPr bwMode="auto">
              <a:xfrm>
                <a:off x="4463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92" name="Rectangle 416"/>
              <p:cNvSpPr>
                <a:spLocks noChangeArrowheads="1"/>
              </p:cNvSpPr>
              <p:nvPr/>
            </p:nvSpPr>
            <p:spPr bwMode="auto">
              <a:xfrm>
                <a:off x="4577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93" name="Rectangle 417"/>
              <p:cNvSpPr>
                <a:spLocks noChangeArrowheads="1"/>
              </p:cNvSpPr>
              <p:nvPr/>
            </p:nvSpPr>
            <p:spPr bwMode="auto">
              <a:xfrm>
                <a:off x="4690" y="883"/>
                <a:ext cx="65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  <p:sp>
            <p:nvSpPr>
              <p:cNvPr id="45494" name="Rectangle 418"/>
              <p:cNvSpPr>
                <a:spLocks noChangeArrowheads="1"/>
              </p:cNvSpPr>
              <p:nvPr/>
            </p:nvSpPr>
            <p:spPr bwMode="auto">
              <a:xfrm>
                <a:off x="4804" y="883"/>
                <a:ext cx="27" cy="16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/>
                <a:endParaRPr lang="pt-BR" altLang="pt-BR"/>
              </a:p>
            </p:txBody>
          </p:sp>
        </p:grpSp>
      </p:grpSp>
      <p:sp>
        <p:nvSpPr>
          <p:cNvPr id="45445" name="Freeform 419"/>
          <p:cNvSpPr>
            <a:spLocks/>
          </p:cNvSpPr>
          <p:nvPr/>
        </p:nvSpPr>
        <p:spPr bwMode="auto">
          <a:xfrm>
            <a:off x="3659188" y="1452563"/>
            <a:ext cx="153987" cy="204787"/>
          </a:xfrm>
          <a:custGeom>
            <a:avLst/>
            <a:gdLst>
              <a:gd name="T0" fmla="*/ 0 w 97"/>
              <a:gd name="T1" fmla="*/ 0 h 129"/>
              <a:gd name="T2" fmla="*/ 5 w 97"/>
              <a:gd name="T3" fmla="*/ 0 h 129"/>
              <a:gd name="T4" fmla="*/ 11 w 97"/>
              <a:gd name="T5" fmla="*/ 0 h 129"/>
              <a:gd name="T6" fmla="*/ 16 w 97"/>
              <a:gd name="T7" fmla="*/ 0 h 129"/>
              <a:gd name="T8" fmla="*/ 27 w 97"/>
              <a:gd name="T9" fmla="*/ 0 h 129"/>
              <a:gd name="T10" fmla="*/ 32 w 97"/>
              <a:gd name="T11" fmla="*/ 0 h 129"/>
              <a:gd name="T12" fmla="*/ 38 w 97"/>
              <a:gd name="T13" fmla="*/ 0 h 129"/>
              <a:gd name="T14" fmla="*/ 43 w 97"/>
              <a:gd name="T15" fmla="*/ 0 h 129"/>
              <a:gd name="T16" fmla="*/ 54 w 97"/>
              <a:gd name="T17" fmla="*/ 0 h 129"/>
              <a:gd name="T18" fmla="*/ 59 w 97"/>
              <a:gd name="T19" fmla="*/ 0 h 129"/>
              <a:gd name="T20" fmla="*/ 65 w 97"/>
              <a:gd name="T21" fmla="*/ 0 h 129"/>
              <a:gd name="T22" fmla="*/ 70 w 97"/>
              <a:gd name="T23" fmla="*/ 0 h 129"/>
              <a:gd name="T24" fmla="*/ 76 w 97"/>
              <a:gd name="T25" fmla="*/ 6 h 129"/>
              <a:gd name="T26" fmla="*/ 81 w 97"/>
              <a:gd name="T27" fmla="*/ 6 h 129"/>
              <a:gd name="T28" fmla="*/ 81 w 97"/>
              <a:gd name="T29" fmla="*/ 11 h 129"/>
              <a:gd name="T30" fmla="*/ 86 w 97"/>
              <a:gd name="T31" fmla="*/ 16 h 129"/>
              <a:gd name="T32" fmla="*/ 86 w 97"/>
              <a:gd name="T33" fmla="*/ 22 h 129"/>
              <a:gd name="T34" fmla="*/ 86 w 97"/>
              <a:gd name="T35" fmla="*/ 27 h 129"/>
              <a:gd name="T36" fmla="*/ 86 w 97"/>
              <a:gd name="T37" fmla="*/ 32 h 129"/>
              <a:gd name="T38" fmla="*/ 86 w 97"/>
              <a:gd name="T39" fmla="*/ 38 h 129"/>
              <a:gd name="T40" fmla="*/ 86 w 97"/>
              <a:gd name="T41" fmla="*/ 43 h 129"/>
              <a:gd name="T42" fmla="*/ 86 w 97"/>
              <a:gd name="T43" fmla="*/ 49 h 129"/>
              <a:gd name="T44" fmla="*/ 81 w 97"/>
              <a:gd name="T45" fmla="*/ 49 h 129"/>
              <a:gd name="T46" fmla="*/ 81 w 97"/>
              <a:gd name="T47" fmla="*/ 54 h 129"/>
              <a:gd name="T48" fmla="*/ 76 w 97"/>
              <a:gd name="T49" fmla="*/ 54 h 129"/>
              <a:gd name="T50" fmla="*/ 70 w 97"/>
              <a:gd name="T51" fmla="*/ 54 h 129"/>
              <a:gd name="T52" fmla="*/ 65 w 97"/>
              <a:gd name="T53" fmla="*/ 49 h 129"/>
              <a:gd name="T54" fmla="*/ 59 w 97"/>
              <a:gd name="T55" fmla="*/ 49 h 129"/>
              <a:gd name="T56" fmla="*/ 54 w 97"/>
              <a:gd name="T57" fmla="*/ 49 h 129"/>
              <a:gd name="T58" fmla="*/ 54 w 97"/>
              <a:gd name="T59" fmla="*/ 54 h 129"/>
              <a:gd name="T60" fmla="*/ 43 w 97"/>
              <a:gd name="T61" fmla="*/ 54 h 129"/>
              <a:gd name="T62" fmla="*/ 38 w 97"/>
              <a:gd name="T63" fmla="*/ 54 h 129"/>
              <a:gd name="T64" fmla="*/ 38 w 97"/>
              <a:gd name="T65" fmla="*/ 59 h 129"/>
              <a:gd name="T66" fmla="*/ 32 w 97"/>
              <a:gd name="T67" fmla="*/ 59 h 129"/>
              <a:gd name="T68" fmla="*/ 32 w 97"/>
              <a:gd name="T69" fmla="*/ 70 h 129"/>
              <a:gd name="T70" fmla="*/ 27 w 97"/>
              <a:gd name="T71" fmla="*/ 76 h 129"/>
              <a:gd name="T72" fmla="*/ 27 w 97"/>
              <a:gd name="T73" fmla="*/ 81 h 129"/>
              <a:gd name="T74" fmla="*/ 22 w 97"/>
              <a:gd name="T75" fmla="*/ 81 h 129"/>
              <a:gd name="T76" fmla="*/ 22 w 97"/>
              <a:gd name="T77" fmla="*/ 86 h 129"/>
              <a:gd name="T78" fmla="*/ 16 w 97"/>
              <a:gd name="T79" fmla="*/ 86 h 129"/>
              <a:gd name="T80" fmla="*/ 16 w 97"/>
              <a:gd name="T81" fmla="*/ 92 h 129"/>
              <a:gd name="T82" fmla="*/ 16 w 97"/>
              <a:gd name="T83" fmla="*/ 97 h 129"/>
              <a:gd name="T84" fmla="*/ 16 w 97"/>
              <a:gd name="T85" fmla="*/ 102 h 129"/>
              <a:gd name="T86" fmla="*/ 22 w 97"/>
              <a:gd name="T87" fmla="*/ 108 h 129"/>
              <a:gd name="T88" fmla="*/ 27 w 97"/>
              <a:gd name="T89" fmla="*/ 113 h 129"/>
              <a:gd name="T90" fmla="*/ 38 w 97"/>
              <a:gd name="T91" fmla="*/ 119 h 129"/>
              <a:gd name="T92" fmla="*/ 43 w 97"/>
              <a:gd name="T93" fmla="*/ 119 h 129"/>
              <a:gd name="T94" fmla="*/ 54 w 97"/>
              <a:gd name="T95" fmla="*/ 124 h 129"/>
              <a:gd name="T96" fmla="*/ 59 w 97"/>
              <a:gd name="T97" fmla="*/ 124 h 129"/>
              <a:gd name="T98" fmla="*/ 65 w 97"/>
              <a:gd name="T99" fmla="*/ 124 h 129"/>
              <a:gd name="T100" fmla="*/ 65 w 97"/>
              <a:gd name="T101" fmla="*/ 129 h 129"/>
              <a:gd name="T102" fmla="*/ 70 w 97"/>
              <a:gd name="T103" fmla="*/ 129 h 129"/>
              <a:gd name="T104" fmla="*/ 81 w 97"/>
              <a:gd name="T105" fmla="*/ 124 h 129"/>
              <a:gd name="T106" fmla="*/ 86 w 97"/>
              <a:gd name="T107" fmla="*/ 124 h 129"/>
              <a:gd name="T108" fmla="*/ 92 w 97"/>
              <a:gd name="T109" fmla="*/ 124 h 129"/>
              <a:gd name="T110" fmla="*/ 97 w 97"/>
              <a:gd name="T111" fmla="*/ 124 h 129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w 97"/>
              <a:gd name="T169" fmla="*/ 0 h 129"/>
              <a:gd name="T170" fmla="*/ 97 w 97"/>
              <a:gd name="T171" fmla="*/ 129 h 129"/>
            </a:gdLst>
            <a:ahLst/>
            <a:cxnLst>
              <a:cxn ang="T112">
                <a:pos x="T0" y="T1"/>
              </a:cxn>
              <a:cxn ang="T113">
                <a:pos x="T2" y="T3"/>
              </a:cxn>
              <a:cxn ang="T114">
                <a:pos x="T4" y="T5"/>
              </a:cxn>
              <a:cxn ang="T115">
                <a:pos x="T6" y="T7"/>
              </a:cxn>
              <a:cxn ang="T116">
                <a:pos x="T8" y="T9"/>
              </a:cxn>
              <a:cxn ang="T117">
                <a:pos x="T10" y="T11"/>
              </a:cxn>
              <a:cxn ang="T118">
                <a:pos x="T12" y="T13"/>
              </a:cxn>
              <a:cxn ang="T119">
                <a:pos x="T14" y="T15"/>
              </a:cxn>
              <a:cxn ang="T120">
                <a:pos x="T16" y="T17"/>
              </a:cxn>
              <a:cxn ang="T121">
                <a:pos x="T18" y="T19"/>
              </a:cxn>
              <a:cxn ang="T122">
                <a:pos x="T20" y="T21"/>
              </a:cxn>
              <a:cxn ang="T123">
                <a:pos x="T22" y="T23"/>
              </a:cxn>
              <a:cxn ang="T124">
                <a:pos x="T24" y="T25"/>
              </a:cxn>
              <a:cxn ang="T125">
                <a:pos x="T26" y="T27"/>
              </a:cxn>
              <a:cxn ang="T126">
                <a:pos x="T28" y="T29"/>
              </a:cxn>
              <a:cxn ang="T127">
                <a:pos x="T30" y="T31"/>
              </a:cxn>
              <a:cxn ang="T128">
                <a:pos x="T32" y="T33"/>
              </a:cxn>
              <a:cxn ang="T129">
                <a:pos x="T34" y="T35"/>
              </a:cxn>
              <a:cxn ang="T130">
                <a:pos x="T36" y="T37"/>
              </a:cxn>
              <a:cxn ang="T131">
                <a:pos x="T38" y="T39"/>
              </a:cxn>
              <a:cxn ang="T132">
                <a:pos x="T40" y="T41"/>
              </a:cxn>
              <a:cxn ang="T133">
                <a:pos x="T42" y="T43"/>
              </a:cxn>
              <a:cxn ang="T134">
                <a:pos x="T44" y="T45"/>
              </a:cxn>
              <a:cxn ang="T135">
                <a:pos x="T46" y="T47"/>
              </a:cxn>
              <a:cxn ang="T136">
                <a:pos x="T48" y="T49"/>
              </a:cxn>
              <a:cxn ang="T137">
                <a:pos x="T50" y="T51"/>
              </a:cxn>
              <a:cxn ang="T138">
                <a:pos x="T52" y="T53"/>
              </a:cxn>
              <a:cxn ang="T139">
                <a:pos x="T54" y="T55"/>
              </a:cxn>
              <a:cxn ang="T140">
                <a:pos x="T56" y="T57"/>
              </a:cxn>
              <a:cxn ang="T141">
                <a:pos x="T58" y="T59"/>
              </a:cxn>
              <a:cxn ang="T142">
                <a:pos x="T60" y="T61"/>
              </a:cxn>
              <a:cxn ang="T143">
                <a:pos x="T62" y="T63"/>
              </a:cxn>
              <a:cxn ang="T144">
                <a:pos x="T64" y="T65"/>
              </a:cxn>
              <a:cxn ang="T145">
                <a:pos x="T66" y="T67"/>
              </a:cxn>
              <a:cxn ang="T146">
                <a:pos x="T68" y="T69"/>
              </a:cxn>
              <a:cxn ang="T147">
                <a:pos x="T70" y="T71"/>
              </a:cxn>
              <a:cxn ang="T148">
                <a:pos x="T72" y="T73"/>
              </a:cxn>
              <a:cxn ang="T149">
                <a:pos x="T74" y="T75"/>
              </a:cxn>
              <a:cxn ang="T150">
                <a:pos x="T76" y="T77"/>
              </a:cxn>
              <a:cxn ang="T151">
                <a:pos x="T78" y="T79"/>
              </a:cxn>
              <a:cxn ang="T152">
                <a:pos x="T80" y="T81"/>
              </a:cxn>
              <a:cxn ang="T153">
                <a:pos x="T82" y="T83"/>
              </a:cxn>
              <a:cxn ang="T154">
                <a:pos x="T84" y="T85"/>
              </a:cxn>
              <a:cxn ang="T155">
                <a:pos x="T86" y="T87"/>
              </a:cxn>
              <a:cxn ang="T156">
                <a:pos x="T88" y="T89"/>
              </a:cxn>
              <a:cxn ang="T157">
                <a:pos x="T90" y="T91"/>
              </a:cxn>
              <a:cxn ang="T158">
                <a:pos x="T92" y="T93"/>
              </a:cxn>
              <a:cxn ang="T159">
                <a:pos x="T94" y="T95"/>
              </a:cxn>
              <a:cxn ang="T160">
                <a:pos x="T96" y="T97"/>
              </a:cxn>
              <a:cxn ang="T161">
                <a:pos x="T98" y="T99"/>
              </a:cxn>
              <a:cxn ang="T162">
                <a:pos x="T100" y="T101"/>
              </a:cxn>
              <a:cxn ang="T163">
                <a:pos x="T102" y="T103"/>
              </a:cxn>
              <a:cxn ang="T164">
                <a:pos x="T104" y="T105"/>
              </a:cxn>
              <a:cxn ang="T165">
                <a:pos x="T106" y="T107"/>
              </a:cxn>
              <a:cxn ang="T166">
                <a:pos x="T108" y="T109"/>
              </a:cxn>
              <a:cxn ang="T167">
                <a:pos x="T110" y="T111"/>
              </a:cxn>
            </a:cxnLst>
            <a:rect l="T168" t="T169" r="T170" b="T171"/>
            <a:pathLst>
              <a:path w="97" h="129">
                <a:moveTo>
                  <a:pt x="0" y="0"/>
                </a:moveTo>
                <a:lnTo>
                  <a:pt x="5" y="0"/>
                </a:lnTo>
                <a:lnTo>
                  <a:pt x="11" y="0"/>
                </a:lnTo>
                <a:lnTo>
                  <a:pt x="16" y="0"/>
                </a:lnTo>
                <a:lnTo>
                  <a:pt x="27" y="0"/>
                </a:lnTo>
                <a:lnTo>
                  <a:pt x="32" y="0"/>
                </a:lnTo>
                <a:lnTo>
                  <a:pt x="38" y="0"/>
                </a:lnTo>
                <a:lnTo>
                  <a:pt x="43" y="0"/>
                </a:lnTo>
                <a:lnTo>
                  <a:pt x="54" y="0"/>
                </a:lnTo>
                <a:lnTo>
                  <a:pt x="59" y="0"/>
                </a:lnTo>
                <a:lnTo>
                  <a:pt x="65" y="0"/>
                </a:lnTo>
                <a:lnTo>
                  <a:pt x="70" y="0"/>
                </a:lnTo>
                <a:lnTo>
                  <a:pt x="76" y="6"/>
                </a:lnTo>
                <a:lnTo>
                  <a:pt x="81" y="6"/>
                </a:lnTo>
                <a:lnTo>
                  <a:pt x="81" y="11"/>
                </a:lnTo>
                <a:lnTo>
                  <a:pt x="86" y="16"/>
                </a:lnTo>
                <a:lnTo>
                  <a:pt x="86" y="22"/>
                </a:lnTo>
                <a:lnTo>
                  <a:pt x="86" y="27"/>
                </a:lnTo>
                <a:lnTo>
                  <a:pt x="86" y="32"/>
                </a:lnTo>
                <a:lnTo>
                  <a:pt x="86" y="38"/>
                </a:lnTo>
                <a:lnTo>
                  <a:pt x="86" y="43"/>
                </a:lnTo>
                <a:lnTo>
                  <a:pt x="86" y="49"/>
                </a:lnTo>
                <a:lnTo>
                  <a:pt x="81" y="49"/>
                </a:lnTo>
                <a:lnTo>
                  <a:pt x="81" y="54"/>
                </a:lnTo>
                <a:lnTo>
                  <a:pt x="76" y="54"/>
                </a:lnTo>
                <a:lnTo>
                  <a:pt x="70" y="54"/>
                </a:lnTo>
                <a:lnTo>
                  <a:pt x="65" y="49"/>
                </a:lnTo>
                <a:lnTo>
                  <a:pt x="59" y="49"/>
                </a:lnTo>
                <a:lnTo>
                  <a:pt x="54" y="49"/>
                </a:lnTo>
                <a:lnTo>
                  <a:pt x="54" y="54"/>
                </a:lnTo>
                <a:lnTo>
                  <a:pt x="43" y="54"/>
                </a:lnTo>
                <a:lnTo>
                  <a:pt x="38" y="54"/>
                </a:lnTo>
                <a:lnTo>
                  <a:pt x="38" y="59"/>
                </a:lnTo>
                <a:lnTo>
                  <a:pt x="32" y="59"/>
                </a:lnTo>
                <a:lnTo>
                  <a:pt x="32" y="70"/>
                </a:lnTo>
                <a:lnTo>
                  <a:pt x="27" y="76"/>
                </a:lnTo>
                <a:lnTo>
                  <a:pt x="27" y="81"/>
                </a:lnTo>
                <a:lnTo>
                  <a:pt x="22" y="81"/>
                </a:lnTo>
                <a:lnTo>
                  <a:pt x="22" y="86"/>
                </a:lnTo>
                <a:lnTo>
                  <a:pt x="16" y="86"/>
                </a:lnTo>
                <a:lnTo>
                  <a:pt x="16" y="92"/>
                </a:lnTo>
                <a:lnTo>
                  <a:pt x="16" y="97"/>
                </a:lnTo>
                <a:lnTo>
                  <a:pt x="16" y="102"/>
                </a:lnTo>
                <a:lnTo>
                  <a:pt x="22" y="108"/>
                </a:lnTo>
                <a:lnTo>
                  <a:pt x="27" y="113"/>
                </a:lnTo>
                <a:lnTo>
                  <a:pt x="38" y="119"/>
                </a:lnTo>
                <a:lnTo>
                  <a:pt x="43" y="119"/>
                </a:lnTo>
                <a:lnTo>
                  <a:pt x="54" y="124"/>
                </a:lnTo>
                <a:lnTo>
                  <a:pt x="59" y="124"/>
                </a:lnTo>
                <a:lnTo>
                  <a:pt x="65" y="124"/>
                </a:lnTo>
                <a:lnTo>
                  <a:pt x="65" y="129"/>
                </a:lnTo>
                <a:lnTo>
                  <a:pt x="70" y="129"/>
                </a:lnTo>
                <a:lnTo>
                  <a:pt x="81" y="124"/>
                </a:lnTo>
                <a:lnTo>
                  <a:pt x="86" y="124"/>
                </a:lnTo>
                <a:lnTo>
                  <a:pt x="92" y="124"/>
                </a:lnTo>
                <a:lnTo>
                  <a:pt x="97" y="124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3" name="Grupo 2"/>
          <p:cNvGrpSpPr/>
          <p:nvPr/>
        </p:nvGrpSpPr>
        <p:grpSpPr>
          <a:xfrm>
            <a:off x="3813175" y="1589088"/>
            <a:ext cx="465138" cy="120650"/>
            <a:chOff x="3813175" y="1589088"/>
            <a:chExt cx="465138" cy="120650"/>
          </a:xfrm>
        </p:grpSpPr>
        <p:sp>
          <p:nvSpPr>
            <p:cNvPr id="45446" name="Line 420"/>
            <p:cNvSpPr>
              <a:spLocks noChangeShapeType="1"/>
            </p:cNvSpPr>
            <p:nvPr/>
          </p:nvSpPr>
          <p:spPr bwMode="auto">
            <a:xfrm>
              <a:off x="3813175" y="1649413"/>
              <a:ext cx="455613" cy="1587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47" name="Line 421"/>
            <p:cNvSpPr>
              <a:spLocks noChangeShapeType="1"/>
            </p:cNvSpPr>
            <p:nvPr/>
          </p:nvSpPr>
          <p:spPr bwMode="auto">
            <a:xfrm>
              <a:off x="3813175" y="1589088"/>
              <a:ext cx="1588" cy="120650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48" name="Line 422"/>
            <p:cNvSpPr>
              <a:spLocks noChangeShapeType="1"/>
            </p:cNvSpPr>
            <p:nvPr/>
          </p:nvSpPr>
          <p:spPr bwMode="auto">
            <a:xfrm>
              <a:off x="4276725" y="1589088"/>
              <a:ext cx="1588" cy="120650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449" name="Freeform 423"/>
          <p:cNvSpPr>
            <a:spLocks/>
          </p:cNvSpPr>
          <p:nvPr/>
        </p:nvSpPr>
        <p:spPr bwMode="auto">
          <a:xfrm>
            <a:off x="4286250" y="1649413"/>
            <a:ext cx="300038" cy="230187"/>
          </a:xfrm>
          <a:custGeom>
            <a:avLst/>
            <a:gdLst>
              <a:gd name="T0" fmla="*/ 27 w 189"/>
              <a:gd name="T1" fmla="*/ 0 h 145"/>
              <a:gd name="T2" fmla="*/ 54 w 189"/>
              <a:gd name="T3" fmla="*/ 0 h 145"/>
              <a:gd name="T4" fmla="*/ 76 w 189"/>
              <a:gd name="T5" fmla="*/ 0 h 145"/>
              <a:gd name="T6" fmla="*/ 103 w 189"/>
              <a:gd name="T7" fmla="*/ 0 h 145"/>
              <a:gd name="T8" fmla="*/ 124 w 189"/>
              <a:gd name="T9" fmla="*/ 0 h 145"/>
              <a:gd name="T10" fmla="*/ 146 w 189"/>
              <a:gd name="T11" fmla="*/ 5 h 145"/>
              <a:gd name="T12" fmla="*/ 157 w 189"/>
              <a:gd name="T13" fmla="*/ 11 h 145"/>
              <a:gd name="T14" fmla="*/ 167 w 189"/>
              <a:gd name="T15" fmla="*/ 16 h 145"/>
              <a:gd name="T16" fmla="*/ 178 w 189"/>
              <a:gd name="T17" fmla="*/ 27 h 145"/>
              <a:gd name="T18" fmla="*/ 184 w 189"/>
              <a:gd name="T19" fmla="*/ 32 h 145"/>
              <a:gd name="T20" fmla="*/ 184 w 189"/>
              <a:gd name="T21" fmla="*/ 43 h 145"/>
              <a:gd name="T22" fmla="*/ 178 w 189"/>
              <a:gd name="T23" fmla="*/ 48 h 145"/>
              <a:gd name="T24" fmla="*/ 167 w 189"/>
              <a:gd name="T25" fmla="*/ 54 h 145"/>
              <a:gd name="T26" fmla="*/ 157 w 189"/>
              <a:gd name="T27" fmla="*/ 59 h 145"/>
              <a:gd name="T28" fmla="*/ 146 w 189"/>
              <a:gd name="T29" fmla="*/ 59 h 145"/>
              <a:gd name="T30" fmla="*/ 130 w 189"/>
              <a:gd name="T31" fmla="*/ 59 h 145"/>
              <a:gd name="T32" fmla="*/ 103 w 189"/>
              <a:gd name="T33" fmla="*/ 59 h 145"/>
              <a:gd name="T34" fmla="*/ 86 w 189"/>
              <a:gd name="T35" fmla="*/ 59 h 145"/>
              <a:gd name="T36" fmla="*/ 70 w 189"/>
              <a:gd name="T37" fmla="*/ 65 h 145"/>
              <a:gd name="T38" fmla="*/ 65 w 189"/>
              <a:gd name="T39" fmla="*/ 70 h 145"/>
              <a:gd name="T40" fmla="*/ 59 w 189"/>
              <a:gd name="T41" fmla="*/ 81 h 145"/>
              <a:gd name="T42" fmla="*/ 43 w 189"/>
              <a:gd name="T43" fmla="*/ 92 h 145"/>
              <a:gd name="T44" fmla="*/ 32 w 189"/>
              <a:gd name="T45" fmla="*/ 108 h 145"/>
              <a:gd name="T46" fmla="*/ 27 w 189"/>
              <a:gd name="T47" fmla="*/ 118 h 145"/>
              <a:gd name="T48" fmla="*/ 27 w 189"/>
              <a:gd name="T49" fmla="*/ 129 h 145"/>
              <a:gd name="T50" fmla="*/ 32 w 189"/>
              <a:gd name="T51" fmla="*/ 135 h 145"/>
              <a:gd name="T52" fmla="*/ 43 w 189"/>
              <a:gd name="T53" fmla="*/ 140 h 145"/>
              <a:gd name="T54" fmla="*/ 59 w 189"/>
              <a:gd name="T55" fmla="*/ 145 h 145"/>
              <a:gd name="T56" fmla="*/ 70 w 189"/>
              <a:gd name="T57" fmla="*/ 145 h 145"/>
              <a:gd name="T58" fmla="*/ 86 w 189"/>
              <a:gd name="T59" fmla="*/ 145 h 145"/>
              <a:gd name="T60" fmla="*/ 97 w 189"/>
              <a:gd name="T61" fmla="*/ 145 h 145"/>
              <a:gd name="T62" fmla="*/ 113 w 189"/>
              <a:gd name="T63" fmla="*/ 145 h 145"/>
              <a:gd name="T64" fmla="*/ 130 w 189"/>
              <a:gd name="T65" fmla="*/ 145 h 145"/>
              <a:gd name="T66" fmla="*/ 146 w 189"/>
              <a:gd name="T67" fmla="*/ 145 h 145"/>
              <a:gd name="T68" fmla="*/ 162 w 189"/>
              <a:gd name="T69" fmla="*/ 140 h 145"/>
              <a:gd name="T70" fmla="*/ 184 w 189"/>
              <a:gd name="T71" fmla="*/ 140 h 145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w 189"/>
              <a:gd name="T109" fmla="*/ 0 h 145"/>
              <a:gd name="T110" fmla="*/ 189 w 189"/>
              <a:gd name="T111" fmla="*/ 145 h 145"/>
            </a:gdLst>
            <a:ahLst/>
            <a:cxnLst>
              <a:cxn ang="T72">
                <a:pos x="T0" y="T1"/>
              </a:cxn>
              <a:cxn ang="T73">
                <a:pos x="T2" y="T3"/>
              </a:cxn>
              <a:cxn ang="T74">
                <a:pos x="T4" y="T5"/>
              </a:cxn>
              <a:cxn ang="T75">
                <a:pos x="T6" y="T7"/>
              </a:cxn>
              <a:cxn ang="T76">
                <a:pos x="T8" y="T9"/>
              </a:cxn>
              <a:cxn ang="T77">
                <a:pos x="T10" y="T11"/>
              </a:cxn>
              <a:cxn ang="T78">
                <a:pos x="T12" y="T13"/>
              </a:cxn>
              <a:cxn ang="T79">
                <a:pos x="T14" y="T15"/>
              </a:cxn>
              <a:cxn ang="T80">
                <a:pos x="T16" y="T17"/>
              </a:cxn>
              <a:cxn ang="T81">
                <a:pos x="T18" y="T19"/>
              </a:cxn>
              <a:cxn ang="T82">
                <a:pos x="T20" y="T21"/>
              </a:cxn>
              <a:cxn ang="T83">
                <a:pos x="T22" y="T23"/>
              </a:cxn>
              <a:cxn ang="T84">
                <a:pos x="T24" y="T25"/>
              </a:cxn>
              <a:cxn ang="T85">
                <a:pos x="T26" y="T27"/>
              </a:cxn>
              <a:cxn ang="T86">
                <a:pos x="T28" y="T29"/>
              </a:cxn>
              <a:cxn ang="T87">
                <a:pos x="T30" y="T31"/>
              </a:cxn>
              <a:cxn ang="T88">
                <a:pos x="T32" y="T33"/>
              </a:cxn>
              <a:cxn ang="T89">
                <a:pos x="T34" y="T35"/>
              </a:cxn>
              <a:cxn ang="T90">
                <a:pos x="T36" y="T37"/>
              </a:cxn>
              <a:cxn ang="T91">
                <a:pos x="T38" y="T39"/>
              </a:cxn>
              <a:cxn ang="T92">
                <a:pos x="T40" y="T41"/>
              </a:cxn>
              <a:cxn ang="T93">
                <a:pos x="T42" y="T43"/>
              </a:cxn>
              <a:cxn ang="T94">
                <a:pos x="T44" y="T45"/>
              </a:cxn>
              <a:cxn ang="T95">
                <a:pos x="T46" y="T47"/>
              </a:cxn>
              <a:cxn ang="T96">
                <a:pos x="T48" y="T49"/>
              </a:cxn>
              <a:cxn ang="T97">
                <a:pos x="T50" y="T51"/>
              </a:cxn>
              <a:cxn ang="T98">
                <a:pos x="T52" y="T53"/>
              </a:cxn>
              <a:cxn ang="T99">
                <a:pos x="T54" y="T55"/>
              </a:cxn>
              <a:cxn ang="T100">
                <a:pos x="T56" y="T57"/>
              </a:cxn>
              <a:cxn ang="T101">
                <a:pos x="T58" y="T59"/>
              </a:cxn>
              <a:cxn ang="T102">
                <a:pos x="T60" y="T61"/>
              </a:cxn>
              <a:cxn ang="T103">
                <a:pos x="T62" y="T63"/>
              </a:cxn>
              <a:cxn ang="T104">
                <a:pos x="T64" y="T65"/>
              </a:cxn>
              <a:cxn ang="T105">
                <a:pos x="T66" y="T67"/>
              </a:cxn>
              <a:cxn ang="T106">
                <a:pos x="T68" y="T69"/>
              </a:cxn>
              <a:cxn ang="T107">
                <a:pos x="T70" y="T71"/>
              </a:cxn>
            </a:cxnLst>
            <a:rect l="T108" t="T109" r="T110" b="T111"/>
            <a:pathLst>
              <a:path w="189" h="145">
                <a:moveTo>
                  <a:pt x="0" y="0"/>
                </a:moveTo>
                <a:lnTo>
                  <a:pt x="27" y="0"/>
                </a:lnTo>
                <a:lnTo>
                  <a:pt x="38" y="0"/>
                </a:lnTo>
                <a:lnTo>
                  <a:pt x="54" y="0"/>
                </a:lnTo>
                <a:lnTo>
                  <a:pt x="65" y="0"/>
                </a:lnTo>
                <a:lnTo>
                  <a:pt x="76" y="0"/>
                </a:lnTo>
                <a:lnTo>
                  <a:pt x="92" y="0"/>
                </a:lnTo>
                <a:lnTo>
                  <a:pt x="103" y="0"/>
                </a:lnTo>
                <a:lnTo>
                  <a:pt x="113" y="0"/>
                </a:lnTo>
                <a:lnTo>
                  <a:pt x="124" y="0"/>
                </a:lnTo>
                <a:lnTo>
                  <a:pt x="130" y="0"/>
                </a:lnTo>
                <a:lnTo>
                  <a:pt x="146" y="5"/>
                </a:lnTo>
                <a:lnTo>
                  <a:pt x="151" y="5"/>
                </a:lnTo>
                <a:lnTo>
                  <a:pt x="157" y="11"/>
                </a:lnTo>
                <a:lnTo>
                  <a:pt x="162" y="11"/>
                </a:lnTo>
                <a:lnTo>
                  <a:pt x="167" y="16"/>
                </a:lnTo>
                <a:lnTo>
                  <a:pt x="178" y="22"/>
                </a:lnTo>
                <a:lnTo>
                  <a:pt x="178" y="27"/>
                </a:lnTo>
                <a:lnTo>
                  <a:pt x="184" y="27"/>
                </a:lnTo>
                <a:lnTo>
                  <a:pt x="184" y="32"/>
                </a:lnTo>
                <a:lnTo>
                  <a:pt x="184" y="38"/>
                </a:lnTo>
                <a:lnTo>
                  <a:pt x="184" y="43"/>
                </a:lnTo>
                <a:lnTo>
                  <a:pt x="184" y="48"/>
                </a:lnTo>
                <a:lnTo>
                  <a:pt x="178" y="48"/>
                </a:lnTo>
                <a:lnTo>
                  <a:pt x="178" y="54"/>
                </a:lnTo>
                <a:lnTo>
                  <a:pt x="167" y="54"/>
                </a:lnTo>
                <a:lnTo>
                  <a:pt x="162" y="54"/>
                </a:lnTo>
                <a:lnTo>
                  <a:pt x="157" y="59"/>
                </a:lnTo>
                <a:lnTo>
                  <a:pt x="151" y="59"/>
                </a:lnTo>
                <a:lnTo>
                  <a:pt x="146" y="59"/>
                </a:lnTo>
                <a:lnTo>
                  <a:pt x="135" y="59"/>
                </a:lnTo>
                <a:lnTo>
                  <a:pt x="130" y="59"/>
                </a:lnTo>
                <a:lnTo>
                  <a:pt x="113" y="59"/>
                </a:lnTo>
                <a:lnTo>
                  <a:pt x="103" y="59"/>
                </a:lnTo>
                <a:lnTo>
                  <a:pt x="97" y="59"/>
                </a:lnTo>
                <a:lnTo>
                  <a:pt x="86" y="59"/>
                </a:lnTo>
                <a:lnTo>
                  <a:pt x="76" y="65"/>
                </a:lnTo>
                <a:lnTo>
                  <a:pt x="70" y="65"/>
                </a:lnTo>
                <a:lnTo>
                  <a:pt x="70" y="70"/>
                </a:lnTo>
                <a:lnTo>
                  <a:pt x="65" y="70"/>
                </a:lnTo>
                <a:lnTo>
                  <a:pt x="59" y="75"/>
                </a:lnTo>
                <a:lnTo>
                  <a:pt x="59" y="81"/>
                </a:lnTo>
                <a:lnTo>
                  <a:pt x="54" y="81"/>
                </a:lnTo>
                <a:lnTo>
                  <a:pt x="43" y="92"/>
                </a:lnTo>
                <a:lnTo>
                  <a:pt x="38" y="102"/>
                </a:lnTo>
                <a:lnTo>
                  <a:pt x="32" y="108"/>
                </a:lnTo>
                <a:lnTo>
                  <a:pt x="32" y="113"/>
                </a:lnTo>
                <a:lnTo>
                  <a:pt x="27" y="118"/>
                </a:lnTo>
                <a:lnTo>
                  <a:pt x="27" y="124"/>
                </a:lnTo>
                <a:lnTo>
                  <a:pt x="27" y="129"/>
                </a:lnTo>
                <a:lnTo>
                  <a:pt x="27" y="135"/>
                </a:lnTo>
                <a:lnTo>
                  <a:pt x="32" y="135"/>
                </a:lnTo>
                <a:lnTo>
                  <a:pt x="38" y="140"/>
                </a:lnTo>
                <a:lnTo>
                  <a:pt x="43" y="140"/>
                </a:lnTo>
                <a:lnTo>
                  <a:pt x="54" y="140"/>
                </a:lnTo>
                <a:lnTo>
                  <a:pt x="59" y="145"/>
                </a:lnTo>
                <a:lnTo>
                  <a:pt x="65" y="145"/>
                </a:lnTo>
                <a:lnTo>
                  <a:pt x="70" y="145"/>
                </a:lnTo>
                <a:lnTo>
                  <a:pt x="76" y="145"/>
                </a:lnTo>
                <a:lnTo>
                  <a:pt x="86" y="145"/>
                </a:lnTo>
                <a:lnTo>
                  <a:pt x="92" y="145"/>
                </a:lnTo>
                <a:lnTo>
                  <a:pt x="97" y="145"/>
                </a:lnTo>
                <a:lnTo>
                  <a:pt x="103" y="145"/>
                </a:lnTo>
                <a:lnTo>
                  <a:pt x="113" y="145"/>
                </a:lnTo>
                <a:lnTo>
                  <a:pt x="119" y="145"/>
                </a:lnTo>
                <a:lnTo>
                  <a:pt x="130" y="145"/>
                </a:lnTo>
                <a:lnTo>
                  <a:pt x="135" y="145"/>
                </a:lnTo>
                <a:lnTo>
                  <a:pt x="146" y="145"/>
                </a:lnTo>
                <a:lnTo>
                  <a:pt x="157" y="145"/>
                </a:lnTo>
                <a:lnTo>
                  <a:pt x="162" y="140"/>
                </a:lnTo>
                <a:lnTo>
                  <a:pt x="178" y="140"/>
                </a:lnTo>
                <a:lnTo>
                  <a:pt x="184" y="140"/>
                </a:lnTo>
                <a:lnTo>
                  <a:pt x="189" y="140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4" name="Grupo 3"/>
          <p:cNvGrpSpPr/>
          <p:nvPr/>
        </p:nvGrpSpPr>
        <p:grpSpPr>
          <a:xfrm>
            <a:off x="4586288" y="1828800"/>
            <a:ext cx="465137" cy="128588"/>
            <a:chOff x="4586288" y="1828800"/>
            <a:chExt cx="465137" cy="128588"/>
          </a:xfrm>
        </p:grpSpPr>
        <p:sp>
          <p:nvSpPr>
            <p:cNvPr id="45450" name="Line 424"/>
            <p:cNvSpPr>
              <a:spLocks noChangeShapeType="1"/>
            </p:cNvSpPr>
            <p:nvPr/>
          </p:nvSpPr>
          <p:spPr bwMode="auto">
            <a:xfrm>
              <a:off x="4586288" y="1889125"/>
              <a:ext cx="455612" cy="1588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51" name="Line 425"/>
            <p:cNvSpPr>
              <a:spLocks noChangeShapeType="1"/>
            </p:cNvSpPr>
            <p:nvPr/>
          </p:nvSpPr>
          <p:spPr bwMode="auto">
            <a:xfrm>
              <a:off x="4586288" y="1836738"/>
              <a:ext cx="1587" cy="120650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52" name="Line 426"/>
            <p:cNvSpPr>
              <a:spLocks noChangeShapeType="1"/>
            </p:cNvSpPr>
            <p:nvPr/>
          </p:nvSpPr>
          <p:spPr bwMode="auto">
            <a:xfrm>
              <a:off x="5049838" y="1828800"/>
              <a:ext cx="1587" cy="119063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453" name="Freeform 427"/>
          <p:cNvSpPr>
            <a:spLocks/>
          </p:cNvSpPr>
          <p:nvPr/>
        </p:nvSpPr>
        <p:spPr bwMode="auto">
          <a:xfrm>
            <a:off x="5059363" y="1879600"/>
            <a:ext cx="300037" cy="257175"/>
          </a:xfrm>
          <a:custGeom>
            <a:avLst/>
            <a:gdLst>
              <a:gd name="T0" fmla="*/ 21 w 189"/>
              <a:gd name="T1" fmla="*/ 0 h 162"/>
              <a:gd name="T2" fmla="*/ 59 w 189"/>
              <a:gd name="T3" fmla="*/ 0 h 162"/>
              <a:gd name="T4" fmla="*/ 81 w 189"/>
              <a:gd name="T5" fmla="*/ 0 h 162"/>
              <a:gd name="T6" fmla="*/ 102 w 189"/>
              <a:gd name="T7" fmla="*/ 0 h 162"/>
              <a:gd name="T8" fmla="*/ 124 w 189"/>
              <a:gd name="T9" fmla="*/ 0 h 162"/>
              <a:gd name="T10" fmla="*/ 135 w 189"/>
              <a:gd name="T11" fmla="*/ 0 h 162"/>
              <a:gd name="T12" fmla="*/ 146 w 189"/>
              <a:gd name="T13" fmla="*/ 6 h 162"/>
              <a:gd name="T14" fmla="*/ 156 w 189"/>
              <a:gd name="T15" fmla="*/ 11 h 162"/>
              <a:gd name="T16" fmla="*/ 156 w 189"/>
              <a:gd name="T17" fmla="*/ 22 h 162"/>
              <a:gd name="T18" fmla="*/ 162 w 189"/>
              <a:gd name="T19" fmla="*/ 33 h 162"/>
              <a:gd name="T20" fmla="*/ 162 w 189"/>
              <a:gd name="T21" fmla="*/ 49 h 162"/>
              <a:gd name="T22" fmla="*/ 156 w 189"/>
              <a:gd name="T23" fmla="*/ 54 h 162"/>
              <a:gd name="T24" fmla="*/ 151 w 189"/>
              <a:gd name="T25" fmla="*/ 65 h 162"/>
              <a:gd name="T26" fmla="*/ 140 w 189"/>
              <a:gd name="T27" fmla="*/ 65 h 162"/>
              <a:gd name="T28" fmla="*/ 129 w 189"/>
              <a:gd name="T29" fmla="*/ 70 h 162"/>
              <a:gd name="T30" fmla="*/ 113 w 189"/>
              <a:gd name="T31" fmla="*/ 76 h 162"/>
              <a:gd name="T32" fmla="*/ 102 w 189"/>
              <a:gd name="T33" fmla="*/ 76 h 162"/>
              <a:gd name="T34" fmla="*/ 86 w 189"/>
              <a:gd name="T35" fmla="*/ 76 h 162"/>
              <a:gd name="T36" fmla="*/ 75 w 189"/>
              <a:gd name="T37" fmla="*/ 76 h 162"/>
              <a:gd name="T38" fmla="*/ 65 w 189"/>
              <a:gd name="T39" fmla="*/ 76 h 162"/>
              <a:gd name="T40" fmla="*/ 48 w 189"/>
              <a:gd name="T41" fmla="*/ 87 h 162"/>
              <a:gd name="T42" fmla="*/ 37 w 189"/>
              <a:gd name="T43" fmla="*/ 87 h 162"/>
              <a:gd name="T44" fmla="*/ 27 w 189"/>
              <a:gd name="T45" fmla="*/ 92 h 162"/>
              <a:gd name="T46" fmla="*/ 21 w 189"/>
              <a:gd name="T47" fmla="*/ 97 h 162"/>
              <a:gd name="T48" fmla="*/ 16 w 189"/>
              <a:gd name="T49" fmla="*/ 113 h 162"/>
              <a:gd name="T50" fmla="*/ 10 w 189"/>
              <a:gd name="T51" fmla="*/ 124 h 162"/>
              <a:gd name="T52" fmla="*/ 10 w 189"/>
              <a:gd name="T53" fmla="*/ 135 h 162"/>
              <a:gd name="T54" fmla="*/ 10 w 189"/>
              <a:gd name="T55" fmla="*/ 146 h 162"/>
              <a:gd name="T56" fmla="*/ 21 w 189"/>
              <a:gd name="T57" fmla="*/ 157 h 162"/>
              <a:gd name="T58" fmla="*/ 32 w 189"/>
              <a:gd name="T59" fmla="*/ 157 h 162"/>
              <a:gd name="T60" fmla="*/ 43 w 189"/>
              <a:gd name="T61" fmla="*/ 162 h 162"/>
              <a:gd name="T62" fmla="*/ 54 w 189"/>
              <a:gd name="T63" fmla="*/ 162 h 162"/>
              <a:gd name="T64" fmla="*/ 70 w 189"/>
              <a:gd name="T65" fmla="*/ 162 h 162"/>
              <a:gd name="T66" fmla="*/ 81 w 189"/>
              <a:gd name="T67" fmla="*/ 157 h 162"/>
              <a:gd name="T68" fmla="*/ 92 w 189"/>
              <a:gd name="T69" fmla="*/ 157 h 162"/>
              <a:gd name="T70" fmla="*/ 119 w 189"/>
              <a:gd name="T71" fmla="*/ 157 h 162"/>
              <a:gd name="T72" fmla="*/ 140 w 189"/>
              <a:gd name="T73" fmla="*/ 157 h 162"/>
              <a:gd name="T74" fmla="*/ 162 w 189"/>
              <a:gd name="T75" fmla="*/ 157 h 162"/>
              <a:gd name="T76" fmla="*/ 173 w 189"/>
              <a:gd name="T77" fmla="*/ 157 h 162"/>
              <a:gd name="T78" fmla="*/ 184 w 189"/>
              <a:gd name="T79" fmla="*/ 157 h 162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189"/>
              <a:gd name="T121" fmla="*/ 0 h 162"/>
              <a:gd name="T122" fmla="*/ 189 w 189"/>
              <a:gd name="T123" fmla="*/ 162 h 162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189" h="162">
                <a:moveTo>
                  <a:pt x="0" y="0"/>
                </a:moveTo>
                <a:lnTo>
                  <a:pt x="21" y="0"/>
                </a:lnTo>
                <a:lnTo>
                  <a:pt x="48" y="0"/>
                </a:lnTo>
                <a:lnTo>
                  <a:pt x="59" y="0"/>
                </a:lnTo>
                <a:lnTo>
                  <a:pt x="70" y="0"/>
                </a:lnTo>
                <a:lnTo>
                  <a:pt x="81" y="0"/>
                </a:lnTo>
                <a:lnTo>
                  <a:pt x="92" y="0"/>
                </a:lnTo>
                <a:lnTo>
                  <a:pt x="102" y="0"/>
                </a:lnTo>
                <a:lnTo>
                  <a:pt x="113" y="0"/>
                </a:lnTo>
                <a:lnTo>
                  <a:pt x="124" y="0"/>
                </a:lnTo>
                <a:lnTo>
                  <a:pt x="129" y="0"/>
                </a:lnTo>
                <a:lnTo>
                  <a:pt x="135" y="0"/>
                </a:lnTo>
                <a:lnTo>
                  <a:pt x="140" y="6"/>
                </a:lnTo>
                <a:lnTo>
                  <a:pt x="146" y="6"/>
                </a:lnTo>
                <a:lnTo>
                  <a:pt x="151" y="11"/>
                </a:lnTo>
                <a:lnTo>
                  <a:pt x="156" y="11"/>
                </a:lnTo>
                <a:lnTo>
                  <a:pt x="156" y="17"/>
                </a:lnTo>
                <a:lnTo>
                  <a:pt x="156" y="22"/>
                </a:lnTo>
                <a:lnTo>
                  <a:pt x="162" y="27"/>
                </a:lnTo>
                <a:lnTo>
                  <a:pt x="162" y="33"/>
                </a:lnTo>
                <a:lnTo>
                  <a:pt x="162" y="43"/>
                </a:lnTo>
                <a:lnTo>
                  <a:pt x="162" y="49"/>
                </a:lnTo>
                <a:lnTo>
                  <a:pt x="162" y="54"/>
                </a:lnTo>
                <a:lnTo>
                  <a:pt x="156" y="54"/>
                </a:lnTo>
                <a:lnTo>
                  <a:pt x="156" y="60"/>
                </a:lnTo>
                <a:lnTo>
                  <a:pt x="151" y="65"/>
                </a:lnTo>
                <a:lnTo>
                  <a:pt x="146" y="65"/>
                </a:lnTo>
                <a:lnTo>
                  <a:pt x="140" y="65"/>
                </a:lnTo>
                <a:lnTo>
                  <a:pt x="135" y="70"/>
                </a:lnTo>
                <a:lnTo>
                  <a:pt x="129" y="70"/>
                </a:lnTo>
                <a:lnTo>
                  <a:pt x="124" y="70"/>
                </a:lnTo>
                <a:lnTo>
                  <a:pt x="113" y="76"/>
                </a:lnTo>
                <a:lnTo>
                  <a:pt x="108" y="76"/>
                </a:lnTo>
                <a:lnTo>
                  <a:pt x="102" y="76"/>
                </a:lnTo>
                <a:lnTo>
                  <a:pt x="92" y="76"/>
                </a:lnTo>
                <a:lnTo>
                  <a:pt x="86" y="76"/>
                </a:lnTo>
                <a:lnTo>
                  <a:pt x="81" y="76"/>
                </a:lnTo>
                <a:lnTo>
                  <a:pt x="75" y="76"/>
                </a:lnTo>
                <a:lnTo>
                  <a:pt x="70" y="76"/>
                </a:lnTo>
                <a:lnTo>
                  <a:pt x="65" y="76"/>
                </a:lnTo>
                <a:lnTo>
                  <a:pt x="59" y="76"/>
                </a:lnTo>
                <a:lnTo>
                  <a:pt x="48" y="87"/>
                </a:lnTo>
                <a:lnTo>
                  <a:pt x="43" y="87"/>
                </a:lnTo>
                <a:lnTo>
                  <a:pt x="37" y="87"/>
                </a:lnTo>
                <a:lnTo>
                  <a:pt x="32" y="92"/>
                </a:lnTo>
                <a:lnTo>
                  <a:pt x="27" y="92"/>
                </a:lnTo>
                <a:lnTo>
                  <a:pt x="27" y="97"/>
                </a:lnTo>
                <a:lnTo>
                  <a:pt x="21" y="97"/>
                </a:lnTo>
                <a:lnTo>
                  <a:pt x="21" y="103"/>
                </a:lnTo>
                <a:lnTo>
                  <a:pt x="16" y="113"/>
                </a:lnTo>
                <a:lnTo>
                  <a:pt x="10" y="119"/>
                </a:lnTo>
                <a:lnTo>
                  <a:pt x="10" y="124"/>
                </a:lnTo>
                <a:lnTo>
                  <a:pt x="10" y="130"/>
                </a:lnTo>
                <a:lnTo>
                  <a:pt x="10" y="135"/>
                </a:lnTo>
                <a:lnTo>
                  <a:pt x="10" y="140"/>
                </a:lnTo>
                <a:lnTo>
                  <a:pt x="10" y="146"/>
                </a:lnTo>
                <a:lnTo>
                  <a:pt x="16" y="151"/>
                </a:lnTo>
                <a:lnTo>
                  <a:pt x="21" y="157"/>
                </a:lnTo>
                <a:lnTo>
                  <a:pt x="27" y="157"/>
                </a:lnTo>
                <a:lnTo>
                  <a:pt x="32" y="157"/>
                </a:lnTo>
                <a:lnTo>
                  <a:pt x="37" y="162"/>
                </a:lnTo>
                <a:lnTo>
                  <a:pt x="43" y="162"/>
                </a:lnTo>
                <a:lnTo>
                  <a:pt x="48" y="162"/>
                </a:lnTo>
                <a:lnTo>
                  <a:pt x="54" y="162"/>
                </a:lnTo>
                <a:lnTo>
                  <a:pt x="59" y="162"/>
                </a:lnTo>
                <a:lnTo>
                  <a:pt x="70" y="162"/>
                </a:lnTo>
                <a:lnTo>
                  <a:pt x="75" y="157"/>
                </a:lnTo>
                <a:lnTo>
                  <a:pt x="81" y="157"/>
                </a:lnTo>
                <a:lnTo>
                  <a:pt x="86" y="157"/>
                </a:lnTo>
                <a:lnTo>
                  <a:pt x="92" y="157"/>
                </a:lnTo>
                <a:lnTo>
                  <a:pt x="108" y="157"/>
                </a:lnTo>
                <a:lnTo>
                  <a:pt x="119" y="157"/>
                </a:lnTo>
                <a:lnTo>
                  <a:pt x="124" y="157"/>
                </a:lnTo>
                <a:lnTo>
                  <a:pt x="140" y="157"/>
                </a:lnTo>
                <a:lnTo>
                  <a:pt x="156" y="157"/>
                </a:lnTo>
                <a:lnTo>
                  <a:pt x="162" y="157"/>
                </a:lnTo>
                <a:lnTo>
                  <a:pt x="167" y="157"/>
                </a:lnTo>
                <a:lnTo>
                  <a:pt x="173" y="157"/>
                </a:lnTo>
                <a:lnTo>
                  <a:pt x="178" y="157"/>
                </a:lnTo>
                <a:lnTo>
                  <a:pt x="184" y="157"/>
                </a:lnTo>
                <a:lnTo>
                  <a:pt x="189" y="157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5" name="Grupo 4"/>
          <p:cNvGrpSpPr/>
          <p:nvPr/>
        </p:nvGrpSpPr>
        <p:grpSpPr>
          <a:xfrm>
            <a:off x="5359400" y="2068513"/>
            <a:ext cx="311150" cy="119062"/>
            <a:chOff x="5359400" y="2068513"/>
            <a:chExt cx="311150" cy="119062"/>
          </a:xfrm>
        </p:grpSpPr>
        <p:sp>
          <p:nvSpPr>
            <p:cNvPr id="45454" name="Line 428"/>
            <p:cNvSpPr>
              <a:spLocks noChangeShapeType="1"/>
            </p:cNvSpPr>
            <p:nvPr/>
          </p:nvSpPr>
          <p:spPr bwMode="auto">
            <a:xfrm>
              <a:off x="5359400" y="2128838"/>
              <a:ext cx="309563" cy="1587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55" name="Line 429"/>
            <p:cNvSpPr>
              <a:spLocks noChangeShapeType="1"/>
            </p:cNvSpPr>
            <p:nvPr/>
          </p:nvSpPr>
          <p:spPr bwMode="auto">
            <a:xfrm>
              <a:off x="5359400" y="2068513"/>
              <a:ext cx="1588" cy="119062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56" name="Line 430"/>
            <p:cNvSpPr>
              <a:spLocks noChangeShapeType="1"/>
            </p:cNvSpPr>
            <p:nvPr/>
          </p:nvSpPr>
          <p:spPr bwMode="auto">
            <a:xfrm>
              <a:off x="5668963" y="2068513"/>
              <a:ext cx="1587" cy="119062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5457" name="Freeform 431"/>
          <p:cNvSpPr>
            <a:spLocks/>
          </p:cNvSpPr>
          <p:nvPr/>
        </p:nvSpPr>
        <p:spPr bwMode="auto">
          <a:xfrm>
            <a:off x="5668963" y="2128838"/>
            <a:ext cx="317500" cy="238125"/>
          </a:xfrm>
          <a:custGeom>
            <a:avLst/>
            <a:gdLst>
              <a:gd name="T0" fmla="*/ 5 w 200"/>
              <a:gd name="T1" fmla="*/ 0 h 150"/>
              <a:gd name="T2" fmla="*/ 21 w 200"/>
              <a:gd name="T3" fmla="*/ 0 h 150"/>
              <a:gd name="T4" fmla="*/ 38 w 200"/>
              <a:gd name="T5" fmla="*/ 0 h 150"/>
              <a:gd name="T6" fmla="*/ 54 w 200"/>
              <a:gd name="T7" fmla="*/ 0 h 150"/>
              <a:gd name="T8" fmla="*/ 70 w 200"/>
              <a:gd name="T9" fmla="*/ 0 h 150"/>
              <a:gd name="T10" fmla="*/ 86 w 200"/>
              <a:gd name="T11" fmla="*/ 0 h 150"/>
              <a:gd name="T12" fmla="*/ 113 w 200"/>
              <a:gd name="T13" fmla="*/ 0 h 150"/>
              <a:gd name="T14" fmla="*/ 129 w 200"/>
              <a:gd name="T15" fmla="*/ 5 h 150"/>
              <a:gd name="T16" fmla="*/ 140 w 200"/>
              <a:gd name="T17" fmla="*/ 5 h 150"/>
              <a:gd name="T18" fmla="*/ 151 w 200"/>
              <a:gd name="T19" fmla="*/ 10 h 150"/>
              <a:gd name="T20" fmla="*/ 157 w 200"/>
              <a:gd name="T21" fmla="*/ 16 h 150"/>
              <a:gd name="T22" fmla="*/ 162 w 200"/>
              <a:gd name="T23" fmla="*/ 26 h 150"/>
              <a:gd name="T24" fmla="*/ 157 w 200"/>
              <a:gd name="T25" fmla="*/ 37 h 150"/>
              <a:gd name="T26" fmla="*/ 157 w 200"/>
              <a:gd name="T27" fmla="*/ 48 h 150"/>
              <a:gd name="T28" fmla="*/ 151 w 200"/>
              <a:gd name="T29" fmla="*/ 59 h 150"/>
              <a:gd name="T30" fmla="*/ 140 w 200"/>
              <a:gd name="T31" fmla="*/ 70 h 150"/>
              <a:gd name="T32" fmla="*/ 129 w 200"/>
              <a:gd name="T33" fmla="*/ 70 h 150"/>
              <a:gd name="T34" fmla="*/ 119 w 200"/>
              <a:gd name="T35" fmla="*/ 70 h 150"/>
              <a:gd name="T36" fmla="*/ 108 w 200"/>
              <a:gd name="T37" fmla="*/ 70 h 150"/>
              <a:gd name="T38" fmla="*/ 81 w 200"/>
              <a:gd name="T39" fmla="*/ 70 h 150"/>
              <a:gd name="T40" fmla="*/ 70 w 200"/>
              <a:gd name="T41" fmla="*/ 70 h 150"/>
              <a:gd name="T42" fmla="*/ 59 w 200"/>
              <a:gd name="T43" fmla="*/ 70 h 150"/>
              <a:gd name="T44" fmla="*/ 43 w 200"/>
              <a:gd name="T45" fmla="*/ 70 h 150"/>
              <a:gd name="T46" fmla="*/ 32 w 200"/>
              <a:gd name="T47" fmla="*/ 80 h 150"/>
              <a:gd name="T48" fmla="*/ 27 w 200"/>
              <a:gd name="T49" fmla="*/ 91 h 150"/>
              <a:gd name="T50" fmla="*/ 21 w 200"/>
              <a:gd name="T51" fmla="*/ 102 h 150"/>
              <a:gd name="T52" fmla="*/ 27 w 200"/>
              <a:gd name="T53" fmla="*/ 113 h 150"/>
              <a:gd name="T54" fmla="*/ 32 w 200"/>
              <a:gd name="T55" fmla="*/ 123 h 150"/>
              <a:gd name="T56" fmla="*/ 32 w 200"/>
              <a:gd name="T57" fmla="*/ 134 h 150"/>
              <a:gd name="T58" fmla="*/ 38 w 200"/>
              <a:gd name="T59" fmla="*/ 140 h 150"/>
              <a:gd name="T60" fmla="*/ 48 w 200"/>
              <a:gd name="T61" fmla="*/ 145 h 150"/>
              <a:gd name="T62" fmla="*/ 59 w 200"/>
              <a:gd name="T63" fmla="*/ 150 h 150"/>
              <a:gd name="T64" fmla="*/ 75 w 200"/>
              <a:gd name="T65" fmla="*/ 150 h 150"/>
              <a:gd name="T66" fmla="*/ 92 w 200"/>
              <a:gd name="T67" fmla="*/ 150 h 150"/>
              <a:gd name="T68" fmla="*/ 113 w 200"/>
              <a:gd name="T69" fmla="*/ 150 h 150"/>
              <a:gd name="T70" fmla="*/ 124 w 200"/>
              <a:gd name="T71" fmla="*/ 150 h 150"/>
              <a:gd name="T72" fmla="*/ 151 w 200"/>
              <a:gd name="T73" fmla="*/ 150 h 150"/>
              <a:gd name="T74" fmla="*/ 173 w 200"/>
              <a:gd name="T75" fmla="*/ 150 h 150"/>
              <a:gd name="T76" fmla="*/ 184 w 200"/>
              <a:gd name="T77" fmla="*/ 150 h 150"/>
              <a:gd name="T78" fmla="*/ 194 w 200"/>
              <a:gd name="T79" fmla="*/ 150 h 150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w 200"/>
              <a:gd name="T121" fmla="*/ 0 h 150"/>
              <a:gd name="T122" fmla="*/ 200 w 200"/>
              <a:gd name="T123" fmla="*/ 150 h 150"/>
            </a:gdLst>
            <a:ahLst/>
            <a:cxnLst>
              <a:cxn ang="T80">
                <a:pos x="T0" y="T1"/>
              </a:cxn>
              <a:cxn ang="T81">
                <a:pos x="T2" y="T3"/>
              </a:cxn>
              <a:cxn ang="T82">
                <a:pos x="T4" y="T5"/>
              </a:cxn>
              <a:cxn ang="T83">
                <a:pos x="T6" y="T7"/>
              </a:cxn>
              <a:cxn ang="T84">
                <a:pos x="T8" y="T9"/>
              </a:cxn>
              <a:cxn ang="T85">
                <a:pos x="T10" y="T11"/>
              </a:cxn>
              <a:cxn ang="T86">
                <a:pos x="T12" y="T13"/>
              </a:cxn>
              <a:cxn ang="T87">
                <a:pos x="T14" y="T15"/>
              </a:cxn>
              <a:cxn ang="T88">
                <a:pos x="T16" y="T17"/>
              </a:cxn>
              <a:cxn ang="T89">
                <a:pos x="T18" y="T19"/>
              </a:cxn>
              <a:cxn ang="T90">
                <a:pos x="T20" y="T21"/>
              </a:cxn>
              <a:cxn ang="T91">
                <a:pos x="T22" y="T23"/>
              </a:cxn>
              <a:cxn ang="T92">
                <a:pos x="T24" y="T25"/>
              </a:cxn>
              <a:cxn ang="T93">
                <a:pos x="T26" y="T27"/>
              </a:cxn>
              <a:cxn ang="T94">
                <a:pos x="T28" y="T29"/>
              </a:cxn>
              <a:cxn ang="T95">
                <a:pos x="T30" y="T31"/>
              </a:cxn>
              <a:cxn ang="T96">
                <a:pos x="T32" y="T33"/>
              </a:cxn>
              <a:cxn ang="T97">
                <a:pos x="T34" y="T35"/>
              </a:cxn>
              <a:cxn ang="T98">
                <a:pos x="T36" y="T37"/>
              </a:cxn>
              <a:cxn ang="T99">
                <a:pos x="T38" y="T39"/>
              </a:cxn>
              <a:cxn ang="T100">
                <a:pos x="T40" y="T41"/>
              </a:cxn>
              <a:cxn ang="T101">
                <a:pos x="T42" y="T43"/>
              </a:cxn>
              <a:cxn ang="T102">
                <a:pos x="T44" y="T45"/>
              </a:cxn>
              <a:cxn ang="T103">
                <a:pos x="T46" y="T47"/>
              </a:cxn>
              <a:cxn ang="T104">
                <a:pos x="T48" y="T49"/>
              </a:cxn>
              <a:cxn ang="T105">
                <a:pos x="T50" y="T51"/>
              </a:cxn>
              <a:cxn ang="T106">
                <a:pos x="T52" y="T53"/>
              </a:cxn>
              <a:cxn ang="T107">
                <a:pos x="T54" y="T55"/>
              </a:cxn>
              <a:cxn ang="T108">
                <a:pos x="T56" y="T57"/>
              </a:cxn>
              <a:cxn ang="T109">
                <a:pos x="T58" y="T59"/>
              </a:cxn>
              <a:cxn ang="T110">
                <a:pos x="T60" y="T61"/>
              </a:cxn>
              <a:cxn ang="T111">
                <a:pos x="T62" y="T63"/>
              </a:cxn>
              <a:cxn ang="T112">
                <a:pos x="T64" y="T65"/>
              </a:cxn>
              <a:cxn ang="T113">
                <a:pos x="T66" y="T67"/>
              </a:cxn>
              <a:cxn ang="T114">
                <a:pos x="T68" y="T69"/>
              </a:cxn>
              <a:cxn ang="T115">
                <a:pos x="T70" y="T71"/>
              </a:cxn>
              <a:cxn ang="T116">
                <a:pos x="T72" y="T73"/>
              </a:cxn>
              <a:cxn ang="T117">
                <a:pos x="T74" y="T75"/>
              </a:cxn>
              <a:cxn ang="T118">
                <a:pos x="T76" y="T77"/>
              </a:cxn>
              <a:cxn ang="T119">
                <a:pos x="T78" y="T79"/>
              </a:cxn>
            </a:cxnLst>
            <a:rect l="T120" t="T121" r="T122" b="T123"/>
            <a:pathLst>
              <a:path w="200" h="150">
                <a:moveTo>
                  <a:pt x="0" y="0"/>
                </a:moveTo>
                <a:lnTo>
                  <a:pt x="5" y="0"/>
                </a:lnTo>
                <a:lnTo>
                  <a:pt x="10" y="0"/>
                </a:lnTo>
                <a:lnTo>
                  <a:pt x="21" y="0"/>
                </a:lnTo>
                <a:lnTo>
                  <a:pt x="27" y="0"/>
                </a:lnTo>
                <a:lnTo>
                  <a:pt x="38" y="0"/>
                </a:lnTo>
                <a:lnTo>
                  <a:pt x="43" y="0"/>
                </a:lnTo>
                <a:lnTo>
                  <a:pt x="54" y="0"/>
                </a:lnTo>
                <a:lnTo>
                  <a:pt x="65" y="0"/>
                </a:lnTo>
                <a:lnTo>
                  <a:pt x="70" y="0"/>
                </a:lnTo>
                <a:lnTo>
                  <a:pt x="75" y="0"/>
                </a:lnTo>
                <a:lnTo>
                  <a:pt x="86" y="0"/>
                </a:lnTo>
                <a:lnTo>
                  <a:pt x="102" y="0"/>
                </a:lnTo>
                <a:lnTo>
                  <a:pt x="113" y="0"/>
                </a:lnTo>
                <a:lnTo>
                  <a:pt x="124" y="0"/>
                </a:lnTo>
                <a:lnTo>
                  <a:pt x="129" y="5"/>
                </a:lnTo>
                <a:lnTo>
                  <a:pt x="135" y="5"/>
                </a:lnTo>
                <a:lnTo>
                  <a:pt x="140" y="5"/>
                </a:lnTo>
                <a:lnTo>
                  <a:pt x="146" y="5"/>
                </a:lnTo>
                <a:lnTo>
                  <a:pt x="151" y="10"/>
                </a:lnTo>
                <a:lnTo>
                  <a:pt x="157" y="10"/>
                </a:lnTo>
                <a:lnTo>
                  <a:pt x="157" y="16"/>
                </a:lnTo>
                <a:lnTo>
                  <a:pt x="157" y="21"/>
                </a:lnTo>
                <a:lnTo>
                  <a:pt x="162" y="26"/>
                </a:lnTo>
                <a:lnTo>
                  <a:pt x="157" y="32"/>
                </a:lnTo>
                <a:lnTo>
                  <a:pt x="157" y="37"/>
                </a:lnTo>
                <a:lnTo>
                  <a:pt x="157" y="43"/>
                </a:lnTo>
                <a:lnTo>
                  <a:pt x="157" y="48"/>
                </a:lnTo>
                <a:lnTo>
                  <a:pt x="151" y="53"/>
                </a:lnTo>
                <a:lnTo>
                  <a:pt x="151" y="59"/>
                </a:lnTo>
                <a:lnTo>
                  <a:pt x="146" y="64"/>
                </a:lnTo>
                <a:lnTo>
                  <a:pt x="140" y="70"/>
                </a:lnTo>
                <a:lnTo>
                  <a:pt x="135" y="70"/>
                </a:lnTo>
                <a:lnTo>
                  <a:pt x="129" y="70"/>
                </a:lnTo>
                <a:lnTo>
                  <a:pt x="124" y="70"/>
                </a:lnTo>
                <a:lnTo>
                  <a:pt x="119" y="70"/>
                </a:lnTo>
                <a:lnTo>
                  <a:pt x="113" y="70"/>
                </a:lnTo>
                <a:lnTo>
                  <a:pt x="108" y="70"/>
                </a:lnTo>
                <a:lnTo>
                  <a:pt x="92" y="70"/>
                </a:lnTo>
                <a:lnTo>
                  <a:pt x="81" y="70"/>
                </a:lnTo>
                <a:lnTo>
                  <a:pt x="75" y="70"/>
                </a:lnTo>
                <a:lnTo>
                  <a:pt x="70" y="70"/>
                </a:lnTo>
                <a:lnTo>
                  <a:pt x="65" y="70"/>
                </a:lnTo>
                <a:lnTo>
                  <a:pt x="59" y="70"/>
                </a:lnTo>
                <a:lnTo>
                  <a:pt x="48" y="70"/>
                </a:lnTo>
                <a:lnTo>
                  <a:pt x="43" y="70"/>
                </a:lnTo>
                <a:lnTo>
                  <a:pt x="38" y="80"/>
                </a:lnTo>
                <a:lnTo>
                  <a:pt x="32" y="80"/>
                </a:lnTo>
                <a:lnTo>
                  <a:pt x="32" y="86"/>
                </a:lnTo>
                <a:lnTo>
                  <a:pt x="27" y="91"/>
                </a:lnTo>
                <a:lnTo>
                  <a:pt x="27" y="96"/>
                </a:lnTo>
                <a:lnTo>
                  <a:pt x="21" y="102"/>
                </a:lnTo>
                <a:lnTo>
                  <a:pt x="21" y="107"/>
                </a:lnTo>
                <a:lnTo>
                  <a:pt x="27" y="113"/>
                </a:lnTo>
                <a:lnTo>
                  <a:pt x="27" y="118"/>
                </a:lnTo>
                <a:lnTo>
                  <a:pt x="32" y="123"/>
                </a:lnTo>
                <a:lnTo>
                  <a:pt x="32" y="129"/>
                </a:lnTo>
                <a:lnTo>
                  <a:pt x="32" y="134"/>
                </a:lnTo>
                <a:lnTo>
                  <a:pt x="38" y="134"/>
                </a:lnTo>
                <a:lnTo>
                  <a:pt x="38" y="140"/>
                </a:lnTo>
                <a:lnTo>
                  <a:pt x="43" y="145"/>
                </a:lnTo>
                <a:lnTo>
                  <a:pt x="48" y="145"/>
                </a:lnTo>
                <a:lnTo>
                  <a:pt x="54" y="145"/>
                </a:lnTo>
                <a:lnTo>
                  <a:pt x="59" y="150"/>
                </a:lnTo>
                <a:lnTo>
                  <a:pt x="65" y="150"/>
                </a:lnTo>
                <a:lnTo>
                  <a:pt x="75" y="150"/>
                </a:lnTo>
                <a:lnTo>
                  <a:pt x="81" y="150"/>
                </a:lnTo>
                <a:lnTo>
                  <a:pt x="92" y="150"/>
                </a:lnTo>
                <a:lnTo>
                  <a:pt x="108" y="150"/>
                </a:lnTo>
                <a:lnTo>
                  <a:pt x="113" y="150"/>
                </a:lnTo>
                <a:lnTo>
                  <a:pt x="119" y="150"/>
                </a:lnTo>
                <a:lnTo>
                  <a:pt x="124" y="150"/>
                </a:lnTo>
                <a:lnTo>
                  <a:pt x="140" y="150"/>
                </a:lnTo>
                <a:lnTo>
                  <a:pt x="151" y="150"/>
                </a:lnTo>
                <a:lnTo>
                  <a:pt x="162" y="150"/>
                </a:lnTo>
                <a:lnTo>
                  <a:pt x="173" y="150"/>
                </a:lnTo>
                <a:lnTo>
                  <a:pt x="178" y="150"/>
                </a:lnTo>
                <a:lnTo>
                  <a:pt x="184" y="150"/>
                </a:lnTo>
                <a:lnTo>
                  <a:pt x="189" y="150"/>
                </a:lnTo>
                <a:lnTo>
                  <a:pt x="194" y="150"/>
                </a:lnTo>
                <a:lnTo>
                  <a:pt x="200" y="150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sp>
        <p:nvSpPr>
          <p:cNvPr id="45205" name="Line 149"/>
          <p:cNvSpPr>
            <a:spLocks noChangeShapeType="1"/>
          </p:cNvSpPr>
          <p:nvPr/>
        </p:nvSpPr>
        <p:spPr bwMode="auto">
          <a:xfrm>
            <a:off x="6440488" y="1298575"/>
            <a:ext cx="1587" cy="4787900"/>
          </a:xfrm>
          <a:prstGeom prst="line">
            <a:avLst/>
          </a:prstGeom>
          <a:noFill/>
          <a:ln w="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58" name="Line 432"/>
          <p:cNvSpPr>
            <a:spLocks noChangeShapeType="1"/>
          </p:cNvSpPr>
          <p:nvPr/>
        </p:nvSpPr>
        <p:spPr bwMode="auto">
          <a:xfrm>
            <a:off x="5976938" y="2366963"/>
            <a:ext cx="463550" cy="1587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59" name="Line 433"/>
          <p:cNvSpPr>
            <a:spLocks noChangeShapeType="1"/>
          </p:cNvSpPr>
          <p:nvPr/>
        </p:nvSpPr>
        <p:spPr bwMode="auto">
          <a:xfrm>
            <a:off x="5976938" y="2308225"/>
            <a:ext cx="1587" cy="119063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60" name="Line 434"/>
          <p:cNvSpPr>
            <a:spLocks noChangeShapeType="1"/>
          </p:cNvSpPr>
          <p:nvPr/>
        </p:nvSpPr>
        <p:spPr bwMode="auto">
          <a:xfrm>
            <a:off x="6440488" y="2308225"/>
            <a:ext cx="1587" cy="119063"/>
          </a:xfrm>
          <a:prstGeom prst="line">
            <a:avLst/>
          </a:prstGeom>
          <a:noFill/>
          <a:ln w="25400">
            <a:solidFill>
              <a:srgbClr val="33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45461" name="Freeform 435"/>
          <p:cNvSpPr>
            <a:spLocks/>
          </p:cNvSpPr>
          <p:nvPr/>
        </p:nvSpPr>
        <p:spPr bwMode="auto">
          <a:xfrm>
            <a:off x="6432550" y="1477963"/>
            <a:ext cx="317500" cy="906462"/>
          </a:xfrm>
          <a:custGeom>
            <a:avLst/>
            <a:gdLst>
              <a:gd name="T0" fmla="*/ 38 w 200"/>
              <a:gd name="T1" fmla="*/ 571 h 571"/>
              <a:gd name="T2" fmla="*/ 87 w 200"/>
              <a:gd name="T3" fmla="*/ 571 h 571"/>
              <a:gd name="T4" fmla="*/ 108 w 200"/>
              <a:gd name="T5" fmla="*/ 571 h 571"/>
              <a:gd name="T6" fmla="*/ 124 w 200"/>
              <a:gd name="T7" fmla="*/ 566 h 571"/>
              <a:gd name="T8" fmla="*/ 141 w 200"/>
              <a:gd name="T9" fmla="*/ 560 h 571"/>
              <a:gd name="T10" fmla="*/ 152 w 200"/>
              <a:gd name="T11" fmla="*/ 539 h 571"/>
              <a:gd name="T12" fmla="*/ 162 w 200"/>
              <a:gd name="T13" fmla="*/ 512 h 571"/>
              <a:gd name="T14" fmla="*/ 162 w 200"/>
              <a:gd name="T15" fmla="*/ 496 h 571"/>
              <a:gd name="T16" fmla="*/ 157 w 200"/>
              <a:gd name="T17" fmla="*/ 474 h 571"/>
              <a:gd name="T18" fmla="*/ 141 w 200"/>
              <a:gd name="T19" fmla="*/ 458 h 571"/>
              <a:gd name="T20" fmla="*/ 124 w 200"/>
              <a:gd name="T21" fmla="*/ 453 h 571"/>
              <a:gd name="T22" fmla="*/ 92 w 200"/>
              <a:gd name="T23" fmla="*/ 453 h 571"/>
              <a:gd name="T24" fmla="*/ 65 w 200"/>
              <a:gd name="T25" fmla="*/ 447 h 571"/>
              <a:gd name="T26" fmla="*/ 43 w 200"/>
              <a:gd name="T27" fmla="*/ 442 h 571"/>
              <a:gd name="T28" fmla="*/ 27 w 200"/>
              <a:gd name="T29" fmla="*/ 426 h 571"/>
              <a:gd name="T30" fmla="*/ 22 w 200"/>
              <a:gd name="T31" fmla="*/ 410 h 571"/>
              <a:gd name="T32" fmla="*/ 22 w 200"/>
              <a:gd name="T33" fmla="*/ 383 h 571"/>
              <a:gd name="T34" fmla="*/ 22 w 200"/>
              <a:gd name="T35" fmla="*/ 361 h 571"/>
              <a:gd name="T36" fmla="*/ 33 w 200"/>
              <a:gd name="T37" fmla="*/ 345 h 571"/>
              <a:gd name="T38" fmla="*/ 49 w 200"/>
              <a:gd name="T39" fmla="*/ 334 h 571"/>
              <a:gd name="T40" fmla="*/ 70 w 200"/>
              <a:gd name="T41" fmla="*/ 323 h 571"/>
              <a:gd name="T42" fmla="*/ 87 w 200"/>
              <a:gd name="T43" fmla="*/ 318 h 571"/>
              <a:gd name="T44" fmla="*/ 130 w 200"/>
              <a:gd name="T45" fmla="*/ 313 h 571"/>
              <a:gd name="T46" fmla="*/ 146 w 200"/>
              <a:gd name="T47" fmla="*/ 313 h 571"/>
              <a:gd name="T48" fmla="*/ 152 w 200"/>
              <a:gd name="T49" fmla="*/ 302 h 571"/>
              <a:gd name="T50" fmla="*/ 157 w 200"/>
              <a:gd name="T51" fmla="*/ 291 h 571"/>
              <a:gd name="T52" fmla="*/ 157 w 200"/>
              <a:gd name="T53" fmla="*/ 253 h 571"/>
              <a:gd name="T54" fmla="*/ 146 w 200"/>
              <a:gd name="T55" fmla="*/ 232 h 571"/>
              <a:gd name="T56" fmla="*/ 130 w 200"/>
              <a:gd name="T57" fmla="*/ 216 h 571"/>
              <a:gd name="T58" fmla="*/ 108 w 200"/>
              <a:gd name="T59" fmla="*/ 205 h 571"/>
              <a:gd name="T60" fmla="*/ 60 w 200"/>
              <a:gd name="T61" fmla="*/ 178 h 571"/>
              <a:gd name="T62" fmla="*/ 38 w 200"/>
              <a:gd name="T63" fmla="*/ 162 h 571"/>
              <a:gd name="T64" fmla="*/ 22 w 200"/>
              <a:gd name="T65" fmla="*/ 135 h 571"/>
              <a:gd name="T66" fmla="*/ 11 w 200"/>
              <a:gd name="T67" fmla="*/ 113 h 571"/>
              <a:gd name="T68" fmla="*/ 5 w 200"/>
              <a:gd name="T69" fmla="*/ 92 h 571"/>
              <a:gd name="T70" fmla="*/ 0 w 200"/>
              <a:gd name="T71" fmla="*/ 76 h 571"/>
              <a:gd name="T72" fmla="*/ 0 w 200"/>
              <a:gd name="T73" fmla="*/ 60 h 571"/>
              <a:gd name="T74" fmla="*/ 5 w 200"/>
              <a:gd name="T75" fmla="*/ 49 h 571"/>
              <a:gd name="T76" fmla="*/ 22 w 200"/>
              <a:gd name="T77" fmla="*/ 33 h 571"/>
              <a:gd name="T78" fmla="*/ 38 w 200"/>
              <a:gd name="T79" fmla="*/ 22 h 571"/>
              <a:gd name="T80" fmla="*/ 54 w 200"/>
              <a:gd name="T81" fmla="*/ 11 h 571"/>
              <a:gd name="T82" fmla="*/ 70 w 200"/>
              <a:gd name="T83" fmla="*/ 6 h 571"/>
              <a:gd name="T84" fmla="*/ 87 w 200"/>
              <a:gd name="T85" fmla="*/ 6 h 571"/>
              <a:gd name="T86" fmla="*/ 114 w 200"/>
              <a:gd name="T87" fmla="*/ 6 h 571"/>
              <a:gd name="T88" fmla="*/ 130 w 200"/>
              <a:gd name="T89" fmla="*/ 6 h 571"/>
              <a:gd name="T90" fmla="*/ 146 w 200"/>
              <a:gd name="T91" fmla="*/ 6 h 571"/>
              <a:gd name="T92" fmla="*/ 179 w 200"/>
              <a:gd name="T93" fmla="*/ 0 h 571"/>
              <a:gd name="T94" fmla="*/ 195 w 200"/>
              <a:gd name="T95" fmla="*/ 0 h 571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w 200"/>
              <a:gd name="T145" fmla="*/ 0 h 571"/>
              <a:gd name="T146" fmla="*/ 200 w 200"/>
              <a:gd name="T147" fmla="*/ 571 h 571"/>
            </a:gdLst>
            <a:ahLst/>
            <a:cxnLst>
              <a:cxn ang="T96">
                <a:pos x="T0" y="T1"/>
              </a:cxn>
              <a:cxn ang="T97">
                <a:pos x="T2" y="T3"/>
              </a:cxn>
              <a:cxn ang="T98">
                <a:pos x="T4" y="T5"/>
              </a:cxn>
              <a:cxn ang="T99">
                <a:pos x="T6" y="T7"/>
              </a:cxn>
              <a:cxn ang="T100">
                <a:pos x="T8" y="T9"/>
              </a:cxn>
              <a:cxn ang="T101">
                <a:pos x="T10" y="T11"/>
              </a:cxn>
              <a:cxn ang="T102">
                <a:pos x="T12" y="T13"/>
              </a:cxn>
              <a:cxn ang="T103">
                <a:pos x="T14" y="T15"/>
              </a:cxn>
              <a:cxn ang="T104">
                <a:pos x="T16" y="T17"/>
              </a:cxn>
              <a:cxn ang="T105">
                <a:pos x="T18" y="T19"/>
              </a:cxn>
              <a:cxn ang="T106">
                <a:pos x="T20" y="T21"/>
              </a:cxn>
              <a:cxn ang="T107">
                <a:pos x="T22" y="T23"/>
              </a:cxn>
              <a:cxn ang="T108">
                <a:pos x="T24" y="T25"/>
              </a:cxn>
              <a:cxn ang="T109">
                <a:pos x="T26" y="T27"/>
              </a:cxn>
              <a:cxn ang="T110">
                <a:pos x="T28" y="T29"/>
              </a:cxn>
              <a:cxn ang="T111">
                <a:pos x="T30" y="T31"/>
              </a:cxn>
              <a:cxn ang="T112">
                <a:pos x="T32" y="T33"/>
              </a:cxn>
              <a:cxn ang="T113">
                <a:pos x="T34" y="T35"/>
              </a:cxn>
              <a:cxn ang="T114">
                <a:pos x="T36" y="T37"/>
              </a:cxn>
              <a:cxn ang="T115">
                <a:pos x="T38" y="T39"/>
              </a:cxn>
              <a:cxn ang="T116">
                <a:pos x="T40" y="T41"/>
              </a:cxn>
              <a:cxn ang="T117">
                <a:pos x="T42" y="T43"/>
              </a:cxn>
              <a:cxn ang="T118">
                <a:pos x="T44" y="T45"/>
              </a:cxn>
              <a:cxn ang="T119">
                <a:pos x="T46" y="T47"/>
              </a:cxn>
              <a:cxn ang="T120">
                <a:pos x="T48" y="T49"/>
              </a:cxn>
              <a:cxn ang="T121">
                <a:pos x="T50" y="T51"/>
              </a:cxn>
              <a:cxn ang="T122">
                <a:pos x="T52" y="T53"/>
              </a:cxn>
              <a:cxn ang="T123">
                <a:pos x="T54" y="T55"/>
              </a:cxn>
              <a:cxn ang="T124">
                <a:pos x="T56" y="T57"/>
              </a:cxn>
              <a:cxn ang="T125">
                <a:pos x="T58" y="T59"/>
              </a:cxn>
              <a:cxn ang="T126">
                <a:pos x="T60" y="T61"/>
              </a:cxn>
              <a:cxn ang="T127">
                <a:pos x="T62" y="T63"/>
              </a:cxn>
              <a:cxn ang="T128">
                <a:pos x="T64" y="T65"/>
              </a:cxn>
              <a:cxn ang="T129">
                <a:pos x="T66" y="T67"/>
              </a:cxn>
              <a:cxn ang="T130">
                <a:pos x="T68" y="T69"/>
              </a:cxn>
              <a:cxn ang="T131">
                <a:pos x="T70" y="T71"/>
              </a:cxn>
              <a:cxn ang="T132">
                <a:pos x="T72" y="T73"/>
              </a:cxn>
              <a:cxn ang="T133">
                <a:pos x="T74" y="T75"/>
              </a:cxn>
              <a:cxn ang="T134">
                <a:pos x="T76" y="T77"/>
              </a:cxn>
              <a:cxn ang="T135">
                <a:pos x="T78" y="T79"/>
              </a:cxn>
              <a:cxn ang="T136">
                <a:pos x="T80" y="T81"/>
              </a:cxn>
              <a:cxn ang="T137">
                <a:pos x="T82" y="T83"/>
              </a:cxn>
              <a:cxn ang="T138">
                <a:pos x="T84" y="T85"/>
              </a:cxn>
              <a:cxn ang="T139">
                <a:pos x="T86" y="T87"/>
              </a:cxn>
              <a:cxn ang="T140">
                <a:pos x="T88" y="T89"/>
              </a:cxn>
              <a:cxn ang="T141">
                <a:pos x="T90" y="T91"/>
              </a:cxn>
              <a:cxn ang="T142">
                <a:pos x="T92" y="T93"/>
              </a:cxn>
              <a:cxn ang="T143">
                <a:pos x="T94" y="T95"/>
              </a:cxn>
            </a:cxnLst>
            <a:rect l="T144" t="T145" r="T146" b="T147"/>
            <a:pathLst>
              <a:path w="200" h="571">
                <a:moveTo>
                  <a:pt x="5" y="566"/>
                </a:moveTo>
                <a:lnTo>
                  <a:pt x="22" y="566"/>
                </a:lnTo>
                <a:lnTo>
                  <a:pt x="38" y="571"/>
                </a:lnTo>
                <a:lnTo>
                  <a:pt x="54" y="571"/>
                </a:lnTo>
                <a:lnTo>
                  <a:pt x="70" y="571"/>
                </a:lnTo>
                <a:lnTo>
                  <a:pt x="87" y="571"/>
                </a:lnTo>
                <a:lnTo>
                  <a:pt x="92" y="571"/>
                </a:lnTo>
                <a:lnTo>
                  <a:pt x="103" y="571"/>
                </a:lnTo>
                <a:lnTo>
                  <a:pt x="108" y="571"/>
                </a:lnTo>
                <a:lnTo>
                  <a:pt x="114" y="571"/>
                </a:lnTo>
                <a:lnTo>
                  <a:pt x="119" y="566"/>
                </a:lnTo>
                <a:lnTo>
                  <a:pt x="124" y="566"/>
                </a:lnTo>
                <a:lnTo>
                  <a:pt x="130" y="566"/>
                </a:lnTo>
                <a:lnTo>
                  <a:pt x="135" y="560"/>
                </a:lnTo>
                <a:lnTo>
                  <a:pt x="141" y="560"/>
                </a:lnTo>
                <a:lnTo>
                  <a:pt x="141" y="555"/>
                </a:lnTo>
                <a:lnTo>
                  <a:pt x="146" y="550"/>
                </a:lnTo>
                <a:lnTo>
                  <a:pt x="152" y="539"/>
                </a:lnTo>
                <a:lnTo>
                  <a:pt x="157" y="528"/>
                </a:lnTo>
                <a:lnTo>
                  <a:pt x="157" y="523"/>
                </a:lnTo>
                <a:lnTo>
                  <a:pt x="162" y="512"/>
                </a:lnTo>
                <a:lnTo>
                  <a:pt x="162" y="506"/>
                </a:lnTo>
                <a:lnTo>
                  <a:pt x="162" y="501"/>
                </a:lnTo>
                <a:lnTo>
                  <a:pt x="162" y="496"/>
                </a:lnTo>
                <a:lnTo>
                  <a:pt x="162" y="490"/>
                </a:lnTo>
                <a:lnTo>
                  <a:pt x="162" y="480"/>
                </a:lnTo>
                <a:lnTo>
                  <a:pt x="157" y="474"/>
                </a:lnTo>
                <a:lnTo>
                  <a:pt x="152" y="469"/>
                </a:lnTo>
                <a:lnTo>
                  <a:pt x="146" y="463"/>
                </a:lnTo>
                <a:lnTo>
                  <a:pt x="141" y="458"/>
                </a:lnTo>
                <a:lnTo>
                  <a:pt x="135" y="458"/>
                </a:lnTo>
                <a:lnTo>
                  <a:pt x="130" y="453"/>
                </a:lnTo>
                <a:lnTo>
                  <a:pt x="124" y="453"/>
                </a:lnTo>
                <a:lnTo>
                  <a:pt x="119" y="453"/>
                </a:lnTo>
                <a:lnTo>
                  <a:pt x="108" y="453"/>
                </a:lnTo>
                <a:lnTo>
                  <a:pt x="92" y="453"/>
                </a:lnTo>
                <a:lnTo>
                  <a:pt x="81" y="453"/>
                </a:lnTo>
                <a:lnTo>
                  <a:pt x="70" y="453"/>
                </a:lnTo>
                <a:lnTo>
                  <a:pt x="65" y="447"/>
                </a:lnTo>
                <a:lnTo>
                  <a:pt x="54" y="447"/>
                </a:lnTo>
                <a:lnTo>
                  <a:pt x="49" y="442"/>
                </a:lnTo>
                <a:lnTo>
                  <a:pt x="43" y="442"/>
                </a:lnTo>
                <a:lnTo>
                  <a:pt x="38" y="442"/>
                </a:lnTo>
                <a:lnTo>
                  <a:pt x="33" y="436"/>
                </a:lnTo>
                <a:lnTo>
                  <a:pt x="27" y="426"/>
                </a:lnTo>
                <a:lnTo>
                  <a:pt x="22" y="420"/>
                </a:lnTo>
                <a:lnTo>
                  <a:pt x="22" y="415"/>
                </a:lnTo>
                <a:lnTo>
                  <a:pt x="22" y="410"/>
                </a:lnTo>
                <a:lnTo>
                  <a:pt x="16" y="404"/>
                </a:lnTo>
                <a:lnTo>
                  <a:pt x="16" y="393"/>
                </a:lnTo>
                <a:lnTo>
                  <a:pt x="22" y="383"/>
                </a:lnTo>
                <a:lnTo>
                  <a:pt x="22" y="377"/>
                </a:lnTo>
                <a:lnTo>
                  <a:pt x="22" y="366"/>
                </a:lnTo>
                <a:lnTo>
                  <a:pt x="22" y="361"/>
                </a:lnTo>
                <a:lnTo>
                  <a:pt x="27" y="350"/>
                </a:lnTo>
                <a:lnTo>
                  <a:pt x="27" y="345"/>
                </a:lnTo>
                <a:lnTo>
                  <a:pt x="33" y="345"/>
                </a:lnTo>
                <a:lnTo>
                  <a:pt x="38" y="340"/>
                </a:lnTo>
                <a:lnTo>
                  <a:pt x="43" y="340"/>
                </a:lnTo>
                <a:lnTo>
                  <a:pt x="49" y="334"/>
                </a:lnTo>
                <a:lnTo>
                  <a:pt x="54" y="334"/>
                </a:lnTo>
                <a:lnTo>
                  <a:pt x="60" y="329"/>
                </a:lnTo>
                <a:lnTo>
                  <a:pt x="70" y="323"/>
                </a:lnTo>
                <a:lnTo>
                  <a:pt x="76" y="323"/>
                </a:lnTo>
                <a:lnTo>
                  <a:pt x="81" y="323"/>
                </a:lnTo>
                <a:lnTo>
                  <a:pt x="87" y="318"/>
                </a:lnTo>
                <a:lnTo>
                  <a:pt x="103" y="318"/>
                </a:lnTo>
                <a:lnTo>
                  <a:pt x="119" y="318"/>
                </a:lnTo>
                <a:lnTo>
                  <a:pt x="130" y="313"/>
                </a:lnTo>
                <a:lnTo>
                  <a:pt x="135" y="313"/>
                </a:lnTo>
                <a:lnTo>
                  <a:pt x="141" y="313"/>
                </a:lnTo>
                <a:lnTo>
                  <a:pt x="146" y="313"/>
                </a:lnTo>
                <a:lnTo>
                  <a:pt x="146" y="307"/>
                </a:lnTo>
                <a:lnTo>
                  <a:pt x="152" y="307"/>
                </a:lnTo>
                <a:lnTo>
                  <a:pt x="152" y="302"/>
                </a:lnTo>
                <a:lnTo>
                  <a:pt x="157" y="302"/>
                </a:lnTo>
                <a:lnTo>
                  <a:pt x="157" y="296"/>
                </a:lnTo>
                <a:lnTo>
                  <a:pt x="157" y="291"/>
                </a:lnTo>
                <a:lnTo>
                  <a:pt x="157" y="280"/>
                </a:lnTo>
                <a:lnTo>
                  <a:pt x="157" y="270"/>
                </a:lnTo>
                <a:lnTo>
                  <a:pt x="157" y="253"/>
                </a:lnTo>
                <a:lnTo>
                  <a:pt x="157" y="248"/>
                </a:lnTo>
                <a:lnTo>
                  <a:pt x="152" y="237"/>
                </a:lnTo>
                <a:lnTo>
                  <a:pt x="146" y="232"/>
                </a:lnTo>
                <a:lnTo>
                  <a:pt x="141" y="226"/>
                </a:lnTo>
                <a:lnTo>
                  <a:pt x="141" y="221"/>
                </a:lnTo>
                <a:lnTo>
                  <a:pt x="130" y="216"/>
                </a:lnTo>
                <a:lnTo>
                  <a:pt x="124" y="210"/>
                </a:lnTo>
                <a:lnTo>
                  <a:pt x="119" y="210"/>
                </a:lnTo>
                <a:lnTo>
                  <a:pt x="108" y="205"/>
                </a:lnTo>
                <a:lnTo>
                  <a:pt x="92" y="200"/>
                </a:lnTo>
                <a:lnTo>
                  <a:pt x="76" y="189"/>
                </a:lnTo>
                <a:lnTo>
                  <a:pt x="60" y="178"/>
                </a:lnTo>
                <a:lnTo>
                  <a:pt x="49" y="173"/>
                </a:lnTo>
                <a:lnTo>
                  <a:pt x="43" y="167"/>
                </a:lnTo>
                <a:lnTo>
                  <a:pt x="38" y="162"/>
                </a:lnTo>
                <a:lnTo>
                  <a:pt x="33" y="156"/>
                </a:lnTo>
                <a:lnTo>
                  <a:pt x="27" y="151"/>
                </a:lnTo>
                <a:lnTo>
                  <a:pt x="22" y="135"/>
                </a:lnTo>
                <a:lnTo>
                  <a:pt x="16" y="130"/>
                </a:lnTo>
                <a:lnTo>
                  <a:pt x="16" y="119"/>
                </a:lnTo>
                <a:lnTo>
                  <a:pt x="11" y="113"/>
                </a:lnTo>
                <a:lnTo>
                  <a:pt x="11" y="103"/>
                </a:lnTo>
                <a:lnTo>
                  <a:pt x="5" y="97"/>
                </a:lnTo>
                <a:lnTo>
                  <a:pt x="5" y="92"/>
                </a:lnTo>
                <a:lnTo>
                  <a:pt x="5" y="86"/>
                </a:lnTo>
                <a:lnTo>
                  <a:pt x="0" y="81"/>
                </a:lnTo>
                <a:lnTo>
                  <a:pt x="0" y="76"/>
                </a:lnTo>
                <a:lnTo>
                  <a:pt x="0" y="70"/>
                </a:lnTo>
                <a:lnTo>
                  <a:pt x="0" y="65"/>
                </a:lnTo>
                <a:lnTo>
                  <a:pt x="0" y="60"/>
                </a:lnTo>
                <a:lnTo>
                  <a:pt x="5" y="60"/>
                </a:lnTo>
                <a:lnTo>
                  <a:pt x="5" y="54"/>
                </a:lnTo>
                <a:lnTo>
                  <a:pt x="5" y="49"/>
                </a:lnTo>
                <a:lnTo>
                  <a:pt x="11" y="43"/>
                </a:lnTo>
                <a:lnTo>
                  <a:pt x="16" y="38"/>
                </a:lnTo>
                <a:lnTo>
                  <a:pt x="22" y="33"/>
                </a:lnTo>
                <a:lnTo>
                  <a:pt x="27" y="27"/>
                </a:lnTo>
                <a:lnTo>
                  <a:pt x="33" y="22"/>
                </a:lnTo>
                <a:lnTo>
                  <a:pt x="38" y="22"/>
                </a:lnTo>
                <a:lnTo>
                  <a:pt x="43" y="16"/>
                </a:lnTo>
                <a:lnTo>
                  <a:pt x="49" y="16"/>
                </a:lnTo>
                <a:lnTo>
                  <a:pt x="54" y="11"/>
                </a:lnTo>
                <a:lnTo>
                  <a:pt x="60" y="11"/>
                </a:lnTo>
                <a:lnTo>
                  <a:pt x="65" y="11"/>
                </a:lnTo>
                <a:lnTo>
                  <a:pt x="70" y="6"/>
                </a:lnTo>
                <a:lnTo>
                  <a:pt x="76" y="6"/>
                </a:lnTo>
                <a:lnTo>
                  <a:pt x="81" y="6"/>
                </a:lnTo>
                <a:lnTo>
                  <a:pt x="87" y="6"/>
                </a:lnTo>
                <a:lnTo>
                  <a:pt x="92" y="6"/>
                </a:lnTo>
                <a:lnTo>
                  <a:pt x="108" y="6"/>
                </a:lnTo>
                <a:lnTo>
                  <a:pt x="114" y="6"/>
                </a:lnTo>
                <a:lnTo>
                  <a:pt x="119" y="6"/>
                </a:lnTo>
                <a:lnTo>
                  <a:pt x="124" y="6"/>
                </a:lnTo>
                <a:lnTo>
                  <a:pt x="130" y="6"/>
                </a:lnTo>
                <a:lnTo>
                  <a:pt x="135" y="6"/>
                </a:lnTo>
                <a:lnTo>
                  <a:pt x="141" y="6"/>
                </a:lnTo>
                <a:lnTo>
                  <a:pt x="146" y="6"/>
                </a:lnTo>
                <a:lnTo>
                  <a:pt x="152" y="6"/>
                </a:lnTo>
                <a:lnTo>
                  <a:pt x="168" y="6"/>
                </a:lnTo>
                <a:lnTo>
                  <a:pt x="179" y="0"/>
                </a:lnTo>
                <a:lnTo>
                  <a:pt x="184" y="0"/>
                </a:lnTo>
                <a:lnTo>
                  <a:pt x="189" y="0"/>
                </a:lnTo>
                <a:lnTo>
                  <a:pt x="195" y="0"/>
                </a:lnTo>
                <a:lnTo>
                  <a:pt x="200" y="0"/>
                </a:lnTo>
              </a:path>
            </a:pathLst>
          </a:custGeom>
          <a:noFill/>
          <a:ln w="254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pt-BR" altLang="pt-BR"/>
          </a:p>
        </p:txBody>
      </p:sp>
      <p:grpSp>
        <p:nvGrpSpPr>
          <p:cNvPr id="45462" name="Group 436"/>
          <p:cNvGrpSpPr>
            <a:grpSpLocks/>
          </p:cNvGrpSpPr>
          <p:nvPr/>
        </p:nvGrpSpPr>
        <p:grpSpPr bwMode="auto">
          <a:xfrm>
            <a:off x="6750050" y="1419225"/>
            <a:ext cx="911225" cy="127000"/>
            <a:chOff x="4252" y="894"/>
            <a:chExt cx="574" cy="80"/>
          </a:xfrm>
        </p:grpSpPr>
        <p:sp>
          <p:nvSpPr>
            <p:cNvPr id="45469" name="Line 437"/>
            <p:cNvSpPr>
              <a:spLocks noChangeShapeType="1"/>
            </p:cNvSpPr>
            <p:nvPr/>
          </p:nvSpPr>
          <p:spPr bwMode="auto">
            <a:xfrm>
              <a:off x="4317" y="931"/>
              <a:ext cx="444" cy="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470" name="Freeform 438"/>
            <p:cNvSpPr>
              <a:spLocks/>
            </p:cNvSpPr>
            <p:nvPr/>
          </p:nvSpPr>
          <p:spPr bwMode="auto">
            <a:xfrm>
              <a:off x="4252" y="894"/>
              <a:ext cx="81" cy="80"/>
            </a:xfrm>
            <a:custGeom>
              <a:avLst/>
              <a:gdLst>
                <a:gd name="T0" fmla="*/ 81 w 81"/>
                <a:gd name="T1" fmla="*/ 0 h 80"/>
                <a:gd name="T2" fmla="*/ 0 w 81"/>
                <a:gd name="T3" fmla="*/ 37 h 80"/>
                <a:gd name="T4" fmla="*/ 81 w 81"/>
                <a:gd name="T5" fmla="*/ 80 h 80"/>
                <a:gd name="T6" fmla="*/ 81 w 81"/>
                <a:gd name="T7" fmla="*/ 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81"/>
                <a:gd name="T13" fmla="*/ 0 h 80"/>
                <a:gd name="T14" fmla="*/ 81 w 81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81" h="80">
                  <a:moveTo>
                    <a:pt x="81" y="0"/>
                  </a:moveTo>
                  <a:lnTo>
                    <a:pt x="0" y="37"/>
                  </a:lnTo>
                  <a:lnTo>
                    <a:pt x="81" y="80"/>
                  </a:lnTo>
                  <a:lnTo>
                    <a:pt x="81" y="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  <p:sp>
          <p:nvSpPr>
            <p:cNvPr id="45471" name="Freeform 439"/>
            <p:cNvSpPr>
              <a:spLocks/>
            </p:cNvSpPr>
            <p:nvPr/>
          </p:nvSpPr>
          <p:spPr bwMode="auto">
            <a:xfrm>
              <a:off x="4750" y="894"/>
              <a:ext cx="76" cy="80"/>
            </a:xfrm>
            <a:custGeom>
              <a:avLst/>
              <a:gdLst>
                <a:gd name="T0" fmla="*/ 0 w 76"/>
                <a:gd name="T1" fmla="*/ 80 h 80"/>
                <a:gd name="T2" fmla="*/ 76 w 76"/>
                <a:gd name="T3" fmla="*/ 37 h 80"/>
                <a:gd name="T4" fmla="*/ 0 w 76"/>
                <a:gd name="T5" fmla="*/ 0 h 80"/>
                <a:gd name="T6" fmla="*/ 0 w 76"/>
                <a:gd name="T7" fmla="*/ 80 h 8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"/>
                <a:gd name="T13" fmla="*/ 0 h 80"/>
                <a:gd name="T14" fmla="*/ 76 w 76"/>
                <a:gd name="T15" fmla="*/ 80 h 8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" h="80">
                  <a:moveTo>
                    <a:pt x="0" y="80"/>
                  </a:moveTo>
                  <a:lnTo>
                    <a:pt x="76" y="37"/>
                  </a:lnTo>
                  <a:lnTo>
                    <a:pt x="0" y="0"/>
                  </a:lnTo>
                  <a:lnTo>
                    <a:pt x="0" y="8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endParaRPr lang="pt-BR" altLang="pt-BR"/>
            </a:p>
          </p:txBody>
        </p:sp>
      </p:grpSp>
      <p:sp>
        <p:nvSpPr>
          <p:cNvPr id="45463" name="Rectangle 440"/>
          <p:cNvSpPr>
            <a:spLocks noChangeArrowheads="1"/>
          </p:cNvSpPr>
          <p:nvPr/>
        </p:nvSpPr>
        <p:spPr bwMode="auto">
          <a:xfrm>
            <a:off x="773113" y="1362075"/>
            <a:ext cx="12255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Carga/Descarga Prensa</a:t>
            </a:r>
            <a:endParaRPr lang="pt-BR" altLang="pt-BR"/>
          </a:p>
        </p:txBody>
      </p:sp>
      <p:sp>
        <p:nvSpPr>
          <p:cNvPr id="45464" name="Rectangle 441"/>
          <p:cNvSpPr>
            <a:spLocks noChangeArrowheads="1"/>
          </p:cNvSpPr>
          <p:nvPr/>
        </p:nvSpPr>
        <p:spPr bwMode="auto">
          <a:xfrm>
            <a:off x="773113" y="1600200"/>
            <a:ext cx="711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Cortar Tarugo</a:t>
            </a:r>
            <a:endParaRPr lang="pt-BR" altLang="pt-BR"/>
          </a:p>
        </p:txBody>
      </p:sp>
      <p:sp>
        <p:nvSpPr>
          <p:cNvPr id="45465" name="Rectangle 442"/>
          <p:cNvSpPr>
            <a:spLocks noChangeArrowheads="1"/>
          </p:cNvSpPr>
          <p:nvPr/>
        </p:nvSpPr>
        <p:spPr bwMode="auto">
          <a:xfrm>
            <a:off x="773113" y="1836738"/>
            <a:ext cx="8699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Rebarbar Tarugo</a:t>
            </a:r>
            <a:endParaRPr lang="pt-BR" altLang="pt-BR"/>
          </a:p>
        </p:txBody>
      </p:sp>
      <p:sp>
        <p:nvSpPr>
          <p:cNvPr id="45466" name="Rectangle 443"/>
          <p:cNvSpPr>
            <a:spLocks noChangeArrowheads="1"/>
          </p:cNvSpPr>
          <p:nvPr/>
        </p:nvSpPr>
        <p:spPr bwMode="auto">
          <a:xfrm>
            <a:off x="773113" y="2074863"/>
            <a:ext cx="121920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Marcar Tarugo com Fita</a:t>
            </a:r>
            <a:endParaRPr lang="pt-BR" altLang="pt-BR"/>
          </a:p>
        </p:txBody>
      </p:sp>
      <p:sp>
        <p:nvSpPr>
          <p:cNvPr id="45467" name="Rectangle 444"/>
          <p:cNvSpPr>
            <a:spLocks noChangeArrowheads="1"/>
          </p:cNvSpPr>
          <p:nvPr/>
        </p:nvSpPr>
        <p:spPr bwMode="auto">
          <a:xfrm>
            <a:off x="773113" y="2312988"/>
            <a:ext cx="679450" cy="13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altLang="pt-BR" sz="900">
                <a:solidFill>
                  <a:srgbClr val="000000"/>
                </a:solidFill>
              </a:rPr>
              <a:t>Medir Tarugo</a:t>
            </a:r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65250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338" grpId="0" animBg="1"/>
      <p:bldP spid="45430" grpId="0"/>
      <p:bldP spid="45439" grpId="0" animBg="1"/>
      <p:bldP spid="45445" grpId="0" animBg="1"/>
      <p:bldP spid="45449" grpId="0" animBg="1"/>
      <p:bldP spid="45453" grpId="0" animBg="1"/>
      <p:bldP spid="45457" grpId="0" animBg="1"/>
      <p:bldP spid="45205" grpId="0" animBg="1"/>
      <p:bldP spid="45458" grpId="0" animBg="1"/>
      <p:bldP spid="45459" grpId="0" animBg="1"/>
      <p:bldP spid="45460" grpId="0" animBg="1"/>
      <p:bldP spid="4546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540" y="1502430"/>
            <a:ext cx="8280920" cy="5166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tângulo de cantos arredondados 3">
            <a:extLst>
              <a:ext uri="{FF2B5EF4-FFF2-40B4-BE49-F238E27FC236}">
                <a16:creationId xmlns:a16="http://schemas.microsoft.com/office/drawing/2014/main" id="{535D0F52-141B-4CE0-A8B0-0043EE47F5F4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Análise de tempo perdido</a:t>
            </a:r>
          </a:p>
        </p:txBody>
      </p:sp>
    </p:spTree>
    <p:extLst>
      <p:ext uri="{BB962C8B-B14F-4D97-AF65-F5344CB8AC3E}">
        <p14:creationId xmlns:p14="http://schemas.microsoft.com/office/powerpoint/2010/main" val="21692642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066800" y="1676400"/>
            <a:ext cx="6845300" cy="35687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1447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1828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8" name="Line 5"/>
          <p:cNvSpPr>
            <a:spLocks noChangeShapeType="1"/>
          </p:cNvSpPr>
          <p:nvPr/>
        </p:nvSpPr>
        <p:spPr bwMode="auto">
          <a:xfrm>
            <a:off x="2209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590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0" name="Line 7"/>
          <p:cNvSpPr>
            <a:spLocks noChangeShapeType="1"/>
          </p:cNvSpPr>
          <p:nvPr/>
        </p:nvSpPr>
        <p:spPr bwMode="auto">
          <a:xfrm>
            <a:off x="2971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1" name="Line 8"/>
          <p:cNvSpPr>
            <a:spLocks noChangeShapeType="1"/>
          </p:cNvSpPr>
          <p:nvPr/>
        </p:nvSpPr>
        <p:spPr bwMode="auto">
          <a:xfrm>
            <a:off x="3352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2" name="Line 9"/>
          <p:cNvSpPr>
            <a:spLocks noChangeShapeType="1"/>
          </p:cNvSpPr>
          <p:nvPr/>
        </p:nvSpPr>
        <p:spPr bwMode="auto">
          <a:xfrm>
            <a:off x="3733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" name="Line 10"/>
          <p:cNvSpPr>
            <a:spLocks noChangeShapeType="1"/>
          </p:cNvSpPr>
          <p:nvPr/>
        </p:nvSpPr>
        <p:spPr bwMode="auto">
          <a:xfrm>
            <a:off x="4114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4" name="Line 11"/>
          <p:cNvSpPr>
            <a:spLocks noChangeShapeType="1"/>
          </p:cNvSpPr>
          <p:nvPr/>
        </p:nvSpPr>
        <p:spPr bwMode="auto">
          <a:xfrm>
            <a:off x="4495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>
            <a:off x="4876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6" name="Line 13"/>
          <p:cNvSpPr>
            <a:spLocks noChangeShapeType="1"/>
          </p:cNvSpPr>
          <p:nvPr/>
        </p:nvSpPr>
        <p:spPr bwMode="auto">
          <a:xfrm>
            <a:off x="5257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7" name="Line 14"/>
          <p:cNvSpPr>
            <a:spLocks noChangeShapeType="1"/>
          </p:cNvSpPr>
          <p:nvPr/>
        </p:nvSpPr>
        <p:spPr bwMode="auto">
          <a:xfrm>
            <a:off x="5638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>
            <a:off x="6019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9" name="Line 16"/>
          <p:cNvSpPr>
            <a:spLocks noChangeShapeType="1"/>
          </p:cNvSpPr>
          <p:nvPr/>
        </p:nvSpPr>
        <p:spPr bwMode="auto">
          <a:xfrm>
            <a:off x="6400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0" name="Line 17"/>
          <p:cNvSpPr>
            <a:spLocks noChangeShapeType="1"/>
          </p:cNvSpPr>
          <p:nvPr/>
        </p:nvSpPr>
        <p:spPr bwMode="auto">
          <a:xfrm>
            <a:off x="6781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>
            <a:off x="7162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>
            <a:off x="7543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3" name="Line 20"/>
          <p:cNvSpPr>
            <a:spLocks noChangeShapeType="1"/>
          </p:cNvSpPr>
          <p:nvPr/>
        </p:nvSpPr>
        <p:spPr bwMode="auto">
          <a:xfrm>
            <a:off x="7924800" y="1682750"/>
            <a:ext cx="0" cy="3568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24" name="Rectangle 21"/>
          <p:cNvSpPr>
            <a:spLocks noChangeArrowheads="1"/>
          </p:cNvSpPr>
          <p:nvPr/>
        </p:nvSpPr>
        <p:spPr bwMode="auto">
          <a:xfrm>
            <a:off x="12747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</a:t>
            </a:r>
          </a:p>
        </p:txBody>
      </p:sp>
      <p:sp>
        <p:nvSpPr>
          <p:cNvPr id="25" name="Rectangle 22"/>
          <p:cNvSpPr>
            <a:spLocks noChangeArrowheads="1"/>
          </p:cNvSpPr>
          <p:nvPr/>
        </p:nvSpPr>
        <p:spPr bwMode="auto">
          <a:xfrm>
            <a:off x="1579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5/2</a:t>
            </a:r>
          </a:p>
        </p:txBody>
      </p:sp>
      <p:sp>
        <p:nvSpPr>
          <p:cNvPr id="26" name="Rectangle 23"/>
          <p:cNvSpPr>
            <a:spLocks noChangeArrowheads="1"/>
          </p:cNvSpPr>
          <p:nvPr/>
        </p:nvSpPr>
        <p:spPr bwMode="auto">
          <a:xfrm>
            <a:off x="1960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5/3</a:t>
            </a:r>
          </a:p>
        </p:txBody>
      </p:sp>
      <p:sp>
        <p:nvSpPr>
          <p:cNvPr id="27" name="Rectangle 24"/>
          <p:cNvSpPr>
            <a:spLocks noChangeArrowheads="1"/>
          </p:cNvSpPr>
          <p:nvPr/>
        </p:nvSpPr>
        <p:spPr bwMode="auto">
          <a:xfrm>
            <a:off x="2341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5/4</a:t>
            </a:r>
          </a:p>
        </p:txBody>
      </p:sp>
      <p:sp>
        <p:nvSpPr>
          <p:cNvPr id="28" name="Rectangle 25"/>
          <p:cNvSpPr>
            <a:spLocks noChangeArrowheads="1"/>
          </p:cNvSpPr>
          <p:nvPr/>
        </p:nvSpPr>
        <p:spPr bwMode="auto">
          <a:xfrm>
            <a:off x="2722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5/5</a:t>
            </a:r>
          </a:p>
        </p:txBody>
      </p:sp>
      <p:sp>
        <p:nvSpPr>
          <p:cNvPr id="29" name="Rectangle 26"/>
          <p:cNvSpPr>
            <a:spLocks noChangeArrowheads="1"/>
          </p:cNvSpPr>
          <p:nvPr/>
        </p:nvSpPr>
        <p:spPr bwMode="auto">
          <a:xfrm>
            <a:off x="3103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5/6</a:t>
            </a:r>
          </a:p>
        </p:txBody>
      </p:sp>
      <p:sp>
        <p:nvSpPr>
          <p:cNvPr id="30" name="Rectangle 27"/>
          <p:cNvSpPr>
            <a:spLocks noChangeArrowheads="1"/>
          </p:cNvSpPr>
          <p:nvPr/>
        </p:nvSpPr>
        <p:spPr bwMode="auto">
          <a:xfrm>
            <a:off x="3484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5/7</a:t>
            </a:r>
          </a:p>
        </p:txBody>
      </p:sp>
      <p:sp>
        <p:nvSpPr>
          <p:cNvPr id="31" name="Rectangle 28"/>
          <p:cNvSpPr>
            <a:spLocks noChangeArrowheads="1"/>
          </p:cNvSpPr>
          <p:nvPr/>
        </p:nvSpPr>
        <p:spPr bwMode="auto">
          <a:xfrm>
            <a:off x="3865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5/8</a:t>
            </a:r>
          </a:p>
        </p:txBody>
      </p:sp>
      <p:sp>
        <p:nvSpPr>
          <p:cNvPr id="32" name="Rectangle 29"/>
          <p:cNvSpPr>
            <a:spLocks noChangeArrowheads="1"/>
          </p:cNvSpPr>
          <p:nvPr/>
        </p:nvSpPr>
        <p:spPr bwMode="auto">
          <a:xfrm>
            <a:off x="4246563" y="5299075"/>
            <a:ext cx="3762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5/9</a:t>
            </a:r>
          </a:p>
        </p:txBody>
      </p:sp>
      <p:sp>
        <p:nvSpPr>
          <p:cNvPr id="33" name="Rectangle 30"/>
          <p:cNvSpPr>
            <a:spLocks noChangeArrowheads="1"/>
          </p:cNvSpPr>
          <p:nvPr/>
        </p:nvSpPr>
        <p:spPr bwMode="auto">
          <a:xfrm>
            <a:off x="4627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5/10</a:t>
            </a:r>
          </a:p>
        </p:txBody>
      </p:sp>
      <p:sp>
        <p:nvSpPr>
          <p:cNvPr id="34" name="Rectangle 31"/>
          <p:cNvSpPr>
            <a:spLocks noChangeArrowheads="1"/>
          </p:cNvSpPr>
          <p:nvPr/>
        </p:nvSpPr>
        <p:spPr bwMode="auto">
          <a:xfrm>
            <a:off x="5008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5/11</a:t>
            </a:r>
          </a:p>
        </p:txBody>
      </p:sp>
      <p:sp>
        <p:nvSpPr>
          <p:cNvPr id="35" name="Rectangle 32"/>
          <p:cNvSpPr>
            <a:spLocks noChangeArrowheads="1"/>
          </p:cNvSpPr>
          <p:nvPr/>
        </p:nvSpPr>
        <p:spPr bwMode="auto">
          <a:xfrm>
            <a:off x="5389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5/12</a:t>
            </a:r>
          </a:p>
        </p:txBody>
      </p:sp>
      <p:sp>
        <p:nvSpPr>
          <p:cNvPr id="36" name="Rectangle 33"/>
          <p:cNvSpPr>
            <a:spLocks noChangeArrowheads="1"/>
          </p:cNvSpPr>
          <p:nvPr/>
        </p:nvSpPr>
        <p:spPr bwMode="auto">
          <a:xfrm>
            <a:off x="5770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5/13</a:t>
            </a:r>
          </a:p>
        </p:txBody>
      </p:sp>
      <p:sp>
        <p:nvSpPr>
          <p:cNvPr id="37" name="Rectangle 34"/>
          <p:cNvSpPr>
            <a:spLocks noChangeArrowheads="1"/>
          </p:cNvSpPr>
          <p:nvPr/>
        </p:nvSpPr>
        <p:spPr bwMode="auto">
          <a:xfrm>
            <a:off x="6151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5/14</a:t>
            </a:r>
          </a:p>
        </p:txBody>
      </p:sp>
      <p:sp>
        <p:nvSpPr>
          <p:cNvPr id="38" name="Rectangle 35"/>
          <p:cNvSpPr>
            <a:spLocks noChangeArrowheads="1"/>
          </p:cNvSpPr>
          <p:nvPr/>
        </p:nvSpPr>
        <p:spPr bwMode="auto">
          <a:xfrm>
            <a:off x="6532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5/15</a:t>
            </a:r>
          </a:p>
        </p:txBody>
      </p:sp>
      <p:sp>
        <p:nvSpPr>
          <p:cNvPr id="39" name="Rectangle 36"/>
          <p:cNvSpPr>
            <a:spLocks noChangeArrowheads="1"/>
          </p:cNvSpPr>
          <p:nvPr/>
        </p:nvSpPr>
        <p:spPr bwMode="auto">
          <a:xfrm>
            <a:off x="6913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5/16</a:t>
            </a:r>
          </a:p>
        </p:txBody>
      </p:sp>
      <p:sp>
        <p:nvSpPr>
          <p:cNvPr id="40" name="Rectangle 37"/>
          <p:cNvSpPr>
            <a:spLocks noChangeArrowheads="1"/>
          </p:cNvSpPr>
          <p:nvPr/>
        </p:nvSpPr>
        <p:spPr bwMode="auto">
          <a:xfrm>
            <a:off x="7294563" y="5299075"/>
            <a:ext cx="452437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200">
                <a:latin typeface="Times New Roman" pitchFamily="18" charset="0"/>
                <a:cs typeface="Arial" pitchFamily="34" charset="0"/>
              </a:rPr>
              <a:t>5/17</a:t>
            </a:r>
          </a:p>
        </p:txBody>
      </p:sp>
      <p:sp>
        <p:nvSpPr>
          <p:cNvPr id="41" name="Rectangle 38"/>
          <p:cNvSpPr>
            <a:spLocks noChangeArrowheads="1"/>
          </p:cNvSpPr>
          <p:nvPr/>
        </p:nvSpPr>
        <p:spPr bwMode="auto">
          <a:xfrm>
            <a:off x="512763" y="4184650"/>
            <a:ext cx="384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Arial" pitchFamily="34" charset="0"/>
              </a:rPr>
              <a:t>20</a:t>
            </a:r>
          </a:p>
        </p:txBody>
      </p:sp>
      <p:sp>
        <p:nvSpPr>
          <p:cNvPr id="42" name="Rectangle 39"/>
          <p:cNvSpPr>
            <a:spLocks noChangeArrowheads="1"/>
          </p:cNvSpPr>
          <p:nvPr/>
        </p:nvSpPr>
        <p:spPr bwMode="auto">
          <a:xfrm>
            <a:off x="512763" y="3346450"/>
            <a:ext cx="384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Arial" pitchFamily="34" charset="0"/>
              </a:rPr>
              <a:t>40</a:t>
            </a:r>
          </a:p>
        </p:txBody>
      </p:sp>
      <p:sp>
        <p:nvSpPr>
          <p:cNvPr id="43" name="Rectangle 40"/>
          <p:cNvSpPr>
            <a:spLocks noChangeArrowheads="1"/>
          </p:cNvSpPr>
          <p:nvPr/>
        </p:nvSpPr>
        <p:spPr bwMode="auto">
          <a:xfrm>
            <a:off x="512763" y="2432050"/>
            <a:ext cx="384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Arial" pitchFamily="34" charset="0"/>
              </a:rPr>
              <a:t>60</a:t>
            </a:r>
          </a:p>
        </p:txBody>
      </p:sp>
      <p:sp>
        <p:nvSpPr>
          <p:cNvPr id="44" name="Rectangle 41"/>
          <p:cNvSpPr>
            <a:spLocks noChangeArrowheads="1"/>
          </p:cNvSpPr>
          <p:nvPr/>
        </p:nvSpPr>
        <p:spPr bwMode="auto">
          <a:xfrm>
            <a:off x="512763" y="1517650"/>
            <a:ext cx="3841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Arial" pitchFamily="34" charset="0"/>
              </a:rPr>
              <a:t>80</a:t>
            </a:r>
          </a:p>
        </p:txBody>
      </p:sp>
      <p:sp>
        <p:nvSpPr>
          <p:cNvPr id="45" name="Rectangle 42"/>
          <p:cNvSpPr>
            <a:spLocks noChangeArrowheads="1"/>
          </p:cNvSpPr>
          <p:nvPr/>
        </p:nvSpPr>
        <p:spPr bwMode="auto">
          <a:xfrm>
            <a:off x="588963" y="5022850"/>
            <a:ext cx="2825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Arial" pitchFamily="34" charset="0"/>
              </a:rPr>
              <a:t>0</a:t>
            </a:r>
          </a:p>
        </p:txBody>
      </p:sp>
      <p:sp>
        <p:nvSpPr>
          <p:cNvPr id="46" name="Line 43"/>
          <p:cNvSpPr>
            <a:spLocks noChangeShapeType="1"/>
          </p:cNvSpPr>
          <p:nvPr/>
        </p:nvSpPr>
        <p:spPr bwMode="auto">
          <a:xfrm>
            <a:off x="1092200" y="4724400"/>
            <a:ext cx="6807200" cy="0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47" name="Rectangle 44"/>
          <p:cNvSpPr>
            <a:spLocks noChangeArrowheads="1"/>
          </p:cNvSpPr>
          <p:nvPr/>
        </p:nvSpPr>
        <p:spPr bwMode="auto">
          <a:xfrm>
            <a:off x="7980363" y="4475163"/>
            <a:ext cx="10779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2400" b="1">
                <a:latin typeface="Times New Roman" pitchFamily="18" charset="0"/>
                <a:cs typeface="Arial" pitchFamily="34" charset="0"/>
              </a:rPr>
              <a:t>GOAL</a:t>
            </a:r>
          </a:p>
        </p:txBody>
      </p:sp>
      <p:sp>
        <p:nvSpPr>
          <p:cNvPr id="48" name="Oval 45"/>
          <p:cNvSpPr>
            <a:spLocks noChangeArrowheads="1"/>
          </p:cNvSpPr>
          <p:nvPr/>
        </p:nvSpPr>
        <p:spPr bwMode="auto">
          <a:xfrm>
            <a:off x="1377950" y="18351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49" name="Oval 46"/>
          <p:cNvSpPr>
            <a:spLocks noChangeArrowheads="1"/>
          </p:cNvSpPr>
          <p:nvPr/>
        </p:nvSpPr>
        <p:spPr bwMode="auto">
          <a:xfrm>
            <a:off x="1758950" y="1911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0" name="Oval 47"/>
          <p:cNvSpPr>
            <a:spLocks noChangeArrowheads="1"/>
          </p:cNvSpPr>
          <p:nvPr/>
        </p:nvSpPr>
        <p:spPr bwMode="auto">
          <a:xfrm>
            <a:off x="2139950" y="1682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1" name="Oval 48"/>
          <p:cNvSpPr>
            <a:spLocks noChangeArrowheads="1"/>
          </p:cNvSpPr>
          <p:nvPr/>
        </p:nvSpPr>
        <p:spPr bwMode="auto">
          <a:xfrm>
            <a:off x="2520950" y="2063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2" name="Oval 49"/>
          <p:cNvSpPr>
            <a:spLocks noChangeArrowheads="1"/>
          </p:cNvSpPr>
          <p:nvPr/>
        </p:nvSpPr>
        <p:spPr bwMode="auto">
          <a:xfrm>
            <a:off x="2901950" y="35877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3" name="Rectangle 50"/>
          <p:cNvSpPr>
            <a:spLocks noChangeArrowheads="1"/>
          </p:cNvSpPr>
          <p:nvPr/>
        </p:nvSpPr>
        <p:spPr bwMode="auto">
          <a:xfrm rot="16200000">
            <a:off x="2042319" y="2415382"/>
            <a:ext cx="17113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latin typeface="Times New Roman" pitchFamily="18" charset="0"/>
                <a:cs typeface="Arial" pitchFamily="34" charset="0"/>
              </a:rPr>
              <a:t>Organized Tools</a:t>
            </a:r>
          </a:p>
        </p:txBody>
      </p:sp>
      <p:sp>
        <p:nvSpPr>
          <p:cNvPr id="54" name="Oval 51"/>
          <p:cNvSpPr>
            <a:spLocks noChangeArrowheads="1"/>
          </p:cNvSpPr>
          <p:nvPr/>
        </p:nvSpPr>
        <p:spPr bwMode="auto">
          <a:xfrm>
            <a:off x="4044950" y="36639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5" name="Oval 52"/>
          <p:cNvSpPr>
            <a:spLocks noChangeArrowheads="1"/>
          </p:cNvSpPr>
          <p:nvPr/>
        </p:nvSpPr>
        <p:spPr bwMode="auto">
          <a:xfrm>
            <a:off x="3663950" y="35115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6" name="Oval 53"/>
          <p:cNvSpPr>
            <a:spLocks noChangeArrowheads="1"/>
          </p:cNvSpPr>
          <p:nvPr/>
        </p:nvSpPr>
        <p:spPr bwMode="auto">
          <a:xfrm>
            <a:off x="3282950" y="3435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57" name="Line 54"/>
          <p:cNvSpPr>
            <a:spLocks noChangeShapeType="1"/>
          </p:cNvSpPr>
          <p:nvPr/>
        </p:nvSpPr>
        <p:spPr bwMode="auto">
          <a:xfrm>
            <a:off x="1454150" y="1911350"/>
            <a:ext cx="2921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8" name="Line 55"/>
          <p:cNvSpPr>
            <a:spLocks noChangeShapeType="1"/>
          </p:cNvSpPr>
          <p:nvPr/>
        </p:nvSpPr>
        <p:spPr bwMode="auto">
          <a:xfrm flipV="1">
            <a:off x="1911350" y="1822450"/>
            <a:ext cx="2159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59" name="Line 56"/>
          <p:cNvSpPr>
            <a:spLocks noChangeShapeType="1"/>
          </p:cNvSpPr>
          <p:nvPr/>
        </p:nvSpPr>
        <p:spPr bwMode="auto">
          <a:xfrm>
            <a:off x="2216150" y="1758950"/>
            <a:ext cx="292100" cy="292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0" name="Line 57"/>
          <p:cNvSpPr>
            <a:spLocks noChangeShapeType="1"/>
          </p:cNvSpPr>
          <p:nvPr/>
        </p:nvSpPr>
        <p:spPr bwMode="auto">
          <a:xfrm>
            <a:off x="2597150" y="2139950"/>
            <a:ext cx="368300" cy="1587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1" name="Line 58"/>
          <p:cNvSpPr>
            <a:spLocks noChangeShapeType="1"/>
          </p:cNvSpPr>
          <p:nvPr/>
        </p:nvSpPr>
        <p:spPr bwMode="auto">
          <a:xfrm>
            <a:off x="3435350" y="3511550"/>
            <a:ext cx="2159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2" name="Line 59"/>
          <p:cNvSpPr>
            <a:spLocks noChangeShapeType="1"/>
          </p:cNvSpPr>
          <p:nvPr/>
        </p:nvSpPr>
        <p:spPr bwMode="auto">
          <a:xfrm flipV="1">
            <a:off x="2978150" y="3498850"/>
            <a:ext cx="292100" cy="1651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3" name="Line 60"/>
          <p:cNvSpPr>
            <a:spLocks noChangeShapeType="1"/>
          </p:cNvSpPr>
          <p:nvPr/>
        </p:nvSpPr>
        <p:spPr bwMode="auto">
          <a:xfrm>
            <a:off x="3816350" y="3587750"/>
            <a:ext cx="215900" cy="139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4" name="Oval 61"/>
          <p:cNvSpPr>
            <a:spLocks noChangeArrowheads="1"/>
          </p:cNvSpPr>
          <p:nvPr/>
        </p:nvSpPr>
        <p:spPr bwMode="auto">
          <a:xfrm>
            <a:off x="4425950" y="33591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65" name="Oval 62"/>
          <p:cNvSpPr>
            <a:spLocks noChangeArrowheads="1"/>
          </p:cNvSpPr>
          <p:nvPr/>
        </p:nvSpPr>
        <p:spPr bwMode="auto">
          <a:xfrm>
            <a:off x="4806950" y="3435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66" name="Oval 63"/>
          <p:cNvSpPr>
            <a:spLocks noChangeArrowheads="1"/>
          </p:cNvSpPr>
          <p:nvPr/>
        </p:nvSpPr>
        <p:spPr bwMode="auto">
          <a:xfrm>
            <a:off x="5187950" y="4197350"/>
            <a:ext cx="139700" cy="1397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67" name="Rectangle 64"/>
          <p:cNvSpPr>
            <a:spLocks noChangeArrowheads="1"/>
          </p:cNvSpPr>
          <p:nvPr/>
        </p:nvSpPr>
        <p:spPr bwMode="auto">
          <a:xfrm rot="16200000">
            <a:off x="4245769" y="2574132"/>
            <a:ext cx="1825625" cy="36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pt-BR" altLang="pt-BR" sz="1800">
                <a:latin typeface="Times New Roman" pitchFamily="18" charset="0"/>
                <a:cs typeface="Arial" pitchFamily="34" charset="0"/>
              </a:rPr>
              <a:t>Color-coded tools</a:t>
            </a:r>
          </a:p>
        </p:txBody>
      </p:sp>
      <p:sp>
        <p:nvSpPr>
          <p:cNvPr id="68" name="Line 65"/>
          <p:cNvSpPr>
            <a:spLocks noChangeShapeType="1"/>
          </p:cNvSpPr>
          <p:nvPr/>
        </p:nvSpPr>
        <p:spPr bwMode="auto">
          <a:xfrm flipV="1">
            <a:off x="4121150" y="3498850"/>
            <a:ext cx="292100" cy="241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69" name="Line 66"/>
          <p:cNvSpPr>
            <a:spLocks noChangeShapeType="1"/>
          </p:cNvSpPr>
          <p:nvPr/>
        </p:nvSpPr>
        <p:spPr bwMode="auto">
          <a:xfrm>
            <a:off x="4578350" y="3435350"/>
            <a:ext cx="215900" cy="63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0" name="Line 67"/>
          <p:cNvSpPr>
            <a:spLocks noChangeShapeType="1"/>
          </p:cNvSpPr>
          <p:nvPr/>
        </p:nvSpPr>
        <p:spPr bwMode="auto">
          <a:xfrm>
            <a:off x="4883150" y="3511550"/>
            <a:ext cx="368300" cy="749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71" name="Text Box 68"/>
          <p:cNvSpPr txBox="1">
            <a:spLocks noChangeArrowheads="1"/>
          </p:cNvSpPr>
          <p:nvPr/>
        </p:nvSpPr>
        <p:spPr bwMode="auto">
          <a:xfrm rot="16200000">
            <a:off x="-462756" y="3358357"/>
            <a:ext cx="1600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buFontTx/>
              <a:buNone/>
            </a:pPr>
            <a:r>
              <a:rPr lang="pt-BR" altLang="pt-BR" sz="1800">
                <a:latin typeface="Times New Roman" pitchFamily="18" charset="0"/>
                <a:cs typeface="Arial" pitchFamily="34" charset="0"/>
              </a:rPr>
              <a:t>Minutes</a:t>
            </a:r>
            <a:endParaRPr lang="pt-BR" altLang="pt-BR" sz="24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72" name="Text Box 69"/>
          <p:cNvSpPr txBox="1">
            <a:spLocks noChangeArrowheads="1"/>
          </p:cNvSpPr>
          <p:nvPr/>
        </p:nvSpPr>
        <p:spPr bwMode="auto">
          <a:xfrm>
            <a:off x="3962400" y="5707063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pt-BR" altLang="pt-BR" sz="1800">
                <a:latin typeface="Times New Roman" pitchFamily="18" charset="0"/>
                <a:cs typeface="Arial" pitchFamily="34" charset="0"/>
              </a:rPr>
              <a:t>Date</a:t>
            </a:r>
            <a:endParaRPr lang="pt-BR" altLang="pt-BR" sz="2400">
              <a:latin typeface="Times New Roman" pitchFamily="18" charset="0"/>
              <a:cs typeface="Arial" pitchFamily="34" charset="0"/>
            </a:endParaRPr>
          </a:p>
        </p:txBody>
      </p:sp>
      <p:sp>
        <p:nvSpPr>
          <p:cNvPr id="74" name="Rectangle 71"/>
          <p:cNvSpPr>
            <a:spLocks noChangeArrowheads="1"/>
          </p:cNvSpPr>
          <p:nvPr/>
        </p:nvSpPr>
        <p:spPr bwMode="auto">
          <a:xfrm>
            <a:off x="1219200" y="5715000"/>
            <a:ext cx="240665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500">
                <a:solidFill>
                  <a:srgbClr val="FF0000"/>
                </a:solidFill>
                <a:latin typeface="Arial Black" pitchFamily="34" charset="0"/>
              </a:rPr>
              <a:t>Procurar motivos de variações: operadores, turnos, peças</a:t>
            </a:r>
          </a:p>
        </p:txBody>
      </p:sp>
      <p:sp>
        <p:nvSpPr>
          <p:cNvPr id="75" name="AutoShape 72"/>
          <p:cNvSpPr>
            <a:spLocks noChangeArrowheads="1"/>
          </p:cNvSpPr>
          <p:nvPr/>
        </p:nvSpPr>
        <p:spPr bwMode="auto">
          <a:xfrm rot="13003822">
            <a:off x="3232150" y="3667125"/>
            <a:ext cx="176213" cy="2230438"/>
          </a:xfrm>
          <a:prstGeom prst="downArrow">
            <a:avLst>
              <a:gd name="adj1" fmla="val 50000"/>
              <a:gd name="adj2" fmla="val 316441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buFontTx/>
              <a:buNone/>
            </a:pPr>
            <a:endParaRPr lang="en-US" altLang="pt-BR" sz="2600">
              <a:cs typeface="Arial" pitchFamily="34" charset="0"/>
            </a:endParaRPr>
          </a:p>
        </p:txBody>
      </p:sp>
      <p:sp>
        <p:nvSpPr>
          <p:cNvPr id="73" name="Retângulo de cantos arredondados 3">
            <a:extLst>
              <a:ext uri="{FF2B5EF4-FFF2-40B4-BE49-F238E27FC236}">
                <a16:creationId xmlns:a16="http://schemas.microsoft.com/office/drawing/2014/main" id="{50269AE1-1547-40B8-8137-49FB1D875FFA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Análise de setup - indicadores</a:t>
            </a:r>
          </a:p>
        </p:txBody>
      </p:sp>
    </p:spTree>
    <p:extLst>
      <p:ext uri="{BB962C8B-B14F-4D97-AF65-F5344CB8AC3E}">
        <p14:creationId xmlns:p14="http://schemas.microsoft.com/office/powerpoint/2010/main" val="30620637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>
            <a:grpSpLocks/>
          </p:cNvGrpSpPr>
          <p:nvPr/>
        </p:nvGrpSpPr>
        <p:grpSpPr bwMode="auto">
          <a:xfrm>
            <a:off x="457200" y="2209800"/>
            <a:ext cx="7910513" cy="4197350"/>
            <a:chOff x="288" y="1200"/>
            <a:chExt cx="4983" cy="2644"/>
          </a:xfrm>
        </p:grpSpPr>
        <p:sp>
          <p:nvSpPr>
            <p:cNvPr id="6" name="Freeform 3"/>
            <p:cNvSpPr>
              <a:spLocks/>
            </p:cNvSpPr>
            <p:nvPr/>
          </p:nvSpPr>
          <p:spPr bwMode="auto">
            <a:xfrm>
              <a:off x="1242" y="3120"/>
              <a:ext cx="4029" cy="200"/>
            </a:xfrm>
            <a:custGeom>
              <a:avLst/>
              <a:gdLst>
                <a:gd name="T0" fmla="*/ 0 w 4029"/>
                <a:gd name="T1" fmla="*/ 200 h 200"/>
                <a:gd name="T2" fmla="*/ 260 w 4029"/>
                <a:gd name="T3" fmla="*/ 0 h 200"/>
                <a:gd name="T4" fmla="*/ 4029 w 4029"/>
                <a:gd name="T5" fmla="*/ 0 h 200"/>
                <a:gd name="T6" fmla="*/ 3770 w 4029"/>
                <a:gd name="T7" fmla="*/ 200 h 200"/>
                <a:gd name="T8" fmla="*/ 0 w 4029"/>
                <a:gd name="T9" fmla="*/ 20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9" h="200">
                  <a:moveTo>
                    <a:pt x="0" y="200"/>
                  </a:moveTo>
                  <a:lnTo>
                    <a:pt x="260" y="0"/>
                  </a:lnTo>
                  <a:lnTo>
                    <a:pt x="4029" y="0"/>
                  </a:lnTo>
                  <a:lnTo>
                    <a:pt x="3770" y="200"/>
                  </a:lnTo>
                  <a:lnTo>
                    <a:pt x="0" y="20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1242" y="1200"/>
              <a:ext cx="260" cy="2120"/>
            </a:xfrm>
            <a:custGeom>
              <a:avLst/>
              <a:gdLst>
                <a:gd name="T0" fmla="*/ 0 w 260"/>
                <a:gd name="T1" fmla="*/ 2120 h 2120"/>
                <a:gd name="T2" fmla="*/ 0 w 260"/>
                <a:gd name="T3" fmla="*/ 201 h 2120"/>
                <a:gd name="T4" fmla="*/ 260 w 260"/>
                <a:gd name="T5" fmla="*/ 0 h 2120"/>
                <a:gd name="T6" fmla="*/ 260 w 260"/>
                <a:gd name="T7" fmla="*/ 1920 h 2120"/>
                <a:gd name="T8" fmla="*/ 0 w 260"/>
                <a:gd name="T9" fmla="*/ 2120 h 2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0" h="2120">
                  <a:moveTo>
                    <a:pt x="0" y="2120"/>
                  </a:moveTo>
                  <a:lnTo>
                    <a:pt x="0" y="201"/>
                  </a:lnTo>
                  <a:lnTo>
                    <a:pt x="260" y="0"/>
                  </a:lnTo>
                  <a:lnTo>
                    <a:pt x="260" y="1920"/>
                  </a:lnTo>
                  <a:lnTo>
                    <a:pt x="0" y="212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1502" y="1200"/>
              <a:ext cx="3769" cy="1920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9" name="Freeform 6"/>
            <p:cNvSpPr>
              <a:spLocks/>
            </p:cNvSpPr>
            <p:nvPr/>
          </p:nvSpPr>
          <p:spPr bwMode="auto">
            <a:xfrm>
              <a:off x="1242" y="3120"/>
              <a:ext cx="4029" cy="200"/>
            </a:xfrm>
            <a:custGeom>
              <a:avLst/>
              <a:gdLst>
                <a:gd name="T0" fmla="*/ 0 w 342"/>
                <a:gd name="T1" fmla="*/ 27682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1242" y="2802"/>
              <a:ext cx="4029" cy="200"/>
            </a:xfrm>
            <a:custGeom>
              <a:avLst/>
              <a:gdLst>
                <a:gd name="T0" fmla="*/ 0 w 342"/>
                <a:gd name="T1" fmla="*/ 27682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1242" y="2484"/>
              <a:ext cx="4029" cy="200"/>
            </a:xfrm>
            <a:custGeom>
              <a:avLst/>
              <a:gdLst>
                <a:gd name="T0" fmla="*/ 0 w 342"/>
                <a:gd name="T1" fmla="*/ 27682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1242" y="2166"/>
              <a:ext cx="4029" cy="189"/>
            </a:xfrm>
            <a:custGeom>
              <a:avLst/>
              <a:gdLst>
                <a:gd name="T0" fmla="*/ 0 w 342"/>
                <a:gd name="T1" fmla="*/ 26377 h 16"/>
                <a:gd name="T2" fmla="*/ 35943 w 342"/>
                <a:gd name="T3" fmla="*/ 0 h 16"/>
                <a:gd name="T4" fmla="*/ 559159 w 342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6">
                  <a:moveTo>
                    <a:pt x="0" y="16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1242" y="1836"/>
              <a:ext cx="4029" cy="201"/>
            </a:xfrm>
            <a:custGeom>
              <a:avLst/>
              <a:gdLst>
                <a:gd name="T0" fmla="*/ 0 w 342"/>
                <a:gd name="T1" fmla="*/ 28105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1242" y="1518"/>
              <a:ext cx="4029" cy="201"/>
            </a:xfrm>
            <a:custGeom>
              <a:avLst/>
              <a:gdLst>
                <a:gd name="T0" fmla="*/ 0 w 342"/>
                <a:gd name="T1" fmla="*/ 28105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1242" y="1200"/>
              <a:ext cx="4029" cy="201"/>
            </a:xfrm>
            <a:custGeom>
              <a:avLst/>
              <a:gdLst>
                <a:gd name="T0" fmla="*/ 0 w 342"/>
                <a:gd name="T1" fmla="*/ 28105 h 17"/>
                <a:gd name="T2" fmla="*/ 35943 w 342"/>
                <a:gd name="T3" fmla="*/ 0 h 17"/>
                <a:gd name="T4" fmla="*/ 559159 w 342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2" h="17">
                  <a:moveTo>
                    <a:pt x="0" y="17"/>
                  </a:moveTo>
                  <a:lnTo>
                    <a:pt x="22" y="0"/>
                  </a:lnTo>
                  <a:lnTo>
                    <a:pt x="342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1242" y="3120"/>
              <a:ext cx="4029" cy="200"/>
            </a:xfrm>
            <a:custGeom>
              <a:avLst/>
              <a:gdLst>
                <a:gd name="T0" fmla="*/ 4029 w 4029"/>
                <a:gd name="T1" fmla="*/ 0 h 200"/>
                <a:gd name="T2" fmla="*/ 3770 w 4029"/>
                <a:gd name="T3" fmla="*/ 200 h 200"/>
                <a:gd name="T4" fmla="*/ 0 w 4029"/>
                <a:gd name="T5" fmla="*/ 200 h 200"/>
                <a:gd name="T6" fmla="*/ 260 w 4029"/>
                <a:gd name="T7" fmla="*/ 0 h 200"/>
                <a:gd name="T8" fmla="*/ 4029 w 4029"/>
                <a:gd name="T9" fmla="*/ 0 h 2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29" h="200">
                  <a:moveTo>
                    <a:pt x="4029" y="0"/>
                  </a:moveTo>
                  <a:lnTo>
                    <a:pt x="3770" y="200"/>
                  </a:lnTo>
                  <a:lnTo>
                    <a:pt x="0" y="200"/>
                  </a:lnTo>
                  <a:lnTo>
                    <a:pt x="260" y="0"/>
                  </a:lnTo>
                  <a:lnTo>
                    <a:pt x="4029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1242" y="1200"/>
              <a:ext cx="260" cy="2120"/>
            </a:xfrm>
            <a:custGeom>
              <a:avLst/>
              <a:gdLst>
                <a:gd name="T0" fmla="*/ 0 w 260"/>
                <a:gd name="T1" fmla="*/ 2120 h 2120"/>
                <a:gd name="T2" fmla="*/ 0 w 260"/>
                <a:gd name="T3" fmla="*/ 201 h 2120"/>
                <a:gd name="T4" fmla="*/ 260 w 260"/>
                <a:gd name="T5" fmla="*/ 0 h 2120"/>
                <a:gd name="T6" fmla="*/ 260 w 260"/>
                <a:gd name="T7" fmla="*/ 1920 h 2120"/>
                <a:gd name="T8" fmla="*/ 0 w 260"/>
                <a:gd name="T9" fmla="*/ 2120 h 2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0" h="2120">
                  <a:moveTo>
                    <a:pt x="0" y="2120"/>
                  </a:moveTo>
                  <a:lnTo>
                    <a:pt x="0" y="201"/>
                  </a:lnTo>
                  <a:lnTo>
                    <a:pt x="260" y="0"/>
                  </a:lnTo>
                  <a:lnTo>
                    <a:pt x="260" y="1920"/>
                  </a:lnTo>
                  <a:lnTo>
                    <a:pt x="0" y="2120"/>
                  </a:lnTo>
                  <a:close/>
                </a:path>
              </a:pathLst>
            </a:custGeom>
            <a:noFill/>
            <a:ln w="19050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1502" y="1200"/>
              <a:ext cx="3769" cy="1920"/>
            </a:xfrm>
            <a:prstGeom prst="rect">
              <a:avLst/>
            </a:prstGeom>
            <a:noFill/>
            <a:ln w="19050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1843" y="1259"/>
              <a:ext cx="106" cy="2002"/>
            </a:xfrm>
            <a:custGeom>
              <a:avLst/>
              <a:gdLst>
                <a:gd name="T0" fmla="*/ 0 w 106"/>
                <a:gd name="T1" fmla="*/ 2002 h 2002"/>
                <a:gd name="T2" fmla="*/ 0 w 106"/>
                <a:gd name="T3" fmla="*/ 83 h 2002"/>
                <a:gd name="T4" fmla="*/ 106 w 106"/>
                <a:gd name="T5" fmla="*/ 0 h 2002"/>
                <a:gd name="T6" fmla="*/ 106 w 106"/>
                <a:gd name="T7" fmla="*/ 1920 h 2002"/>
                <a:gd name="T8" fmla="*/ 0 w 106"/>
                <a:gd name="T9" fmla="*/ 2002 h 20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2002">
                  <a:moveTo>
                    <a:pt x="0" y="2002"/>
                  </a:moveTo>
                  <a:lnTo>
                    <a:pt x="0" y="83"/>
                  </a:lnTo>
                  <a:lnTo>
                    <a:pt x="106" y="0"/>
                  </a:lnTo>
                  <a:lnTo>
                    <a:pt x="106" y="1920"/>
                  </a:lnTo>
                  <a:lnTo>
                    <a:pt x="0" y="2002"/>
                  </a:lnTo>
                  <a:close/>
                </a:path>
              </a:pathLst>
            </a:custGeom>
            <a:solidFill>
              <a:srgbClr val="4D4D80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Rectangle 17"/>
            <p:cNvSpPr>
              <a:spLocks noChangeArrowheads="1"/>
            </p:cNvSpPr>
            <p:nvPr/>
          </p:nvSpPr>
          <p:spPr bwMode="auto">
            <a:xfrm>
              <a:off x="1549" y="1342"/>
              <a:ext cx="294" cy="1919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1549" y="1259"/>
              <a:ext cx="400" cy="83"/>
            </a:xfrm>
            <a:custGeom>
              <a:avLst/>
              <a:gdLst>
                <a:gd name="T0" fmla="*/ 294 w 400"/>
                <a:gd name="T1" fmla="*/ 83 h 83"/>
                <a:gd name="T2" fmla="*/ 400 w 400"/>
                <a:gd name="T3" fmla="*/ 0 h 83"/>
                <a:gd name="T4" fmla="*/ 94 w 400"/>
                <a:gd name="T5" fmla="*/ 0 h 83"/>
                <a:gd name="T6" fmla="*/ 0 w 400"/>
                <a:gd name="T7" fmla="*/ 83 h 83"/>
                <a:gd name="T8" fmla="*/ 294 w 400"/>
                <a:gd name="T9" fmla="*/ 83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83">
                  <a:moveTo>
                    <a:pt x="294" y="83"/>
                  </a:moveTo>
                  <a:lnTo>
                    <a:pt x="400" y="0"/>
                  </a:lnTo>
                  <a:lnTo>
                    <a:pt x="94" y="0"/>
                  </a:lnTo>
                  <a:lnTo>
                    <a:pt x="0" y="83"/>
                  </a:lnTo>
                  <a:lnTo>
                    <a:pt x="294" y="83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Rectangle 19"/>
            <p:cNvSpPr>
              <a:spLocks noChangeArrowheads="1"/>
            </p:cNvSpPr>
            <p:nvPr/>
          </p:nvSpPr>
          <p:spPr bwMode="auto">
            <a:xfrm>
              <a:off x="1584" y="1406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/>
                <a:t>300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2597" y="2413"/>
              <a:ext cx="106" cy="848"/>
            </a:xfrm>
            <a:custGeom>
              <a:avLst/>
              <a:gdLst>
                <a:gd name="T0" fmla="*/ 0 w 106"/>
                <a:gd name="T1" fmla="*/ 848 h 848"/>
                <a:gd name="T2" fmla="*/ 0 w 106"/>
                <a:gd name="T3" fmla="*/ 83 h 848"/>
                <a:gd name="T4" fmla="*/ 106 w 106"/>
                <a:gd name="T5" fmla="*/ 0 h 848"/>
                <a:gd name="T6" fmla="*/ 106 w 106"/>
                <a:gd name="T7" fmla="*/ 766 h 848"/>
                <a:gd name="T8" fmla="*/ 0 w 106"/>
                <a:gd name="T9" fmla="*/ 848 h 8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848">
                  <a:moveTo>
                    <a:pt x="0" y="848"/>
                  </a:moveTo>
                  <a:lnTo>
                    <a:pt x="0" y="83"/>
                  </a:lnTo>
                  <a:lnTo>
                    <a:pt x="106" y="0"/>
                  </a:lnTo>
                  <a:lnTo>
                    <a:pt x="106" y="766"/>
                  </a:lnTo>
                  <a:lnTo>
                    <a:pt x="0" y="848"/>
                  </a:lnTo>
                  <a:close/>
                </a:path>
              </a:pathLst>
            </a:custGeom>
            <a:solidFill>
              <a:srgbClr val="4D4D80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2303" y="2496"/>
              <a:ext cx="294" cy="765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2303" y="2413"/>
              <a:ext cx="400" cy="83"/>
            </a:xfrm>
            <a:custGeom>
              <a:avLst/>
              <a:gdLst>
                <a:gd name="T0" fmla="*/ 294 w 400"/>
                <a:gd name="T1" fmla="*/ 83 h 83"/>
                <a:gd name="T2" fmla="*/ 400 w 400"/>
                <a:gd name="T3" fmla="*/ 0 h 83"/>
                <a:gd name="T4" fmla="*/ 94 w 400"/>
                <a:gd name="T5" fmla="*/ 0 h 83"/>
                <a:gd name="T6" fmla="*/ 0 w 400"/>
                <a:gd name="T7" fmla="*/ 83 h 83"/>
                <a:gd name="T8" fmla="*/ 294 w 400"/>
                <a:gd name="T9" fmla="*/ 83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0" h="83">
                  <a:moveTo>
                    <a:pt x="294" y="83"/>
                  </a:moveTo>
                  <a:lnTo>
                    <a:pt x="400" y="0"/>
                  </a:lnTo>
                  <a:lnTo>
                    <a:pt x="94" y="0"/>
                  </a:lnTo>
                  <a:lnTo>
                    <a:pt x="0" y="83"/>
                  </a:lnTo>
                  <a:lnTo>
                    <a:pt x="294" y="83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2304" y="2558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/>
                <a:t>120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27" name="Freeform 24"/>
            <p:cNvSpPr>
              <a:spLocks/>
            </p:cNvSpPr>
            <p:nvPr/>
          </p:nvSpPr>
          <p:spPr bwMode="auto">
            <a:xfrm>
              <a:off x="3351" y="2896"/>
              <a:ext cx="106" cy="365"/>
            </a:xfrm>
            <a:custGeom>
              <a:avLst/>
              <a:gdLst>
                <a:gd name="T0" fmla="*/ 0 w 106"/>
                <a:gd name="T1" fmla="*/ 365 h 365"/>
                <a:gd name="T2" fmla="*/ 0 w 106"/>
                <a:gd name="T3" fmla="*/ 83 h 365"/>
                <a:gd name="T4" fmla="*/ 106 w 106"/>
                <a:gd name="T5" fmla="*/ 0 h 365"/>
                <a:gd name="T6" fmla="*/ 106 w 106"/>
                <a:gd name="T7" fmla="*/ 283 h 365"/>
                <a:gd name="T8" fmla="*/ 0 w 106"/>
                <a:gd name="T9" fmla="*/ 365 h 36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365">
                  <a:moveTo>
                    <a:pt x="0" y="365"/>
                  </a:moveTo>
                  <a:lnTo>
                    <a:pt x="0" y="83"/>
                  </a:lnTo>
                  <a:lnTo>
                    <a:pt x="106" y="0"/>
                  </a:lnTo>
                  <a:lnTo>
                    <a:pt x="106" y="283"/>
                  </a:lnTo>
                  <a:lnTo>
                    <a:pt x="0" y="365"/>
                  </a:lnTo>
                  <a:close/>
                </a:path>
              </a:pathLst>
            </a:custGeom>
            <a:solidFill>
              <a:srgbClr val="4D4D80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Rectangle 25"/>
            <p:cNvSpPr>
              <a:spLocks noChangeArrowheads="1"/>
            </p:cNvSpPr>
            <p:nvPr/>
          </p:nvSpPr>
          <p:spPr bwMode="auto">
            <a:xfrm>
              <a:off x="3056" y="2979"/>
              <a:ext cx="295" cy="282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9" name="Freeform 26"/>
            <p:cNvSpPr>
              <a:spLocks/>
            </p:cNvSpPr>
            <p:nvPr/>
          </p:nvSpPr>
          <p:spPr bwMode="auto">
            <a:xfrm>
              <a:off x="3056" y="2896"/>
              <a:ext cx="401" cy="83"/>
            </a:xfrm>
            <a:custGeom>
              <a:avLst/>
              <a:gdLst>
                <a:gd name="T0" fmla="*/ 295 w 401"/>
                <a:gd name="T1" fmla="*/ 83 h 83"/>
                <a:gd name="T2" fmla="*/ 401 w 401"/>
                <a:gd name="T3" fmla="*/ 0 h 83"/>
                <a:gd name="T4" fmla="*/ 106 w 401"/>
                <a:gd name="T5" fmla="*/ 0 h 83"/>
                <a:gd name="T6" fmla="*/ 0 w 401"/>
                <a:gd name="T7" fmla="*/ 83 h 83"/>
                <a:gd name="T8" fmla="*/ 295 w 401"/>
                <a:gd name="T9" fmla="*/ 83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1" h="83">
                  <a:moveTo>
                    <a:pt x="295" y="83"/>
                  </a:moveTo>
                  <a:lnTo>
                    <a:pt x="401" y="0"/>
                  </a:lnTo>
                  <a:lnTo>
                    <a:pt x="106" y="0"/>
                  </a:lnTo>
                  <a:lnTo>
                    <a:pt x="0" y="83"/>
                  </a:lnTo>
                  <a:lnTo>
                    <a:pt x="295" y="83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3120" y="2990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/>
                <a:t>45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31" name="Freeform 28"/>
            <p:cNvSpPr>
              <a:spLocks/>
            </p:cNvSpPr>
            <p:nvPr/>
          </p:nvSpPr>
          <p:spPr bwMode="auto">
            <a:xfrm>
              <a:off x="4116" y="3167"/>
              <a:ext cx="95" cy="94"/>
            </a:xfrm>
            <a:custGeom>
              <a:avLst/>
              <a:gdLst>
                <a:gd name="T0" fmla="*/ 0 w 95"/>
                <a:gd name="T1" fmla="*/ 94 h 94"/>
                <a:gd name="T2" fmla="*/ 0 w 95"/>
                <a:gd name="T3" fmla="*/ 71 h 94"/>
                <a:gd name="T4" fmla="*/ 95 w 95"/>
                <a:gd name="T5" fmla="*/ 0 h 94"/>
                <a:gd name="T6" fmla="*/ 95 w 95"/>
                <a:gd name="T7" fmla="*/ 12 h 94"/>
                <a:gd name="T8" fmla="*/ 0 w 95"/>
                <a:gd name="T9" fmla="*/ 94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94">
                  <a:moveTo>
                    <a:pt x="0" y="94"/>
                  </a:moveTo>
                  <a:lnTo>
                    <a:pt x="0" y="71"/>
                  </a:lnTo>
                  <a:lnTo>
                    <a:pt x="95" y="0"/>
                  </a:lnTo>
                  <a:lnTo>
                    <a:pt x="95" y="12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4D4D80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Rectangle 29"/>
            <p:cNvSpPr>
              <a:spLocks noChangeArrowheads="1"/>
            </p:cNvSpPr>
            <p:nvPr/>
          </p:nvSpPr>
          <p:spPr bwMode="auto">
            <a:xfrm>
              <a:off x="3810" y="3238"/>
              <a:ext cx="306" cy="23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33" name="Freeform 30"/>
            <p:cNvSpPr>
              <a:spLocks/>
            </p:cNvSpPr>
            <p:nvPr/>
          </p:nvSpPr>
          <p:spPr bwMode="auto">
            <a:xfrm>
              <a:off x="3810" y="3167"/>
              <a:ext cx="401" cy="71"/>
            </a:xfrm>
            <a:custGeom>
              <a:avLst/>
              <a:gdLst>
                <a:gd name="T0" fmla="*/ 306 w 401"/>
                <a:gd name="T1" fmla="*/ 71 h 71"/>
                <a:gd name="T2" fmla="*/ 401 w 401"/>
                <a:gd name="T3" fmla="*/ 0 h 71"/>
                <a:gd name="T4" fmla="*/ 106 w 401"/>
                <a:gd name="T5" fmla="*/ 0 h 71"/>
                <a:gd name="T6" fmla="*/ 0 w 401"/>
                <a:gd name="T7" fmla="*/ 71 h 71"/>
                <a:gd name="T8" fmla="*/ 306 w 401"/>
                <a:gd name="T9" fmla="*/ 7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1" h="71">
                  <a:moveTo>
                    <a:pt x="306" y="71"/>
                  </a:moveTo>
                  <a:lnTo>
                    <a:pt x="401" y="0"/>
                  </a:lnTo>
                  <a:lnTo>
                    <a:pt x="106" y="0"/>
                  </a:lnTo>
                  <a:lnTo>
                    <a:pt x="0" y="71"/>
                  </a:lnTo>
                  <a:lnTo>
                    <a:pt x="306" y="71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Rectangle 31"/>
            <p:cNvSpPr>
              <a:spLocks noChangeArrowheads="1"/>
            </p:cNvSpPr>
            <p:nvPr/>
          </p:nvSpPr>
          <p:spPr bwMode="auto">
            <a:xfrm>
              <a:off x="3975" y="288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/>
                <a:t>3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4870" y="3179"/>
              <a:ext cx="95" cy="82"/>
            </a:xfrm>
            <a:custGeom>
              <a:avLst/>
              <a:gdLst>
                <a:gd name="T0" fmla="*/ 0 w 95"/>
                <a:gd name="T1" fmla="*/ 82 h 82"/>
                <a:gd name="T2" fmla="*/ 0 w 95"/>
                <a:gd name="T3" fmla="*/ 71 h 82"/>
                <a:gd name="T4" fmla="*/ 95 w 95"/>
                <a:gd name="T5" fmla="*/ 0 h 82"/>
                <a:gd name="T6" fmla="*/ 95 w 95"/>
                <a:gd name="T7" fmla="*/ 0 h 82"/>
                <a:gd name="T8" fmla="*/ 0 w 95"/>
                <a:gd name="T9" fmla="*/ 82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82">
                  <a:moveTo>
                    <a:pt x="0" y="82"/>
                  </a:moveTo>
                  <a:lnTo>
                    <a:pt x="0" y="71"/>
                  </a:lnTo>
                  <a:lnTo>
                    <a:pt x="95" y="0"/>
                  </a:lnTo>
                  <a:lnTo>
                    <a:pt x="0" y="82"/>
                  </a:lnTo>
                  <a:close/>
                </a:path>
              </a:pathLst>
            </a:custGeom>
            <a:solidFill>
              <a:srgbClr val="4D4D80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4564" y="3250"/>
              <a:ext cx="306" cy="11"/>
            </a:xfrm>
            <a:prstGeom prst="rect">
              <a:avLst/>
            </a:prstGeom>
            <a:solidFill>
              <a:srgbClr val="9999FF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4564" y="3179"/>
              <a:ext cx="106" cy="82"/>
            </a:xfrm>
            <a:custGeom>
              <a:avLst/>
              <a:gdLst>
                <a:gd name="T0" fmla="*/ 106 w 106"/>
                <a:gd name="T1" fmla="*/ 0 h 82"/>
                <a:gd name="T2" fmla="*/ 106 w 106"/>
                <a:gd name="T3" fmla="*/ 0 h 82"/>
                <a:gd name="T4" fmla="*/ 0 w 106"/>
                <a:gd name="T5" fmla="*/ 71 h 82"/>
                <a:gd name="T6" fmla="*/ 0 w 106"/>
                <a:gd name="T7" fmla="*/ 82 h 82"/>
                <a:gd name="T8" fmla="*/ 106 w 106"/>
                <a:gd name="T9" fmla="*/ 0 h 8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6" h="82">
                  <a:moveTo>
                    <a:pt x="106" y="0"/>
                  </a:moveTo>
                  <a:lnTo>
                    <a:pt x="106" y="0"/>
                  </a:lnTo>
                  <a:lnTo>
                    <a:pt x="0" y="71"/>
                  </a:lnTo>
                  <a:lnTo>
                    <a:pt x="0" y="82"/>
                  </a:lnTo>
                  <a:lnTo>
                    <a:pt x="106" y="0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Rectangle 35"/>
            <p:cNvSpPr>
              <a:spLocks noChangeArrowheads="1"/>
            </p:cNvSpPr>
            <p:nvPr/>
          </p:nvSpPr>
          <p:spPr bwMode="auto">
            <a:xfrm>
              <a:off x="4670" y="3179"/>
              <a:ext cx="295" cy="0"/>
            </a:xfrm>
            <a:prstGeom prst="rect">
              <a:avLst/>
            </a:prstGeom>
            <a:solidFill>
              <a:srgbClr val="4D4D8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39" name="Freeform 36"/>
            <p:cNvSpPr>
              <a:spLocks/>
            </p:cNvSpPr>
            <p:nvPr/>
          </p:nvSpPr>
          <p:spPr bwMode="auto">
            <a:xfrm>
              <a:off x="4564" y="3179"/>
              <a:ext cx="401" cy="71"/>
            </a:xfrm>
            <a:custGeom>
              <a:avLst/>
              <a:gdLst>
                <a:gd name="T0" fmla="*/ 306 w 401"/>
                <a:gd name="T1" fmla="*/ 71 h 71"/>
                <a:gd name="T2" fmla="*/ 401 w 401"/>
                <a:gd name="T3" fmla="*/ 0 h 71"/>
                <a:gd name="T4" fmla="*/ 106 w 401"/>
                <a:gd name="T5" fmla="*/ 0 h 71"/>
                <a:gd name="T6" fmla="*/ 0 w 401"/>
                <a:gd name="T7" fmla="*/ 71 h 71"/>
                <a:gd name="T8" fmla="*/ 306 w 401"/>
                <a:gd name="T9" fmla="*/ 71 h 7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01" h="71">
                  <a:moveTo>
                    <a:pt x="306" y="71"/>
                  </a:moveTo>
                  <a:lnTo>
                    <a:pt x="401" y="0"/>
                  </a:lnTo>
                  <a:lnTo>
                    <a:pt x="106" y="0"/>
                  </a:lnTo>
                  <a:lnTo>
                    <a:pt x="0" y="71"/>
                  </a:lnTo>
                  <a:lnTo>
                    <a:pt x="306" y="71"/>
                  </a:lnTo>
                  <a:close/>
                </a:path>
              </a:pathLst>
            </a:custGeom>
            <a:solidFill>
              <a:srgbClr val="7373BF"/>
            </a:solidFill>
            <a:ln w="19050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0" name="Rectangle 37"/>
            <p:cNvSpPr>
              <a:spLocks noChangeArrowheads="1"/>
            </p:cNvSpPr>
            <p:nvPr/>
          </p:nvSpPr>
          <p:spPr bwMode="auto">
            <a:xfrm>
              <a:off x="4729" y="2884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/>
                <a:t>1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41" name="Line 38"/>
            <p:cNvSpPr>
              <a:spLocks noChangeShapeType="1"/>
            </p:cNvSpPr>
            <p:nvPr/>
          </p:nvSpPr>
          <p:spPr bwMode="auto">
            <a:xfrm flipV="1">
              <a:off x="1242" y="1401"/>
              <a:ext cx="1" cy="1919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2" name="Line 39"/>
            <p:cNvSpPr>
              <a:spLocks noChangeShapeType="1"/>
            </p:cNvSpPr>
            <p:nvPr/>
          </p:nvSpPr>
          <p:spPr bwMode="auto">
            <a:xfrm flipH="1">
              <a:off x="1207" y="3320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3" name="Line 40"/>
            <p:cNvSpPr>
              <a:spLocks noChangeShapeType="1"/>
            </p:cNvSpPr>
            <p:nvPr/>
          </p:nvSpPr>
          <p:spPr bwMode="auto">
            <a:xfrm flipH="1">
              <a:off x="1207" y="3002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4" name="Line 41"/>
            <p:cNvSpPr>
              <a:spLocks noChangeShapeType="1"/>
            </p:cNvSpPr>
            <p:nvPr/>
          </p:nvSpPr>
          <p:spPr bwMode="auto">
            <a:xfrm flipH="1">
              <a:off x="1207" y="2684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Line 42"/>
            <p:cNvSpPr>
              <a:spLocks noChangeShapeType="1"/>
            </p:cNvSpPr>
            <p:nvPr/>
          </p:nvSpPr>
          <p:spPr bwMode="auto">
            <a:xfrm flipH="1">
              <a:off x="1207" y="2355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6" name="Line 43"/>
            <p:cNvSpPr>
              <a:spLocks noChangeShapeType="1"/>
            </p:cNvSpPr>
            <p:nvPr/>
          </p:nvSpPr>
          <p:spPr bwMode="auto">
            <a:xfrm flipH="1">
              <a:off x="1207" y="2037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Line 44"/>
            <p:cNvSpPr>
              <a:spLocks noChangeShapeType="1"/>
            </p:cNvSpPr>
            <p:nvPr/>
          </p:nvSpPr>
          <p:spPr bwMode="auto">
            <a:xfrm flipH="1">
              <a:off x="1207" y="1719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Line 45"/>
            <p:cNvSpPr>
              <a:spLocks noChangeShapeType="1"/>
            </p:cNvSpPr>
            <p:nvPr/>
          </p:nvSpPr>
          <p:spPr bwMode="auto">
            <a:xfrm flipH="1">
              <a:off x="1207" y="1401"/>
              <a:ext cx="35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49" name="Rectangle 46"/>
            <p:cNvSpPr>
              <a:spLocks noChangeArrowheads="1"/>
            </p:cNvSpPr>
            <p:nvPr/>
          </p:nvSpPr>
          <p:spPr bwMode="auto">
            <a:xfrm>
              <a:off x="1101" y="3226"/>
              <a:ext cx="8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0" name="Rectangle 47"/>
            <p:cNvSpPr>
              <a:spLocks noChangeArrowheads="1"/>
            </p:cNvSpPr>
            <p:nvPr/>
          </p:nvSpPr>
          <p:spPr bwMode="auto">
            <a:xfrm>
              <a:off x="1019" y="2908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50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936" y="2590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100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2" name="Rectangle 49"/>
            <p:cNvSpPr>
              <a:spLocks noChangeArrowheads="1"/>
            </p:cNvSpPr>
            <p:nvPr/>
          </p:nvSpPr>
          <p:spPr bwMode="auto">
            <a:xfrm>
              <a:off x="936" y="2260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150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936" y="1942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200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936" y="1624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250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936" y="1306"/>
              <a:ext cx="255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300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6" name="Rectangle 53"/>
            <p:cNvSpPr>
              <a:spLocks noChangeArrowheads="1"/>
            </p:cNvSpPr>
            <p:nvPr/>
          </p:nvSpPr>
          <p:spPr bwMode="auto">
            <a:xfrm>
              <a:off x="288" y="2260"/>
              <a:ext cx="576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 b="1">
                  <a:solidFill>
                    <a:srgbClr val="000000"/>
                  </a:solidFill>
                </a:rPr>
                <a:t>Minutes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>
              <a:off x="1242" y="3320"/>
              <a:ext cx="3770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>
              <a:off x="1242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>
              <a:off x="1996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Line 57"/>
            <p:cNvSpPr>
              <a:spLocks noChangeShapeType="1"/>
            </p:cNvSpPr>
            <p:nvPr/>
          </p:nvSpPr>
          <p:spPr bwMode="auto">
            <a:xfrm>
              <a:off x="2750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Line 58"/>
            <p:cNvSpPr>
              <a:spLocks noChangeShapeType="1"/>
            </p:cNvSpPr>
            <p:nvPr/>
          </p:nvSpPr>
          <p:spPr bwMode="auto">
            <a:xfrm>
              <a:off x="3504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>
              <a:off x="4258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>
              <a:off x="5012" y="3320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1537" y="339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94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2291" y="339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95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3045" y="339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96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3798" y="339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97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4552" y="3391"/>
              <a:ext cx="17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>
                  <a:solidFill>
                    <a:srgbClr val="000000"/>
                  </a:solidFill>
                </a:rPr>
                <a:t>98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2962" y="3662"/>
              <a:ext cx="330" cy="1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1900" b="1">
                  <a:solidFill>
                    <a:srgbClr val="000000"/>
                  </a:solidFill>
                </a:rPr>
                <a:t>Year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0" name="Text Box 67"/>
            <p:cNvSpPr txBox="1">
              <a:spLocks noChangeArrowheads="1"/>
            </p:cNvSpPr>
            <p:nvPr/>
          </p:nvSpPr>
          <p:spPr bwMode="auto">
            <a:xfrm>
              <a:off x="1364" y="3412"/>
              <a:ext cx="3648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50000"/>
                </a:spcBef>
                <a:buFontTx/>
                <a:buNone/>
              </a:pPr>
              <a:r>
                <a:rPr lang="en-US" altLang="pt-BR" sz="2400">
                  <a:latin typeface="Times New Roman" pitchFamily="18" charset="0"/>
                  <a:cs typeface="Arial" pitchFamily="34" charset="0"/>
                </a:rPr>
                <a:t>     1             2             3             4             5</a:t>
              </a:r>
            </a:p>
          </p:txBody>
        </p:sp>
      </p:grpSp>
      <p:sp>
        <p:nvSpPr>
          <p:cNvPr id="71" name="Retângulo de cantos arredondados 3">
            <a:extLst>
              <a:ext uri="{FF2B5EF4-FFF2-40B4-BE49-F238E27FC236}">
                <a16:creationId xmlns:a16="http://schemas.microsoft.com/office/drawing/2014/main" id="{F31A4512-60E8-4EFA-A31C-CA7FA3FF4761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Análise de setup - indicadores</a:t>
            </a:r>
          </a:p>
        </p:txBody>
      </p:sp>
    </p:spTree>
    <p:extLst>
      <p:ext uri="{BB962C8B-B14F-4D97-AF65-F5344CB8AC3E}">
        <p14:creationId xmlns:p14="http://schemas.microsoft.com/office/powerpoint/2010/main" val="41942554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8600" y="3657600"/>
            <a:ext cx="585788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pt-BR" sz="1600" b="1">
                <a:solidFill>
                  <a:srgbClr val="000000"/>
                </a:solidFill>
              </a:rPr>
              <a:t>Hours</a:t>
            </a:r>
            <a:endParaRPr lang="en-US" altLang="pt-BR" sz="1600" b="1">
              <a:latin typeface="Times New Roman" pitchFamily="18" charset="0"/>
            </a:endParaRPr>
          </a:p>
        </p:txBody>
      </p:sp>
      <p:grpSp>
        <p:nvGrpSpPr>
          <p:cNvPr id="6" name="Group 3"/>
          <p:cNvGrpSpPr>
            <a:grpSpLocks/>
          </p:cNvGrpSpPr>
          <p:nvPr/>
        </p:nvGrpSpPr>
        <p:grpSpPr bwMode="auto">
          <a:xfrm>
            <a:off x="533400" y="1828800"/>
            <a:ext cx="8305800" cy="3506788"/>
            <a:chOff x="698" y="1316"/>
            <a:chExt cx="4961" cy="2209"/>
          </a:xfrm>
        </p:grpSpPr>
        <p:sp>
          <p:nvSpPr>
            <p:cNvPr id="7" name="Freeform 4"/>
            <p:cNvSpPr>
              <a:spLocks/>
            </p:cNvSpPr>
            <p:nvPr/>
          </p:nvSpPr>
          <p:spPr bwMode="auto">
            <a:xfrm>
              <a:off x="956" y="3081"/>
              <a:ext cx="3915" cy="180"/>
            </a:xfrm>
            <a:custGeom>
              <a:avLst/>
              <a:gdLst>
                <a:gd name="T0" fmla="*/ 0 w 3915"/>
                <a:gd name="T1" fmla="*/ 180 h 180"/>
                <a:gd name="T2" fmla="*/ 237 w 3915"/>
                <a:gd name="T3" fmla="*/ 0 h 180"/>
                <a:gd name="T4" fmla="*/ 3915 w 3915"/>
                <a:gd name="T5" fmla="*/ 0 h 180"/>
                <a:gd name="T6" fmla="*/ 3679 w 3915"/>
                <a:gd name="T7" fmla="*/ 180 h 180"/>
                <a:gd name="T8" fmla="*/ 0 w 3915"/>
                <a:gd name="T9" fmla="*/ 180 h 1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15" h="180">
                  <a:moveTo>
                    <a:pt x="0" y="180"/>
                  </a:moveTo>
                  <a:lnTo>
                    <a:pt x="237" y="0"/>
                  </a:lnTo>
                  <a:lnTo>
                    <a:pt x="3915" y="0"/>
                  </a:lnTo>
                  <a:lnTo>
                    <a:pt x="3679" y="180"/>
                  </a:lnTo>
                  <a:lnTo>
                    <a:pt x="0" y="18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5"/>
            <p:cNvSpPr>
              <a:spLocks/>
            </p:cNvSpPr>
            <p:nvPr/>
          </p:nvSpPr>
          <p:spPr bwMode="auto">
            <a:xfrm>
              <a:off x="956" y="1316"/>
              <a:ext cx="237" cy="1945"/>
            </a:xfrm>
            <a:custGeom>
              <a:avLst/>
              <a:gdLst>
                <a:gd name="T0" fmla="*/ 0 w 237"/>
                <a:gd name="T1" fmla="*/ 1945 h 1945"/>
                <a:gd name="T2" fmla="*/ 0 w 237"/>
                <a:gd name="T3" fmla="*/ 180 h 1945"/>
                <a:gd name="T4" fmla="*/ 237 w 237"/>
                <a:gd name="T5" fmla="*/ 0 h 1945"/>
                <a:gd name="T6" fmla="*/ 237 w 237"/>
                <a:gd name="T7" fmla="*/ 1765 h 1945"/>
                <a:gd name="T8" fmla="*/ 0 w 237"/>
                <a:gd name="T9" fmla="*/ 1945 h 19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" h="1945">
                  <a:moveTo>
                    <a:pt x="0" y="1945"/>
                  </a:moveTo>
                  <a:lnTo>
                    <a:pt x="0" y="180"/>
                  </a:lnTo>
                  <a:lnTo>
                    <a:pt x="237" y="0"/>
                  </a:lnTo>
                  <a:lnTo>
                    <a:pt x="237" y="1765"/>
                  </a:lnTo>
                  <a:lnTo>
                    <a:pt x="0" y="1945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1193" y="1316"/>
              <a:ext cx="3678" cy="1765"/>
            </a:xfrm>
            <a:prstGeom prst="rect">
              <a:avLst/>
            </a:prstGeom>
            <a:solidFill>
              <a:srgbClr val="C0C0C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956" y="3081"/>
              <a:ext cx="3915" cy="180"/>
            </a:xfrm>
            <a:custGeom>
              <a:avLst/>
              <a:gdLst>
                <a:gd name="T0" fmla="*/ 0 w 348"/>
                <a:gd name="T1" fmla="*/ 25920 h 15"/>
                <a:gd name="T2" fmla="*/ 29869 w 348"/>
                <a:gd name="T3" fmla="*/ 0 h 15"/>
                <a:gd name="T4" fmla="*/ 495495 w 34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5">
                  <a:moveTo>
                    <a:pt x="0" y="15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956" y="2781"/>
              <a:ext cx="3915" cy="192"/>
            </a:xfrm>
            <a:custGeom>
              <a:avLst/>
              <a:gdLst>
                <a:gd name="T0" fmla="*/ 0 w 348"/>
                <a:gd name="T1" fmla="*/ 27648 h 16"/>
                <a:gd name="T2" fmla="*/ 29869 w 348"/>
                <a:gd name="T3" fmla="*/ 0 h 16"/>
                <a:gd name="T4" fmla="*/ 495495 w 348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6">
                  <a:moveTo>
                    <a:pt x="0" y="16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9"/>
            <p:cNvSpPr>
              <a:spLocks/>
            </p:cNvSpPr>
            <p:nvPr/>
          </p:nvSpPr>
          <p:spPr bwMode="auto">
            <a:xfrm>
              <a:off x="956" y="2493"/>
              <a:ext cx="3915" cy="180"/>
            </a:xfrm>
            <a:custGeom>
              <a:avLst/>
              <a:gdLst>
                <a:gd name="T0" fmla="*/ 0 w 348"/>
                <a:gd name="T1" fmla="*/ 25920 h 15"/>
                <a:gd name="T2" fmla="*/ 29869 w 348"/>
                <a:gd name="T3" fmla="*/ 0 h 15"/>
                <a:gd name="T4" fmla="*/ 495495 w 34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5">
                  <a:moveTo>
                    <a:pt x="0" y="15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956" y="2192"/>
              <a:ext cx="3915" cy="193"/>
            </a:xfrm>
            <a:custGeom>
              <a:avLst/>
              <a:gdLst>
                <a:gd name="T0" fmla="*/ 0 w 348"/>
                <a:gd name="T1" fmla="*/ 28082 h 16"/>
                <a:gd name="T2" fmla="*/ 29869 w 348"/>
                <a:gd name="T3" fmla="*/ 0 h 16"/>
                <a:gd name="T4" fmla="*/ 495495 w 348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6">
                  <a:moveTo>
                    <a:pt x="0" y="16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956" y="1904"/>
              <a:ext cx="3915" cy="180"/>
            </a:xfrm>
            <a:custGeom>
              <a:avLst/>
              <a:gdLst>
                <a:gd name="T0" fmla="*/ 0 w 348"/>
                <a:gd name="T1" fmla="*/ 25920 h 15"/>
                <a:gd name="T2" fmla="*/ 29869 w 348"/>
                <a:gd name="T3" fmla="*/ 0 h 15"/>
                <a:gd name="T4" fmla="*/ 495495 w 34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5">
                  <a:moveTo>
                    <a:pt x="0" y="15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12"/>
            <p:cNvSpPr>
              <a:spLocks/>
            </p:cNvSpPr>
            <p:nvPr/>
          </p:nvSpPr>
          <p:spPr bwMode="auto">
            <a:xfrm>
              <a:off x="956" y="1604"/>
              <a:ext cx="3915" cy="192"/>
            </a:xfrm>
            <a:custGeom>
              <a:avLst/>
              <a:gdLst>
                <a:gd name="T0" fmla="*/ 0 w 348"/>
                <a:gd name="T1" fmla="*/ 27648 h 16"/>
                <a:gd name="T2" fmla="*/ 29869 w 348"/>
                <a:gd name="T3" fmla="*/ 0 h 16"/>
                <a:gd name="T4" fmla="*/ 495495 w 348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6">
                  <a:moveTo>
                    <a:pt x="0" y="16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956" y="1316"/>
              <a:ext cx="3915" cy="180"/>
            </a:xfrm>
            <a:custGeom>
              <a:avLst/>
              <a:gdLst>
                <a:gd name="T0" fmla="*/ 0 w 348"/>
                <a:gd name="T1" fmla="*/ 25920 h 15"/>
                <a:gd name="T2" fmla="*/ 29869 w 348"/>
                <a:gd name="T3" fmla="*/ 0 h 15"/>
                <a:gd name="T4" fmla="*/ 495495 w 348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8" h="15">
                  <a:moveTo>
                    <a:pt x="0" y="15"/>
                  </a:moveTo>
                  <a:lnTo>
                    <a:pt x="21" y="0"/>
                  </a:lnTo>
                  <a:lnTo>
                    <a:pt x="348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956" y="3081"/>
              <a:ext cx="3915" cy="180"/>
            </a:xfrm>
            <a:custGeom>
              <a:avLst/>
              <a:gdLst>
                <a:gd name="T0" fmla="*/ 3915 w 3915"/>
                <a:gd name="T1" fmla="*/ 0 h 180"/>
                <a:gd name="T2" fmla="*/ 3679 w 3915"/>
                <a:gd name="T3" fmla="*/ 180 h 180"/>
                <a:gd name="T4" fmla="*/ 0 w 3915"/>
                <a:gd name="T5" fmla="*/ 180 h 180"/>
                <a:gd name="T6" fmla="*/ 237 w 3915"/>
                <a:gd name="T7" fmla="*/ 0 h 180"/>
                <a:gd name="T8" fmla="*/ 3915 w 3915"/>
                <a:gd name="T9" fmla="*/ 0 h 1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15" h="180">
                  <a:moveTo>
                    <a:pt x="3915" y="0"/>
                  </a:moveTo>
                  <a:lnTo>
                    <a:pt x="3679" y="180"/>
                  </a:lnTo>
                  <a:lnTo>
                    <a:pt x="0" y="180"/>
                  </a:lnTo>
                  <a:lnTo>
                    <a:pt x="237" y="0"/>
                  </a:lnTo>
                  <a:lnTo>
                    <a:pt x="3915" y="0"/>
                  </a:lnTo>
                  <a:close/>
                </a:path>
              </a:pathLst>
            </a:custGeom>
            <a:noFill/>
            <a:ln w="0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956" y="1316"/>
              <a:ext cx="237" cy="1945"/>
            </a:xfrm>
            <a:custGeom>
              <a:avLst/>
              <a:gdLst>
                <a:gd name="T0" fmla="*/ 0 w 237"/>
                <a:gd name="T1" fmla="*/ 1945 h 1945"/>
                <a:gd name="T2" fmla="*/ 0 w 237"/>
                <a:gd name="T3" fmla="*/ 180 h 1945"/>
                <a:gd name="T4" fmla="*/ 237 w 237"/>
                <a:gd name="T5" fmla="*/ 0 h 1945"/>
                <a:gd name="T6" fmla="*/ 237 w 237"/>
                <a:gd name="T7" fmla="*/ 1765 h 1945"/>
                <a:gd name="T8" fmla="*/ 0 w 237"/>
                <a:gd name="T9" fmla="*/ 1945 h 194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7" h="1945">
                  <a:moveTo>
                    <a:pt x="0" y="1945"/>
                  </a:moveTo>
                  <a:lnTo>
                    <a:pt x="0" y="180"/>
                  </a:lnTo>
                  <a:lnTo>
                    <a:pt x="237" y="0"/>
                  </a:lnTo>
                  <a:lnTo>
                    <a:pt x="237" y="1765"/>
                  </a:lnTo>
                  <a:lnTo>
                    <a:pt x="0" y="1945"/>
                  </a:lnTo>
                  <a:close/>
                </a:path>
              </a:pathLst>
            </a:custGeom>
            <a:noFill/>
            <a:ln w="17463">
              <a:solidFill>
                <a:srgbClr val="80808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193" y="1316"/>
              <a:ext cx="3678" cy="1765"/>
            </a:xfrm>
            <a:prstGeom prst="rect">
              <a:avLst/>
            </a:prstGeom>
            <a:noFill/>
            <a:ln w="17463">
              <a:solidFill>
                <a:srgbClr val="80808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1508" y="1628"/>
              <a:ext cx="90" cy="1585"/>
            </a:xfrm>
            <a:custGeom>
              <a:avLst/>
              <a:gdLst>
                <a:gd name="T0" fmla="*/ 0 w 90"/>
                <a:gd name="T1" fmla="*/ 1585 h 1585"/>
                <a:gd name="T2" fmla="*/ 0 w 90"/>
                <a:gd name="T3" fmla="*/ 72 h 1585"/>
                <a:gd name="T4" fmla="*/ 90 w 90"/>
                <a:gd name="T5" fmla="*/ 0 h 1585"/>
                <a:gd name="T6" fmla="*/ 90 w 90"/>
                <a:gd name="T7" fmla="*/ 1513 h 1585"/>
                <a:gd name="T8" fmla="*/ 0 w 90"/>
                <a:gd name="T9" fmla="*/ 1585 h 15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1585">
                  <a:moveTo>
                    <a:pt x="0" y="1585"/>
                  </a:moveTo>
                  <a:lnTo>
                    <a:pt x="0" y="72"/>
                  </a:lnTo>
                  <a:lnTo>
                    <a:pt x="90" y="0"/>
                  </a:lnTo>
                  <a:lnTo>
                    <a:pt x="90" y="1513"/>
                  </a:lnTo>
                  <a:lnTo>
                    <a:pt x="0" y="1585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Rectangle 18"/>
            <p:cNvSpPr>
              <a:spLocks noChangeArrowheads="1"/>
            </p:cNvSpPr>
            <p:nvPr/>
          </p:nvSpPr>
          <p:spPr bwMode="auto">
            <a:xfrm>
              <a:off x="1226" y="1700"/>
              <a:ext cx="282" cy="1513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1226" y="1628"/>
              <a:ext cx="372" cy="72"/>
            </a:xfrm>
            <a:custGeom>
              <a:avLst/>
              <a:gdLst>
                <a:gd name="T0" fmla="*/ 282 w 372"/>
                <a:gd name="T1" fmla="*/ 72 h 72"/>
                <a:gd name="T2" fmla="*/ 372 w 372"/>
                <a:gd name="T3" fmla="*/ 0 h 72"/>
                <a:gd name="T4" fmla="*/ 102 w 372"/>
                <a:gd name="T5" fmla="*/ 0 h 72"/>
                <a:gd name="T6" fmla="*/ 0 w 372"/>
                <a:gd name="T7" fmla="*/ 72 h 72"/>
                <a:gd name="T8" fmla="*/ 282 w 372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2" h="72">
                  <a:moveTo>
                    <a:pt x="282" y="72"/>
                  </a:moveTo>
                  <a:lnTo>
                    <a:pt x="372" y="0"/>
                  </a:lnTo>
                  <a:lnTo>
                    <a:pt x="102" y="0"/>
                  </a:lnTo>
                  <a:lnTo>
                    <a:pt x="0" y="72"/>
                  </a:lnTo>
                  <a:lnTo>
                    <a:pt x="282" y="72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1778" y="1724"/>
              <a:ext cx="90" cy="1489"/>
            </a:xfrm>
            <a:custGeom>
              <a:avLst/>
              <a:gdLst>
                <a:gd name="T0" fmla="*/ 0 w 90"/>
                <a:gd name="T1" fmla="*/ 1489 h 1489"/>
                <a:gd name="T2" fmla="*/ 0 w 90"/>
                <a:gd name="T3" fmla="*/ 72 h 1489"/>
                <a:gd name="T4" fmla="*/ 90 w 90"/>
                <a:gd name="T5" fmla="*/ 0 h 1489"/>
                <a:gd name="T6" fmla="*/ 90 w 90"/>
                <a:gd name="T7" fmla="*/ 1417 h 1489"/>
                <a:gd name="T8" fmla="*/ 0 w 90"/>
                <a:gd name="T9" fmla="*/ 1489 h 148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1489">
                  <a:moveTo>
                    <a:pt x="0" y="1489"/>
                  </a:moveTo>
                  <a:lnTo>
                    <a:pt x="0" y="72"/>
                  </a:lnTo>
                  <a:lnTo>
                    <a:pt x="90" y="0"/>
                  </a:lnTo>
                  <a:lnTo>
                    <a:pt x="90" y="1417"/>
                  </a:lnTo>
                  <a:lnTo>
                    <a:pt x="0" y="1489"/>
                  </a:lnTo>
                  <a:close/>
                </a:path>
              </a:pathLst>
            </a:custGeom>
            <a:solidFill>
              <a:srgbClr val="4D1A33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Rectangle 21"/>
            <p:cNvSpPr>
              <a:spLocks noChangeArrowheads="1"/>
            </p:cNvSpPr>
            <p:nvPr/>
          </p:nvSpPr>
          <p:spPr bwMode="auto">
            <a:xfrm>
              <a:off x="1508" y="1796"/>
              <a:ext cx="270" cy="1417"/>
            </a:xfrm>
            <a:prstGeom prst="rect">
              <a:avLst/>
            </a:prstGeom>
            <a:solidFill>
              <a:srgbClr val="99336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1508" y="1724"/>
              <a:ext cx="360" cy="72"/>
            </a:xfrm>
            <a:custGeom>
              <a:avLst/>
              <a:gdLst>
                <a:gd name="T0" fmla="*/ 270 w 360"/>
                <a:gd name="T1" fmla="*/ 72 h 72"/>
                <a:gd name="T2" fmla="*/ 360 w 360"/>
                <a:gd name="T3" fmla="*/ 0 h 72"/>
                <a:gd name="T4" fmla="*/ 90 w 360"/>
                <a:gd name="T5" fmla="*/ 0 h 72"/>
                <a:gd name="T6" fmla="*/ 0 w 360"/>
                <a:gd name="T7" fmla="*/ 72 h 72"/>
                <a:gd name="T8" fmla="*/ 270 w 360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0" h="72">
                  <a:moveTo>
                    <a:pt x="270" y="72"/>
                  </a:moveTo>
                  <a:lnTo>
                    <a:pt x="360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73264D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2048" y="2096"/>
              <a:ext cx="90" cy="1117"/>
            </a:xfrm>
            <a:custGeom>
              <a:avLst/>
              <a:gdLst>
                <a:gd name="T0" fmla="*/ 0 w 90"/>
                <a:gd name="T1" fmla="*/ 1117 h 1117"/>
                <a:gd name="T2" fmla="*/ 0 w 90"/>
                <a:gd name="T3" fmla="*/ 72 h 1117"/>
                <a:gd name="T4" fmla="*/ 90 w 90"/>
                <a:gd name="T5" fmla="*/ 0 h 1117"/>
                <a:gd name="T6" fmla="*/ 90 w 90"/>
                <a:gd name="T7" fmla="*/ 1045 h 1117"/>
                <a:gd name="T8" fmla="*/ 0 w 90"/>
                <a:gd name="T9" fmla="*/ 1117 h 11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1117">
                  <a:moveTo>
                    <a:pt x="0" y="1117"/>
                  </a:moveTo>
                  <a:lnTo>
                    <a:pt x="0" y="72"/>
                  </a:lnTo>
                  <a:lnTo>
                    <a:pt x="90" y="0"/>
                  </a:lnTo>
                  <a:lnTo>
                    <a:pt x="90" y="1045"/>
                  </a:lnTo>
                  <a:lnTo>
                    <a:pt x="0" y="1117"/>
                  </a:lnTo>
                  <a:close/>
                </a:path>
              </a:pathLst>
            </a:custGeom>
            <a:solidFill>
              <a:srgbClr val="808066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1778" y="2168"/>
              <a:ext cx="270" cy="1045"/>
            </a:xfrm>
            <a:prstGeom prst="rect">
              <a:avLst/>
            </a:prstGeom>
            <a:solidFill>
              <a:srgbClr val="FFFFCC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28" name="Freeform 25"/>
            <p:cNvSpPr>
              <a:spLocks/>
            </p:cNvSpPr>
            <p:nvPr/>
          </p:nvSpPr>
          <p:spPr bwMode="auto">
            <a:xfrm>
              <a:off x="1778" y="2096"/>
              <a:ext cx="360" cy="72"/>
            </a:xfrm>
            <a:custGeom>
              <a:avLst/>
              <a:gdLst>
                <a:gd name="T0" fmla="*/ 270 w 360"/>
                <a:gd name="T1" fmla="*/ 72 h 72"/>
                <a:gd name="T2" fmla="*/ 360 w 360"/>
                <a:gd name="T3" fmla="*/ 0 h 72"/>
                <a:gd name="T4" fmla="*/ 90 w 360"/>
                <a:gd name="T5" fmla="*/ 0 h 72"/>
                <a:gd name="T6" fmla="*/ 0 w 360"/>
                <a:gd name="T7" fmla="*/ 72 h 72"/>
                <a:gd name="T8" fmla="*/ 270 w 360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0" h="72">
                  <a:moveTo>
                    <a:pt x="270" y="72"/>
                  </a:moveTo>
                  <a:lnTo>
                    <a:pt x="360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BFBF99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Rectangle 26"/>
            <p:cNvSpPr>
              <a:spLocks noChangeArrowheads="1"/>
            </p:cNvSpPr>
            <p:nvPr/>
          </p:nvSpPr>
          <p:spPr bwMode="auto">
            <a:xfrm>
              <a:off x="1296" y="1392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2.56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30" name="Rectangle 27"/>
            <p:cNvSpPr>
              <a:spLocks noChangeArrowheads="1"/>
            </p:cNvSpPr>
            <p:nvPr/>
          </p:nvSpPr>
          <p:spPr bwMode="auto">
            <a:xfrm>
              <a:off x="1657" y="1536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2.39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31" name="Rectangle 28"/>
            <p:cNvSpPr>
              <a:spLocks noChangeArrowheads="1"/>
            </p:cNvSpPr>
            <p:nvPr/>
          </p:nvSpPr>
          <p:spPr bwMode="auto">
            <a:xfrm>
              <a:off x="1897" y="1920"/>
              <a:ext cx="29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1.76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32" name="Freeform 29"/>
            <p:cNvSpPr>
              <a:spLocks/>
            </p:cNvSpPr>
            <p:nvPr/>
          </p:nvSpPr>
          <p:spPr bwMode="auto">
            <a:xfrm>
              <a:off x="2734" y="2265"/>
              <a:ext cx="90" cy="948"/>
            </a:xfrm>
            <a:custGeom>
              <a:avLst/>
              <a:gdLst>
                <a:gd name="T0" fmla="*/ 0 w 90"/>
                <a:gd name="T1" fmla="*/ 948 h 948"/>
                <a:gd name="T2" fmla="*/ 0 w 90"/>
                <a:gd name="T3" fmla="*/ 84 h 948"/>
                <a:gd name="T4" fmla="*/ 90 w 90"/>
                <a:gd name="T5" fmla="*/ 0 h 948"/>
                <a:gd name="T6" fmla="*/ 90 w 90"/>
                <a:gd name="T7" fmla="*/ 876 h 948"/>
                <a:gd name="T8" fmla="*/ 0 w 90"/>
                <a:gd name="T9" fmla="*/ 948 h 9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948">
                  <a:moveTo>
                    <a:pt x="0" y="948"/>
                  </a:moveTo>
                  <a:lnTo>
                    <a:pt x="0" y="84"/>
                  </a:lnTo>
                  <a:lnTo>
                    <a:pt x="90" y="0"/>
                  </a:lnTo>
                  <a:lnTo>
                    <a:pt x="90" y="876"/>
                  </a:lnTo>
                  <a:lnTo>
                    <a:pt x="0" y="948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Rectangle 30"/>
            <p:cNvSpPr>
              <a:spLocks noChangeArrowheads="1"/>
            </p:cNvSpPr>
            <p:nvPr/>
          </p:nvSpPr>
          <p:spPr bwMode="auto">
            <a:xfrm>
              <a:off x="2453" y="2349"/>
              <a:ext cx="281" cy="864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34" name="Freeform 31"/>
            <p:cNvSpPr>
              <a:spLocks/>
            </p:cNvSpPr>
            <p:nvPr/>
          </p:nvSpPr>
          <p:spPr bwMode="auto">
            <a:xfrm>
              <a:off x="2453" y="2265"/>
              <a:ext cx="371" cy="84"/>
            </a:xfrm>
            <a:custGeom>
              <a:avLst/>
              <a:gdLst>
                <a:gd name="T0" fmla="*/ 281 w 371"/>
                <a:gd name="T1" fmla="*/ 84 h 84"/>
                <a:gd name="T2" fmla="*/ 371 w 371"/>
                <a:gd name="T3" fmla="*/ 0 h 84"/>
                <a:gd name="T4" fmla="*/ 101 w 371"/>
                <a:gd name="T5" fmla="*/ 0 h 84"/>
                <a:gd name="T6" fmla="*/ 0 w 371"/>
                <a:gd name="T7" fmla="*/ 84 h 84"/>
                <a:gd name="T8" fmla="*/ 281 w 371"/>
                <a:gd name="T9" fmla="*/ 84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84">
                  <a:moveTo>
                    <a:pt x="281" y="84"/>
                  </a:moveTo>
                  <a:lnTo>
                    <a:pt x="371" y="0"/>
                  </a:lnTo>
                  <a:lnTo>
                    <a:pt x="101" y="0"/>
                  </a:lnTo>
                  <a:lnTo>
                    <a:pt x="0" y="84"/>
                  </a:lnTo>
                  <a:lnTo>
                    <a:pt x="281" y="84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32"/>
            <p:cNvSpPr>
              <a:spLocks/>
            </p:cNvSpPr>
            <p:nvPr/>
          </p:nvSpPr>
          <p:spPr bwMode="auto">
            <a:xfrm>
              <a:off x="3004" y="2517"/>
              <a:ext cx="90" cy="696"/>
            </a:xfrm>
            <a:custGeom>
              <a:avLst/>
              <a:gdLst>
                <a:gd name="T0" fmla="*/ 0 w 90"/>
                <a:gd name="T1" fmla="*/ 696 h 696"/>
                <a:gd name="T2" fmla="*/ 0 w 90"/>
                <a:gd name="T3" fmla="*/ 72 h 696"/>
                <a:gd name="T4" fmla="*/ 90 w 90"/>
                <a:gd name="T5" fmla="*/ 0 h 696"/>
                <a:gd name="T6" fmla="*/ 90 w 90"/>
                <a:gd name="T7" fmla="*/ 624 h 696"/>
                <a:gd name="T8" fmla="*/ 0 w 90"/>
                <a:gd name="T9" fmla="*/ 696 h 6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696">
                  <a:moveTo>
                    <a:pt x="0" y="696"/>
                  </a:moveTo>
                  <a:lnTo>
                    <a:pt x="0" y="72"/>
                  </a:lnTo>
                  <a:lnTo>
                    <a:pt x="90" y="0"/>
                  </a:lnTo>
                  <a:lnTo>
                    <a:pt x="90" y="624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4D1A33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2734" y="2589"/>
              <a:ext cx="270" cy="624"/>
            </a:xfrm>
            <a:prstGeom prst="rect">
              <a:avLst/>
            </a:prstGeom>
            <a:solidFill>
              <a:srgbClr val="99336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37" name="Freeform 34"/>
            <p:cNvSpPr>
              <a:spLocks/>
            </p:cNvSpPr>
            <p:nvPr/>
          </p:nvSpPr>
          <p:spPr bwMode="auto">
            <a:xfrm>
              <a:off x="2734" y="2517"/>
              <a:ext cx="360" cy="72"/>
            </a:xfrm>
            <a:custGeom>
              <a:avLst/>
              <a:gdLst>
                <a:gd name="T0" fmla="*/ 270 w 360"/>
                <a:gd name="T1" fmla="*/ 72 h 72"/>
                <a:gd name="T2" fmla="*/ 360 w 360"/>
                <a:gd name="T3" fmla="*/ 0 h 72"/>
                <a:gd name="T4" fmla="*/ 90 w 360"/>
                <a:gd name="T5" fmla="*/ 0 h 72"/>
                <a:gd name="T6" fmla="*/ 0 w 360"/>
                <a:gd name="T7" fmla="*/ 72 h 72"/>
                <a:gd name="T8" fmla="*/ 270 w 360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0" h="72">
                  <a:moveTo>
                    <a:pt x="270" y="72"/>
                  </a:moveTo>
                  <a:lnTo>
                    <a:pt x="360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73264D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8" name="Freeform 35"/>
            <p:cNvSpPr>
              <a:spLocks/>
            </p:cNvSpPr>
            <p:nvPr/>
          </p:nvSpPr>
          <p:spPr bwMode="auto">
            <a:xfrm>
              <a:off x="3274" y="2757"/>
              <a:ext cx="101" cy="456"/>
            </a:xfrm>
            <a:custGeom>
              <a:avLst/>
              <a:gdLst>
                <a:gd name="T0" fmla="*/ 0 w 101"/>
                <a:gd name="T1" fmla="*/ 456 h 456"/>
                <a:gd name="T2" fmla="*/ 0 w 101"/>
                <a:gd name="T3" fmla="*/ 72 h 456"/>
                <a:gd name="T4" fmla="*/ 101 w 101"/>
                <a:gd name="T5" fmla="*/ 0 h 456"/>
                <a:gd name="T6" fmla="*/ 101 w 101"/>
                <a:gd name="T7" fmla="*/ 384 h 456"/>
                <a:gd name="T8" fmla="*/ 0 w 101"/>
                <a:gd name="T9" fmla="*/ 456 h 4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456">
                  <a:moveTo>
                    <a:pt x="0" y="456"/>
                  </a:moveTo>
                  <a:lnTo>
                    <a:pt x="0" y="72"/>
                  </a:lnTo>
                  <a:lnTo>
                    <a:pt x="101" y="0"/>
                  </a:lnTo>
                  <a:lnTo>
                    <a:pt x="101" y="384"/>
                  </a:lnTo>
                  <a:lnTo>
                    <a:pt x="0" y="456"/>
                  </a:lnTo>
                  <a:close/>
                </a:path>
              </a:pathLst>
            </a:custGeom>
            <a:solidFill>
              <a:srgbClr val="808066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9" name="Rectangle 36"/>
            <p:cNvSpPr>
              <a:spLocks noChangeArrowheads="1"/>
            </p:cNvSpPr>
            <p:nvPr/>
          </p:nvSpPr>
          <p:spPr bwMode="auto">
            <a:xfrm>
              <a:off x="3004" y="2829"/>
              <a:ext cx="270" cy="384"/>
            </a:xfrm>
            <a:prstGeom prst="rect">
              <a:avLst/>
            </a:prstGeom>
            <a:solidFill>
              <a:srgbClr val="FFFFCC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40" name="Freeform 37"/>
            <p:cNvSpPr>
              <a:spLocks/>
            </p:cNvSpPr>
            <p:nvPr/>
          </p:nvSpPr>
          <p:spPr bwMode="auto">
            <a:xfrm>
              <a:off x="3004" y="2757"/>
              <a:ext cx="371" cy="72"/>
            </a:xfrm>
            <a:custGeom>
              <a:avLst/>
              <a:gdLst>
                <a:gd name="T0" fmla="*/ 270 w 371"/>
                <a:gd name="T1" fmla="*/ 72 h 72"/>
                <a:gd name="T2" fmla="*/ 371 w 371"/>
                <a:gd name="T3" fmla="*/ 0 h 72"/>
                <a:gd name="T4" fmla="*/ 90 w 371"/>
                <a:gd name="T5" fmla="*/ 0 h 72"/>
                <a:gd name="T6" fmla="*/ 0 w 371"/>
                <a:gd name="T7" fmla="*/ 72 h 72"/>
                <a:gd name="T8" fmla="*/ 270 w 371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72">
                  <a:moveTo>
                    <a:pt x="270" y="72"/>
                  </a:moveTo>
                  <a:lnTo>
                    <a:pt x="371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BFBF99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1" name="Rectangle 38"/>
            <p:cNvSpPr>
              <a:spLocks noChangeArrowheads="1"/>
            </p:cNvSpPr>
            <p:nvPr/>
          </p:nvSpPr>
          <p:spPr bwMode="auto">
            <a:xfrm>
              <a:off x="2498" y="2064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1.47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42" name="Rectangle 39"/>
            <p:cNvSpPr>
              <a:spLocks noChangeArrowheads="1"/>
            </p:cNvSpPr>
            <p:nvPr/>
          </p:nvSpPr>
          <p:spPr bwMode="auto">
            <a:xfrm>
              <a:off x="2857" y="2304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1.05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43" name="Rectangle 40"/>
            <p:cNvSpPr>
              <a:spLocks noChangeArrowheads="1"/>
            </p:cNvSpPr>
            <p:nvPr/>
          </p:nvSpPr>
          <p:spPr bwMode="auto">
            <a:xfrm>
              <a:off x="3145" y="2592"/>
              <a:ext cx="29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0.65</a:t>
              </a:r>
              <a:endParaRPr lang="en-US" altLang="pt-BR" sz="2000" b="1">
                <a:solidFill>
                  <a:schemeClr val="bg1"/>
                </a:solidFill>
                <a:latin typeface="Times New Roman" pitchFamily="18" charset="0"/>
              </a:endParaRPr>
            </a:p>
          </p:txBody>
        </p:sp>
        <p:sp>
          <p:nvSpPr>
            <p:cNvPr id="44" name="Freeform 41"/>
            <p:cNvSpPr>
              <a:spLocks/>
            </p:cNvSpPr>
            <p:nvPr/>
          </p:nvSpPr>
          <p:spPr bwMode="auto">
            <a:xfrm>
              <a:off x="3960" y="2373"/>
              <a:ext cx="90" cy="840"/>
            </a:xfrm>
            <a:custGeom>
              <a:avLst/>
              <a:gdLst>
                <a:gd name="T0" fmla="*/ 0 w 90"/>
                <a:gd name="T1" fmla="*/ 840 h 840"/>
                <a:gd name="T2" fmla="*/ 0 w 90"/>
                <a:gd name="T3" fmla="*/ 72 h 840"/>
                <a:gd name="T4" fmla="*/ 90 w 90"/>
                <a:gd name="T5" fmla="*/ 0 h 840"/>
                <a:gd name="T6" fmla="*/ 90 w 90"/>
                <a:gd name="T7" fmla="*/ 768 h 840"/>
                <a:gd name="T8" fmla="*/ 0 w 90"/>
                <a:gd name="T9" fmla="*/ 840 h 8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840">
                  <a:moveTo>
                    <a:pt x="0" y="840"/>
                  </a:moveTo>
                  <a:lnTo>
                    <a:pt x="0" y="72"/>
                  </a:lnTo>
                  <a:lnTo>
                    <a:pt x="90" y="0"/>
                  </a:lnTo>
                  <a:lnTo>
                    <a:pt x="90" y="768"/>
                  </a:lnTo>
                  <a:lnTo>
                    <a:pt x="0" y="840"/>
                  </a:lnTo>
                  <a:close/>
                </a:path>
              </a:pathLst>
            </a:custGeom>
            <a:solidFill>
              <a:srgbClr val="4D4D80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5" name="Rectangle 42"/>
            <p:cNvSpPr>
              <a:spLocks noChangeArrowheads="1"/>
            </p:cNvSpPr>
            <p:nvPr/>
          </p:nvSpPr>
          <p:spPr bwMode="auto">
            <a:xfrm>
              <a:off x="3690" y="2445"/>
              <a:ext cx="270" cy="768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46" name="Freeform 43"/>
            <p:cNvSpPr>
              <a:spLocks/>
            </p:cNvSpPr>
            <p:nvPr/>
          </p:nvSpPr>
          <p:spPr bwMode="auto">
            <a:xfrm>
              <a:off x="3690" y="2373"/>
              <a:ext cx="360" cy="72"/>
            </a:xfrm>
            <a:custGeom>
              <a:avLst/>
              <a:gdLst>
                <a:gd name="T0" fmla="*/ 270 w 360"/>
                <a:gd name="T1" fmla="*/ 72 h 72"/>
                <a:gd name="T2" fmla="*/ 360 w 360"/>
                <a:gd name="T3" fmla="*/ 0 h 72"/>
                <a:gd name="T4" fmla="*/ 90 w 360"/>
                <a:gd name="T5" fmla="*/ 0 h 72"/>
                <a:gd name="T6" fmla="*/ 0 w 360"/>
                <a:gd name="T7" fmla="*/ 72 h 72"/>
                <a:gd name="T8" fmla="*/ 270 w 360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0" h="72">
                  <a:moveTo>
                    <a:pt x="270" y="72"/>
                  </a:moveTo>
                  <a:lnTo>
                    <a:pt x="360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7373BF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7" name="Freeform 44"/>
            <p:cNvSpPr>
              <a:spLocks/>
            </p:cNvSpPr>
            <p:nvPr/>
          </p:nvSpPr>
          <p:spPr bwMode="auto">
            <a:xfrm>
              <a:off x="4230" y="2541"/>
              <a:ext cx="90" cy="672"/>
            </a:xfrm>
            <a:custGeom>
              <a:avLst/>
              <a:gdLst>
                <a:gd name="T0" fmla="*/ 0 w 90"/>
                <a:gd name="T1" fmla="*/ 672 h 672"/>
                <a:gd name="T2" fmla="*/ 0 w 90"/>
                <a:gd name="T3" fmla="*/ 84 h 672"/>
                <a:gd name="T4" fmla="*/ 90 w 90"/>
                <a:gd name="T5" fmla="*/ 0 h 672"/>
                <a:gd name="T6" fmla="*/ 90 w 90"/>
                <a:gd name="T7" fmla="*/ 600 h 672"/>
                <a:gd name="T8" fmla="*/ 0 w 90"/>
                <a:gd name="T9" fmla="*/ 672 h 6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0" h="672">
                  <a:moveTo>
                    <a:pt x="0" y="672"/>
                  </a:moveTo>
                  <a:lnTo>
                    <a:pt x="0" y="84"/>
                  </a:lnTo>
                  <a:lnTo>
                    <a:pt x="90" y="0"/>
                  </a:lnTo>
                  <a:lnTo>
                    <a:pt x="90" y="600"/>
                  </a:lnTo>
                  <a:lnTo>
                    <a:pt x="0" y="672"/>
                  </a:lnTo>
                  <a:close/>
                </a:path>
              </a:pathLst>
            </a:custGeom>
            <a:solidFill>
              <a:srgbClr val="4D1A33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48" name="Rectangle 45"/>
            <p:cNvSpPr>
              <a:spLocks noChangeArrowheads="1"/>
            </p:cNvSpPr>
            <p:nvPr/>
          </p:nvSpPr>
          <p:spPr bwMode="auto">
            <a:xfrm>
              <a:off x="3960" y="2625"/>
              <a:ext cx="270" cy="588"/>
            </a:xfrm>
            <a:prstGeom prst="rect">
              <a:avLst/>
            </a:prstGeom>
            <a:solidFill>
              <a:srgbClr val="99336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49" name="Freeform 46"/>
            <p:cNvSpPr>
              <a:spLocks/>
            </p:cNvSpPr>
            <p:nvPr/>
          </p:nvSpPr>
          <p:spPr bwMode="auto">
            <a:xfrm>
              <a:off x="3960" y="2541"/>
              <a:ext cx="360" cy="84"/>
            </a:xfrm>
            <a:custGeom>
              <a:avLst/>
              <a:gdLst>
                <a:gd name="T0" fmla="*/ 270 w 360"/>
                <a:gd name="T1" fmla="*/ 84 h 84"/>
                <a:gd name="T2" fmla="*/ 360 w 360"/>
                <a:gd name="T3" fmla="*/ 0 h 84"/>
                <a:gd name="T4" fmla="*/ 90 w 360"/>
                <a:gd name="T5" fmla="*/ 0 h 84"/>
                <a:gd name="T6" fmla="*/ 0 w 360"/>
                <a:gd name="T7" fmla="*/ 84 h 84"/>
                <a:gd name="T8" fmla="*/ 270 w 360"/>
                <a:gd name="T9" fmla="*/ 84 h 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60" h="84">
                  <a:moveTo>
                    <a:pt x="270" y="84"/>
                  </a:moveTo>
                  <a:lnTo>
                    <a:pt x="360" y="0"/>
                  </a:lnTo>
                  <a:lnTo>
                    <a:pt x="90" y="0"/>
                  </a:lnTo>
                  <a:lnTo>
                    <a:pt x="0" y="84"/>
                  </a:lnTo>
                  <a:lnTo>
                    <a:pt x="270" y="84"/>
                  </a:lnTo>
                  <a:close/>
                </a:path>
              </a:pathLst>
            </a:custGeom>
            <a:solidFill>
              <a:srgbClr val="73264D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0" name="Freeform 47"/>
            <p:cNvSpPr>
              <a:spLocks/>
            </p:cNvSpPr>
            <p:nvPr/>
          </p:nvSpPr>
          <p:spPr bwMode="auto">
            <a:xfrm>
              <a:off x="4500" y="2781"/>
              <a:ext cx="101" cy="432"/>
            </a:xfrm>
            <a:custGeom>
              <a:avLst/>
              <a:gdLst>
                <a:gd name="T0" fmla="*/ 0 w 101"/>
                <a:gd name="T1" fmla="*/ 432 h 432"/>
                <a:gd name="T2" fmla="*/ 0 w 101"/>
                <a:gd name="T3" fmla="*/ 72 h 432"/>
                <a:gd name="T4" fmla="*/ 101 w 101"/>
                <a:gd name="T5" fmla="*/ 0 h 432"/>
                <a:gd name="T6" fmla="*/ 101 w 101"/>
                <a:gd name="T7" fmla="*/ 360 h 432"/>
                <a:gd name="T8" fmla="*/ 0 w 101"/>
                <a:gd name="T9" fmla="*/ 432 h 4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432">
                  <a:moveTo>
                    <a:pt x="0" y="432"/>
                  </a:moveTo>
                  <a:lnTo>
                    <a:pt x="0" y="72"/>
                  </a:lnTo>
                  <a:lnTo>
                    <a:pt x="101" y="0"/>
                  </a:lnTo>
                  <a:lnTo>
                    <a:pt x="101" y="360"/>
                  </a:lnTo>
                  <a:lnTo>
                    <a:pt x="0" y="432"/>
                  </a:lnTo>
                  <a:close/>
                </a:path>
              </a:pathLst>
            </a:custGeom>
            <a:solidFill>
              <a:srgbClr val="808066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4230" y="2853"/>
              <a:ext cx="270" cy="360"/>
            </a:xfrm>
            <a:prstGeom prst="rect">
              <a:avLst/>
            </a:prstGeom>
            <a:solidFill>
              <a:srgbClr val="FFFFCC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52" name="Freeform 49"/>
            <p:cNvSpPr>
              <a:spLocks/>
            </p:cNvSpPr>
            <p:nvPr/>
          </p:nvSpPr>
          <p:spPr bwMode="auto">
            <a:xfrm>
              <a:off x="4230" y="2781"/>
              <a:ext cx="371" cy="72"/>
            </a:xfrm>
            <a:custGeom>
              <a:avLst/>
              <a:gdLst>
                <a:gd name="T0" fmla="*/ 270 w 371"/>
                <a:gd name="T1" fmla="*/ 72 h 72"/>
                <a:gd name="T2" fmla="*/ 371 w 371"/>
                <a:gd name="T3" fmla="*/ 0 h 72"/>
                <a:gd name="T4" fmla="*/ 90 w 371"/>
                <a:gd name="T5" fmla="*/ 0 h 72"/>
                <a:gd name="T6" fmla="*/ 0 w 371"/>
                <a:gd name="T7" fmla="*/ 72 h 72"/>
                <a:gd name="T8" fmla="*/ 270 w 371"/>
                <a:gd name="T9" fmla="*/ 72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1" h="72">
                  <a:moveTo>
                    <a:pt x="270" y="72"/>
                  </a:moveTo>
                  <a:lnTo>
                    <a:pt x="371" y="0"/>
                  </a:lnTo>
                  <a:lnTo>
                    <a:pt x="90" y="0"/>
                  </a:lnTo>
                  <a:lnTo>
                    <a:pt x="0" y="72"/>
                  </a:lnTo>
                  <a:lnTo>
                    <a:pt x="270" y="72"/>
                  </a:lnTo>
                  <a:close/>
                </a:path>
              </a:pathLst>
            </a:custGeom>
            <a:solidFill>
              <a:srgbClr val="BFBF99"/>
            </a:solidFill>
            <a:ln w="17463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53" name="Rectangle 50"/>
            <p:cNvSpPr>
              <a:spLocks noChangeArrowheads="1"/>
            </p:cNvSpPr>
            <p:nvPr/>
          </p:nvSpPr>
          <p:spPr bwMode="auto">
            <a:xfrm>
              <a:off x="3792" y="2160"/>
              <a:ext cx="21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1.3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4" name="Rectangle 51"/>
            <p:cNvSpPr>
              <a:spLocks noChangeArrowheads="1"/>
            </p:cNvSpPr>
            <p:nvPr/>
          </p:nvSpPr>
          <p:spPr bwMode="auto">
            <a:xfrm>
              <a:off x="4135" y="2352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1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5" name="Rectangle 52"/>
            <p:cNvSpPr>
              <a:spLocks noChangeArrowheads="1"/>
            </p:cNvSpPr>
            <p:nvPr/>
          </p:nvSpPr>
          <p:spPr bwMode="auto">
            <a:xfrm>
              <a:off x="4338" y="2592"/>
              <a:ext cx="2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/>
                <a:t>0.6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56" name="Line 53"/>
            <p:cNvSpPr>
              <a:spLocks noChangeShapeType="1"/>
            </p:cNvSpPr>
            <p:nvPr/>
          </p:nvSpPr>
          <p:spPr bwMode="auto">
            <a:xfrm flipV="1">
              <a:off x="956" y="1496"/>
              <a:ext cx="1" cy="1765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7" name="Line 54"/>
            <p:cNvSpPr>
              <a:spLocks noChangeShapeType="1"/>
            </p:cNvSpPr>
            <p:nvPr/>
          </p:nvSpPr>
          <p:spPr bwMode="auto">
            <a:xfrm flipH="1">
              <a:off x="923" y="3261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8" name="Line 55"/>
            <p:cNvSpPr>
              <a:spLocks noChangeShapeType="1"/>
            </p:cNvSpPr>
            <p:nvPr/>
          </p:nvSpPr>
          <p:spPr bwMode="auto">
            <a:xfrm flipH="1">
              <a:off x="923" y="2973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59" name="Line 56"/>
            <p:cNvSpPr>
              <a:spLocks noChangeShapeType="1"/>
            </p:cNvSpPr>
            <p:nvPr/>
          </p:nvSpPr>
          <p:spPr bwMode="auto">
            <a:xfrm flipH="1">
              <a:off x="923" y="2673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0" name="Line 57"/>
            <p:cNvSpPr>
              <a:spLocks noChangeShapeType="1"/>
            </p:cNvSpPr>
            <p:nvPr/>
          </p:nvSpPr>
          <p:spPr bwMode="auto">
            <a:xfrm flipH="1">
              <a:off x="923" y="2385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1" name="Line 58"/>
            <p:cNvSpPr>
              <a:spLocks noChangeShapeType="1"/>
            </p:cNvSpPr>
            <p:nvPr/>
          </p:nvSpPr>
          <p:spPr bwMode="auto">
            <a:xfrm flipH="1">
              <a:off x="923" y="2084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2" name="Line 59"/>
            <p:cNvSpPr>
              <a:spLocks noChangeShapeType="1"/>
            </p:cNvSpPr>
            <p:nvPr/>
          </p:nvSpPr>
          <p:spPr bwMode="auto">
            <a:xfrm flipH="1">
              <a:off x="923" y="1796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3" name="Line 60"/>
            <p:cNvSpPr>
              <a:spLocks noChangeShapeType="1"/>
            </p:cNvSpPr>
            <p:nvPr/>
          </p:nvSpPr>
          <p:spPr bwMode="auto">
            <a:xfrm flipH="1">
              <a:off x="923" y="1496"/>
              <a:ext cx="33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64" name="Rectangle 61"/>
            <p:cNvSpPr>
              <a:spLocks noChangeArrowheads="1"/>
            </p:cNvSpPr>
            <p:nvPr/>
          </p:nvSpPr>
          <p:spPr bwMode="auto">
            <a:xfrm>
              <a:off x="821" y="3165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0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5" name="Rectangle 62"/>
            <p:cNvSpPr>
              <a:spLocks noChangeArrowheads="1"/>
            </p:cNvSpPr>
            <p:nvPr/>
          </p:nvSpPr>
          <p:spPr bwMode="auto">
            <a:xfrm>
              <a:off x="698" y="2877"/>
              <a:ext cx="2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0.5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6" name="Rectangle 63"/>
            <p:cNvSpPr>
              <a:spLocks noChangeArrowheads="1"/>
            </p:cNvSpPr>
            <p:nvPr/>
          </p:nvSpPr>
          <p:spPr bwMode="auto">
            <a:xfrm>
              <a:off x="821" y="2577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1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7" name="Rectangle 64"/>
            <p:cNvSpPr>
              <a:spLocks noChangeArrowheads="1"/>
            </p:cNvSpPr>
            <p:nvPr/>
          </p:nvSpPr>
          <p:spPr bwMode="auto">
            <a:xfrm>
              <a:off x="698" y="2289"/>
              <a:ext cx="2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1.5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8" name="Rectangle 65"/>
            <p:cNvSpPr>
              <a:spLocks noChangeArrowheads="1"/>
            </p:cNvSpPr>
            <p:nvPr/>
          </p:nvSpPr>
          <p:spPr bwMode="auto">
            <a:xfrm>
              <a:off x="821" y="1988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2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698" y="1700"/>
              <a:ext cx="21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2.5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0" name="Rectangle 67"/>
            <p:cNvSpPr>
              <a:spLocks noChangeArrowheads="1"/>
            </p:cNvSpPr>
            <p:nvPr/>
          </p:nvSpPr>
          <p:spPr bwMode="auto">
            <a:xfrm>
              <a:off x="821" y="1400"/>
              <a:ext cx="8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3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1" name="Line 68"/>
            <p:cNvSpPr>
              <a:spLocks noChangeShapeType="1"/>
            </p:cNvSpPr>
            <p:nvPr/>
          </p:nvSpPr>
          <p:spPr bwMode="auto">
            <a:xfrm>
              <a:off x="956" y="3261"/>
              <a:ext cx="3679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2" name="Line 69"/>
            <p:cNvSpPr>
              <a:spLocks noChangeShapeType="1"/>
            </p:cNvSpPr>
            <p:nvPr/>
          </p:nvSpPr>
          <p:spPr bwMode="auto">
            <a:xfrm>
              <a:off x="956" y="3261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3" name="Line 70"/>
            <p:cNvSpPr>
              <a:spLocks noChangeShapeType="1"/>
            </p:cNvSpPr>
            <p:nvPr/>
          </p:nvSpPr>
          <p:spPr bwMode="auto">
            <a:xfrm>
              <a:off x="2183" y="3261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3409" y="3261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>
              <a:off x="4635" y="3261"/>
              <a:ext cx="1" cy="36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76" name="Rectangle 73"/>
            <p:cNvSpPr>
              <a:spLocks noChangeArrowheads="1"/>
            </p:cNvSpPr>
            <p:nvPr/>
          </p:nvSpPr>
          <p:spPr bwMode="auto">
            <a:xfrm>
              <a:off x="1395" y="3333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Cell 1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2621" y="3333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Cell 2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3848" y="3333"/>
              <a:ext cx="389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Cell 3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79" name="Rectangle 76"/>
            <p:cNvSpPr>
              <a:spLocks noChangeArrowheads="1"/>
            </p:cNvSpPr>
            <p:nvPr/>
          </p:nvSpPr>
          <p:spPr bwMode="auto">
            <a:xfrm>
              <a:off x="5018" y="2084"/>
              <a:ext cx="641" cy="757"/>
            </a:xfrm>
            <a:prstGeom prst="rect">
              <a:avLst/>
            </a:prstGeom>
            <a:solidFill>
              <a:srgbClr val="FFFFFF"/>
            </a:solidFill>
            <a:ln w="0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5074" y="2180"/>
              <a:ext cx="79" cy="85"/>
            </a:xfrm>
            <a:prstGeom prst="rect">
              <a:avLst/>
            </a:prstGeom>
            <a:solidFill>
              <a:srgbClr val="9999FF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81" name="Rectangle 78"/>
            <p:cNvSpPr>
              <a:spLocks noChangeArrowheads="1"/>
            </p:cNvSpPr>
            <p:nvPr/>
          </p:nvSpPr>
          <p:spPr bwMode="auto">
            <a:xfrm>
              <a:off x="5198" y="2120"/>
              <a:ext cx="4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Year 1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82" name="Rectangle 79"/>
            <p:cNvSpPr>
              <a:spLocks noChangeArrowheads="1"/>
            </p:cNvSpPr>
            <p:nvPr/>
          </p:nvSpPr>
          <p:spPr bwMode="auto">
            <a:xfrm>
              <a:off x="5074" y="2433"/>
              <a:ext cx="79" cy="84"/>
            </a:xfrm>
            <a:prstGeom prst="rect">
              <a:avLst/>
            </a:prstGeom>
            <a:solidFill>
              <a:srgbClr val="993366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83" name="Rectangle 80"/>
            <p:cNvSpPr>
              <a:spLocks noChangeArrowheads="1"/>
            </p:cNvSpPr>
            <p:nvPr/>
          </p:nvSpPr>
          <p:spPr bwMode="auto">
            <a:xfrm>
              <a:off x="5198" y="2373"/>
              <a:ext cx="4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Year 2</a:t>
              </a:r>
              <a:endParaRPr lang="en-US" altLang="pt-BR" sz="2000" b="1">
                <a:latin typeface="Times New Roman" pitchFamily="18" charset="0"/>
              </a:endParaRPr>
            </a:p>
          </p:txBody>
        </p:sp>
        <p:sp>
          <p:nvSpPr>
            <p:cNvPr id="84" name="Rectangle 81"/>
            <p:cNvSpPr>
              <a:spLocks noChangeArrowheads="1"/>
            </p:cNvSpPr>
            <p:nvPr/>
          </p:nvSpPr>
          <p:spPr bwMode="auto">
            <a:xfrm>
              <a:off x="5074" y="2685"/>
              <a:ext cx="79" cy="84"/>
            </a:xfrm>
            <a:prstGeom prst="rect">
              <a:avLst/>
            </a:prstGeom>
            <a:solidFill>
              <a:srgbClr val="FFFFCC"/>
            </a:solidFill>
            <a:ln w="1746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>
                <a:buFontTx/>
                <a:buNone/>
              </a:pPr>
              <a:endParaRPr lang="en-US" altLang="pt-BR" sz="2600"/>
            </a:p>
          </p:txBody>
        </p:sp>
        <p:sp>
          <p:nvSpPr>
            <p:cNvPr id="85" name="Rectangle 82"/>
            <p:cNvSpPr>
              <a:spLocks noChangeArrowheads="1"/>
            </p:cNvSpPr>
            <p:nvPr/>
          </p:nvSpPr>
          <p:spPr bwMode="auto">
            <a:xfrm>
              <a:off x="5198" y="2625"/>
              <a:ext cx="44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pt-BR" sz="2000">
                  <a:solidFill>
                    <a:srgbClr val="000000"/>
                  </a:solidFill>
                </a:rPr>
                <a:t>Year 3</a:t>
              </a:r>
              <a:endParaRPr lang="en-US" altLang="pt-BR" sz="2000" b="1">
                <a:latin typeface="Times New Roman" pitchFamily="18" charset="0"/>
              </a:endParaRPr>
            </a:p>
          </p:txBody>
        </p:sp>
      </p:grpSp>
      <p:sp>
        <p:nvSpPr>
          <p:cNvPr id="86" name="Rectangle 83"/>
          <p:cNvSpPr>
            <a:spLocks noChangeArrowheads="1"/>
          </p:cNvSpPr>
          <p:nvPr/>
        </p:nvSpPr>
        <p:spPr bwMode="auto">
          <a:xfrm>
            <a:off x="228600" y="381000"/>
            <a:ext cx="8731250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pt-BR" altLang="pt-BR" sz="2600" b="1" dirty="0">
              <a:solidFill>
                <a:srgbClr val="008000"/>
              </a:solidFill>
              <a:latin typeface="Arial Black" pitchFamily="34" charset="0"/>
            </a:endParaRPr>
          </a:p>
        </p:txBody>
      </p:sp>
      <p:sp>
        <p:nvSpPr>
          <p:cNvPr id="87" name="Retângulo de cantos arredondados 3">
            <a:extLst>
              <a:ext uri="{FF2B5EF4-FFF2-40B4-BE49-F238E27FC236}">
                <a16:creationId xmlns:a16="http://schemas.microsoft.com/office/drawing/2014/main" id="{ECF6D2FD-3FF5-4F43-AD9B-5C3691882DF8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Análise de setup - indicadores</a:t>
            </a:r>
          </a:p>
        </p:txBody>
      </p:sp>
    </p:spTree>
    <p:extLst>
      <p:ext uri="{BB962C8B-B14F-4D97-AF65-F5344CB8AC3E}">
        <p14:creationId xmlns:p14="http://schemas.microsoft.com/office/powerpoint/2010/main" val="37968663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381000" y="1524000"/>
            <a:ext cx="8229600" cy="485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altLang="pt-BR" sz="2200" dirty="0">
                <a:latin typeface="Century Ghotic"/>
              </a:rPr>
              <a:t>O novo padrão somente terá adesão se tiver 100% de suporte do time – consenso é essencial.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altLang="pt-BR" sz="2200" dirty="0">
                <a:latin typeface="Century Ghotic"/>
              </a:rPr>
              <a:t>Todos do time devem ser treinados no processo e se envolver na atividade de melhoria.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altLang="pt-BR" sz="2200" dirty="0">
                <a:latin typeface="Century Ghotic"/>
              </a:rPr>
              <a:t>A liderança deve assegurar que o processo seja periodicamente auditado.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altLang="pt-BR" sz="2200" dirty="0">
                <a:latin typeface="Century Ghotic"/>
              </a:rPr>
              <a:t>A causa raiz deve ser identificada e eliminada quando ocorrerem variações. </a:t>
            </a:r>
          </a:p>
          <a:p>
            <a:pPr algn="just">
              <a:spcBef>
                <a:spcPts val="0"/>
              </a:spcBef>
              <a:spcAft>
                <a:spcPts val="1800"/>
              </a:spcAft>
            </a:pPr>
            <a:r>
              <a:rPr lang="pt-BR" altLang="pt-BR" sz="2200" dirty="0">
                <a:latin typeface="Century Ghotic"/>
              </a:rPr>
              <a:t>As métricas de Set </a:t>
            </a:r>
            <a:r>
              <a:rPr lang="pt-BR" altLang="pt-BR" sz="2200" dirty="0" err="1">
                <a:latin typeface="Century Ghotic"/>
              </a:rPr>
              <a:t>Up</a:t>
            </a:r>
            <a:r>
              <a:rPr lang="pt-BR" altLang="pt-BR" sz="2200" dirty="0">
                <a:latin typeface="Century Ghotic"/>
              </a:rPr>
              <a:t> devem estar visíveis para ajudar o time na necessidade de seguir o Processo Padrão de Operação e continuar melhorando continuamente. </a:t>
            </a:r>
          </a:p>
        </p:txBody>
      </p:sp>
      <p:sp>
        <p:nvSpPr>
          <p:cNvPr id="5" name="Retângulo de cantos arredondados 3">
            <a:extLst>
              <a:ext uri="{FF2B5EF4-FFF2-40B4-BE49-F238E27FC236}">
                <a16:creationId xmlns:a16="http://schemas.microsoft.com/office/drawing/2014/main" id="{E646858A-CCB0-47AD-B739-AB3B2579833F}"/>
              </a:ext>
            </a:extLst>
          </p:cNvPr>
          <p:cNvSpPr/>
          <p:nvPr/>
        </p:nvSpPr>
        <p:spPr>
          <a:xfrm>
            <a:off x="323528" y="476672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accent1">
              <a:lumMod val="50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O desafio de sustentar...</a:t>
            </a:r>
          </a:p>
        </p:txBody>
      </p:sp>
    </p:spTree>
    <p:extLst>
      <p:ext uri="{BB962C8B-B14F-4D97-AF65-F5344CB8AC3E}">
        <p14:creationId xmlns:p14="http://schemas.microsoft.com/office/powerpoint/2010/main" val="239043044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384402" y="2344334"/>
            <a:ext cx="8436070" cy="406265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spcAft>
                <a:spcPts val="1200"/>
              </a:spcAft>
            </a:pPr>
            <a:r>
              <a:rPr lang="pt-BR" b="1" u="sng" dirty="0">
                <a:latin typeface="Century Gothic" panose="020B0502020202020204" pitchFamily="34" charset="0"/>
              </a:rPr>
              <a:t>Para o setup mostrado no vídeo disponibilizado, faça:</a:t>
            </a:r>
          </a:p>
          <a:p>
            <a:pPr marL="342900" indent="-342900" algn="just">
              <a:spcAft>
                <a:spcPts val="1200"/>
              </a:spcAft>
              <a:buAutoNum type="alphaLcParenR"/>
            </a:pPr>
            <a:r>
              <a:rPr lang="pt-BR" sz="1600" dirty="0">
                <a:latin typeface="Century Gothic" panose="020B0502020202020204" pitchFamily="34" charset="0"/>
              </a:rPr>
              <a:t>A lista de todas as atividades que envolvem o setup e seus tempos</a:t>
            </a:r>
          </a:p>
          <a:p>
            <a:pPr marL="342900" indent="-342900" algn="just">
              <a:spcAft>
                <a:spcPts val="1200"/>
              </a:spcAft>
              <a:buAutoNum type="alphaLcParenR"/>
            </a:pPr>
            <a:r>
              <a:rPr lang="pt-BR" sz="1600" dirty="0">
                <a:latin typeface="Century Gothic" panose="020B0502020202020204" pitchFamily="34" charset="0"/>
              </a:rPr>
              <a:t>Agrupe as atividades em categorias (</a:t>
            </a:r>
            <a:r>
              <a:rPr lang="pt-BR" sz="1600" dirty="0" err="1">
                <a:latin typeface="Century Gothic" panose="020B0502020202020204" pitchFamily="34" charset="0"/>
              </a:rPr>
              <a:t>ex</a:t>
            </a:r>
            <a:r>
              <a:rPr lang="pt-BR" sz="1600" dirty="0">
                <a:latin typeface="Century Gothic" panose="020B0502020202020204" pitchFamily="34" charset="0"/>
              </a:rPr>
              <a:t>: regulagens, troca de ferramental, etc...). Prepare um gráfico de Pareto para as categorias levantadas e aponte onde estão as maiores oportunidades de melhoria</a:t>
            </a:r>
          </a:p>
          <a:p>
            <a:pPr marL="342900" indent="-342900" algn="just">
              <a:spcAft>
                <a:spcPts val="1200"/>
              </a:spcAft>
              <a:buAutoNum type="alphaLcParenR"/>
            </a:pPr>
            <a:r>
              <a:rPr lang="pt-BR" sz="1600" dirty="0">
                <a:latin typeface="Century Gothic" panose="020B0502020202020204" pitchFamily="34" charset="0"/>
              </a:rPr>
              <a:t> Separe as atividades do item (a) em internas e externas. Quais atividades internas poderiam ser passadas para externas? Quais atividades poderiam ser eliminadas? A sequência de atividades é adequada? </a:t>
            </a:r>
          </a:p>
          <a:p>
            <a:pPr marL="342900" indent="-342900" algn="just">
              <a:spcAft>
                <a:spcPts val="1200"/>
              </a:spcAft>
              <a:buAutoNum type="alphaLcParenR"/>
            </a:pPr>
            <a:r>
              <a:rPr lang="pt-BR" sz="1600" dirty="0">
                <a:latin typeface="Century Gothic" panose="020B0502020202020204" pitchFamily="34" charset="0"/>
              </a:rPr>
              <a:t>Prepare o plano de ação da melhoria, indicando o que deve ser feito, quem o fará, em quanto tempo, como, onde, porque e qual o ganho (em tempo de setup, em capacidade e em R$) que poderá ser obtido com cada ação</a:t>
            </a:r>
          </a:p>
          <a:p>
            <a:pPr marL="342900" indent="-342900" algn="just">
              <a:spcAft>
                <a:spcPts val="1200"/>
              </a:spcAft>
              <a:buAutoNum type="alphaLcParenR"/>
            </a:pPr>
            <a:r>
              <a:rPr lang="pt-BR" sz="1600" dirty="0">
                <a:latin typeface="Century Gothic" panose="020B0502020202020204" pitchFamily="34" charset="0"/>
              </a:rPr>
              <a:t>Esboce a Tabela de Combinação de Trabalho Padronizado para o setup melhorado</a:t>
            </a:r>
          </a:p>
        </p:txBody>
      </p:sp>
      <p:grpSp>
        <p:nvGrpSpPr>
          <p:cNvPr id="5" name="Grupo 4"/>
          <p:cNvGrpSpPr/>
          <p:nvPr/>
        </p:nvGrpSpPr>
        <p:grpSpPr>
          <a:xfrm>
            <a:off x="482092" y="1628800"/>
            <a:ext cx="2400484" cy="604800"/>
            <a:chOff x="482092" y="1993388"/>
            <a:chExt cx="2400484" cy="604800"/>
          </a:xfrm>
        </p:grpSpPr>
        <p:pic>
          <p:nvPicPr>
            <p:cNvPr id="6" name="Picture 3" descr="C:\Users\Marlon\Desktop\contract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092" y="1993388"/>
              <a:ext cx="604800" cy="604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tângulo 6"/>
            <p:cNvSpPr/>
            <p:nvPr/>
          </p:nvSpPr>
          <p:spPr>
            <a:xfrm>
              <a:off x="1086892" y="2064956"/>
              <a:ext cx="1795684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2400" b="1" dirty="0">
                  <a:solidFill>
                    <a:prstClr val="black"/>
                  </a:solidFill>
                  <a:latin typeface="Century Gothic" panose="020B0502020202020204" pitchFamily="34" charset="0"/>
                </a:rPr>
                <a:t>EXERCÍCIO</a:t>
              </a:r>
              <a:endParaRPr lang="pt-BR" b="1" dirty="0"/>
            </a:p>
          </p:txBody>
        </p:sp>
      </p:grpSp>
      <p:sp>
        <p:nvSpPr>
          <p:cNvPr id="9" name="Retângulo de cantos arredondados 3">
            <a:extLst>
              <a:ext uri="{FF2B5EF4-FFF2-40B4-BE49-F238E27FC236}">
                <a16:creationId xmlns:a16="http://schemas.microsoft.com/office/drawing/2014/main" id="{CF121647-C99E-4A09-A900-0A57435D3476}"/>
              </a:ext>
            </a:extLst>
          </p:cNvPr>
          <p:cNvSpPr/>
          <p:nvPr/>
        </p:nvSpPr>
        <p:spPr>
          <a:xfrm>
            <a:off x="384402" y="483253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tx2">
              <a:lumMod val="75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Troca Rápida de Ferramentas</a:t>
            </a:r>
          </a:p>
        </p:txBody>
      </p:sp>
    </p:spTree>
    <p:extLst>
      <p:ext uri="{BB962C8B-B14F-4D97-AF65-F5344CB8AC3E}">
        <p14:creationId xmlns:p14="http://schemas.microsoft.com/office/powerpoint/2010/main" val="145118456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de cantos arredondados 3">
            <a:extLst>
              <a:ext uri="{FF2B5EF4-FFF2-40B4-BE49-F238E27FC236}">
                <a16:creationId xmlns:a16="http://schemas.microsoft.com/office/drawing/2014/main" id="{CF121647-C99E-4A09-A900-0A57435D3476}"/>
              </a:ext>
            </a:extLst>
          </p:cNvPr>
          <p:cNvSpPr/>
          <p:nvPr/>
        </p:nvSpPr>
        <p:spPr>
          <a:xfrm>
            <a:off x="384402" y="483253"/>
            <a:ext cx="6120680" cy="720080"/>
          </a:xfrm>
          <a:prstGeom prst="roundRect">
            <a:avLst>
              <a:gd name="adj" fmla="val 5732"/>
            </a:avLst>
          </a:prstGeom>
          <a:solidFill>
            <a:schemeClr val="tx2">
              <a:lumMod val="75000"/>
              <a:alpha val="9764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r>
              <a:rPr lang="pt-BR" sz="2400" b="1" dirty="0">
                <a:latin typeface="Century Gothic" panose="020B0502020202020204" pitchFamily="34" charset="0"/>
              </a:rPr>
              <a:t>Troca Rápida de Ferramentas</a:t>
            </a: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F0761459-6BE8-4779-938F-77B8EAC59A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266482"/>
              </p:ext>
            </p:extLst>
          </p:nvPr>
        </p:nvGraphicFramePr>
        <p:xfrm>
          <a:off x="179512" y="2172136"/>
          <a:ext cx="8568950" cy="3501886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92956">
                  <a:extLst>
                    <a:ext uri="{9D8B030D-6E8A-4147-A177-3AD203B41FA5}">
                      <a16:colId xmlns:a16="http://schemas.microsoft.com/office/drawing/2014/main" val="2590028398"/>
                    </a:ext>
                  </a:extLst>
                </a:gridCol>
                <a:gridCol w="3565749">
                  <a:extLst>
                    <a:ext uri="{9D8B030D-6E8A-4147-A177-3AD203B41FA5}">
                      <a16:colId xmlns:a16="http://schemas.microsoft.com/office/drawing/2014/main" val="3897568833"/>
                    </a:ext>
                  </a:extLst>
                </a:gridCol>
                <a:gridCol w="862049">
                  <a:extLst>
                    <a:ext uri="{9D8B030D-6E8A-4147-A177-3AD203B41FA5}">
                      <a16:colId xmlns:a16="http://schemas.microsoft.com/office/drawing/2014/main" val="3148816408"/>
                    </a:ext>
                  </a:extLst>
                </a:gridCol>
                <a:gridCol w="862049">
                  <a:extLst>
                    <a:ext uri="{9D8B030D-6E8A-4147-A177-3AD203B41FA5}">
                      <a16:colId xmlns:a16="http://schemas.microsoft.com/office/drawing/2014/main" val="1798250834"/>
                    </a:ext>
                  </a:extLst>
                </a:gridCol>
                <a:gridCol w="862049">
                  <a:extLst>
                    <a:ext uri="{9D8B030D-6E8A-4147-A177-3AD203B41FA5}">
                      <a16:colId xmlns:a16="http://schemas.microsoft.com/office/drawing/2014/main" val="3868260936"/>
                    </a:ext>
                  </a:extLst>
                </a:gridCol>
                <a:gridCol w="862049">
                  <a:extLst>
                    <a:ext uri="{9D8B030D-6E8A-4147-A177-3AD203B41FA5}">
                      <a16:colId xmlns:a16="http://schemas.microsoft.com/office/drawing/2014/main" val="1202177914"/>
                    </a:ext>
                  </a:extLst>
                </a:gridCol>
                <a:gridCol w="862049">
                  <a:extLst>
                    <a:ext uri="{9D8B030D-6E8A-4147-A177-3AD203B41FA5}">
                      <a16:colId xmlns:a16="http://schemas.microsoft.com/office/drawing/2014/main" val="3309914697"/>
                    </a:ext>
                  </a:extLst>
                </a:gridCol>
              </a:tblGrid>
              <a:tr h="438777">
                <a:tc gridSpan="7"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ANÁLISE DOS TEMPOS DE SETUP</a:t>
                      </a:r>
                      <a:endParaRPr lang="pt-BR" sz="1400" b="1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355742"/>
                  </a:ext>
                </a:extLst>
              </a:tr>
              <a:tr h="356792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Máquina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Janeiro</a:t>
                      </a:r>
                      <a:endParaRPr lang="pt-BR" sz="1400" b="1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Fevereiro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Março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Abril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Maio</a:t>
                      </a:r>
                      <a:endParaRPr lang="pt-BR" sz="1400" b="1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305419"/>
                  </a:ext>
                </a:extLst>
              </a:tr>
              <a:tr h="288832"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pt-BR" sz="1400" b="1" u="none" strike="noStrike" dirty="0">
                          <a:effectLst/>
                        </a:rPr>
                        <a:t>Prensa</a:t>
                      </a:r>
                      <a:endParaRPr lang="pt-BR" sz="1400" b="1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2000" algn="l" fontAlgn="ctr"/>
                      <a:r>
                        <a:rPr lang="pt-BR" sz="1400" u="none" strike="noStrike" dirty="0">
                          <a:effectLst/>
                        </a:rPr>
                        <a:t>Tempo Médio de Setup (min)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13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14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44347600"/>
                  </a:ext>
                </a:extLst>
              </a:tr>
              <a:tr h="2888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72000" algn="l" fontAlgn="ctr"/>
                      <a:r>
                        <a:rPr lang="pt-BR" sz="1400" u="none" strike="noStrike" dirty="0">
                          <a:effectLst/>
                        </a:rPr>
                        <a:t>Frequência de Setup (#)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120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110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125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120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135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3354834"/>
                  </a:ext>
                </a:extLst>
              </a:tr>
              <a:tr h="2888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72000" algn="l" fontAlgn="ctr"/>
                      <a:r>
                        <a:rPr lang="pt-BR" sz="1400" u="none" strike="noStrike" dirty="0">
                          <a:effectLst/>
                        </a:rPr>
                        <a:t>Tempo Total de Setup (h)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1560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>
                          <a:effectLst/>
                        </a:rPr>
                        <a:t>1650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1875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1560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u="none" strike="noStrike" dirty="0">
                          <a:effectLst/>
                        </a:rPr>
                        <a:t>1890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70700646"/>
                  </a:ext>
                </a:extLst>
              </a:tr>
              <a:tr h="288832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72000" algn="l" fontAlgn="b"/>
                      <a:r>
                        <a:rPr lang="pt-BR" sz="1400" u="none" strike="noStrike" dirty="0">
                          <a:effectLst/>
                        </a:rPr>
                        <a:t>Tempo Disponível (h)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9600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9600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10080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9600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9600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59745902"/>
                  </a:ext>
                </a:extLst>
              </a:tr>
              <a:tr h="395661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72000" algn="l" fontAlgn="b"/>
                      <a:r>
                        <a:rPr lang="pt-BR" sz="1400" u="none" strike="noStrike" dirty="0">
                          <a:effectLst/>
                        </a:rPr>
                        <a:t>% de Setup do Tempo </a:t>
                      </a:r>
                      <a:r>
                        <a:rPr lang="pt-BR" sz="1400" u="none" strike="noStrike" dirty="0" err="1">
                          <a:effectLst/>
                        </a:rPr>
                        <a:t>Disp</a:t>
                      </a:r>
                      <a:r>
                        <a:rPr lang="pt-BR" sz="1400" u="none" strike="noStrike" dirty="0">
                          <a:effectLst/>
                        </a:rPr>
                        <a:t>.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16,25%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17,19%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18,60%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16,25%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19,69%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1422651"/>
                  </a:ext>
                </a:extLst>
              </a:tr>
              <a:tr h="288832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 dirty="0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7943609"/>
                  </a:ext>
                </a:extLst>
              </a:tr>
              <a:tr h="288832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dias úteis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20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20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21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20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20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9339385"/>
                  </a:ext>
                </a:extLst>
              </a:tr>
              <a:tr h="288832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turnos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525949"/>
                  </a:ext>
                </a:extLst>
              </a:tr>
              <a:tr h="288832">
                <a:tc>
                  <a:txBody>
                    <a:bodyPr/>
                    <a:lstStyle/>
                    <a:p>
                      <a:pPr algn="l" fontAlgn="b"/>
                      <a:endParaRPr lang="pt-BR" sz="1400" b="0" i="0" u="none" strike="noStrike">
                        <a:effectLst/>
                        <a:latin typeface="Century Ghotic"/>
                      </a:endParaRPr>
                    </a:p>
                  </a:txBody>
                  <a:tcPr marL="0" marR="0" marT="0" marB="0" anchor="b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horas/turno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>
                          <a:effectLst/>
                        </a:rPr>
                        <a:t>8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400" u="none" strike="noStrike" dirty="0">
                          <a:effectLst/>
                        </a:rPr>
                        <a:t>8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entury Ghotic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8585383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27104B58-F0ED-47F0-94E3-573B53131B25}"/>
              </a:ext>
            </a:extLst>
          </p:cNvPr>
          <p:cNvSpPr txBox="1"/>
          <p:nvPr/>
        </p:nvSpPr>
        <p:spPr>
          <a:xfrm>
            <a:off x="536802" y="1628800"/>
            <a:ext cx="843607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/>
            <a:r>
              <a:rPr lang="pt-BR" b="1" dirty="0">
                <a:latin typeface="Century Gothic" panose="020B0502020202020204" pitchFamily="34" charset="0"/>
              </a:rPr>
              <a:t>Dados:</a:t>
            </a:r>
          </a:p>
          <a:p>
            <a:pPr marL="342900" indent="-342900" algn="just">
              <a:buAutoNum type="alphaLcParenR"/>
            </a:pPr>
            <a:endParaRPr lang="pt-BR" b="1" dirty="0">
              <a:latin typeface="Century Gothic" panose="020B0502020202020204" pitchFamily="34" charset="0"/>
            </a:endParaRP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E3BCD9C1-D3D9-4668-8190-1A86109AAAF7}"/>
              </a:ext>
            </a:extLst>
          </p:cNvPr>
          <p:cNvGrpSpPr/>
          <p:nvPr/>
        </p:nvGrpSpPr>
        <p:grpSpPr>
          <a:xfrm>
            <a:off x="719572" y="5890046"/>
            <a:ext cx="7704856" cy="923330"/>
            <a:chOff x="551395" y="5733256"/>
            <a:chExt cx="7704856" cy="923330"/>
          </a:xfrm>
        </p:grpSpPr>
        <p:sp>
          <p:nvSpPr>
            <p:cNvPr id="3" name="CaixaDeTexto 2"/>
            <p:cNvSpPr txBox="1"/>
            <p:nvPr/>
          </p:nvSpPr>
          <p:spPr>
            <a:xfrm>
              <a:off x="551395" y="5733256"/>
              <a:ext cx="3744416" cy="92333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pt-BR" b="1" dirty="0">
                  <a:latin typeface="Century Gothic" panose="020B0502020202020204" pitchFamily="34" charset="0"/>
                </a:rPr>
                <a:t>Tempo de ciclo (s/peça)</a:t>
              </a:r>
              <a:r>
                <a:rPr lang="pt-BR" dirty="0">
                  <a:latin typeface="Century Gothic" panose="020B0502020202020204" pitchFamily="34" charset="0"/>
                </a:rPr>
                <a:t> = 1,5</a:t>
              </a:r>
            </a:p>
            <a:p>
              <a:pPr algn="just"/>
              <a:r>
                <a:rPr lang="pt-BR" b="1" dirty="0">
                  <a:latin typeface="Century Gothic" panose="020B0502020202020204" pitchFamily="34" charset="0"/>
                </a:rPr>
                <a:t>Preço de venda</a:t>
              </a:r>
              <a:r>
                <a:rPr lang="pt-BR" dirty="0">
                  <a:latin typeface="Century Gothic" panose="020B0502020202020204" pitchFamily="34" charset="0"/>
                </a:rPr>
                <a:t> =</a:t>
              </a:r>
              <a:r>
                <a:rPr lang="pt-BR" b="1" dirty="0">
                  <a:latin typeface="Century Gothic" panose="020B0502020202020204" pitchFamily="34" charset="0"/>
                </a:rPr>
                <a:t> </a:t>
              </a:r>
              <a:r>
                <a:rPr lang="pt-BR" dirty="0">
                  <a:latin typeface="Century Gothic" panose="020B0502020202020204" pitchFamily="34" charset="0"/>
                </a:rPr>
                <a:t>R$ 2,00</a:t>
              </a:r>
            </a:p>
            <a:p>
              <a:pPr marL="342900" indent="-342900" algn="just">
                <a:buAutoNum type="alphaLcParenR"/>
              </a:pPr>
              <a:endParaRPr lang="pt-BR" b="1" dirty="0">
                <a:latin typeface="Century Gothic" panose="020B0502020202020204" pitchFamily="34" charset="0"/>
              </a:endParaRPr>
            </a:p>
          </p:txBody>
        </p:sp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D1569D72-7592-4DE3-B475-33C29772E32A}"/>
                </a:ext>
              </a:extLst>
            </p:cNvPr>
            <p:cNvSpPr txBox="1"/>
            <p:nvPr/>
          </p:nvSpPr>
          <p:spPr>
            <a:xfrm>
              <a:off x="4511835" y="5733256"/>
              <a:ext cx="3744416" cy="6463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just"/>
              <a:r>
                <a:rPr lang="pt-BR" b="1" dirty="0">
                  <a:latin typeface="Century Gothic" panose="020B0502020202020204" pitchFamily="34" charset="0"/>
                </a:rPr>
                <a:t>Custo unitário de fabricação (inclui matéria-prima)</a:t>
              </a:r>
              <a:r>
                <a:rPr lang="pt-BR" dirty="0">
                  <a:latin typeface="Century Gothic" panose="020B0502020202020204" pitchFamily="34" charset="0"/>
                </a:rPr>
                <a:t> = R$ 1,50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60245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3520</TotalTime>
  <Words>2595</Words>
  <Application>Microsoft Office PowerPoint</Application>
  <PresentationFormat>Apresentação na tela (4:3)</PresentationFormat>
  <Paragraphs>662</Paragraphs>
  <Slides>71</Slides>
  <Notes>61</Notes>
  <HiddenSlides>0</HiddenSlides>
  <MMClips>0</MMClips>
  <ScaleCrop>false</ScaleCrop>
  <HeadingPairs>
    <vt:vector size="8" baseType="variant">
      <vt:variant>
        <vt:lpstr>Fontes usadas</vt:lpstr>
      </vt:variant>
      <vt:variant>
        <vt:i4>13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2</vt:i4>
      </vt:variant>
      <vt:variant>
        <vt:lpstr>Títulos de slides</vt:lpstr>
      </vt:variant>
      <vt:variant>
        <vt:i4>71</vt:i4>
      </vt:variant>
    </vt:vector>
  </HeadingPairs>
  <TitlesOfParts>
    <vt:vector size="87" baseType="lpstr">
      <vt:lpstr>MS PGothic</vt:lpstr>
      <vt:lpstr>MS PGothic</vt:lpstr>
      <vt:lpstr>Arial</vt:lpstr>
      <vt:lpstr>Arial Black</vt:lpstr>
      <vt:lpstr>Arial MT Black</vt:lpstr>
      <vt:lpstr>Calibri</vt:lpstr>
      <vt:lpstr>Century Ghotic</vt:lpstr>
      <vt:lpstr>Century Gothic</vt:lpstr>
      <vt:lpstr>Incised901 BT</vt:lpstr>
      <vt:lpstr>Monotype Sorts</vt:lpstr>
      <vt:lpstr>Tahoma</vt:lpstr>
      <vt:lpstr>Times New Roman</vt:lpstr>
      <vt:lpstr>Wingdings</vt:lpstr>
      <vt:lpstr>Tema do Office</vt:lpstr>
      <vt:lpstr>Clip</vt:lpstr>
      <vt:lpstr>Picture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Algumas sugestões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Marlon</dc:creator>
  <cp:lastModifiedBy>Marlon Soliman</cp:lastModifiedBy>
  <cp:revision>401</cp:revision>
  <dcterms:created xsi:type="dcterms:W3CDTF">2016-03-06T17:36:52Z</dcterms:created>
  <dcterms:modified xsi:type="dcterms:W3CDTF">2018-09-25T15:00:04Z</dcterms:modified>
</cp:coreProperties>
</file>